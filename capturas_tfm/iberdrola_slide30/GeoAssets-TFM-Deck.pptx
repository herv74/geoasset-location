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ags/tag1.xml" ContentType="application/vnd.openxmlformats-officedocument.presentationml.tag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8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tags/tag12.xml" ContentType="application/vnd.openxmlformats-officedocument.presentationml.tags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tags/tag13.xml" ContentType="application/vnd.openxmlformats-officedocument.presentationml.tags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tags/tag14.xml" ContentType="application/vnd.openxmlformats-officedocument.presentationml.tags+xml"/>
  <Override PartName="/ppt/notesSlides/notesSlide20.xml" ContentType="application/vnd.openxmlformats-officedocument.presentationml.notesSlide+xml"/>
  <Override PartName="/ppt/tags/tag15.xml" ContentType="application/vnd.openxmlformats-officedocument.presentationml.tags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034" r:id="rId1"/>
    <p:sldMasterId id="2147484131" r:id="rId2"/>
  </p:sldMasterIdLst>
  <p:notesMasterIdLst>
    <p:notesMasterId r:id="rId44"/>
  </p:notesMasterIdLst>
  <p:sldIdLst>
    <p:sldId id="2147475852" r:id="rId3"/>
    <p:sldId id="2147475853" r:id="rId4"/>
    <p:sldId id="2147475854" r:id="rId5"/>
    <p:sldId id="2147475855" r:id="rId6"/>
    <p:sldId id="2147475856" r:id="rId7"/>
    <p:sldId id="2147475857" r:id="rId8"/>
    <p:sldId id="2147475858" r:id="rId9"/>
    <p:sldId id="2147475859" r:id="rId10"/>
    <p:sldId id="2147475860" r:id="rId11"/>
    <p:sldId id="2147475861" r:id="rId12"/>
    <p:sldId id="2147475862" r:id="rId13"/>
    <p:sldId id="2147475863" r:id="rId14"/>
    <p:sldId id="2147475864" r:id="rId15"/>
    <p:sldId id="2147475865" r:id="rId16"/>
    <p:sldId id="2147475866" r:id="rId17"/>
    <p:sldId id="2147475867" r:id="rId18"/>
    <p:sldId id="2147475868" r:id="rId19"/>
    <p:sldId id="2147475870" r:id="rId20"/>
    <p:sldId id="2147475871" r:id="rId21"/>
    <p:sldId id="2147475895" r:id="rId22"/>
    <p:sldId id="279" r:id="rId23"/>
    <p:sldId id="280" r:id="rId24"/>
    <p:sldId id="281" r:id="rId25"/>
    <p:sldId id="282" r:id="rId26"/>
    <p:sldId id="283" r:id="rId27"/>
    <p:sldId id="284" r:id="rId28"/>
    <p:sldId id="2147475882" r:id="rId29"/>
    <p:sldId id="2147475883" r:id="rId30"/>
    <p:sldId id="2147475884" r:id="rId31"/>
    <p:sldId id="2147475898" r:id="rId32"/>
    <p:sldId id="2147475885" r:id="rId33"/>
    <p:sldId id="2147475886" r:id="rId34"/>
    <p:sldId id="2147475887" r:id="rId35"/>
    <p:sldId id="2147475888" r:id="rId36"/>
    <p:sldId id="2147475896" r:id="rId37"/>
    <p:sldId id="2147475897" r:id="rId38"/>
    <p:sldId id="2147475891" r:id="rId39"/>
    <p:sldId id="2147475892" r:id="rId40"/>
    <p:sldId id="2147475894" r:id="rId41"/>
    <p:sldId id="2147475893" r:id="rId42"/>
    <p:sldId id="2147475792" r:id="rId43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90CA35-5F3B-4C12-8762-F19AA68A6B11}" v="590" dt="2026-05-09T12:43:16.122"/>
    <p1510:client id="{6BC1A07A-96FE-B44B-A7BF-661A0941FF5C}" v="3" dt="2026-05-10T10:58:30.866"/>
    <p1510:client id="{D72D60A5-2BC6-40E4-BCC0-7ABCC9D49C50}" v="108" dt="2026-05-09T18:12:54.333"/>
    <p1510:client id="{FF80ED01-D563-9073-D659-CFA39D7334F6}" v="42" dt="2026-05-09T18:21:52.20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850" autoAdjust="0"/>
    <p:restoredTop sz="94677"/>
  </p:normalViewPr>
  <p:slideViewPr>
    <p:cSldViewPr snapToGrid="0">
      <p:cViewPr varScale="1">
        <p:scale>
          <a:sx n="67" d="100"/>
          <a:sy n="67" d="100"/>
        </p:scale>
        <p:origin x="1144" y="18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microsoft.com/office/2015/10/relationships/revisionInfo" Target="revisionInfo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tableStyles" Target="tableStyle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viewProps" Target="viewProp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973594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err="1"/>
              <a:t>Bienvenidos</a:t>
            </a:r>
            <a:r>
              <a:rPr lang="en-US"/>
              <a:t>. Hoy </a:t>
            </a:r>
            <a:r>
              <a:rPr lang="en-US" err="1"/>
              <a:t>presento</a:t>
            </a:r>
            <a:r>
              <a:rPr lang="en-US"/>
              <a:t> </a:t>
            </a:r>
            <a:r>
              <a:rPr lang="en-US" err="1"/>
              <a:t>GeoAssets</a:t>
            </a:r>
            <a:r>
              <a:rPr lang="en-US"/>
              <a:t> Intelligence, mi </a:t>
            </a:r>
            <a:r>
              <a:rPr lang="en-US" err="1"/>
              <a:t>Trabajo</a:t>
            </a:r>
            <a:r>
              <a:rPr lang="en-US"/>
              <a:t> de Fin de </a:t>
            </a:r>
            <a:r>
              <a:rPr lang="en-US" err="1"/>
              <a:t>Máster</a:t>
            </a:r>
            <a:r>
              <a:rPr lang="en-US"/>
              <a:t> </a:t>
            </a:r>
            <a:r>
              <a:rPr lang="en-US" err="1"/>
              <a:t>en</a:t>
            </a:r>
            <a:r>
              <a:rPr lang="en-US"/>
              <a:t> </a:t>
            </a:r>
            <a:r>
              <a:rPr lang="en-US" err="1"/>
              <a:t>Inteligencia</a:t>
            </a:r>
            <a:r>
              <a:rPr lang="en-US"/>
              <a:t> Artificial. El </a:t>
            </a:r>
            <a:r>
              <a:rPr lang="en-US" err="1"/>
              <a:t>proyecto</a:t>
            </a:r>
            <a:r>
              <a:rPr lang="en-US"/>
              <a:t> </a:t>
            </a:r>
            <a:r>
              <a:rPr lang="en-US" err="1"/>
              <a:t>resuelve</a:t>
            </a:r>
            <a:r>
              <a:rPr lang="en-US"/>
              <a:t> un </a:t>
            </a:r>
            <a:r>
              <a:rPr lang="en-US" err="1"/>
              <a:t>problema</a:t>
            </a:r>
            <a:r>
              <a:rPr lang="en-US"/>
              <a:t> </a:t>
            </a:r>
            <a:r>
              <a:rPr lang="en-US" err="1"/>
              <a:t>muy</a:t>
            </a:r>
            <a:r>
              <a:rPr lang="en-US"/>
              <a:t> </a:t>
            </a:r>
            <a:r>
              <a:rPr lang="en-US" err="1"/>
              <a:t>concreto</a:t>
            </a:r>
            <a:r>
              <a:rPr lang="en-US"/>
              <a:t> </a:t>
            </a:r>
            <a:r>
              <a:rPr lang="en-US" err="1"/>
              <a:t>en</a:t>
            </a:r>
            <a:r>
              <a:rPr lang="en-US"/>
              <a:t> </a:t>
            </a:r>
            <a:r>
              <a:rPr lang="en-US" err="1"/>
              <a:t>el</a:t>
            </a:r>
            <a:r>
              <a:rPr lang="en-US"/>
              <a:t> </a:t>
            </a:r>
            <a:r>
              <a:rPr lang="en-US" err="1"/>
              <a:t>ámbito</a:t>
            </a:r>
            <a:r>
              <a:rPr lang="en-US"/>
              <a:t> de la </a:t>
            </a:r>
            <a:r>
              <a:rPr lang="en-US" err="1"/>
              <a:t>inteligencia</a:t>
            </a:r>
            <a:r>
              <a:rPr lang="en-US"/>
              <a:t> </a:t>
            </a:r>
            <a:r>
              <a:rPr lang="en-US" err="1"/>
              <a:t>empresarial</a:t>
            </a:r>
            <a:r>
              <a:rPr lang="en-US"/>
              <a:t>: </a:t>
            </a:r>
            <a:r>
              <a:rPr lang="en-US" err="1"/>
              <a:t>localizar</a:t>
            </a:r>
            <a:r>
              <a:rPr lang="en-US"/>
              <a:t> de forma </a:t>
            </a:r>
            <a:r>
              <a:rPr lang="en-US" err="1"/>
              <a:t>sistemática</a:t>
            </a:r>
            <a:r>
              <a:rPr lang="en-US"/>
              <a:t> y </a:t>
            </a:r>
            <a:r>
              <a:rPr lang="en-US" err="1"/>
              <a:t>automatizada</a:t>
            </a:r>
            <a:r>
              <a:rPr lang="en-US"/>
              <a:t> </a:t>
            </a:r>
            <a:r>
              <a:rPr lang="en-US" err="1"/>
              <a:t>todos</a:t>
            </a:r>
            <a:r>
              <a:rPr lang="en-US"/>
              <a:t> </a:t>
            </a:r>
            <a:r>
              <a:rPr lang="en-US" err="1"/>
              <a:t>los</a:t>
            </a:r>
            <a:r>
              <a:rPr lang="en-US"/>
              <a:t> </a:t>
            </a:r>
            <a:r>
              <a:rPr lang="en-US" err="1"/>
              <a:t>activos</a:t>
            </a:r>
            <a:r>
              <a:rPr lang="en-US"/>
              <a:t> </a:t>
            </a:r>
            <a:r>
              <a:rPr lang="en-US" err="1"/>
              <a:t>productivos</a:t>
            </a:r>
            <a:r>
              <a:rPr lang="en-US"/>
              <a:t> de </a:t>
            </a:r>
            <a:r>
              <a:rPr lang="en-US" err="1"/>
              <a:t>una</a:t>
            </a:r>
            <a:r>
              <a:rPr lang="en-US"/>
              <a:t> </a:t>
            </a:r>
            <a:r>
              <a:rPr lang="en-US" err="1"/>
              <a:t>compañía</a:t>
            </a:r>
            <a:r>
              <a:rPr lang="en-US"/>
              <a:t>. Mi </a:t>
            </a:r>
            <a:r>
              <a:rPr lang="en-US" err="1"/>
              <a:t>objetivo</a:t>
            </a:r>
            <a:r>
              <a:rPr lang="en-US"/>
              <a:t> </a:t>
            </a:r>
            <a:r>
              <a:rPr lang="en-US" err="1"/>
              <a:t>en</a:t>
            </a:r>
            <a:r>
              <a:rPr lang="en-US"/>
              <a:t> </a:t>
            </a:r>
            <a:r>
              <a:rPr lang="en-US" err="1"/>
              <a:t>los</a:t>
            </a:r>
            <a:r>
              <a:rPr lang="en-US"/>
              <a:t> </a:t>
            </a:r>
            <a:r>
              <a:rPr lang="en-US" err="1"/>
              <a:t>próximos</a:t>
            </a:r>
            <a:r>
              <a:rPr lang="en-US"/>
              <a:t> 25 </a:t>
            </a:r>
            <a:r>
              <a:rPr lang="en-US" err="1"/>
              <a:t>minutos</a:t>
            </a:r>
            <a:r>
              <a:rPr lang="en-US"/>
              <a:t> es </a:t>
            </a:r>
            <a:r>
              <a:rPr lang="en-US" err="1"/>
              <a:t>mostraros</a:t>
            </a:r>
            <a:r>
              <a:rPr lang="en-US"/>
              <a:t> </a:t>
            </a:r>
            <a:r>
              <a:rPr lang="en-US" err="1"/>
              <a:t>el</a:t>
            </a:r>
            <a:r>
              <a:rPr lang="en-US"/>
              <a:t> </a:t>
            </a:r>
            <a:r>
              <a:rPr lang="en-US" err="1"/>
              <a:t>problema</a:t>
            </a:r>
            <a:r>
              <a:rPr lang="en-US"/>
              <a:t>, la </a:t>
            </a:r>
            <a:r>
              <a:rPr lang="en-US" err="1"/>
              <a:t>solución</a:t>
            </a:r>
            <a:r>
              <a:rPr lang="en-US"/>
              <a:t> </a:t>
            </a:r>
            <a:r>
              <a:rPr lang="en-US" err="1"/>
              <a:t>que</a:t>
            </a:r>
            <a:r>
              <a:rPr lang="en-US"/>
              <a:t> he </a:t>
            </a:r>
            <a:r>
              <a:rPr lang="en-US" err="1"/>
              <a:t>construido</a:t>
            </a:r>
            <a:r>
              <a:rPr lang="en-US"/>
              <a:t>, </a:t>
            </a:r>
            <a:r>
              <a:rPr lang="en-US" err="1"/>
              <a:t>su</a:t>
            </a:r>
            <a:r>
              <a:rPr lang="en-US"/>
              <a:t> </a:t>
            </a:r>
            <a:r>
              <a:rPr lang="en-US" err="1"/>
              <a:t>arquitectura</a:t>
            </a:r>
            <a:r>
              <a:rPr lang="en-US"/>
              <a:t> </a:t>
            </a:r>
            <a:r>
              <a:rPr lang="en-US" err="1"/>
              <a:t>técnica</a:t>
            </a:r>
            <a:r>
              <a:rPr lang="en-US"/>
              <a:t>, </a:t>
            </a:r>
            <a:r>
              <a:rPr lang="en-US" err="1"/>
              <a:t>los</a:t>
            </a:r>
            <a:r>
              <a:rPr lang="en-US"/>
              <a:t> </a:t>
            </a:r>
            <a:r>
              <a:rPr lang="en-US" err="1"/>
              <a:t>resultados</a:t>
            </a:r>
            <a:r>
              <a:rPr lang="en-US"/>
              <a:t> </a:t>
            </a:r>
            <a:r>
              <a:rPr lang="en-US" err="1"/>
              <a:t>obtenidos</a:t>
            </a:r>
            <a:r>
              <a:rPr lang="en-US"/>
              <a:t> y </a:t>
            </a:r>
            <a:r>
              <a:rPr lang="en-US" err="1"/>
              <a:t>por</a:t>
            </a:r>
            <a:r>
              <a:rPr lang="en-US"/>
              <a:t> </a:t>
            </a:r>
            <a:r>
              <a:rPr lang="en-US" err="1"/>
              <a:t>qué</a:t>
            </a:r>
            <a:r>
              <a:rPr lang="en-US"/>
              <a:t> </a:t>
            </a:r>
            <a:r>
              <a:rPr lang="en-US" err="1"/>
              <a:t>creo</a:t>
            </a:r>
            <a:r>
              <a:rPr lang="en-US"/>
              <a:t> </a:t>
            </a:r>
            <a:r>
              <a:rPr lang="en-US" err="1"/>
              <a:t>que</a:t>
            </a:r>
            <a:r>
              <a:rPr lang="en-US"/>
              <a:t> </a:t>
            </a:r>
            <a:r>
              <a:rPr lang="en-US" err="1"/>
              <a:t>tiene</a:t>
            </a:r>
            <a:r>
              <a:rPr lang="en-US"/>
              <a:t> un </a:t>
            </a:r>
            <a:r>
              <a:rPr lang="en-US" err="1"/>
              <a:t>encaje</a:t>
            </a:r>
            <a:r>
              <a:rPr lang="en-US"/>
              <a:t> real </a:t>
            </a:r>
            <a:r>
              <a:rPr lang="en-US" err="1"/>
              <a:t>en</a:t>
            </a:r>
            <a:r>
              <a:rPr lang="en-US"/>
              <a:t> </a:t>
            </a:r>
            <a:r>
              <a:rPr lang="en-US" err="1"/>
              <a:t>el</a:t>
            </a:r>
            <a:r>
              <a:rPr lang="en-US"/>
              <a:t> mercado.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err="1"/>
              <a:t>Quiero</a:t>
            </a:r>
            <a:r>
              <a:rPr lang="en-US"/>
              <a:t> </a:t>
            </a:r>
            <a:r>
              <a:rPr lang="en-US" err="1"/>
              <a:t>engancharos</a:t>
            </a:r>
            <a:r>
              <a:rPr lang="en-US"/>
              <a:t> </a:t>
            </a:r>
            <a:r>
              <a:rPr lang="en-US" err="1"/>
              <a:t>en</a:t>
            </a:r>
            <a:r>
              <a:rPr lang="en-US"/>
              <a:t> </a:t>
            </a:r>
            <a:r>
              <a:rPr lang="en-US" err="1"/>
              <a:t>treinta</a:t>
            </a:r>
            <a:r>
              <a:rPr lang="en-US"/>
              <a:t> </a:t>
            </a:r>
            <a:r>
              <a:rPr lang="en-US" err="1"/>
              <a:t>segundos</a:t>
            </a:r>
            <a:r>
              <a:rPr lang="en-US"/>
              <a:t>: </a:t>
            </a:r>
            <a:r>
              <a:rPr lang="en-US" err="1"/>
              <a:t>el</a:t>
            </a:r>
            <a:r>
              <a:rPr lang="en-US"/>
              <a:t> </a:t>
            </a:r>
            <a:r>
              <a:rPr lang="en-US" err="1"/>
              <a:t>problema</a:t>
            </a:r>
            <a:r>
              <a:rPr lang="en-US"/>
              <a:t> es </a:t>
            </a:r>
            <a:r>
              <a:rPr lang="en-US" err="1"/>
              <a:t>muy</a:t>
            </a:r>
            <a:r>
              <a:rPr lang="en-US"/>
              <a:t> </a:t>
            </a:r>
            <a:r>
              <a:rPr lang="en-US" err="1"/>
              <a:t>fácil</a:t>
            </a:r>
            <a:r>
              <a:rPr lang="en-US"/>
              <a:t> de </a:t>
            </a:r>
            <a:r>
              <a:rPr lang="en-US" err="1"/>
              <a:t>entender</a:t>
            </a:r>
            <a:r>
              <a:rPr lang="en-US"/>
              <a:t>. </a:t>
            </a:r>
            <a:r>
              <a:rPr lang="en-US" err="1"/>
              <a:t>Imaginad</a:t>
            </a:r>
            <a:r>
              <a:rPr lang="en-US"/>
              <a:t> </a:t>
            </a:r>
            <a:r>
              <a:rPr lang="en-US" err="1"/>
              <a:t>que</a:t>
            </a:r>
            <a:r>
              <a:rPr lang="en-US"/>
              <a:t> un </a:t>
            </a:r>
            <a:r>
              <a:rPr lang="en-US" err="1"/>
              <a:t>analista</a:t>
            </a:r>
            <a:r>
              <a:rPr lang="en-US"/>
              <a:t> de banca de </a:t>
            </a:r>
            <a:r>
              <a:rPr lang="en-US" err="1"/>
              <a:t>inversión</a:t>
            </a:r>
            <a:r>
              <a:rPr lang="en-US"/>
              <a:t> </a:t>
            </a:r>
            <a:r>
              <a:rPr lang="en-US" err="1"/>
              <a:t>necesita</a:t>
            </a:r>
            <a:r>
              <a:rPr lang="en-US"/>
              <a:t> saber </a:t>
            </a:r>
            <a:r>
              <a:rPr lang="en-US" err="1"/>
              <a:t>dónde</a:t>
            </a:r>
            <a:r>
              <a:rPr lang="en-US"/>
              <a:t> </a:t>
            </a:r>
            <a:r>
              <a:rPr lang="en-US" err="1"/>
              <a:t>están</a:t>
            </a:r>
            <a:r>
              <a:rPr lang="en-US"/>
              <a:t> </a:t>
            </a:r>
            <a:r>
              <a:rPr lang="en-US" err="1"/>
              <a:t>todas</a:t>
            </a:r>
            <a:r>
              <a:rPr lang="en-US"/>
              <a:t> las </a:t>
            </a:r>
            <a:r>
              <a:rPr lang="en-US" err="1"/>
              <a:t>fábricas</a:t>
            </a:r>
            <a:r>
              <a:rPr lang="en-US"/>
              <a:t>, </a:t>
            </a:r>
            <a:r>
              <a:rPr lang="en-US" err="1"/>
              <a:t>oficinas</a:t>
            </a:r>
            <a:r>
              <a:rPr lang="en-US"/>
              <a:t> y </a:t>
            </a:r>
            <a:r>
              <a:rPr lang="en-US" err="1"/>
              <a:t>centros</a:t>
            </a:r>
            <a:r>
              <a:rPr lang="en-US"/>
              <a:t> </a:t>
            </a:r>
            <a:r>
              <a:rPr lang="en-US" err="1"/>
              <a:t>logísticos</a:t>
            </a:r>
            <a:r>
              <a:rPr lang="en-US"/>
              <a:t> de </a:t>
            </a:r>
            <a:r>
              <a:rPr lang="en-US" err="1"/>
              <a:t>una</a:t>
            </a:r>
            <a:r>
              <a:rPr lang="en-US"/>
              <a:t> </a:t>
            </a:r>
            <a:r>
              <a:rPr lang="en-US" err="1"/>
              <a:t>empresa</a:t>
            </a:r>
            <a:r>
              <a:rPr lang="en-US"/>
              <a:t>. Hoy se </a:t>
            </a:r>
            <a:r>
              <a:rPr lang="en-US" err="1"/>
              <a:t>hace</a:t>
            </a:r>
            <a:r>
              <a:rPr lang="en-US"/>
              <a:t> a mano: </a:t>
            </a:r>
            <a:r>
              <a:rPr lang="en-US" err="1"/>
              <a:t>buscar</a:t>
            </a:r>
            <a:r>
              <a:rPr lang="en-US"/>
              <a:t>, </a:t>
            </a:r>
            <a:r>
              <a:rPr lang="en-US" err="1"/>
              <a:t>contrastar</a:t>
            </a:r>
            <a:r>
              <a:rPr lang="en-US"/>
              <a:t>, </a:t>
            </a:r>
            <a:r>
              <a:rPr lang="en-US" err="1"/>
              <a:t>geocodificar</a:t>
            </a:r>
            <a:r>
              <a:rPr lang="en-US"/>
              <a:t>, </a:t>
            </a:r>
            <a:r>
              <a:rPr lang="en-US" err="1"/>
              <a:t>validar</a:t>
            </a:r>
            <a:r>
              <a:rPr lang="en-US"/>
              <a:t>. De dos a cuatro horas </a:t>
            </a:r>
            <a:r>
              <a:rPr lang="en-US" err="1"/>
              <a:t>por</a:t>
            </a:r>
            <a:r>
              <a:rPr lang="en-US"/>
              <a:t> </a:t>
            </a:r>
            <a:r>
              <a:rPr lang="en-US" err="1"/>
              <a:t>empresa</a:t>
            </a:r>
            <a:r>
              <a:rPr lang="en-US"/>
              <a:t>, y </a:t>
            </a:r>
            <a:r>
              <a:rPr lang="en-US" err="1"/>
              <a:t>aún</a:t>
            </a:r>
            <a:r>
              <a:rPr lang="en-US"/>
              <a:t> </a:t>
            </a:r>
            <a:r>
              <a:rPr lang="en-US" err="1"/>
              <a:t>así</a:t>
            </a:r>
            <a:r>
              <a:rPr lang="en-US"/>
              <a:t>, </a:t>
            </a:r>
            <a:r>
              <a:rPr lang="en-US" err="1"/>
              <a:t>casi</a:t>
            </a:r>
            <a:r>
              <a:rPr lang="en-US"/>
              <a:t> </a:t>
            </a:r>
            <a:r>
              <a:rPr lang="en-US" err="1"/>
              <a:t>nunca</a:t>
            </a:r>
            <a:r>
              <a:rPr lang="en-US"/>
              <a:t> con </a:t>
            </a:r>
            <a:r>
              <a:rPr lang="en-US" err="1"/>
              <a:t>cobertura</a:t>
            </a:r>
            <a:r>
              <a:rPr lang="en-US"/>
              <a:t> completa. Esa </a:t>
            </a:r>
            <a:r>
              <a:rPr lang="en-US" err="1"/>
              <a:t>fricción</a:t>
            </a:r>
            <a:r>
              <a:rPr lang="en-US"/>
              <a:t> es la </a:t>
            </a:r>
            <a:r>
              <a:rPr lang="en-US" err="1"/>
              <a:t>que</a:t>
            </a:r>
            <a:r>
              <a:rPr lang="en-US"/>
              <a:t> </a:t>
            </a:r>
            <a:r>
              <a:rPr lang="en-US" err="1"/>
              <a:t>vamos</a:t>
            </a:r>
            <a:r>
              <a:rPr lang="en-US"/>
              <a:t> a romper.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-342900" y="2286000"/>
            <a:ext cx="10972800" cy="61722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>
          <a:xfrm>
            <a:off x="1028700" y="8801100"/>
            <a:ext cx="8229600" cy="7200900"/>
          </a:xfrm>
          <a:prstGeom prst="rect">
            <a:avLst/>
          </a:prstGeom>
        </p:spPr>
        <p:txBody>
          <a:bodyPr/>
          <a:lstStyle/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08785478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6620A1-B6DF-FD59-6349-13428D197A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C89318-B232-D4A6-7D6B-56BC8CC726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DC5FFC-6C1F-23D6-C430-0BFDBC940B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6DDED4-CC3D-3622-8E65-D06B257D0C9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988968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92302C-043E-3280-8A2E-D1F5ED5D65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A5AC2F-2853-968A-E031-CD5AE3373C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E366C6-BA5A-EC63-8744-D046AD3D21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9FA96F-53BD-0764-C540-93DDB48FE51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059735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err="1"/>
              <a:t>Bienvenidos</a:t>
            </a:r>
            <a:r>
              <a:rPr lang="en-US"/>
              <a:t>. Hoy </a:t>
            </a:r>
            <a:r>
              <a:rPr lang="en-US" err="1"/>
              <a:t>presento</a:t>
            </a:r>
            <a:r>
              <a:rPr lang="en-US"/>
              <a:t> </a:t>
            </a:r>
            <a:r>
              <a:rPr lang="en-US" err="1"/>
              <a:t>GeoAssets</a:t>
            </a:r>
            <a:r>
              <a:rPr lang="en-US"/>
              <a:t> Intelligence, mi </a:t>
            </a:r>
            <a:r>
              <a:rPr lang="en-US" err="1"/>
              <a:t>Trabajo</a:t>
            </a:r>
            <a:r>
              <a:rPr lang="en-US"/>
              <a:t> de Fin de </a:t>
            </a:r>
            <a:r>
              <a:rPr lang="en-US" err="1"/>
              <a:t>Máster</a:t>
            </a:r>
            <a:r>
              <a:rPr lang="en-US"/>
              <a:t> </a:t>
            </a:r>
            <a:r>
              <a:rPr lang="en-US" err="1"/>
              <a:t>en</a:t>
            </a:r>
            <a:r>
              <a:rPr lang="en-US"/>
              <a:t> </a:t>
            </a:r>
            <a:r>
              <a:rPr lang="en-US" err="1"/>
              <a:t>Inteligencia</a:t>
            </a:r>
            <a:r>
              <a:rPr lang="en-US"/>
              <a:t> Artificial. El </a:t>
            </a:r>
            <a:r>
              <a:rPr lang="en-US" err="1"/>
              <a:t>proyecto</a:t>
            </a:r>
            <a:r>
              <a:rPr lang="en-US"/>
              <a:t> </a:t>
            </a:r>
            <a:r>
              <a:rPr lang="en-US" err="1"/>
              <a:t>resuelve</a:t>
            </a:r>
            <a:r>
              <a:rPr lang="en-US"/>
              <a:t> un </a:t>
            </a:r>
            <a:r>
              <a:rPr lang="en-US" err="1"/>
              <a:t>problema</a:t>
            </a:r>
            <a:r>
              <a:rPr lang="en-US"/>
              <a:t> </a:t>
            </a:r>
            <a:r>
              <a:rPr lang="en-US" err="1"/>
              <a:t>muy</a:t>
            </a:r>
            <a:r>
              <a:rPr lang="en-US"/>
              <a:t> </a:t>
            </a:r>
            <a:r>
              <a:rPr lang="en-US" err="1"/>
              <a:t>concreto</a:t>
            </a:r>
            <a:r>
              <a:rPr lang="en-US"/>
              <a:t> </a:t>
            </a:r>
            <a:r>
              <a:rPr lang="en-US" err="1"/>
              <a:t>en</a:t>
            </a:r>
            <a:r>
              <a:rPr lang="en-US"/>
              <a:t> </a:t>
            </a:r>
            <a:r>
              <a:rPr lang="en-US" err="1"/>
              <a:t>el</a:t>
            </a:r>
            <a:r>
              <a:rPr lang="en-US"/>
              <a:t> </a:t>
            </a:r>
            <a:r>
              <a:rPr lang="en-US" err="1"/>
              <a:t>ámbito</a:t>
            </a:r>
            <a:r>
              <a:rPr lang="en-US"/>
              <a:t> de la </a:t>
            </a:r>
            <a:r>
              <a:rPr lang="en-US" err="1"/>
              <a:t>inteligencia</a:t>
            </a:r>
            <a:r>
              <a:rPr lang="en-US"/>
              <a:t> </a:t>
            </a:r>
            <a:r>
              <a:rPr lang="en-US" err="1"/>
              <a:t>empresarial</a:t>
            </a:r>
            <a:r>
              <a:rPr lang="en-US"/>
              <a:t>: </a:t>
            </a:r>
            <a:r>
              <a:rPr lang="en-US" err="1"/>
              <a:t>localizar</a:t>
            </a:r>
            <a:r>
              <a:rPr lang="en-US"/>
              <a:t> de forma </a:t>
            </a:r>
            <a:r>
              <a:rPr lang="en-US" err="1"/>
              <a:t>sistemática</a:t>
            </a:r>
            <a:r>
              <a:rPr lang="en-US"/>
              <a:t> y </a:t>
            </a:r>
            <a:r>
              <a:rPr lang="en-US" err="1"/>
              <a:t>automatizada</a:t>
            </a:r>
            <a:r>
              <a:rPr lang="en-US"/>
              <a:t> </a:t>
            </a:r>
            <a:r>
              <a:rPr lang="en-US" err="1"/>
              <a:t>todos</a:t>
            </a:r>
            <a:r>
              <a:rPr lang="en-US"/>
              <a:t> </a:t>
            </a:r>
            <a:r>
              <a:rPr lang="en-US" err="1"/>
              <a:t>los</a:t>
            </a:r>
            <a:r>
              <a:rPr lang="en-US"/>
              <a:t> </a:t>
            </a:r>
            <a:r>
              <a:rPr lang="en-US" err="1"/>
              <a:t>activos</a:t>
            </a:r>
            <a:r>
              <a:rPr lang="en-US"/>
              <a:t> </a:t>
            </a:r>
            <a:r>
              <a:rPr lang="en-US" err="1"/>
              <a:t>productivos</a:t>
            </a:r>
            <a:r>
              <a:rPr lang="en-US"/>
              <a:t> de </a:t>
            </a:r>
            <a:r>
              <a:rPr lang="en-US" err="1"/>
              <a:t>una</a:t>
            </a:r>
            <a:r>
              <a:rPr lang="en-US"/>
              <a:t> </a:t>
            </a:r>
            <a:r>
              <a:rPr lang="en-US" err="1"/>
              <a:t>compañía</a:t>
            </a:r>
            <a:r>
              <a:rPr lang="en-US"/>
              <a:t>. Mi </a:t>
            </a:r>
            <a:r>
              <a:rPr lang="en-US" err="1"/>
              <a:t>objetivo</a:t>
            </a:r>
            <a:r>
              <a:rPr lang="en-US"/>
              <a:t> </a:t>
            </a:r>
            <a:r>
              <a:rPr lang="en-US" err="1"/>
              <a:t>en</a:t>
            </a:r>
            <a:r>
              <a:rPr lang="en-US"/>
              <a:t> </a:t>
            </a:r>
            <a:r>
              <a:rPr lang="en-US" err="1"/>
              <a:t>los</a:t>
            </a:r>
            <a:r>
              <a:rPr lang="en-US"/>
              <a:t> </a:t>
            </a:r>
            <a:r>
              <a:rPr lang="en-US" err="1"/>
              <a:t>próximos</a:t>
            </a:r>
            <a:r>
              <a:rPr lang="en-US"/>
              <a:t> 25 </a:t>
            </a:r>
            <a:r>
              <a:rPr lang="en-US" err="1"/>
              <a:t>minutos</a:t>
            </a:r>
            <a:r>
              <a:rPr lang="en-US"/>
              <a:t> es </a:t>
            </a:r>
            <a:r>
              <a:rPr lang="en-US" err="1"/>
              <a:t>mostraros</a:t>
            </a:r>
            <a:r>
              <a:rPr lang="en-US"/>
              <a:t> </a:t>
            </a:r>
            <a:r>
              <a:rPr lang="en-US" err="1"/>
              <a:t>el</a:t>
            </a:r>
            <a:r>
              <a:rPr lang="en-US"/>
              <a:t> </a:t>
            </a:r>
            <a:r>
              <a:rPr lang="en-US" err="1"/>
              <a:t>problema</a:t>
            </a:r>
            <a:r>
              <a:rPr lang="en-US"/>
              <a:t>, la </a:t>
            </a:r>
            <a:r>
              <a:rPr lang="en-US" err="1"/>
              <a:t>solución</a:t>
            </a:r>
            <a:r>
              <a:rPr lang="en-US"/>
              <a:t> </a:t>
            </a:r>
            <a:r>
              <a:rPr lang="en-US" err="1"/>
              <a:t>que</a:t>
            </a:r>
            <a:r>
              <a:rPr lang="en-US"/>
              <a:t> he </a:t>
            </a:r>
            <a:r>
              <a:rPr lang="en-US" err="1"/>
              <a:t>construido</a:t>
            </a:r>
            <a:r>
              <a:rPr lang="en-US"/>
              <a:t>, </a:t>
            </a:r>
            <a:r>
              <a:rPr lang="en-US" err="1"/>
              <a:t>su</a:t>
            </a:r>
            <a:r>
              <a:rPr lang="en-US"/>
              <a:t> </a:t>
            </a:r>
            <a:r>
              <a:rPr lang="en-US" err="1"/>
              <a:t>arquitectura</a:t>
            </a:r>
            <a:r>
              <a:rPr lang="en-US"/>
              <a:t> </a:t>
            </a:r>
            <a:r>
              <a:rPr lang="en-US" err="1"/>
              <a:t>técnica</a:t>
            </a:r>
            <a:r>
              <a:rPr lang="en-US"/>
              <a:t>, </a:t>
            </a:r>
            <a:r>
              <a:rPr lang="en-US" err="1"/>
              <a:t>los</a:t>
            </a:r>
            <a:r>
              <a:rPr lang="en-US"/>
              <a:t> </a:t>
            </a:r>
            <a:r>
              <a:rPr lang="en-US" err="1"/>
              <a:t>resultados</a:t>
            </a:r>
            <a:r>
              <a:rPr lang="en-US"/>
              <a:t> </a:t>
            </a:r>
            <a:r>
              <a:rPr lang="en-US" err="1"/>
              <a:t>obtenidos</a:t>
            </a:r>
            <a:r>
              <a:rPr lang="en-US"/>
              <a:t> y </a:t>
            </a:r>
            <a:r>
              <a:rPr lang="en-US" err="1"/>
              <a:t>por</a:t>
            </a:r>
            <a:r>
              <a:rPr lang="en-US"/>
              <a:t> </a:t>
            </a:r>
            <a:r>
              <a:rPr lang="en-US" err="1"/>
              <a:t>qué</a:t>
            </a:r>
            <a:r>
              <a:rPr lang="en-US"/>
              <a:t> </a:t>
            </a:r>
            <a:r>
              <a:rPr lang="en-US" err="1"/>
              <a:t>creo</a:t>
            </a:r>
            <a:r>
              <a:rPr lang="en-US"/>
              <a:t> </a:t>
            </a:r>
            <a:r>
              <a:rPr lang="en-US" err="1"/>
              <a:t>que</a:t>
            </a:r>
            <a:r>
              <a:rPr lang="en-US"/>
              <a:t> </a:t>
            </a:r>
            <a:r>
              <a:rPr lang="en-US" err="1"/>
              <a:t>tiene</a:t>
            </a:r>
            <a:r>
              <a:rPr lang="en-US"/>
              <a:t> un </a:t>
            </a:r>
            <a:r>
              <a:rPr lang="en-US" err="1"/>
              <a:t>encaje</a:t>
            </a:r>
            <a:r>
              <a:rPr lang="en-US"/>
              <a:t> real </a:t>
            </a:r>
            <a:r>
              <a:rPr lang="en-US" err="1"/>
              <a:t>en</a:t>
            </a:r>
            <a:r>
              <a:rPr lang="en-US"/>
              <a:t> </a:t>
            </a:r>
            <a:r>
              <a:rPr lang="en-US" err="1"/>
              <a:t>el</a:t>
            </a:r>
            <a:r>
              <a:rPr lang="en-US"/>
              <a:t> mercado.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Relationship Id="rId4" Type="http://schemas.openxmlformats.org/officeDocument/2006/relationships/image" Target="../media/image2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5" Type="http://schemas.openxmlformats.org/officeDocument/2006/relationships/image" Target="../media/image2.emf"/><Relationship Id="rId4" Type="http://schemas.openxmlformats.org/officeDocument/2006/relationships/oleObject" Target="../embeddings/oleObject3.bin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6.xml"/><Relationship Id="rId6" Type="http://schemas.openxmlformats.org/officeDocument/2006/relationships/image" Target="../media/image4.jpeg"/><Relationship Id="rId5" Type="http://schemas.openxmlformats.org/officeDocument/2006/relationships/image" Target="../media/image3.png"/><Relationship Id="rId4" Type="http://schemas.openxmlformats.org/officeDocument/2006/relationships/image" Target="../media/image2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7.xml"/><Relationship Id="rId4" Type="http://schemas.openxmlformats.org/officeDocument/2006/relationships/image" Target="../media/image2.emf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5080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20651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3176" y="3176"/>
          <a:ext cx="3176" cy="31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176" y="3176"/>
                        <a:ext cx="3176" cy="317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820688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3176" y="3176"/>
          <a:ext cx="3176" cy="31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176" y="3176"/>
                        <a:ext cx="3176" cy="317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2"/>
            </p:custDataLst>
          </p:nvPr>
        </p:nvSpPr>
        <p:spPr bwMode="auto">
          <a:xfrm>
            <a:off x="-25979" y="-210582"/>
            <a:ext cx="369462" cy="738664"/>
          </a:xfrm>
          <a:prstGeom prst="rect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s-ES_tradnl" sz="4800" b="0" i="0" baseline="0">
              <a:latin typeface="Arial"/>
              <a:ea typeface="+mj-ea"/>
              <a:cs typeface="+mj-cs"/>
              <a:sym typeface="Arial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5011698" y="9715500"/>
            <a:ext cx="13276384" cy="57150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s-ES" sz="2400" b="1">
              <a:solidFill>
                <a:srgbClr val="000000"/>
              </a:solidFill>
              <a:sym typeface="Wingdings" pitchFamily="2" charset="2"/>
            </a:endParaRPr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30" y="1"/>
            <a:ext cx="18288000" cy="97155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s-ES" sz="2400" b="1">
              <a:solidFill>
                <a:srgbClr val="000000"/>
              </a:solidFill>
              <a:sym typeface="Wingdings" pitchFamily="2" charset="2"/>
            </a:endParaRPr>
          </a:p>
        </p:txBody>
      </p:sp>
      <p:sp>
        <p:nvSpPr>
          <p:cNvPr id="7" name="Line 23"/>
          <p:cNvSpPr>
            <a:spLocks noChangeShapeType="1"/>
          </p:cNvSpPr>
          <p:nvPr/>
        </p:nvSpPr>
        <p:spPr bwMode="gray">
          <a:xfrm>
            <a:off x="30" y="1023938"/>
            <a:ext cx="18288000" cy="0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/>
            <a:tailEnd/>
          </a:ln>
          <a:effectLst/>
        </p:spPr>
        <p:txBody>
          <a:bodyPr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s-ES" sz="2400" b="1">
              <a:solidFill>
                <a:srgbClr val="000000"/>
              </a:solidFill>
              <a:sym typeface="Wingdings" pitchFamily="2" charset="2"/>
            </a:endParaRPr>
          </a:p>
        </p:txBody>
      </p:sp>
      <p:sp>
        <p:nvSpPr>
          <p:cNvPr id="9" name="Rectangle 15"/>
          <p:cNvSpPr>
            <a:spLocks noChangeArrowheads="1"/>
          </p:cNvSpPr>
          <p:nvPr/>
        </p:nvSpPr>
        <p:spPr bwMode="auto">
          <a:xfrm>
            <a:off x="11962388" y="9101316"/>
            <a:ext cx="6161572" cy="585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b"/>
          <a:lstStyle/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s-ES_tradnl" sz="2100" b="1">
                <a:solidFill>
                  <a:schemeClr val="bg1"/>
                </a:solidFill>
                <a:latin typeface="Calibri" panose="020F0502020204030204" pitchFamily="34" charset="0"/>
                <a:sym typeface="Wingdings" pitchFamily="2" charset="2"/>
              </a:rPr>
              <a:t>www.managementsolutions.com</a:t>
            </a:r>
            <a:endParaRPr lang="en-US" sz="2100" b="1">
              <a:solidFill>
                <a:schemeClr val="bg1"/>
              </a:solidFill>
              <a:latin typeface="Calibri" panose="020F0502020204030204" pitchFamily="34" charset="0"/>
              <a:sym typeface="Wingdings" pitchFamily="2" charset="2"/>
            </a:endParaRPr>
          </a:p>
        </p:txBody>
      </p:sp>
      <p:sp>
        <p:nvSpPr>
          <p:cNvPr id="10" name="Rectangle 3"/>
          <p:cNvSpPr>
            <a:spLocks noChangeArrowheads="1"/>
          </p:cNvSpPr>
          <p:nvPr/>
        </p:nvSpPr>
        <p:spPr bwMode="auto">
          <a:xfrm>
            <a:off x="80" y="9715500"/>
            <a:ext cx="5011616" cy="571500"/>
          </a:xfrm>
          <a:prstGeom prst="rect">
            <a:avLst/>
          </a:prstGeom>
          <a:solidFill>
            <a:srgbClr val="BFA13E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GB" sz="2000">
              <a:solidFill>
                <a:srgbClr val="000000"/>
              </a:solidFill>
              <a:sym typeface="Wingdings" pitchFamily="2" charset="2"/>
            </a:endParaRPr>
          </a:p>
        </p:txBody>
      </p:sp>
      <p:sp>
        <p:nvSpPr>
          <p:cNvPr id="12" name="Rectangle 7"/>
          <p:cNvSpPr>
            <a:spLocks noChangeArrowheads="1"/>
          </p:cNvSpPr>
          <p:nvPr/>
        </p:nvSpPr>
        <p:spPr bwMode="gray">
          <a:xfrm>
            <a:off x="13935892" y="9731881"/>
            <a:ext cx="4188068" cy="514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b"/>
          <a:lstStyle/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s-ES_tradnl" sz="2000">
                <a:solidFill>
                  <a:srgbClr val="FFFFFF"/>
                </a:solidFill>
                <a:latin typeface="Calibri" panose="020F0502020204030204" pitchFamily="34" charset="0"/>
                <a:sym typeface="Wingdings" pitchFamily="2" charset="2"/>
              </a:rPr>
              <a:t>Madrid, enero de 2019</a:t>
            </a:r>
            <a:endParaRPr lang="en-US" sz="2000">
              <a:solidFill>
                <a:srgbClr val="FFFFFF"/>
              </a:solidFill>
              <a:latin typeface="Calibri" panose="020F0502020204030204" pitchFamily="34" charset="0"/>
              <a:sym typeface="Wingdings" pitchFamily="2" charset="2"/>
            </a:endParaRPr>
          </a:p>
        </p:txBody>
      </p:sp>
      <p:sp>
        <p:nvSpPr>
          <p:cNvPr id="13" name="Rectangle 16"/>
          <p:cNvSpPr>
            <a:spLocks noChangeArrowheads="1"/>
          </p:cNvSpPr>
          <p:nvPr/>
        </p:nvSpPr>
        <p:spPr bwMode="auto">
          <a:xfrm>
            <a:off x="1" y="9736932"/>
            <a:ext cx="5011694" cy="5500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720000" rIns="0" anchor="ctr"/>
          <a:lstStyle/>
          <a:p>
            <a:pPr marL="0" indent="0" algn="l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400" b="1">
                <a:solidFill>
                  <a:srgbClr val="FFFFFF"/>
                </a:solidFill>
                <a:latin typeface="Calibri" panose="020F0502020204030204" pitchFamily="34" charset="0"/>
                <a:sym typeface="Wingdings" pitchFamily="2" charset="2"/>
              </a:rPr>
              <a:t>     Entidades Financieras</a:t>
            </a:r>
          </a:p>
        </p:txBody>
      </p:sp>
      <p:sp>
        <p:nvSpPr>
          <p:cNvPr id="14" name="Text Box 1030"/>
          <p:cNvSpPr txBox="1">
            <a:spLocks noChangeArrowheads="1"/>
          </p:cNvSpPr>
          <p:nvPr/>
        </p:nvSpPr>
        <p:spPr bwMode="auto">
          <a:xfrm>
            <a:off x="7502801" y="1895475"/>
            <a:ext cx="305386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endParaRPr lang="es-ES" sz="2400" u="sng">
              <a:solidFill>
                <a:srgbClr val="000000"/>
              </a:solidFill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021436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63565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ct 9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3176" y="3176"/>
          <a:ext cx="3176" cy="31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10" name="Object 9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176" y="3176"/>
                        <a:ext cx="3176" cy="317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Line 65"/>
          <p:cNvSpPr>
            <a:spLocks noChangeShapeType="1"/>
          </p:cNvSpPr>
          <p:nvPr userDrawn="1"/>
        </p:nvSpPr>
        <p:spPr bwMode="auto">
          <a:xfrm>
            <a:off x="16960362" y="10010954"/>
            <a:ext cx="0" cy="15002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s-ES" sz="2400" b="1">
              <a:solidFill>
                <a:srgbClr val="000000"/>
              </a:solidFill>
              <a:sym typeface="Wingdings" pitchFamily="2" charset="2"/>
            </a:endParaRPr>
          </a:p>
        </p:txBody>
      </p:sp>
      <p:pic>
        <p:nvPicPr>
          <p:cNvPr id="15" name="Picture 19" descr="ManagementSolutions_h_1"/>
          <p:cNvPicPr>
            <a:picLocks noChangeAspect="1" noChangeArrowheads="1"/>
          </p:cNvPicPr>
          <p:nvPr userDrawn="1"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02308" y="9894275"/>
            <a:ext cx="2460972" cy="309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6" name="Text Box 64"/>
          <p:cNvSpPr txBox="1">
            <a:spLocks noChangeArrowheads="1"/>
          </p:cNvSpPr>
          <p:nvPr userDrawn="1"/>
        </p:nvSpPr>
        <p:spPr bwMode="gray">
          <a:xfrm>
            <a:off x="15744096" y="9872188"/>
            <a:ext cx="2391508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s-ES" sz="1600">
                <a:solidFill>
                  <a:schemeClr val="bg1"/>
                </a:solidFill>
                <a:sym typeface="Wingdings" pitchFamily="2" charset="2"/>
              </a:rPr>
              <a:t>   Página </a:t>
            </a:r>
            <a:fld id="{01481FC6-969E-48EC-A3B1-A4B6D7C06B78}" type="slidenum">
              <a:rPr lang="es-ES" sz="1600">
                <a:solidFill>
                  <a:schemeClr val="bg1"/>
                </a:solidFill>
                <a:sym typeface="Wingdings" pitchFamily="2" charset="2"/>
              </a:rPr>
              <a:pPr algn="r" fontAlgn="base">
                <a:spcBef>
                  <a:spcPct val="0"/>
                </a:spcBef>
                <a:spcAft>
                  <a:spcPct val="0"/>
                </a:spcAft>
                <a:defRPr/>
              </a:pPr>
              <a:t>‹Nº›</a:t>
            </a:fld>
            <a:endParaRPr lang="en-US" sz="1600">
              <a:solidFill>
                <a:schemeClr val="bg1"/>
              </a:solidFill>
              <a:sym typeface="Wingdings" pitchFamily="2" charset="2"/>
            </a:endParaRPr>
          </a:p>
        </p:txBody>
      </p:sp>
      <p:sp>
        <p:nvSpPr>
          <p:cNvPr id="17" name="Rectangle 67"/>
          <p:cNvSpPr>
            <a:spLocks noChangeArrowheads="1"/>
          </p:cNvSpPr>
          <p:nvPr userDrawn="1"/>
        </p:nvSpPr>
        <p:spPr bwMode="gray">
          <a:xfrm>
            <a:off x="12154013" y="10005240"/>
            <a:ext cx="4718538" cy="184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s-ES" sz="1200">
                <a:solidFill>
                  <a:schemeClr val="bg1"/>
                </a:solidFill>
                <a:sym typeface="Wingdings" pitchFamily="2" charset="2"/>
              </a:rPr>
              <a:t> </a:t>
            </a:r>
            <a:r>
              <a:rPr lang="es-ES_tradnl" sz="1200">
                <a:solidFill>
                  <a:schemeClr val="bg1"/>
                </a:solidFill>
                <a:sym typeface="Wingdings" pitchFamily="2" charset="2"/>
              </a:rPr>
              <a:t>©</a:t>
            </a:r>
            <a:r>
              <a:rPr lang="es-ES" sz="1200">
                <a:solidFill>
                  <a:schemeClr val="bg1"/>
                </a:solidFill>
                <a:sym typeface="Wingdings" pitchFamily="2" charset="2"/>
              </a:rPr>
              <a:t>  Management </a:t>
            </a:r>
            <a:r>
              <a:rPr lang="es-ES" sz="1200" err="1">
                <a:solidFill>
                  <a:schemeClr val="bg1"/>
                </a:solidFill>
                <a:sym typeface="Wingdings" pitchFamily="2" charset="2"/>
              </a:rPr>
              <a:t>Solutions</a:t>
            </a:r>
            <a:r>
              <a:rPr lang="es-ES" sz="1200">
                <a:solidFill>
                  <a:schemeClr val="bg1"/>
                </a:solidFill>
                <a:sym typeface="Wingdings" pitchFamily="2" charset="2"/>
              </a:rPr>
              <a:t>  2019. Todos los derechos reservados </a:t>
            </a:r>
          </a:p>
        </p:txBody>
      </p:sp>
      <p:grpSp>
        <p:nvGrpSpPr>
          <p:cNvPr id="11" name="Group 10"/>
          <p:cNvGrpSpPr/>
          <p:nvPr userDrawn="1"/>
        </p:nvGrpSpPr>
        <p:grpSpPr>
          <a:xfrm>
            <a:off x="-1136" y="496076"/>
            <a:ext cx="18273600" cy="9792000"/>
            <a:chOff x="6312" y="-4289"/>
            <a:chExt cx="9118800" cy="4870104"/>
          </a:xfrm>
        </p:grpSpPr>
        <p:pic>
          <p:nvPicPr>
            <p:cNvPr id="12" name="Picture 11"/>
            <p:cNvPicPr>
              <a:picLocks noChangeAspect="1"/>
            </p:cNvPicPr>
            <p:nvPr userDrawn="1"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312" y="-4289"/>
              <a:ext cx="9118800" cy="4842757"/>
            </a:xfrm>
            <a:prstGeom prst="rect">
              <a:avLst/>
            </a:prstGeom>
          </p:spPr>
        </p:pic>
        <p:sp>
          <p:nvSpPr>
            <p:cNvPr id="14" name="Rectangle 13"/>
            <p:cNvSpPr/>
            <p:nvPr userDrawn="1"/>
          </p:nvSpPr>
          <p:spPr bwMode="auto">
            <a:xfrm>
              <a:off x="6909" y="-237"/>
              <a:ext cx="9117606" cy="4866052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rtlCol="0" anchor="ctr">
              <a:noAutofit/>
            </a:bodyPr>
            <a:lstStyle/>
            <a:p>
              <a:pPr algn="ctr"/>
              <a:endParaRPr lang="es-ES" sz="3600" u="sng"/>
            </a:p>
          </p:txBody>
        </p:sp>
      </p:grpSp>
    </p:spTree>
    <p:extLst>
      <p:ext uri="{BB962C8B-B14F-4D97-AF65-F5344CB8AC3E}">
        <p14:creationId xmlns:p14="http://schemas.microsoft.com/office/powerpoint/2010/main" val="38870460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3176" y="3176"/>
          <a:ext cx="3176" cy="31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176" y="3176"/>
                        <a:ext cx="3176" cy="317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235905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de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Marcador de texto 11">
            <a:extLst>
              <a:ext uri="{FF2B5EF4-FFF2-40B4-BE49-F238E27FC236}">
                <a16:creationId xmlns:a16="http://schemas.microsoft.com/office/drawing/2014/main" id="{0CC57AA0-6C3B-4C80-BF6B-C321A960A96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48968" y="1650359"/>
            <a:ext cx="15953764" cy="7359998"/>
          </a:xfrm>
        </p:spPr>
        <p:txBody>
          <a:bodyPr>
            <a:normAutofit/>
          </a:bodyPr>
          <a:lstStyle>
            <a:lvl1pPr marL="648000" indent="-594000">
              <a:buClr>
                <a:schemeClr val="accent1"/>
              </a:buClr>
              <a:buSzPct val="45000"/>
              <a:buFont typeface="+mj-lt"/>
              <a:buAutoNum type="arabicPeriod"/>
              <a:defRPr lang="es-ES" sz="6000" b="1" kern="1200" dirty="0" smtClean="0">
                <a:solidFill>
                  <a:srgbClr val="3C3C3B"/>
                </a:solidFill>
                <a:latin typeface="+mn-lt"/>
                <a:ea typeface="+mn-ea"/>
                <a:cs typeface="+mn-cs"/>
              </a:defRPr>
            </a:lvl1pPr>
            <a:lvl2pPr marL="685800" indent="0">
              <a:buNone/>
              <a:defRPr/>
            </a:lvl2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4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48965" y="9595197"/>
            <a:ext cx="1758162" cy="308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27821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710979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IN LINE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9934" y="1011179"/>
            <a:ext cx="16138100" cy="496146"/>
          </a:xfrm>
        </p:spPr>
        <p:txBody>
          <a:bodyPr anchor="t" anchorCtr="0">
            <a:noAutofit/>
          </a:bodyPr>
          <a:lstStyle>
            <a:lvl1pPr>
              <a:defRPr lang="es-ES" sz="2400" kern="1200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1371600" rtl="0" eaLnBrk="1" latinLnBrk="0" hangingPunct="1">
              <a:lnSpc>
                <a:spcPct val="90000"/>
              </a:lnSpc>
              <a:spcBef>
                <a:spcPts val="1500"/>
              </a:spcBef>
              <a:buFontTx/>
              <a:buNone/>
            </a:pPr>
            <a:r>
              <a:rPr lang="es-ES"/>
              <a:t>Aquí Haga clic para modificar el estilo de título del patrón</a:t>
            </a:r>
          </a:p>
        </p:txBody>
      </p:sp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9935" y="553978"/>
            <a:ext cx="15950322" cy="457200"/>
          </a:xfrm>
        </p:spPr>
        <p:txBody>
          <a:bodyPr anchor="b" anchorCtr="0">
            <a:noAutofit/>
          </a:bodyPr>
          <a:lstStyle>
            <a:lvl1pPr marL="0" indent="0" algn="l" defTabSz="1371600" rtl="0" eaLnBrk="1" latinLnBrk="0" hangingPunct="1">
              <a:lnSpc>
                <a:spcPct val="90000"/>
              </a:lnSpc>
              <a:spcBef>
                <a:spcPct val="0"/>
              </a:spcBef>
              <a:buFontTx/>
              <a:buNone/>
              <a:defRPr lang="es-ES" sz="3600" kern="1200" dirty="0">
                <a:solidFill>
                  <a:schemeClr val="accent1"/>
                </a:solidFill>
                <a:latin typeface="Arial Narrow" panose="020B0606020202030204" pitchFamily="34" charset="0"/>
                <a:ea typeface="+mj-ea"/>
                <a:cs typeface="+mj-cs"/>
              </a:defRPr>
            </a:lvl1pPr>
            <a:lvl2pPr marL="685800" indent="0">
              <a:buFontTx/>
              <a:buNone/>
              <a:defRPr sz="1650"/>
            </a:lvl2pPr>
            <a:lvl3pPr marL="1371600" indent="0">
              <a:buFontTx/>
              <a:buNone/>
              <a:defRPr sz="1576"/>
            </a:lvl3pPr>
            <a:lvl4pPr marL="2057400" indent="0">
              <a:buFontTx/>
              <a:buNone/>
              <a:defRPr sz="1500"/>
            </a:lvl4pPr>
            <a:lvl5pPr marL="2743200" indent="0">
              <a:buFontTx/>
              <a:buNone/>
              <a:defRPr sz="1500"/>
            </a:lvl5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12" name="Marcador de texto 16">
            <a:extLst>
              <a:ext uri="{FF2B5EF4-FFF2-40B4-BE49-F238E27FC236}">
                <a16:creationId xmlns:a16="http://schemas.microsoft.com/office/drawing/2014/main" id="{87DF9564-216B-4533-A626-FE222DEB917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99934" y="1558615"/>
            <a:ext cx="16138100" cy="4625102"/>
          </a:xfrm>
        </p:spPr>
        <p:txBody>
          <a:bodyPr numCol="2" spcCol="720000">
            <a:noAutofit/>
          </a:bodyPr>
          <a:lstStyle>
            <a:lvl1pPr marL="0" indent="0">
              <a:spcBef>
                <a:spcPts val="0"/>
              </a:spcBef>
              <a:spcAft>
                <a:spcPts val="3300"/>
              </a:spcAft>
              <a:buFontTx/>
              <a:buNone/>
              <a:defRPr lang="es-ES" sz="210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85776" indent="-257176">
              <a:buFont typeface="Arial" panose="020B0604020202020204" pitchFamily="34" charset="0"/>
              <a:buChar char="•"/>
              <a:defRPr lang="es-ES" sz="210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628776" indent="-257176">
              <a:buFont typeface="Courier New" panose="02070309020205020404" pitchFamily="49" charset="0"/>
              <a:buChar char="o"/>
              <a:defRPr lang="es-ES" sz="210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2057400" indent="0">
              <a:buFontTx/>
              <a:buNone/>
              <a:defRPr lang="es-ES" sz="21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743200" indent="0">
              <a:buFontTx/>
              <a:buNone/>
              <a:defRPr lang="es-ES"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l" defTabSz="1371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500"/>
              </a:spcAft>
              <a:buFontTx/>
              <a:buNone/>
            </a:pPr>
            <a:r>
              <a:rPr lang="es-ES"/>
              <a:t>Editar los estilos de texto del patrón</a:t>
            </a:r>
          </a:p>
          <a:p>
            <a:pPr marL="316708" lvl="1" indent="-316708" algn="l" defTabSz="1371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s-ES" err="1"/>
              <a:t>Fsfsfs</a:t>
            </a:r>
            <a:endParaRPr lang="es-ES"/>
          </a:p>
          <a:p>
            <a:pPr marL="457200" lvl="2" indent="-228600" algn="l" defTabSz="1371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SzPct val="80000"/>
              <a:buFont typeface="Arial" panose="020B0604020202020204" pitchFamily="34" charset="0"/>
              <a:buChar char="│"/>
            </a:pPr>
            <a:r>
              <a:rPr lang="es-ES" err="1"/>
              <a:t>fsfsfsfs</a:t>
            </a:r>
            <a:endParaRPr lang="es-ES"/>
          </a:p>
          <a:p>
            <a:pPr marL="790576" lvl="3" indent="-333376" algn="l" defTabSz="1371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SzPct val="90000"/>
              <a:buFont typeface="Segoe UI Symbol" panose="020B0502040204020203" pitchFamily="34" charset="0"/>
              <a:buChar char="▶"/>
            </a:pPr>
            <a:r>
              <a:rPr lang="es-ES" err="1"/>
              <a:t>bgsfs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258702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_empty_plank">
  <p:cSld name="7_empty_plank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>
            <a:spLocks noGrp="1"/>
          </p:cNvSpPr>
          <p:nvPr>
            <p:ph type="title"/>
          </p:nvPr>
        </p:nvSpPr>
        <p:spPr>
          <a:xfrm>
            <a:off x="4381500" y="400052"/>
            <a:ext cx="9525000" cy="8382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800"/>
              <a:buFont typeface="Calibri"/>
              <a:buNone/>
              <a:defRPr sz="4200" b="1" i="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5"/>
          <p:cNvSpPr txBox="1">
            <a:spLocks noGrp="1"/>
          </p:cNvSpPr>
          <p:nvPr>
            <p:ph type="body" idx="1"/>
          </p:nvPr>
        </p:nvSpPr>
        <p:spPr>
          <a:xfrm>
            <a:off x="6543679" y="1255860"/>
            <a:ext cx="5200650" cy="4014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914400" lvl="0" indent="-4572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F7F7F"/>
              </a:buClr>
              <a:buSzPts val="1600"/>
              <a:buFont typeface="Calibri"/>
              <a:buNone/>
              <a:defRPr sz="2400" b="1" i="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828800" lvl="1" indent="-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800"/>
            </a:lvl2pPr>
            <a:lvl3pPr marL="2743200" lvl="2" indent="-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500"/>
            </a:lvl3pPr>
            <a:lvl4pPr marL="3657600" lvl="3" indent="-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350"/>
            </a:lvl4pPr>
            <a:lvl5pPr marL="4572000" lvl="4" indent="-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350"/>
            </a:lvl5pPr>
            <a:lvl6pPr marL="5486400" lvl="5" indent="-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350"/>
            </a:lvl6pPr>
            <a:lvl7pPr marL="6400800" lvl="6" indent="-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350"/>
            </a:lvl7pPr>
            <a:lvl8pPr marL="7315200" lvl="7" indent="-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350"/>
            </a:lvl8pPr>
            <a:lvl9pPr marL="8229600" lvl="8" indent="-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35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984806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043348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13" Type="http://schemas.openxmlformats.org/officeDocument/2006/relationships/oleObject" Target="../embeddings/oleObject2.bin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12" Type="http://schemas.openxmlformats.org/officeDocument/2006/relationships/tags" Target="../tags/tag3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tags" Target="../tags/tag2.xml"/><Relationship Id="rId5" Type="http://schemas.openxmlformats.org/officeDocument/2006/relationships/slideLayout" Target="../slideLayouts/slideLayout8.xml"/><Relationship Id="rId15" Type="http://schemas.openxmlformats.org/officeDocument/2006/relationships/image" Target="../media/image3.png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Relationship Id="rId14" Type="http://schemas.openxmlformats.org/officeDocument/2006/relationships/image" Target="../media/image2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40"/>
          <p:cNvSpPr>
            <a:spLocks noGrp="1" noChangeArrowheads="1"/>
          </p:cNvSpPr>
          <p:nvPr>
            <p:ph type="title"/>
          </p:nvPr>
        </p:nvSpPr>
        <p:spPr bwMode="gray">
          <a:xfrm>
            <a:off x="1397978" y="500063"/>
            <a:ext cx="12986238" cy="1114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3315" name="Rectangle 41"/>
          <p:cNvSpPr>
            <a:spLocks noGrp="1" noChangeArrowheads="1"/>
          </p:cNvSpPr>
          <p:nvPr>
            <p:ph type="body" idx="1"/>
          </p:nvPr>
        </p:nvSpPr>
        <p:spPr bwMode="auto">
          <a:xfrm>
            <a:off x="1380394" y="2126457"/>
            <a:ext cx="16262838" cy="617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level1</a:t>
            </a:r>
          </a:p>
        </p:txBody>
      </p:sp>
      <p:grpSp>
        <p:nvGrpSpPr>
          <p:cNvPr id="13316" name="Group 60"/>
          <p:cNvGrpSpPr>
            <a:grpSpLocks/>
          </p:cNvGrpSpPr>
          <p:nvPr/>
        </p:nvGrpSpPr>
        <p:grpSpPr bwMode="auto">
          <a:xfrm>
            <a:off x="0" y="2"/>
            <a:ext cx="18288000" cy="490538"/>
            <a:chOff x="0" y="0"/>
            <a:chExt cx="6240" cy="206"/>
          </a:xfrm>
        </p:grpSpPr>
        <p:sp>
          <p:nvSpPr>
            <p:cNvPr id="1071" name="Rectangle 47"/>
            <p:cNvSpPr>
              <a:spLocks noChangeArrowheads="1"/>
            </p:cNvSpPr>
            <p:nvPr userDrawn="1"/>
          </p:nvSpPr>
          <p:spPr bwMode="auto">
            <a:xfrm flipV="1">
              <a:off x="0" y="0"/>
              <a:ext cx="6240" cy="180"/>
            </a:xfrm>
            <a:prstGeom prst="rect">
              <a:avLst/>
            </a:prstGeom>
            <a:solidFill>
              <a:srgbClr val="001A48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rot="10800000" wrap="none" anchor="ctr"/>
            <a:lstStyle/>
            <a:p>
              <a:pPr algn="ctr">
                <a:defRPr/>
              </a:pPr>
              <a:endParaRPr lang="en-US" sz="3000">
                <a:solidFill>
                  <a:schemeClr val="bg1"/>
                </a:solidFill>
                <a:ea typeface="+mn-ea"/>
                <a:cs typeface="+mn-cs"/>
              </a:endParaRPr>
            </a:p>
          </p:txBody>
        </p:sp>
        <p:sp>
          <p:nvSpPr>
            <p:cNvPr id="1072" name="Line 48"/>
            <p:cNvSpPr>
              <a:spLocks noChangeShapeType="1"/>
            </p:cNvSpPr>
            <p:nvPr userDrawn="1"/>
          </p:nvSpPr>
          <p:spPr bwMode="gray">
            <a:xfrm>
              <a:off x="0" y="206"/>
              <a:ext cx="6240" cy="0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s-ES_tradnl" sz="2700">
                <a:ea typeface="+mn-ea"/>
                <a:cs typeface="+mn-cs"/>
              </a:endParaRPr>
            </a:p>
          </p:txBody>
        </p:sp>
      </p:grpSp>
      <p:sp>
        <p:nvSpPr>
          <p:cNvPr id="1075" name="Rectangle 51"/>
          <p:cNvSpPr>
            <a:spLocks noChangeArrowheads="1"/>
          </p:cNvSpPr>
          <p:nvPr/>
        </p:nvSpPr>
        <p:spPr bwMode="gray">
          <a:xfrm>
            <a:off x="12441849" y="9967526"/>
            <a:ext cx="4390293" cy="138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>
            <a:spAutoFit/>
          </a:bodyPr>
          <a:lstStyle/>
          <a:p>
            <a:pPr algn="r">
              <a:defRPr/>
            </a:pPr>
            <a:r>
              <a:rPr lang="es-ES" sz="900">
                <a:solidFill>
                  <a:schemeClr val="bg2"/>
                </a:solidFill>
                <a:latin typeface="Arial" pitchFamily="34" charset="0"/>
              </a:rPr>
              <a:t> </a:t>
            </a:r>
            <a:r>
              <a:rPr lang="es-ES_tradnl" sz="900">
                <a:solidFill>
                  <a:schemeClr val="bg2"/>
                </a:solidFill>
                <a:latin typeface="Arial" pitchFamily="34" charset="0"/>
              </a:rPr>
              <a:t>©</a:t>
            </a:r>
            <a:r>
              <a:rPr lang="es-ES" sz="900">
                <a:solidFill>
                  <a:schemeClr val="bg2"/>
                </a:solidFill>
                <a:latin typeface="Arial" pitchFamily="34" charset="0"/>
              </a:rPr>
              <a:t>  Management </a:t>
            </a:r>
            <a:r>
              <a:rPr lang="es-ES" sz="900" err="1">
                <a:solidFill>
                  <a:schemeClr val="bg2"/>
                </a:solidFill>
                <a:latin typeface="Arial" pitchFamily="34" charset="0"/>
              </a:rPr>
              <a:t>Solutions</a:t>
            </a:r>
            <a:r>
              <a:rPr lang="es-ES" sz="900">
                <a:solidFill>
                  <a:schemeClr val="bg2"/>
                </a:solidFill>
                <a:latin typeface="Arial" pitchFamily="34" charset="0"/>
              </a:rPr>
              <a:t>  2026. Todos los derechos reservados</a:t>
            </a:r>
          </a:p>
        </p:txBody>
      </p:sp>
      <p:sp>
        <p:nvSpPr>
          <p:cNvPr id="1076" name="Text Box 52"/>
          <p:cNvSpPr txBox="1">
            <a:spLocks noChangeArrowheads="1"/>
          </p:cNvSpPr>
          <p:nvPr/>
        </p:nvSpPr>
        <p:spPr bwMode="gray">
          <a:xfrm>
            <a:off x="15636389" y="9863136"/>
            <a:ext cx="2391507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r">
              <a:defRPr/>
            </a:pPr>
            <a:r>
              <a:rPr lang="es-ES" sz="1200">
                <a:solidFill>
                  <a:schemeClr val="bg2"/>
                </a:solidFill>
                <a:ea typeface="ＭＳ Ｐゴシック" pitchFamily="16" charset="-128"/>
                <a:cs typeface="+mn-cs"/>
              </a:rPr>
              <a:t>   Página </a:t>
            </a:r>
            <a:fld id="{C614F091-323B-4DA7-B99E-77F205316F4E}" type="slidenum">
              <a:rPr lang="es-ES" sz="1200">
                <a:solidFill>
                  <a:schemeClr val="bg2"/>
                </a:solidFill>
                <a:ea typeface="ＭＳ Ｐゴシック" pitchFamily="16" charset="-128"/>
                <a:cs typeface="+mn-cs"/>
              </a:rPr>
              <a:pPr algn="r">
                <a:defRPr/>
              </a:pPr>
              <a:t>‹Nº›</a:t>
            </a:fld>
            <a:endParaRPr lang="en-US" sz="1200">
              <a:solidFill>
                <a:schemeClr val="bg2"/>
              </a:solidFill>
              <a:ea typeface="ＭＳ Ｐゴシック" pitchFamily="16" charset="-128"/>
              <a:cs typeface="+mn-cs"/>
            </a:endParaRPr>
          </a:p>
        </p:txBody>
      </p:sp>
      <p:sp>
        <p:nvSpPr>
          <p:cNvPr id="1078" name="Line 54"/>
          <p:cNvSpPr>
            <a:spLocks noChangeShapeType="1"/>
          </p:cNvSpPr>
          <p:nvPr/>
        </p:nvSpPr>
        <p:spPr bwMode="auto">
          <a:xfrm>
            <a:off x="17032317" y="9956006"/>
            <a:ext cx="0" cy="15002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s-ES_tradnl" sz="2700">
              <a:ea typeface="+mn-ea"/>
              <a:cs typeface="+mn-c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560FB33-BA86-D0F6-CF82-0310A3B25BEA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60105" y="9820775"/>
            <a:ext cx="2536824" cy="43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4153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02" r:id="rId1"/>
    <p:sldLayoutId id="2147484141" r:id="rId2"/>
    <p:sldLayoutId id="2147484142" r:id="rId3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2200">
          <a:solidFill>
            <a:srgbClr val="001A48"/>
          </a:solidFill>
          <a:latin typeface="+mj-lt"/>
          <a:ea typeface="ＭＳ Ｐゴシック" pitchFamily="16" charset="-128"/>
          <a:cs typeface="ＭＳ Ｐゴシック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200">
          <a:solidFill>
            <a:srgbClr val="001A48"/>
          </a:solidFill>
          <a:latin typeface="Arial" charset="0"/>
          <a:ea typeface="ＭＳ Ｐゴシック" pitchFamily="16" charset="-128"/>
          <a:cs typeface="ＭＳ Ｐゴシック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200">
          <a:solidFill>
            <a:srgbClr val="001A48"/>
          </a:solidFill>
          <a:latin typeface="Arial" charset="0"/>
          <a:ea typeface="ＭＳ Ｐゴシック" pitchFamily="16" charset="-128"/>
          <a:cs typeface="ＭＳ Ｐゴシック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200">
          <a:solidFill>
            <a:srgbClr val="001A48"/>
          </a:solidFill>
          <a:latin typeface="Arial" charset="0"/>
          <a:ea typeface="ＭＳ Ｐゴシック" pitchFamily="16" charset="-128"/>
          <a:cs typeface="ＭＳ Ｐゴシック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200">
          <a:solidFill>
            <a:srgbClr val="001A48"/>
          </a:solidFill>
          <a:latin typeface="Arial" charset="0"/>
          <a:ea typeface="ＭＳ Ｐゴシック" pitchFamily="16" charset="-128"/>
          <a:cs typeface="ＭＳ Ｐゴシック"/>
        </a:defRPr>
      </a:lvl5pPr>
      <a:lvl6pPr marL="457200" algn="l" rtl="0" fontAlgn="base">
        <a:spcBef>
          <a:spcPct val="0"/>
        </a:spcBef>
        <a:spcAft>
          <a:spcPct val="0"/>
        </a:spcAft>
        <a:defRPr sz="2200">
          <a:solidFill>
            <a:srgbClr val="001A48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200">
          <a:solidFill>
            <a:srgbClr val="001A48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200">
          <a:solidFill>
            <a:srgbClr val="001A48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200">
          <a:solidFill>
            <a:srgbClr val="001A48"/>
          </a:solidFill>
          <a:latin typeface="Arial" charset="0"/>
        </a:defRPr>
      </a:lvl9pPr>
    </p:titleStyle>
    <p:bodyStyle>
      <a:lvl1pPr marL="342900" indent="-342900" algn="l" rtl="0" eaLnBrk="0" fontAlgn="base" hangingPunct="0">
        <a:lnSpc>
          <a:spcPct val="102000"/>
        </a:lnSpc>
        <a:spcBef>
          <a:spcPct val="50000"/>
        </a:spcBef>
        <a:spcAft>
          <a:spcPct val="0"/>
        </a:spcAft>
        <a:buChar char="•"/>
        <a:defRPr sz="1600">
          <a:solidFill>
            <a:schemeClr val="tx1"/>
          </a:solidFill>
          <a:latin typeface="+mn-lt"/>
          <a:ea typeface="ＭＳ Ｐゴシック" pitchFamily="16" charset="-128"/>
          <a:cs typeface="ＭＳ Ｐゴシック"/>
        </a:defRPr>
      </a:lvl1pPr>
      <a:lvl2pPr marL="381000" indent="-190500" algn="l" rtl="0" eaLnBrk="0" fontAlgn="base" hangingPunct="0">
        <a:lnSpc>
          <a:spcPct val="102000"/>
        </a:lnSpc>
        <a:spcBef>
          <a:spcPct val="50000"/>
        </a:spcBef>
        <a:spcAft>
          <a:spcPct val="0"/>
        </a:spcAft>
        <a:buClr>
          <a:schemeClr val="hlink"/>
        </a:buClr>
        <a:buSzPct val="80000"/>
        <a:buFont typeface="Webdings" pitchFamily="18" charset="2"/>
        <a:buChar char="4"/>
        <a:defRPr sz="1600">
          <a:solidFill>
            <a:schemeClr val="tx1"/>
          </a:solidFill>
          <a:latin typeface="+mn-lt"/>
          <a:ea typeface="ＭＳ Ｐゴシック" charset="-128"/>
          <a:cs typeface="ＭＳ Ｐゴシック"/>
        </a:defRPr>
      </a:lvl2pPr>
      <a:lvl3pPr marL="660400" indent="-88900" algn="l" rtl="0" eaLnBrk="0" fontAlgn="base" hangingPunct="0">
        <a:lnSpc>
          <a:spcPct val="102000"/>
        </a:lnSpc>
        <a:spcBef>
          <a:spcPct val="50000"/>
        </a:spcBef>
        <a:spcAft>
          <a:spcPct val="0"/>
        </a:spcAft>
        <a:buClr>
          <a:schemeClr val="bg2"/>
        </a:buClr>
        <a:buFont typeface="Arial" charset="0"/>
        <a:buChar char="-"/>
        <a:defRPr sz="1600">
          <a:solidFill>
            <a:schemeClr val="tx1"/>
          </a:solidFill>
          <a:latin typeface="+mn-lt"/>
          <a:ea typeface="ＭＳ Ｐゴシック" charset="-128"/>
          <a:cs typeface="ＭＳ Ｐゴシック"/>
        </a:defRPr>
      </a:lvl3pPr>
      <a:lvl4pPr marL="996950" indent="-146050" algn="l" rtl="0" eaLnBrk="0" fontAlgn="base" hangingPunct="0">
        <a:lnSpc>
          <a:spcPct val="102000"/>
        </a:lnSpc>
        <a:spcBef>
          <a:spcPct val="50000"/>
        </a:spcBef>
        <a:spcAft>
          <a:spcPct val="0"/>
        </a:spcAft>
        <a:buClr>
          <a:schemeClr val="bg2"/>
        </a:buClr>
        <a:buFont typeface="Arial" charset="0"/>
        <a:buChar char="-"/>
        <a:defRPr sz="1600">
          <a:solidFill>
            <a:schemeClr val="tx1"/>
          </a:solidFill>
          <a:latin typeface="+mn-lt"/>
          <a:ea typeface="ＭＳ Ｐゴシック" charset="-128"/>
          <a:cs typeface="ＭＳ Ｐゴシック"/>
        </a:defRPr>
      </a:lvl4pPr>
      <a:lvl5pPr marL="1377950" indent="-190500" algn="l" rtl="0" eaLnBrk="0" fontAlgn="base" hangingPunct="0">
        <a:lnSpc>
          <a:spcPct val="102000"/>
        </a:lnSpc>
        <a:spcBef>
          <a:spcPct val="50000"/>
        </a:spcBef>
        <a:spcAft>
          <a:spcPct val="0"/>
        </a:spcAft>
        <a:buClr>
          <a:schemeClr val="bg2"/>
        </a:buClr>
        <a:buFont typeface="Arial" charset="0"/>
        <a:buChar char="-"/>
        <a:defRPr sz="1600">
          <a:solidFill>
            <a:schemeClr val="tx1"/>
          </a:solidFill>
          <a:latin typeface="+mn-lt"/>
          <a:ea typeface="ＭＳ Ｐゴシック" charset="-128"/>
          <a:cs typeface="ＭＳ Ｐゴシック"/>
        </a:defRPr>
      </a:lvl5pPr>
      <a:lvl6pPr marL="1835150" indent="-190500" algn="l" rtl="0" fontAlgn="base">
        <a:lnSpc>
          <a:spcPct val="102000"/>
        </a:lnSpc>
        <a:spcBef>
          <a:spcPct val="50000"/>
        </a:spcBef>
        <a:spcAft>
          <a:spcPct val="0"/>
        </a:spcAft>
        <a:buClr>
          <a:schemeClr val="bg2"/>
        </a:buClr>
        <a:buFont typeface="Arial" charset="0"/>
        <a:buChar char="-"/>
        <a:defRPr sz="1600">
          <a:solidFill>
            <a:schemeClr val="tx1"/>
          </a:solidFill>
          <a:latin typeface="+mn-lt"/>
          <a:ea typeface="ＭＳ Ｐゴシック" charset="-128"/>
        </a:defRPr>
      </a:lvl6pPr>
      <a:lvl7pPr marL="2292350" indent="-190500" algn="l" rtl="0" fontAlgn="base">
        <a:lnSpc>
          <a:spcPct val="102000"/>
        </a:lnSpc>
        <a:spcBef>
          <a:spcPct val="50000"/>
        </a:spcBef>
        <a:spcAft>
          <a:spcPct val="0"/>
        </a:spcAft>
        <a:buClr>
          <a:schemeClr val="bg2"/>
        </a:buClr>
        <a:buFont typeface="Arial" charset="0"/>
        <a:buChar char="-"/>
        <a:defRPr sz="1600">
          <a:solidFill>
            <a:schemeClr val="tx1"/>
          </a:solidFill>
          <a:latin typeface="+mn-lt"/>
          <a:ea typeface="ＭＳ Ｐゴシック" charset="-128"/>
        </a:defRPr>
      </a:lvl7pPr>
      <a:lvl8pPr marL="2749550" indent="-190500" algn="l" rtl="0" fontAlgn="base">
        <a:lnSpc>
          <a:spcPct val="102000"/>
        </a:lnSpc>
        <a:spcBef>
          <a:spcPct val="50000"/>
        </a:spcBef>
        <a:spcAft>
          <a:spcPct val="0"/>
        </a:spcAft>
        <a:buClr>
          <a:schemeClr val="bg2"/>
        </a:buClr>
        <a:buFont typeface="Arial" charset="0"/>
        <a:buChar char="-"/>
        <a:defRPr sz="1600">
          <a:solidFill>
            <a:schemeClr val="tx1"/>
          </a:solidFill>
          <a:latin typeface="+mn-lt"/>
          <a:ea typeface="ＭＳ Ｐゴシック" charset="-128"/>
        </a:defRPr>
      </a:lvl8pPr>
      <a:lvl9pPr marL="3206750" indent="-190500" algn="l" rtl="0" fontAlgn="base">
        <a:lnSpc>
          <a:spcPct val="102000"/>
        </a:lnSpc>
        <a:spcBef>
          <a:spcPct val="50000"/>
        </a:spcBef>
        <a:spcAft>
          <a:spcPct val="0"/>
        </a:spcAft>
        <a:buClr>
          <a:schemeClr val="bg2"/>
        </a:buClr>
        <a:buFont typeface="Arial" charset="0"/>
        <a:buChar char="-"/>
        <a:defRPr sz="1600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s-ES_tradnl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fol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1"/>
            </p:custDataLst>
          </p:nvPr>
        </p:nvGraphicFramePr>
        <p:xfrm>
          <a:off x="3176" y="3176"/>
          <a:ext cx="3176" cy="31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3" imgW="270" imgH="270" progId="TCLayout.ActiveDocument.1">
                  <p:embed/>
                </p:oleObj>
              </mc:Choice>
              <mc:Fallback>
                <p:oleObj name="think-cell Slide" r:id="rId13" imgW="270" imgH="27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176" y="3176"/>
                        <a:ext cx="3176" cy="317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12"/>
            </p:custDataLst>
          </p:nvPr>
        </p:nvSpPr>
        <p:spPr bwMode="auto">
          <a:xfrm>
            <a:off x="-25979" y="-210582"/>
            <a:ext cx="369462" cy="738664"/>
          </a:xfrm>
          <a:prstGeom prst="rect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4400" b="0" i="0" baseline="0">
              <a:latin typeface="Calibri"/>
              <a:ea typeface="+mj-ea"/>
              <a:cs typeface="+mj-cs"/>
              <a:sym typeface="Calibri"/>
            </a:endParaRPr>
          </a:p>
        </p:txBody>
      </p:sp>
      <p:sp>
        <p:nvSpPr>
          <p:cNvPr id="1060" name="Rectangle 36"/>
          <p:cNvSpPr>
            <a:spLocks noChangeArrowheads="1"/>
          </p:cNvSpPr>
          <p:nvPr/>
        </p:nvSpPr>
        <p:spPr bwMode="white">
          <a:xfrm>
            <a:off x="30" y="0"/>
            <a:ext cx="18288000" cy="102870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s-ES" sz="2400" b="1">
              <a:solidFill>
                <a:srgbClr val="000000"/>
              </a:solidFill>
              <a:sym typeface="Wingdings" pitchFamily="2" charset="2"/>
            </a:endParaRPr>
          </a:p>
        </p:txBody>
      </p:sp>
      <p:sp>
        <p:nvSpPr>
          <p:cNvPr id="1067" name="Text Box 43"/>
          <p:cNvSpPr txBox="1">
            <a:spLocks noChangeArrowheads="1"/>
          </p:cNvSpPr>
          <p:nvPr/>
        </p:nvSpPr>
        <p:spPr bwMode="gray">
          <a:xfrm>
            <a:off x="15744096" y="9917908"/>
            <a:ext cx="2391508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s-ES" sz="1600">
                <a:solidFill>
                  <a:srgbClr val="FFFFFF"/>
                </a:solidFill>
                <a:sym typeface="Wingdings" pitchFamily="2" charset="2"/>
              </a:rPr>
              <a:t>   Página </a:t>
            </a:r>
            <a:fld id="{604FF6F4-BDF1-458E-B6A2-2CACB65D2DB5}" type="slidenum">
              <a:rPr lang="es-ES" sz="1600">
                <a:solidFill>
                  <a:srgbClr val="FFFFFF"/>
                </a:solidFill>
                <a:sym typeface="Wingdings" pitchFamily="2" charset="2"/>
              </a:rPr>
              <a:pPr algn="r" fontAlgn="base">
                <a:spcBef>
                  <a:spcPct val="0"/>
                </a:spcBef>
                <a:spcAft>
                  <a:spcPct val="0"/>
                </a:spcAft>
                <a:defRPr/>
              </a:pPr>
              <a:t>‹Nº›</a:t>
            </a:fld>
            <a:endParaRPr lang="en-US" sz="1600">
              <a:solidFill>
                <a:srgbClr val="FFFFFF"/>
              </a:solidFill>
              <a:sym typeface="Wingdings" pitchFamily="2" charset="2"/>
            </a:endParaRPr>
          </a:p>
        </p:txBody>
      </p:sp>
      <p:sp>
        <p:nvSpPr>
          <p:cNvPr id="61445" name="Rectangle 59"/>
          <p:cNvSpPr>
            <a:spLocks noGrp="1" noChangeArrowheads="1"/>
          </p:cNvSpPr>
          <p:nvPr>
            <p:ph type="title"/>
          </p:nvPr>
        </p:nvSpPr>
        <p:spPr bwMode="gray">
          <a:xfrm>
            <a:off x="782596" y="500063"/>
            <a:ext cx="12983308" cy="11144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61446" name="Rectangle 60"/>
          <p:cNvSpPr>
            <a:spLocks noGrp="1" noChangeArrowheads="1"/>
          </p:cNvSpPr>
          <p:nvPr>
            <p:ph type="body" idx="1"/>
          </p:nvPr>
        </p:nvSpPr>
        <p:spPr bwMode="auto">
          <a:xfrm>
            <a:off x="782631" y="2126458"/>
            <a:ext cx="16860714" cy="617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level1</a:t>
            </a:r>
          </a:p>
        </p:txBody>
      </p:sp>
      <p:grpSp>
        <p:nvGrpSpPr>
          <p:cNvPr id="61447" name="Group 61"/>
          <p:cNvGrpSpPr>
            <a:grpSpLocks/>
          </p:cNvGrpSpPr>
          <p:nvPr/>
        </p:nvGrpSpPr>
        <p:grpSpPr bwMode="auto">
          <a:xfrm>
            <a:off x="30" y="0"/>
            <a:ext cx="18288000" cy="447676"/>
            <a:chOff x="0" y="0"/>
            <a:chExt cx="6240" cy="188"/>
          </a:xfrm>
        </p:grpSpPr>
        <p:sp>
          <p:nvSpPr>
            <p:cNvPr id="1086" name="Rectangle 62"/>
            <p:cNvSpPr>
              <a:spLocks noChangeArrowheads="1"/>
            </p:cNvSpPr>
            <p:nvPr userDrawn="1"/>
          </p:nvSpPr>
          <p:spPr bwMode="auto">
            <a:xfrm flipV="1">
              <a:off x="0" y="0"/>
              <a:ext cx="6240" cy="180"/>
            </a:xfrm>
            <a:prstGeom prst="rect">
              <a:avLst/>
            </a:prstGeom>
            <a:solidFill>
              <a:srgbClr val="001A48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rot="10800000" wrap="none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4000">
                <a:solidFill>
                  <a:srgbClr val="FFFFFF"/>
                </a:solidFill>
                <a:sym typeface="Wingdings" pitchFamily="2" charset="2"/>
              </a:endParaRPr>
            </a:p>
          </p:txBody>
        </p:sp>
        <p:sp>
          <p:nvSpPr>
            <p:cNvPr id="1087" name="Line 63"/>
            <p:cNvSpPr>
              <a:spLocks noChangeShapeType="1"/>
            </p:cNvSpPr>
            <p:nvPr userDrawn="1"/>
          </p:nvSpPr>
          <p:spPr bwMode="gray">
            <a:xfrm>
              <a:off x="0" y="188"/>
              <a:ext cx="6240" cy="0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s-ES" sz="2400" b="1">
                <a:solidFill>
                  <a:srgbClr val="000000"/>
                </a:solidFill>
                <a:sym typeface="Wingdings" pitchFamily="2" charset="2"/>
              </a:endParaRPr>
            </a:p>
          </p:txBody>
        </p:sp>
      </p:grpSp>
      <p:sp>
        <p:nvSpPr>
          <p:cNvPr id="1088" name="Text Box 64"/>
          <p:cNvSpPr txBox="1">
            <a:spLocks noChangeArrowheads="1"/>
          </p:cNvSpPr>
          <p:nvPr/>
        </p:nvSpPr>
        <p:spPr bwMode="gray">
          <a:xfrm>
            <a:off x="15744096" y="9872188"/>
            <a:ext cx="2391508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s-ES" sz="1600">
                <a:solidFill>
                  <a:srgbClr val="808080"/>
                </a:solidFill>
                <a:sym typeface="Wingdings" pitchFamily="2" charset="2"/>
              </a:rPr>
              <a:t>   Página </a:t>
            </a:r>
            <a:fld id="{01481FC6-969E-48EC-A3B1-A4B6D7C06B78}" type="slidenum">
              <a:rPr lang="es-ES" sz="1600">
                <a:solidFill>
                  <a:srgbClr val="808080"/>
                </a:solidFill>
                <a:sym typeface="Wingdings" pitchFamily="2" charset="2"/>
              </a:rPr>
              <a:pPr algn="r" fontAlgn="base">
                <a:spcBef>
                  <a:spcPct val="0"/>
                </a:spcBef>
                <a:spcAft>
                  <a:spcPct val="0"/>
                </a:spcAft>
                <a:defRPr/>
              </a:pPr>
              <a:t>‹Nº›</a:t>
            </a:fld>
            <a:endParaRPr lang="en-US" sz="1600">
              <a:solidFill>
                <a:srgbClr val="808080"/>
              </a:solidFill>
              <a:sym typeface="Wingdings" pitchFamily="2" charset="2"/>
            </a:endParaRPr>
          </a:p>
        </p:txBody>
      </p:sp>
      <p:sp>
        <p:nvSpPr>
          <p:cNvPr id="1089" name="Line 65"/>
          <p:cNvSpPr>
            <a:spLocks noChangeShapeType="1"/>
          </p:cNvSpPr>
          <p:nvPr/>
        </p:nvSpPr>
        <p:spPr bwMode="auto">
          <a:xfrm>
            <a:off x="16960362" y="10010954"/>
            <a:ext cx="0" cy="15002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s-ES" sz="2400" b="1">
              <a:solidFill>
                <a:srgbClr val="000000"/>
              </a:solidFill>
              <a:sym typeface="Wingdings" pitchFamily="2" charset="2"/>
            </a:endParaRPr>
          </a:p>
        </p:txBody>
      </p:sp>
      <p:sp>
        <p:nvSpPr>
          <p:cNvPr id="1091" name="Rectangle 67"/>
          <p:cNvSpPr>
            <a:spLocks noChangeArrowheads="1"/>
          </p:cNvSpPr>
          <p:nvPr/>
        </p:nvSpPr>
        <p:spPr bwMode="gray">
          <a:xfrm>
            <a:off x="12154013" y="10005240"/>
            <a:ext cx="4718538" cy="184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s-ES" sz="1200">
                <a:solidFill>
                  <a:srgbClr val="808080"/>
                </a:solidFill>
                <a:sym typeface="Wingdings" pitchFamily="2" charset="2"/>
              </a:rPr>
              <a:t> </a:t>
            </a:r>
            <a:r>
              <a:rPr lang="es-ES_tradnl" sz="1200">
                <a:solidFill>
                  <a:srgbClr val="808080"/>
                </a:solidFill>
                <a:sym typeface="Wingdings" pitchFamily="2" charset="2"/>
              </a:rPr>
              <a:t>©</a:t>
            </a:r>
            <a:r>
              <a:rPr lang="es-ES" sz="1200">
                <a:solidFill>
                  <a:srgbClr val="808080"/>
                </a:solidFill>
                <a:sym typeface="Wingdings" pitchFamily="2" charset="2"/>
              </a:rPr>
              <a:t>  Management </a:t>
            </a:r>
            <a:r>
              <a:rPr lang="es-ES" sz="1200" err="1">
                <a:solidFill>
                  <a:srgbClr val="808080"/>
                </a:solidFill>
                <a:sym typeface="Wingdings" pitchFamily="2" charset="2"/>
              </a:rPr>
              <a:t>Solutions</a:t>
            </a:r>
            <a:r>
              <a:rPr lang="es-ES" sz="1200">
                <a:solidFill>
                  <a:srgbClr val="808080"/>
                </a:solidFill>
                <a:sym typeface="Wingdings" pitchFamily="2" charset="2"/>
              </a:rPr>
              <a:t>  2026. Todos los derechos reservados </a:t>
            </a:r>
          </a:p>
        </p:txBody>
      </p:sp>
      <p:pic>
        <p:nvPicPr>
          <p:cNvPr id="61451" name="Picture 19" descr="ManagementSolutions_h_1"/>
          <p:cNvPicPr>
            <a:picLocks noChangeAspect="1" noChangeArrowheads="1"/>
          </p:cNvPicPr>
          <p:nvPr userDrawn="1"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202308" y="9894275"/>
            <a:ext cx="2460972" cy="309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0457111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32" r:id="rId1"/>
    <p:sldLayoutId id="2147484133" r:id="rId2"/>
    <p:sldLayoutId id="2147484134" r:id="rId3"/>
    <p:sldLayoutId id="2147484135" r:id="rId4"/>
    <p:sldLayoutId id="2147484136" r:id="rId5"/>
    <p:sldLayoutId id="2147484137" r:id="rId6"/>
    <p:sldLayoutId id="2147484138" r:id="rId7"/>
    <p:sldLayoutId id="2147484139" r:id="rId8"/>
    <p:sldLayoutId id="2147484140" r:id="rId9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charset="0"/>
        </a:defRPr>
      </a:lvl5pPr>
      <a:lvl6pPr marL="914400" algn="l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charset="0"/>
        </a:defRPr>
      </a:lvl6pPr>
      <a:lvl7pPr marL="1828800" algn="l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charset="0"/>
        </a:defRPr>
      </a:lvl7pPr>
      <a:lvl8pPr marL="2743200" algn="l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charset="0"/>
        </a:defRPr>
      </a:lvl8pPr>
      <a:lvl9pPr marL="3657600" algn="l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charset="0"/>
        </a:defRPr>
      </a:lvl9pPr>
    </p:titleStyle>
    <p:bodyStyle>
      <a:lvl1pPr marL="685800" indent="-685800" algn="l" rtl="0" eaLnBrk="0" fontAlgn="base" hangingPunct="0">
        <a:lnSpc>
          <a:spcPct val="102000"/>
        </a:lnSpc>
        <a:spcBef>
          <a:spcPct val="5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62000" indent="-381000" algn="l" rtl="0" eaLnBrk="0" fontAlgn="base" hangingPunct="0">
        <a:lnSpc>
          <a:spcPct val="102000"/>
        </a:lnSpc>
        <a:spcBef>
          <a:spcPct val="50000"/>
        </a:spcBef>
        <a:spcAft>
          <a:spcPct val="0"/>
        </a:spcAft>
        <a:buClr>
          <a:schemeClr val="hlink"/>
        </a:buClr>
        <a:buSzPct val="80000"/>
        <a:buFont typeface="Webdings" pitchFamily="18" charset="2"/>
        <a:buChar char="4"/>
        <a:defRPr sz="3200">
          <a:solidFill>
            <a:schemeClr val="tx1"/>
          </a:solidFill>
          <a:latin typeface="+mn-lt"/>
        </a:defRPr>
      </a:lvl2pPr>
      <a:lvl3pPr marL="1320800" indent="-177800" algn="l" rtl="0" eaLnBrk="0" fontAlgn="base" hangingPunct="0">
        <a:lnSpc>
          <a:spcPct val="102000"/>
        </a:lnSpc>
        <a:spcBef>
          <a:spcPct val="50000"/>
        </a:spcBef>
        <a:spcAft>
          <a:spcPct val="0"/>
        </a:spcAft>
        <a:buClr>
          <a:schemeClr val="bg2"/>
        </a:buClr>
        <a:buFont typeface="Arial" charset="0"/>
        <a:buChar char="-"/>
        <a:defRPr sz="3200">
          <a:solidFill>
            <a:schemeClr val="tx1"/>
          </a:solidFill>
          <a:latin typeface="+mn-lt"/>
        </a:defRPr>
      </a:lvl3pPr>
      <a:lvl4pPr marL="1993900" indent="-292100" algn="l" rtl="0" eaLnBrk="0" fontAlgn="base" hangingPunct="0">
        <a:lnSpc>
          <a:spcPct val="102000"/>
        </a:lnSpc>
        <a:spcBef>
          <a:spcPct val="50000"/>
        </a:spcBef>
        <a:spcAft>
          <a:spcPct val="0"/>
        </a:spcAft>
        <a:buClr>
          <a:schemeClr val="bg2"/>
        </a:buClr>
        <a:buFont typeface="Arial" charset="0"/>
        <a:buChar char="-"/>
        <a:defRPr sz="3200">
          <a:solidFill>
            <a:schemeClr val="tx1"/>
          </a:solidFill>
          <a:latin typeface="+mn-lt"/>
        </a:defRPr>
      </a:lvl4pPr>
      <a:lvl5pPr marL="2755900" indent="-381000" algn="l" rtl="0" eaLnBrk="0" fontAlgn="base" hangingPunct="0">
        <a:lnSpc>
          <a:spcPct val="102000"/>
        </a:lnSpc>
        <a:spcBef>
          <a:spcPct val="50000"/>
        </a:spcBef>
        <a:spcAft>
          <a:spcPct val="0"/>
        </a:spcAft>
        <a:buClr>
          <a:schemeClr val="bg2"/>
        </a:buClr>
        <a:buFont typeface="Arial" charset="0"/>
        <a:buChar char="-"/>
        <a:defRPr sz="3200">
          <a:solidFill>
            <a:schemeClr val="tx1"/>
          </a:solidFill>
          <a:latin typeface="+mn-lt"/>
        </a:defRPr>
      </a:lvl5pPr>
      <a:lvl6pPr marL="3670300" indent="-381000" algn="l" rtl="0" fontAlgn="base">
        <a:lnSpc>
          <a:spcPct val="102000"/>
        </a:lnSpc>
        <a:spcBef>
          <a:spcPct val="50000"/>
        </a:spcBef>
        <a:spcAft>
          <a:spcPct val="0"/>
        </a:spcAft>
        <a:buClr>
          <a:schemeClr val="bg2"/>
        </a:buClr>
        <a:buFont typeface="Arial" charset="0"/>
        <a:buChar char="-"/>
        <a:defRPr sz="3200">
          <a:solidFill>
            <a:schemeClr val="tx1"/>
          </a:solidFill>
          <a:latin typeface="+mn-lt"/>
        </a:defRPr>
      </a:lvl6pPr>
      <a:lvl7pPr marL="4584700" indent="-381000" algn="l" rtl="0" fontAlgn="base">
        <a:lnSpc>
          <a:spcPct val="102000"/>
        </a:lnSpc>
        <a:spcBef>
          <a:spcPct val="50000"/>
        </a:spcBef>
        <a:spcAft>
          <a:spcPct val="0"/>
        </a:spcAft>
        <a:buClr>
          <a:schemeClr val="bg2"/>
        </a:buClr>
        <a:buFont typeface="Arial" charset="0"/>
        <a:buChar char="-"/>
        <a:defRPr sz="3200">
          <a:solidFill>
            <a:schemeClr val="tx1"/>
          </a:solidFill>
          <a:latin typeface="+mn-lt"/>
        </a:defRPr>
      </a:lvl7pPr>
      <a:lvl8pPr marL="5499100" indent="-381000" algn="l" rtl="0" fontAlgn="base">
        <a:lnSpc>
          <a:spcPct val="102000"/>
        </a:lnSpc>
        <a:spcBef>
          <a:spcPct val="50000"/>
        </a:spcBef>
        <a:spcAft>
          <a:spcPct val="0"/>
        </a:spcAft>
        <a:buClr>
          <a:schemeClr val="bg2"/>
        </a:buClr>
        <a:buFont typeface="Arial" charset="0"/>
        <a:buChar char="-"/>
        <a:defRPr sz="3200">
          <a:solidFill>
            <a:schemeClr val="tx1"/>
          </a:solidFill>
          <a:latin typeface="+mn-lt"/>
        </a:defRPr>
      </a:lvl8pPr>
      <a:lvl9pPr marL="6413500" indent="-381000" algn="l" rtl="0" fontAlgn="base">
        <a:lnSpc>
          <a:spcPct val="102000"/>
        </a:lnSpc>
        <a:spcBef>
          <a:spcPct val="50000"/>
        </a:spcBef>
        <a:spcAft>
          <a:spcPct val="0"/>
        </a:spcAft>
        <a:buClr>
          <a:schemeClr val="bg2"/>
        </a:buClr>
        <a:buFont typeface="Arial" charset="0"/>
        <a:buChar char="-"/>
        <a:defRPr sz="3200">
          <a:solidFill>
            <a:schemeClr val="tx1"/>
          </a:solidFill>
          <a:latin typeface="+mn-lt"/>
        </a:defRPr>
      </a:lvl9pPr>
    </p:bodyStyle>
    <p:otherStyle>
      <a:defPPr>
        <a:defRPr lang="es-E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8.x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5.bin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9.x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5.bin"/><Relationship Id="rId4" Type="http://schemas.microsoft.com/office/2007/relationships/hdphoto" Target="../media/hdphoto1.wdp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0.x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5.bin"/><Relationship Id="rId4" Type="http://schemas.microsoft.com/office/2007/relationships/hdphoto" Target="../media/hdphoto1.wdp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1.x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5.bin"/><Relationship Id="rId4" Type="http://schemas.microsoft.com/office/2007/relationships/hdphoto" Target="../media/hdphoto1.wdp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2.x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5.bin"/><Relationship Id="rId4" Type="http://schemas.microsoft.com/office/2007/relationships/hdphoto" Target="../media/hdphoto1.wdp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3.x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5.bin"/><Relationship Id="rId4" Type="http://schemas.microsoft.com/office/2007/relationships/hdphoto" Target="../media/hdphoto1.wdp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4.x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5.bin"/><Relationship Id="rId4" Type="http://schemas.microsoft.com/office/2007/relationships/hdphoto" Target="../media/hdphoto1.wdp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5.x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5.bin"/><Relationship Id="rId4" Type="http://schemas.microsoft.com/office/2007/relationships/hdphoto" Target="../media/hdphoto1.wdp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A1F44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5" name="Shape 3"/>
          <p:cNvSpPr/>
          <p:nvPr/>
        </p:nvSpPr>
        <p:spPr>
          <a:xfrm>
            <a:off x="762000" y="571500"/>
            <a:ext cx="247613" cy="247613"/>
          </a:xfrm>
          <a:prstGeom prst="ellipse">
            <a:avLst/>
          </a:prstGeom>
          <a:solidFill>
            <a:srgbClr val="B89455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6" name="Shape 4"/>
          <p:cNvSpPr/>
          <p:nvPr/>
        </p:nvSpPr>
        <p:spPr>
          <a:xfrm>
            <a:off x="828601" y="638101"/>
            <a:ext cx="114412" cy="114412"/>
          </a:xfrm>
          <a:prstGeom prst="ellipse">
            <a:avLst/>
          </a:prstGeom>
          <a:solidFill>
            <a:srgbClr val="0A1F44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7" name="Text 5"/>
          <p:cNvSpPr/>
          <p:nvPr/>
        </p:nvSpPr>
        <p:spPr>
          <a:xfrm>
            <a:off x="1142814" y="582104"/>
            <a:ext cx="3075632" cy="2643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kern="0" spc="6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GEOASSETS · INTELLIGENCE</a:t>
            </a:r>
            <a:endParaRPr lang="en-US" sz="1500"/>
          </a:p>
        </p:txBody>
      </p:sp>
      <p:sp>
        <p:nvSpPr>
          <p:cNvPr id="8" name="Text 6"/>
          <p:cNvSpPr/>
          <p:nvPr/>
        </p:nvSpPr>
        <p:spPr>
          <a:xfrm>
            <a:off x="16077158" y="611870"/>
            <a:ext cx="1525042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100" kern="0" spc="176">
                <a:solidFill>
                  <a:srgbClr val="FFFFFF">
                    <a:alpha val="5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TFM · 2025–2026</a:t>
            </a:r>
            <a:endParaRPr lang="en-US" sz="1100"/>
          </a:p>
        </p:txBody>
      </p:sp>
      <p:sp>
        <p:nvSpPr>
          <p:cNvPr id="9" name="Text 7"/>
          <p:cNvSpPr/>
          <p:nvPr/>
        </p:nvSpPr>
        <p:spPr>
          <a:xfrm>
            <a:off x="1143000" y="3258220"/>
            <a:ext cx="16482060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100" b="1" kern="0" spc="336">
                <a:solidFill>
                  <a:srgbClr val="D1A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TRABAJO DE FIN DE MÁSTER</a:t>
            </a:r>
            <a:endParaRPr lang="en-US" sz="2100"/>
          </a:p>
        </p:txBody>
      </p:sp>
      <p:sp>
        <p:nvSpPr>
          <p:cNvPr id="10" name="Shape 8"/>
          <p:cNvSpPr/>
          <p:nvPr/>
        </p:nvSpPr>
        <p:spPr>
          <a:xfrm>
            <a:off x="1143000" y="3729633"/>
            <a:ext cx="762000" cy="37951"/>
          </a:xfrm>
          <a:prstGeom prst="rect">
            <a:avLst/>
          </a:prstGeom>
          <a:solidFill>
            <a:srgbClr val="B89455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11" name="Text 9"/>
          <p:cNvSpPr/>
          <p:nvPr/>
        </p:nvSpPr>
        <p:spPr>
          <a:xfrm>
            <a:off x="1143000" y="4148584"/>
            <a:ext cx="14716125" cy="18668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200" b="1" kern="0" spc="-18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GeoAssets</a:t>
            </a:r>
            <a:r>
              <a:rPr lang="en-US" sz="7200" b="1" kern="0" spc="-18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7200" kern="0" spc="-180">
                <a:solidFill>
                  <a:srgbClr val="D1A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Intelligence</a:t>
            </a:r>
            <a:endParaRPr lang="en-US" sz="7200"/>
          </a:p>
        </p:txBody>
      </p:sp>
      <p:sp>
        <p:nvSpPr>
          <p:cNvPr id="12" name="Text 10"/>
          <p:cNvSpPr/>
          <p:nvPr/>
        </p:nvSpPr>
        <p:spPr>
          <a:xfrm>
            <a:off x="1143000" y="6282035"/>
            <a:ext cx="10791825" cy="7848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100" err="1">
                <a:solidFill>
                  <a:srgbClr val="FFFFFF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Localización</a:t>
            </a:r>
            <a:r>
              <a:rPr lang="en-US" sz="2100">
                <a:solidFill>
                  <a:srgbClr val="FFFFFF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100" err="1">
                <a:solidFill>
                  <a:srgbClr val="FFFFFF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automatizada</a:t>
            </a:r>
            <a:r>
              <a:rPr lang="en-US" sz="2100">
                <a:solidFill>
                  <a:srgbClr val="FFFFFF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del </a:t>
            </a:r>
            <a:r>
              <a:rPr lang="en-US" sz="2100" err="1">
                <a:solidFill>
                  <a:srgbClr val="FFFFFF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patrimonio</a:t>
            </a:r>
            <a:r>
              <a:rPr lang="en-US" sz="2100">
                <a:solidFill>
                  <a:srgbClr val="FFFFFF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100" err="1">
                <a:solidFill>
                  <a:srgbClr val="FFFFFF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productivo</a:t>
            </a:r>
            <a:r>
              <a:rPr lang="en-US" sz="2100">
                <a:solidFill>
                  <a:srgbClr val="FFFFFF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100" err="1">
                <a:solidFill>
                  <a:srgbClr val="FFFFFF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empresarial</a:t>
            </a:r>
            <a:r>
              <a:rPr lang="en-US" sz="2100">
                <a:solidFill>
                  <a:srgbClr val="FFFFFF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100" err="1">
                <a:solidFill>
                  <a:srgbClr val="FFFFFF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mediante</a:t>
            </a:r>
            <a:r>
              <a:rPr lang="en-US" sz="2100">
                <a:solidFill>
                  <a:srgbClr val="FFFFFF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IA </a:t>
            </a:r>
            <a:r>
              <a:rPr lang="en-US" sz="2100" err="1">
                <a:solidFill>
                  <a:srgbClr val="FFFFFF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generativa</a:t>
            </a:r>
            <a:endParaRPr lang="en-US" sz="2100"/>
          </a:p>
        </p:txBody>
      </p:sp>
      <p:sp>
        <p:nvSpPr>
          <p:cNvPr id="13" name="Text 11"/>
          <p:cNvSpPr/>
          <p:nvPr/>
        </p:nvSpPr>
        <p:spPr>
          <a:xfrm>
            <a:off x="578495" y="8886812"/>
            <a:ext cx="1626245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400" kern="0" spc="198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AUTORES</a:t>
            </a:r>
            <a:endParaRPr lang="en-US" sz="1400"/>
          </a:p>
        </p:txBody>
      </p:sp>
      <p:sp>
        <p:nvSpPr>
          <p:cNvPr id="14" name="Text 12"/>
          <p:cNvSpPr/>
          <p:nvPr/>
        </p:nvSpPr>
        <p:spPr>
          <a:xfrm>
            <a:off x="578495" y="9086813"/>
            <a:ext cx="2614092" cy="889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s-ES" sz="14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Sergio Hervás Santiago</a:t>
            </a:r>
          </a:p>
          <a:p>
            <a:pPr marL="0" indent="0" algn="l">
              <a:lnSpc>
                <a:spcPct val="130000"/>
              </a:lnSpc>
              <a:buNone/>
            </a:pPr>
            <a:r>
              <a:rPr lang="es-ES" sz="14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Alonso Salgueiro Castelo</a:t>
            </a:r>
          </a:p>
          <a:p>
            <a:pPr marL="0" indent="0" algn="l">
              <a:lnSpc>
                <a:spcPct val="130000"/>
              </a:lnSpc>
              <a:buNone/>
            </a:pPr>
            <a:r>
              <a:rPr lang="es-ES" sz="14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Claudia García de Villegas</a:t>
            </a:r>
          </a:p>
        </p:txBody>
      </p:sp>
      <p:sp>
        <p:nvSpPr>
          <p:cNvPr id="15" name="Text 13"/>
          <p:cNvSpPr/>
          <p:nvPr/>
        </p:nvSpPr>
        <p:spPr>
          <a:xfrm>
            <a:off x="3605696" y="8886812"/>
            <a:ext cx="1587178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400" kern="0" spc="198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TUTOR</a:t>
            </a:r>
            <a:endParaRPr lang="en-US" sz="1400"/>
          </a:p>
        </p:txBody>
      </p:sp>
      <p:sp>
        <p:nvSpPr>
          <p:cNvPr id="16" name="Text 14"/>
          <p:cNvSpPr/>
          <p:nvPr/>
        </p:nvSpPr>
        <p:spPr>
          <a:xfrm>
            <a:off x="3455045" y="9132646"/>
            <a:ext cx="1888480" cy="240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s-ES" sz="140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Segismundo Jiménez Lainez</a:t>
            </a:r>
          </a:p>
        </p:txBody>
      </p:sp>
      <p:sp>
        <p:nvSpPr>
          <p:cNvPr id="17" name="Text 15"/>
          <p:cNvSpPr/>
          <p:nvPr/>
        </p:nvSpPr>
        <p:spPr>
          <a:xfrm>
            <a:off x="5728022" y="8808230"/>
            <a:ext cx="2614092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400" kern="0" spc="198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</a:t>
            </a:r>
            <a:endParaRPr lang="en-US" sz="1400"/>
          </a:p>
        </p:txBody>
      </p:sp>
      <p:sp>
        <p:nvSpPr>
          <p:cNvPr id="18" name="Text 16"/>
          <p:cNvSpPr/>
          <p:nvPr/>
        </p:nvSpPr>
        <p:spPr>
          <a:xfrm>
            <a:off x="5728022" y="9132646"/>
            <a:ext cx="2614092" cy="240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40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Máster</a:t>
            </a:r>
            <a:r>
              <a:rPr lang="en-US" sz="14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40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</a:t>
            </a:r>
            <a:r>
              <a:rPr lang="en-US" sz="14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40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Consultoría</a:t>
            </a:r>
            <a:r>
              <a:rPr lang="en-US" sz="14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 </a:t>
            </a:r>
            <a:r>
              <a:rPr lang="en-US" sz="140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Negocio</a:t>
            </a:r>
            <a:endParaRPr lang="en-US" sz="1400"/>
          </a:p>
        </p:txBody>
      </p:sp>
      <p:sp>
        <p:nvSpPr>
          <p:cNvPr id="19" name="Text 17"/>
          <p:cNvSpPr/>
          <p:nvPr/>
        </p:nvSpPr>
        <p:spPr>
          <a:xfrm>
            <a:off x="16191384" y="9358313"/>
            <a:ext cx="1029816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98">
                <a:solidFill>
                  <a:srgbClr val="FFFFFF">
                    <a:alpha val="5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Mayo · 2026</a:t>
            </a:r>
            <a:endParaRPr lang="en-US" sz="975"/>
          </a:p>
        </p:txBody>
      </p:sp>
    </p:spTree>
    <p:extLst>
      <p:ext uri="{BB962C8B-B14F-4D97-AF65-F5344CB8AC3E}">
        <p14:creationId xmlns:p14="http://schemas.microsoft.com/office/powerpoint/2010/main" val="10474237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26D4868-8701-1324-CB15-FBA257066D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6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255256"/>
            <a:ext cx="18288000" cy="9729788"/>
          </a:xfrm>
          <a:prstGeom prst="rect">
            <a:avLst/>
          </a:prstGeom>
        </p:spPr>
      </p:pic>
      <p:graphicFrame>
        <p:nvGraphicFramePr>
          <p:cNvPr id="6" name="Object 5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4369" y="3848"/>
          <a:ext cx="3176" cy="31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270" imgH="270" progId="TCLayout.ActiveDocument.1">
                  <p:embed/>
                </p:oleObj>
              </mc:Choice>
              <mc:Fallback>
                <p:oleObj name="think-cell Slide" r:id="rId5" imgW="270" imgH="270" progId="TCLayout.ActiveDocument.1">
                  <p:embed/>
                  <p:pic>
                    <p:nvPicPr>
                      <p:cNvPr id="6" name="Object 5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369" y="3848"/>
                        <a:ext cx="3176" cy="317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" name="TextBox 23">
            <a:extLst>
              <a:ext uri="{FF2B5EF4-FFF2-40B4-BE49-F238E27FC236}">
                <a16:creationId xmlns:a16="http://schemas.microsoft.com/office/drawing/2014/main" id="{25FFD7D5-7622-4CE1-9525-56F18FF62B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1327" y="812469"/>
            <a:ext cx="6823923" cy="901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60895" tIns="80445" rIns="160895" bIns="80445" anchor="t">
            <a:spAutoFit/>
          </a:bodyPr>
          <a:lstStyle>
            <a:defPPr>
              <a:defRPr lang="es-E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defRPr/>
            </a:pPr>
            <a:r>
              <a:rPr lang="es-ES" sz="4800" b="1" noProof="0">
                <a:solidFill>
                  <a:srgbClr val="FFFFFF"/>
                </a:solidFill>
                <a:latin typeface="+mj-lt"/>
                <a:cs typeface="Arial"/>
                <a:sym typeface="Arial"/>
              </a:rPr>
              <a:t>Índice</a:t>
            </a:r>
            <a:endParaRPr lang="es-ES" sz="4800" b="1" noProof="0">
              <a:solidFill>
                <a:srgbClr val="FFFFFF"/>
              </a:solidFill>
              <a:latin typeface="+mj-lt"/>
              <a:cs typeface="Arial"/>
            </a:endParaRPr>
          </a:p>
        </p:txBody>
      </p:sp>
      <p:grpSp>
        <p:nvGrpSpPr>
          <p:cNvPr id="2000" name="IdxGroup0"/>
          <p:cNvGrpSpPr/>
          <p:nvPr/>
        </p:nvGrpSpPr>
        <p:grpSpPr>
          <a:xfrm>
            <a:off x="2047897" y="2536436"/>
            <a:ext cx="8604329" cy="571050"/>
            <a:chOff x="969531" y="947475"/>
            <a:chExt cx="5736219" cy="380700"/>
          </a:xfrm>
        </p:grpSpPr>
        <p:sp>
          <p:nvSpPr>
            <p:cNvPr id="2001" name="IdxNum0"/>
            <p:cNvSpPr txBox="1"/>
            <p:nvPr/>
          </p:nvSpPr>
          <p:spPr>
            <a:xfrm>
              <a:off x="969531" y="947475"/>
              <a:ext cx="564600" cy="38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688" tIns="118688" rIns="118688" bIns="118688" anchor="ctr" anchorCtr="0">
              <a:noAutofit/>
            </a:bodyPr>
            <a:lstStyle/>
            <a:p>
              <a:pPr>
                <a:buClr>
                  <a:srgbClr val="000000"/>
                </a:buClr>
                <a:buSzPts val="1900"/>
              </a:pPr>
              <a:r>
                <a:rPr lang="es-ES" sz="2850" b="1">
                  <a:solidFill>
                    <a:schemeClr val="bg1"/>
                  </a:solidFill>
                  <a:latin typeface="+mj-lt"/>
                  <a:ea typeface="Lato Black"/>
                  <a:cs typeface="Lato Black"/>
                  <a:sym typeface="Lato Black"/>
                </a:rPr>
                <a:t>01</a:t>
              </a:r>
            </a:p>
          </p:txBody>
        </p:sp>
        <p:sp>
          <p:nvSpPr>
            <p:cNvPr id="2002" name="IdxTitle0"/>
            <p:cNvSpPr txBox="1"/>
            <p:nvPr/>
          </p:nvSpPr>
          <p:spPr>
            <a:xfrm>
              <a:off x="1708650" y="947475"/>
              <a:ext cx="4997100" cy="38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688" tIns="118688" rIns="118688" bIns="118688" anchor="ctr" anchorCtr="0">
              <a:noAutofit/>
            </a:bodyPr>
            <a:lstStyle/>
            <a:p>
              <a:r>
                <a:rPr lang="es-ES" sz="2400" b="1">
                  <a:solidFill>
                    <a:schemeClr val="bg1"/>
                  </a:solidFill>
                  <a:latin typeface="+mj-lt"/>
                  <a:ea typeface="Lato Black"/>
                  <a:cs typeface="Lato Black"/>
                  <a:sym typeface="Lato Black"/>
                </a:rPr>
                <a:t>Contexto y oportunidad</a:t>
              </a:r>
            </a:p>
          </p:txBody>
        </p:sp>
        <p:cxnSp>
          <p:nvCxnSpPr>
            <p:cNvPr id="2003" name="IdxBar0"/>
            <p:cNvCxnSpPr/>
            <p:nvPr/>
          </p:nvCxnSpPr>
          <p:spPr>
            <a:xfrm>
              <a:off x="1515900" y="952425"/>
              <a:ext cx="0" cy="370800"/>
            </a:xfrm>
            <a:prstGeom prst="straightConnector1">
              <a:avLst/>
            </a:prstGeom>
            <a:noFill/>
            <a:ln w="28575" cap="flat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010" name="IdxGroup1"/>
          <p:cNvGrpSpPr/>
          <p:nvPr/>
        </p:nvGrpSpPr>
        <p:grpSpPr>
          <a:xfrm>
            <a:off x="2047897" y="3171436"/>
            <a:ext cx="8604329" cy="571050"/>
            <a:chOff x="969531" y="947475"/>
            <a:chExt cx="5736219" cy="380700"/>
          </a:xfrm>
        </p:grpSpPr>
        <p:sp>
          <p:nvSpPr>
            <p:cNvPr id="2011" name="IdxNum1"/>
            <p:cNvSpPr txBox="1"/>
            <p:nvPr/>
          </p:nvSpPr>
          <p:spPr>
            <a:xfrm>
              <a:off x="969531" y="947475"/>
              <a:ext cx="564600" cy="38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688" tIns="118688" rIns="118688" bIns="118688" anchor="ctr" anchorCtr="0">
              <a:noAutofit/>
            </a:bodyPr>
            <a:lstStyle/>
            <a:p>
              <a:pPr>
                <a:buClr>
                  <a:srgbClr val="000000"/>
                </a:buClr>
                <a:buSzPts val="1900"/>
              </a:pPr>
              <a:r>
                <a:rPr lang="es-ES" sz="2850" b="1">
                  <a:solidFill>
                    <a:schemeClr val="bg2">
                      <a:lumMod val="60000"/>
                      <a:lumOff val="40000"/>
                    </a:schemeClr>
                  </a:solidFill>
                  <a:latin typeface="+mj-lt"/>
                  <a:ea typeface="Lato Black"/>
                  <a:cs typeface="Lato Black"/>
                  <a:sym typeface="Lato Black"/>
                </a:rPr>
                <a:t>02</a:t>
              </a:r>
            </a:p>
          </p:txBody>
        </p:sp>
        <p:sp>
          <p:nvSpPr>
            <p:cNvPr id="2012" name="IdxTitle1"/>
            <p:cNvSpPr txBox="1"/>
            <p:nvPr/>
          </p:nvSpPr>
          <p:spPr>
            <a:xfrm>
              <a:off x="1708650" y="947475"/>
              <a:ext cx="4997100" cy="38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688" tIns="118688" rIns="118688" bIns="118688" anchor="ctr" anchorCtr="0">
              <a:noAutofit/>
            </a:bodyPr>
            <a:lstStyle/>
            <a:p>
              <a:r>
                <a:rPr lang="es-ES" sz="2400" b="1">
                  <a:solidFill>
                    <a:schemeClr val="bg2">
                      <a:lumMod val="60000"/>
                      <a:lumOff val="40000"/>
                    </a:schemeClr>
                  </a:solidFill>
                  <a:latin typeface="+mj-lt"/>
                  <a:ea typeface="Lato Black"/>
                  <a:cs typeface="Lato Black"/>
                  <a:sym typeface="Lato Black"/>
                </a:rPr>
                <a:t>La solución</a:t>
              </a:r>
            </a:p>
          </p:txBody>
        </p:sp>
        <p:cxnSp>
          <p:nvCxnSpPr>
            <p:cNvPr id="2013" name="IdxBar1"/>
            <p:cNvCxnSpPr/>
            <p:nvPr/>
          </p:nvCxnSpPr>
          <p:spPr>
            <a:xfrm>
              <a:off x="1515900" y="952425"/>
              <a:ext cx="0" cy="370800"/>
            </a:xfrm>
            <a:prstGeom prst="straightConnector1">
              <a:avLst/>
            </a:prstGeom>
            <a:noFill/>
            <a:ln w="28575" cap="flat" cmpd="sng">
              <a:solidFill>
                <a:schemeClr val="bg2">
                  <a:lumMod val="60000"/>
                  <a:lumOff val="4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020" name="IdxGroup2"/>
          <p:cNvGrpSpPr/>
          <p:nvPr/>
        </p:nvGrpSpPr>
        <p:grpSpPr>
          <a:xfrm>
            <a:off x="2047897" y="3806436"/>
            <a:ext cx="8604329" cy="571050"/>
            <a:chOff x="969531" y="947475"/>
            <a:chExt cx="5736219" cy="380700"/>
          </a:xfrm>
        </p:grpSpPr>
        <p:sp>
          <p:nvSpPr>
            <p:cNvPr id="2021" name="IdxNum2"/>
            <p:cNvSpPr txBox="1"/>
            <p:nvPr/>
          </p:nvSpPr>
          <p:spPr>
            <a:xfrm>
              <a:off x="969531" y="947475"/>
              <a:ext cx="564600" cy="38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688" tIns="118688" rIns="118688" bIns="118688" anchor="ctr" anchorCtr="0">
              <a:noAutofit/>
            </a:bodyPr>
            <a:lstStyle/>
            <a:p>
              <a:pPr>
                <a:buClr>
                  <a:srgbClr val="000000"/>
                </a:buClr>
                <a:buSzPts val="1900"/>
              </a:pPr>
              <a:r>
                <a:rPr lang="es-ES" sz="2850" b="1">
                  <a:solidFill>
                    <a:schemeClr val="bg2">
                      <a:lumMod val="60000"/>
                      <a:lumOff val="40000"/>
                    </a:schemeClr>
                  </a:solidFill>
                  <a:latin typeface="+mj-lt"/>
                  <a:ea typeface="Lato Black"/>
                  <a:cs typeface="Lato Black"/>
                  <a:sym typeface="Lato Black"/>
                </a:rPr>
                <a:t>03</a:t>
              </a:r>
            </a:p>
          </p:txBody>
        </p:sp>
        <p:sp>
          <p:nvSpPr>
            <p:cNvPr id="2022" name="IdxTitle2"/>
            <p:cNvSpPr txBox="1"/>
            <p:nvPr/>
          </p:nvSpPr>
          <p:spPr>
            <a:xfrm>
              <a:off x="1708650" y="947475"/>
              <a:ext cx="4997100" cy="38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688" tIns="118688" rIns="118688" bIns="118688" anchor="ctr" anchorCtr="0">
              <a:noAutofit/>
            </a:bodyPr>
            <a:lstStyle/>
            <a:p>
              <a:r>
                <a:rPr lang="es-ES" sz="2400" b="1">
                  <a:solidFill>
                    <a:schemeClr val="bg2">
                      <a:lumMod val="60000"/>
                      <a:lumOff val="40000"/>
                    </a:schemeClr>
                  </a:solidFill>
                  <a:latin typeface="+mj-lt"/>
                  <a:ea typeface="Lato Black"/>
                  <a:cs typeface="Lato Black"/>
                  <a:sym typeface="Lato Black"/>
                </a:rPr>
                <a:t>Arquitectura técnica</a:t>
              </a:r>
            </a:p>
          </p:txBody>
        </p:sp>
        <p:cxnSp>
          <p:nvCxnSpPr>
            <p:cNvPr id="2023" name="IdxBar2"/>
            <p:cNvCxnSpPr/>
            <p:nvPr/>
          </p:nvCxnSpPr>
          <p:spPr>
            <a:xfrm>
              <a:off x="1515900" y="952425"/>
              <a:ext cx="0" cy="370800"/>
            </a:xfrm>
            <a:prstGeom prst="straightConnector1">
              <a:avLst/>
            </a:prstGeom>
            <a:noFill/>
            <a:ln w="28575" cap="flat" cmpd="sng">
              <a:solidFill>
                <a:schemeClr val="bg2">
                  <a:lumMod val="60000"/>
                  <a:lumOff val="4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030" name="IdxGroup3"/>
          <p:cNvGrpSpPr/>
          <p:nvPr/>
        </p:nvGrpSpPr>
        <p:grpSpPr>
          <a:xfrm>
            <a:off x="2047897" y="4441436"/>
            <a:ext cx="8604329" cy="571050"/>
            <a:chOff x="969531" y="947475"/>
            <a:chExt cx="5736219" cy="380700"/>
          </a:xfrm>
        </p:grpSpPr>
        <p:sp>
          <p:nvSpPr>
            <p:cNvPr id="2031" name="IdxNum3"/>
            <p:cNvSpPr txBox="1"/>
            <p:nvPr/>
          </p:nvSpPr>
          <p:spPr>
            <a:xfrm>
              <a:off x="969531" y="947475"/>
              <a:ext cx="564600" cy="38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688" tIns="118688" rIns="118688" bIns="118688" anchor="ctr" anchorCtr="0">
              <a:noAutofit/>
            </a:bodyPr>
            <a:lstStyle/>
            <a:p>
              <a:pPr>
                <a:buClr>
                  <a:srgbClr val="000000"/>
                </a:buClr>
                <a:buSzPts val="1900"/>
              </a:pPr>
              <a:r>
                <a:rPr lang="es-ES" sz="2850" b="1">
                  <a:solidFill>
                    <a:schemeClr val="bg2">
                      <a:lumMod val="60000"/>
                      <a:lumOff val="40000"/>
                    </a:schemeClr>
                  </a:solidFill>
                  <a:latin typeface="+mj-lt"/>
                  <a:ea typeface="Lato Black"/>
                  <a:cs typeface="Lato Black"/>
                  <a:sym typeface="Lato Black"/>
                </a:rPr>
                <a:t>04</a:t>
              </a:r>
            </a:p>
          </p:txBody>
        </p:sp>
        <p:sp>
          <p:nvSpPr>
            <p:cNvPr id="2032" name="IdxTitle3"/>
            <p:cNvSpPr txBox="1"/>
            <p:nvPr/>
          </p:nvSpPr>
          <p:spPr>
            <a:xfrm>
              <a:off x="1708650" y="947475"/>
              <a:ext cx="4997100" cy="38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688" tIns="118688" rIns="118688" bIns="118688" anchor="ctr" anchorCtr="0">
              <a:noAutofit/>
            </a:bodyPr>
            <a:lstStyle/>
            <a:p>
              <a:r>
                <a:rPr lang="es-ES" sz="2400" b="1">
                  <a:solidFill>
                    <a:schemeClr val="bg2">
                      <a:lumMod val="60000"/>
                      <a:lumOff val="40000"/>
                    </a:schemeClr>
                  </a:solidFill>
                  <a:latin typeface="+mj-lt"/>
                  <a:ea typeface="Lato Black"/>
                  <a:cs typeface="Lato Black"/>
                  <a:sym typeface="Lato Black"/>
                </a:rPr>
                <a:t>Pipelines de análisis</a:t>
              </a:r>
            </a:p>
          </p:txBody>
        </p:sp>
        <p:cxnSp>
          <p:nvCxnSpPr>
            <p:cNvPr id="2033" name="IdxBar3"/>
            <p:cNvCxnSpPr/>
            <p:nvPr/>
          </p:nvCxnSpPr>
          <p:spPr>
            <a:xfrm>
              <a:off x="1515900" y="952425"/>
              <a:ext cx="0" cy="370800"/>
            </a:xfrm>
            <a:prstGeom prst="straightConnector1">
              <a:avLst/>
            </a:prstGeom>
            <a:noFill/>
            <a:ln w="28575" cap="flat" cmpd="sng">
              <a:solidFill>
                <a:schemeClr val="bg2">
                  <a:lumMod val="60000"/>
                  <a:lumOff val="4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040" name="IdxGroup4"/>
          <p:cNvGrpSpPr/>
          <p:nvPr/>
        </p:nvGrpSpPr>
        <p:grpSpPr>
          <a:xfrm>
            <a:off x="2047897" y="5076436"/>
            <a:ext cx="8604329" cy="571050"/>
            <a:chOff x="969531" y="947475"/>
            <a:chExt cx="5736219" cy="380700"/>
          </a:xfrm>
        </p:grpSpPr>
        <p:sp>
          <p:nvSpPr>
            <p:cNvPr id="2041" name="IdxNum4"/>
            <p:cNvSpPr txBox="1"/>
            <p:nvPr/>
          </p:nvSpPr>
          <p:spPr>
            <a:xfrm>
              <a:off x="969531" y="947475"/>
              <a:ext cx="564600" cy="38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688" tIns="118688" rIns="118688" bIns="118688" anchor="ctr" anchorCtr="0">
              <a:noAutofit/>
            </a:bodyPr>
            <a:lstStyle/>
            <a:p>
              <a:pPr>
                <a:buClr>
                  <a:srgbClr val="000000"/>
                </a:buClr>
                <a:buSzPts val="1900"/>
              </a:pPr>
              <a:r>
                <a:rPr lang="es-ES" sz="2850" b="1">
                  <a:solidFill>
                    <a:schemeClr val="bg2">
                      <a:lumMod val="60000"/>
                      <a:lumOff val="40000"/>
                    </a:schemeClr>
                  </a:solidFill>
                  <a:latin typeface="+mj-lt"/>
                  <a:ea typeface="Lato Black"/>
                  <a:cs typeface="Lato Black"/>
                  <a:sym typeface="Lato Black"/>
                </a:rPr>
                <a:t>05</a:t>
              </a:r>
            </a:p>
          </p:txBody>
        </p:sp>
        <p:sp>
          <p:nvSpPr>
            <p:cNvPr id="2042" name="IdxTitle4"/>
            <p:cNvSpPr txBox="1"/>
            <p:nvPr/>
          </p:nvSpPr>
          <p:spPr>
            <a:xfrm>
              <a:off x="1708650" y="947475"/>
              <a:ext cx="4997100" cy="38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688" tIns="118688" rIns="118688" bIns="118688" anchor="ctr" anchorCtr="0">
              <a:noAutofit/>
            </a:bodyPr>
            <a:lstStyle/>
            <a:p>
              <a:r>
                <a:rPr lang="es-ES" sz="2400" b="1">
                  <a:solidFill>
                    <a:schemeClr val="bg2">
                      <a:lumMod val="60000"/>
                      <a:lumOff val="40000"/>
                    </a:schemeClr>
                  </a:solidFill>
                  <a:latin typeface="+mj-lt"/>
                  <a:ea typeface="Lato Black"/>
                  <a:cs typeface="Lato Black"/>
                  <a:sym typeface="Lato Black"/>
                </a:rPr>
                <a:t>Demostración y resultados</a:t>
              </a:r>
            </a:p>
          </p:txBody>
        </p:sp>
        <p:cxnSp>
          <p:nvCxnSpPr>
            <p:cNvPr id="2043" name="IdxBar4"/>
            <p:cNvCxnSpPr/>
            <p:nvPr/>
          </p:nvCxnSpPr>
          <p:spPr>
            <a:xfrm>
              <a:off x="1515900" y="952425"/>
              <a:ext cx="0" cy="370800"/>
            </a:xfrm>
            <a:prstGeom prst="straightConnector1">
              <a:avLst/>
            </a:prstGeom>
            <a:noFill/>
            <a:ln w="28575" cap="flat" cmpd="sng">
              <a:solidFill>
                <a:schemeClr val="bg2">
                  <a:lumMod val="60000"/>
                  <a:lumOff val="4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050" name="IdxGroup5"/>
          <p:cNvGrpSpPr/>
          <p:nvPr/>
        </p:nvGrpSpPr>
        <p:grpSpPr>
          <a:xfrm>
            <a:off x="2047897" y="5711436"/>
            <a:ext cx="8604329" cy="571050"/>
            <a:chOff x="969531" y="947475"/>
            <a:chExt cx="5736219" cy="380700"/>
          </a:xfrm>
        </p:grpSpPr>
        <p:sp>
          <p:nvSpPr>
            <p:cNvPr id="2051" name="IdxNum5"/>
            <p:cNvSpPr txBox="1"/>
            <p:nvPr/>
          </p:nvSpPr>
          <p:spPr>
            <a:xfrm>
              <a:off x="969531" y="947475"/>
              <a:ext cx="564600" cy="38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688" tIns="118688" rIns="118688" bIns="118688" anchor="ctr" anchorCtr="0">
              <a:noAutofit/>
            </a:bodyPr>
            <a:lstStyle/>
            <a:p>
              <a:pPr>
                <a:buClr>
                  <a:srgbClr val="000000"/>
                </a:buClr>
                <a:buSzPts val="1900"/>
              </a:pPr>
              <a:r>
                <a:rPr lang="es-ES" sz="2850" b="1">
                  <a:solidFill>
                    <a:schemeClr val="bg2">
                      <a:lumMod val="60000"/>
                      <a:lumOff val="40000"/>
                    </a:schemeClr>
                  </a:solidFill>
                  <a:latin typeface="+mj-lt"/>
                  <a:ea typeface="Lato Black"/>
                  <a:cs typeface="Lato Black"/>
                  <a:sym typeface="Lato Black"/>
                </a:rPr>
                <a:t>06</a:t>
              </a:r>
            </a:p>
          </p:txBody>
        </p:sp>
        <p:sp>
          <p:nvSpPr>
            <p:cNvPr id="2052" name="IdxTitle5"/>
            <p:cNvSpPr txBox="1"/>
            <p:nvPr/>
          </p:nvSpPr>
          <p:spPr>
            <a:xfrm>
              <a:off x="1708650" y="947475"/>
              <a:ext cx="4997100" cy="38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688" tIns="118688" rIns="118688" bIns="118688" anchor="ctr" anchorCtr="0">
              <a:noAutofit/>
            </a:bodyPr>
            <a:lstStyle/>
            <a:p>
              <a:r>
                <a:rPr lang="es-ES" sz="2400" b="1">
                  <a:solidFill>
                    <a:schemeClr val="bg2">
                      <a:lumMod val="60000"/>
                      <a:lumOff val="40000"/>
                    </a:schemeClr>
                  </a:solidFill>
                  <a:latin typeface="+mj-lt"/>
                  <a:ea typeface="Lato Black"/>
                  <a:cs typeface="Lato Black"/>
                  <a:sym typeface="Lato Black"/>
                </a:rPr>
                <a:t>Benchmarking</a:t>
              </a:r>
            </a:p>
          </p:txBody>
        </p:sp>
        <p:cxnSp>
          <p:nvCxnSpPr>
            <p:cNvPr id="2053" name="IdxBar5"/>
            <p:cNvCxnSpPr/>
            <p:nvPr/>
          </p:nvCxnSpPr>
          <p:spPr>
            <a:xfrm>
              <a:off x="1515900" y="952425"/>
              <a:ext cx="0" cy="370800"/>
            </a:xfrm>
            <a:prstGeom prst="straightConnector1">
              <a:avLst/>
            </a:prstGeom>
            <a:noFill/>
            <a:ln w="28575" cap="flat" cmpd="sng">
              <a:solidFill>
                <a:schemeClr val="bg2">
                  <a:lumMod val="60000"/>
                  <a:lumOff val="4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060" name="IdxGroup6"/>
          <p:cNvGrpSpPr/>
          <p:nvPr/>
        </p:nvGrpSpPr>
        <p:grpSpPr>
          <a:xfrm>
            <a:off x="2047897" y="6346436"/>
            <a:ext cx="8604329" cy="571050"/>
            <a:chOff x="969531" y="947475"/>
            <a:chExt cx="5736219" cy="380700"/>
          </a:xfrm>
        </p:grpSpPr>
        <p:sp>
          <p:nvSpPr>
            <p:cNvPr id="2061" name="IdxNum6"/>
            <p:cNvSpPr txBox="1"/>
            <p:nvPr/>
          </p:nvSpPr>
          <p:spPr>
            <a:xfrm>
              <a:off x="969531" y="947475"/>
              <a:ext cx="564600" cy="38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688" tIns="118688" rIns="118688" bIns="118688" anchor="ctr" anchorCtr="0">
              <a:noAutofit/>
            </a:bodyPr>
            <a:lstStyle/>
            <a:p>
              <a:pPr>
                <a:buClr>
                  <a:srgbClr val="000000"/>
                </a:buClr>
                <a:buSzPts val="1900"/>
              </a:pPr>
              <a:r>
                <a:rPr lang="es-ES" sz="2850" b="1">
                  <a:solidFill>
                    <a:schemeClr val="bg2">
                      <a:lumMod val="60000"/>
                      <a:lumOff val="40000"/>
                    </a:schemeClr>
                  </a:solidFill>
                  <a:latin typeface="+mj-lt"/>
                  <a:ea typeface="Lato Black"/>
                  <a:cs typeface="Lato Black"/>
                  <a:sym typeface="Lato Black"/>
                </a:rPr>
                <a:t>07</a:t>
              </a:r>
            </a:p>
          </p:txBody>
        </p:sp>
        <p:sp>
          <p:nvSpPr>
            <p:cNvPr id="2062" name="IdxTitle6"/>
            <p:cNvSpPr txBox="1"/>
            <p:nvPr/>
          </p:nvSpPr>
          <p:spPr>
            <a:xfrm>
              <a:off x="1708650" y="947475"/>
              <a:ext cx="4997100" cy="38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688" tIns="118688" rIns="118688" bIns="118688" anchor="ctr" anchorCtr="0">
              <a:noAutofit/>
            </a:bodyPr>
            <a:lstStyle/>
            <a:p>
              <a:r>
                <a:rPr lang="es-ES" sz="2400" b="1">
                  <a:solidFill>
                    <a:schemeClr val="bg2">
                      <a:lumMod val="60000"/>
                      <a:lumOff val="40000"/>
                    </a:schemeClr>
                  </a:solidFill>
                  <a:latin typeface="+mj-lt"/>
                  <a:ea typeface="Lato Black"/>
                  <a:cs typeface="Lato Black"/>
                  <a:sym typeface="Lato Black"/>
                </a:rPr>
                <a:t>Propuesta de valor y cierre</a:t>
              </a:r>
            </a:p>
          </p:txBody>
        </p:sp>
        <p:cxnSp>
          <p:nvCxnSpPr>
            <p:cNvPr id="2063" name="IdxBar6"/>
            <p:cNvCxnSpPr/>
            <p:nvPr/>
          </p:nvCxnSpPr>
          <p:spPr>
            <a:xfrm>
              <a:off x="1515900" y="952425"/>
              <a:ext cx="0" cy="370800"/>
            </a:xfrm>
            <a:prstGeom prst="straightConnector1">
              <a:avLst/>
            </a:prstGeom>
            <a:noFill/>
            <a:ln w="28575" cap="flat" cmpd="sng">
              <a:solidFill>
                <a:schemeClr val="bg2">
                  <a:lumMod val="60000"/>
                  <a:lumOff val="4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070" name="IdxGroup7"/>
          <p:cNvGrpSpPr/>
          <p:nvPr/>
        </p:nvGrpSpPr>
        <p:grpSpPr>
          <a:xfrm>
            <a:off x="2047897" y="6981436"/>
            <a:ext cx="8604329" cy="571050"/>
            <a:chOff x="969531" y="947475"/>
            <a:chExt cx="5736219" cy="380700"/>
          </a:xfrm>
        </p:grpSpPr>
        <p:sp>
          <p:nvSpPr>
            <p:cNvPr id="2071" name="IdxNum7"/>
            <p:cNvSpPr txBox="1"/>
            <p:nvPr/>
          </p:nvSpPr>
          <p:spPr>
            <a:xfrm>
              <a:off x="969531" y="947475"/>
              <a:ext cx="564600" cy="38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688" tIns="118688" rIns="118688" bIns="118688" anchor="ctr" anchorCtr="0">
              <a:noAutofit/>
            </a:bodyPr>
            <a:lstStyle/>
            <a:p>
              <a:pPr>
                <a:buClr>
                  <a:srgbClr val="000000"/>
                </a:buClr>
                <a:buSzPts val="1900"/>
              </a:pPr>
              <a:r>
                <a:rPr lang="es-ES" sz="2850" b="1">
                  <a:solidFill>
                    <a:schemeClr val="bg2">
                      <a:lumMod val="60000"/>
                      <a:lumOff val="40000"/>
                    </a:schemeClr>
                  </a:solidFill>
                  <a:latin typeface="+mj-lt"/>
                  <a:ea typeface="Lato Black"/>
                  <a:cs typeface="Lato Black"/>
                  <a:sym typeface="Lato Black"/>
                </a:rPr>
                <a:t>08</a:t>
              </a:r>
            </a:p>
          </p:txBody>
        </p:sp>
        <p:sp>
          <p:nvSpPr>
            <p:cNvPr id="2072" name="IdxTitle7"/>
            <p:cNvSpPr txBox="1"/>
            <p:nvPr/>
          </p:nvSpPr>
          <p:spPr>
            <a:xfrm>
              <a:off x="1708650" y="947475"/>
              <a:ext cx="4997100" cy="38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688" tIns="118688" rIns="118688" bIns="118688" anchor="ctr" anchorCtr="0">
              <a:noAutofit/>
            </a:bodyPr>
            <a:lstStyle/>
            <a:p>
              <a:r>
                <a:rPr lang="es-ES" sz="2400" b="1">
                  <a:solidFill>
                    <a:schemeClr val="bg2">
                      <a:lumMod val="60000"/>
                      <a:lumOff val="40000"/>
                    </a:schemeClr>
                  </a:solidFill>
                  <a:latin typeface="+mj-lt"/>
                  <a:ea typeface="Lato Black"/>
                  <a:cs typeface="Lato Black"/>
                  <a:sym typeface="Lato Black"/>
                </a:rPr>
                <a:t>Bibliografía y anexos</a:t>
              </a:r>
            </a:p>
          </p:txBody>
        </p:sp>
        <p:cxnSp>
          <p:nvCxnSpPr>
            <p:cNvPr id="2073" name="IdxBar7"/>
            <p:cNvCxnSpPr/>
            <p:nvPr/>
          </p:nvCxnSpPr>
          <p:spPr>
            <a:xfrm>
              <a:off x="1515900" y="952425"/>
              <a:ext cx="0" cy="370800"/>
            </a:xfrm>
            <a:prstGeom prst="straightConnector1">
              <a:avLst/>
            </a:prstGeom>
            <a:noFill/>
            <a:ln w="28575" cap="flat" cmpd="sng">
              <a:solidFill>
                <a:schemeClr val="bg2">
                  <a:lumMod val="60000"/>
                  <a:lumOff val="4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</p:spTree>
    <p:extLst>
      <p:ext uri="{BB962C8B-B14F-4D97-AF65-F5344CB8AC3E}">
        <p14:creationId xmlns:p14="http://schemas.microsoft.com/office/powerpoint/2010/main" val="28705106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pe 11"/>
          <p:cNvSpPr/>
          <p:nvPr/>
        </p:nvSpPr>
        <p:spPr>
          <a:xfrm>
            <a:off x="784698" y="1860034"/>
            <a:ext cx="35719" cy="1820912"/>
          </a:xfrm>
          <a:prstGeom prst="rect">
            <a:avLst/>
          </a:prstGeom>
          <a:solidFill>
            <a:srgbClr val="B89455"/>
          </a:solidFill>
          <a:ln/>
        </p:spPr>
        <p:txBody>
          <a:bodyPr/>
          <a:lstStyle/>
          <a:p>
            <a:endParaRPr lang="es-ES_tradnl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059B427-5791-A8C6-305E-EFBB36148464}"/>
              </a:ext>
            </a:extLst>
          </p:cNvPr>
          <p:cNvGrpSpPr/>
          <p:nvPr/>
        </p:nvGrpSpPr>
        <p:grpSpPr>
          <a:xfrm>
            <a:off x="1032088" y="1867689"/>
            <a:ext cx="16493912" cy="1820912"/>
            <a:chOff x="762000" y="3000561"/>
            <a:chExt cx="14287500" cy="1820912"/>
          </a:xfrm>
        </p:grpSpPr>
        <p:sp>
          <p:nvSpPr>
            <p:cNvPr id="12" name="Shape 10"/>
            <p:cNvSpPr/>
            <p:nvPr/>
          </p:nvSpPr>
          <p:spPr>
            <a:xfrm>
              <a:off x="762000" y="3000561"/>
              <a:ext cx="14287500" cy="1820912"/>
            </a:xfrm>
            <a:prstGeom prst="rect">
              <a:avLst/>
            </a:prstGeom>
            <a:solidFill>
              <a:srgbClr val="F2F5FA"/>
            </a:solidFill>
            <a:ln/>
            <a:effectLst>
              <a:outerShdw blurRad="101600" dist="25400" dir="5400000" algn="tl" rotWithShape="0">
                <a:srgbClr val="000000">
                  <a:alpha val="18000"/>
                </a:srgbClr>
              </a:outerShdw>
            </a:effectLst>
          </p:spPr>
          <p:txBody>
            <a:bodyPr/>
            <a:lstStyle/>
            <a:p>
              <a:endParaRPr lang="es-ES_tradnl"/>
            </a:p>
          </p:txBody>
        </p:sp>
        <p:sp>
          <p:nvSpPr>
            <p:cNvPr id="14" name="Text 12"/>
            <p:cNvSpPr/>
            <p:nvPr/>
          </p:nvSpPr>
          <p:spPr>
            <a:xfrm>
              <a:off x="1331082" y="3457649"/>
              <a:ext cx="13580607" cy="94483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fontScale="92500" lnSpcReduction="20000"/>
            </a:bodyPr>
            <a:lstStyle/>
            <a:p>
              <a:pPr marL="0" indent="0" algn="l">
                <a:lnSpc>
                  <a:spcPct val="140000"/>
                </a:lnSpc>
                <a:buNone/>
              </a:pPr>
              <a:r>
                <a:rPr lang="en-US" sz="2550" kern="0" spc="-13">
                  <a:solidFill>
                    <a:srgbClr val="0A1F44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“</a:t>
              </a:r>
              <a:r>
                <a:rPr lang="en-US" sz="2550" kern="0" spc="-13" err="1">
                  <a:solidFill>
                    <a:srgbClr val="0A1F44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Localizar</a:t>
              </a:r>
              <a:r>
                <a:rPr lang="en-US" sz="2550" kern="0" spc="-13">
                  <a:solidFill>
                    <a:srgbClr val="0A1F44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</a:t>
              </a:r>
              <a:r>
                <a:rPr lang="en-US" sz="2550" kern="0" spc="-13" err="1">
                  <a:solidFill>
                    <a:srgbClr val="0A1F44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todos</a:t>
              </a:r>
              <a:r>
                <a:rPr lang="en-US" sz="2550" kern="0" spc="-13">
                  <a:solidFill>
                    <a:srgbClr val="0A1F44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</a:t>
              </a:r>
              <a:r>
                <a:rPr lang="en-US" sz="2550" kern="0" spc="-13" err="1">
                  <a:solidFill>
                    <a:srgbClr val="0A1F44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los</a:t>
              </a:r>
              <a:r>
                <a:rPr lang="en-US" sz="2550" kern="0" spc="-13">
                  <a:solidFill>
                    <a:srgbClr val="0A1F44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</a:t>
              </a:r>
              <a:r>
                <a:rPr lang="en-US" sz="2550" kern="0" spc="-13" err="1">
                  <a:solidFill>
                    <a:srgbClr val="0A1F44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activos</a:t>
              </a:r>
              <a:r>
                <a:rPr lang="en-US" sz="2550" kern="0" spc="-13">
                  <a:solidFill>
                    <a:srgbClr val="0A1F44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</a:t>
              </a:r>
              <a:r>
                <a:rPr lang="en-US" sz="2550" kern="0" spc="-13" err="1">
                  <a:solidFill>
                    <a:srgbClr val="0A1F44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productivos</a:t>
              </a:r>
              <a:r>
                <a:rPr lang="en-US" sz="2550" kern="0" spc="-13">
                  <a:solidFill>
                    <a:srgbClr val="0A1F44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de </a:t>
              </a:r>
              <a:r>
                <a:rPr lang="en-US" sz="2550" kern="0" spc="-13" err="1">
                  <a:solidFill>
                    <a:srgbClr val="0A1F44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una</a:t>
              </a:r>
              <a:r>
                <a:rPr lang="en-US" sz="2550" kern="0" spc="-13">
                  <a:solidFill>
                    <a:srgbClr val="0A1F44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</a:t>
              </a:r>
              <a:r>
                <a:rPr lang="en-US" sz="2550" kern="0" spc="-13" err="1">
                  <a:solidFill>
                    <a:srgbClr val="0A1F44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empresa</a:t>
              </a:r>
              <a:r>
                <a:rPr lang="en-US" sz="2550" kern="0" spc="-13">
                  <a:solidFill>
                    <a:srgbClr val="0A1F44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</a:t>
              </a:r>
              <a:r>
                <a:rPr lang="en-US" sz="2550" kern="0" spc="-13" err="1">
                  <a:solidFill>
                    <a:srgbClr val="0A1F44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requiere</a:t>
              </a:r>
              <a:r>
                <a:rPr lang="en-US" sz="2550" kern="0" spc="-13">
                  <a:solidFill>
                    <a:srgbClr val="0A1F44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</a:t>
              </a:r>
              <a:r>
                <a:rPr lang="en-US" sz="2550" b="1" kern="0" spc="-13">
                  <a:solidFill>
                    <a:srgbClr val="9C7A2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horas de </a:t>
              </a:r>
              <a:r>
                <a:rPr lang="en-US" sz="2550" b="1" kern="0" spc="-13" err="1">
                  <a:solidFill>
                    <a:srgbClr val="9C7A2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trabajo</a:t>
              </a:r>
              <a:r>
                <a:rPr lang="en-US" sz="2550" b="1" kern="0" spc="-13">
                  <a:solidFill>
                    <a:srgbClr val="9C7A2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manual </a:t>
              </a:r>
              <a:r>
                <a:rPr lang="en-US" sz="2550" kern="0" spc="-13">
                  <a:solidFill>
                    <a:srgbClr val="0A1F44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sin </a:t>
              </a:r>
              <a:r>
                <a:rPr lang="en-US" sz="2550" kern="0" spc="-13" err="1">
                  <a:solidFill>
                    <a:srgbClr val="0A1F44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garantía</a:t>
              </a:r>
              <a:r>
                <a:rPr lang="en-US" sz="2550" kern="0" spc="-13">
                  <a:solidFill>
                    <a:srgbClr val="0A1F44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de </a:t>
              </a:r>
              <a:r>
                <a:rPr lang="en-US" sz="2550" kern="0" spc="-13" err="1">
                  <a:solidFill>
                    <a:srgbClr val="0A1F44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cobertura</a:t>
              </a:r>
              <a:r>
                <a:rPr lang="en-US" sz="2550" kern="0" spc="-13">
                  <a:solidFill>
                    <a:srgbClr val="0A1F44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completa.”</a:t>
              </a:r>
              <a:endParaRPr lang="en-US" sz="2550"/>
            </a:p>
          </p:txBody>
        </p:sp>
      </p:grpSp>
      <p:sp>
        <p:nvSpPr>
          <p:cNvPr id="15" name="Text 13"/>
          <p:cNvSpPr/>
          <p:nvPr/>
        </p:nvSpPr>
        <p:spPr>
          <a:xfrm>
            <a:off x="762000" y="4410583"/>
            <a:ext cx="17266920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200" b="1" kern="0" spc="176">
                <a:solidFill>
                  <a:srgbClr val="5C65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PROCESO MANUAL ACTUAL</a:t>
            </a:r>
            <a:endParaRPr lang="en-US" sz="2200"/>
          </a:p>
        </p:txBody>
      </p:sp>
      <p:grpSp>
        <p:nvGrpSpPr>
          <p:cNvPr id="9000" name="MS Header Group"/>
          <p:cNvGrpSpPr/>
          <p:nvPr/>
        </p:nvGrpSpPr>
        <p:grpSpPr>
          <a:xfrm>
            <a:off x="282819" y="579094"/>
            <a:ext cx="13786135" cy="1057874"/>
            <a:chOff x="92172" y="275827"/>
            <a:chExt cx="9190756" cy="705249"/>
          </a:xfrm>
        </p:grpSpPr>
        <p:sp>
          <p:nvSpPr>
            <p:cNvPr id="9001" name="MS Title Box"/>
            <p:cNvSpPr>
              <a:spLocks noChangeArrowheads="1"/>
            </p:cNvSpPr>
            <p:nvPr/>
          </p:nvSpPr>
          <p:spPr bwMode="gray">
            <a:xfrm>
              <a:off x="776292" y="404814"/>
              <a:ext cx="8506636" cy="576262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37160" tIns="68580" rIns="137160" bIns="68580" anchor="ctr"/>
            <a:lstStyle/>
            <a:p>
              <a:pPr>
                <a:lnSpc>
                  <a:spcPts val="3150"/>
                </a:lnSpc>
              </a:pPr>
              <a:r>
                <a:rPr lang="es-ES" sz="3000" b="1">
                  <a:solidFill>
                    <a:srgbClr val="002569"/>
                  </a:solidFill>
                  <a:latin typeface="Arial"/>
                </a:rPr>
                <a:t>¿De qué trata este TFM?</a:t>
              </a:r>
            </a:p>
            <a:p>
              <a:r>
                <a:rPr lang="es-ES" sz="2700">
                  <a:solidFill>
                    <a:srgbClr val="E0D399">
                      <a:lumMod val="75000"/>
                    </a:srgbClr>
                  </a:solidFill>
                  <a:latin typeface="Arial"/>
                </a:rPr>
                <a:t>PUNTO DE PARTIDA</a:t>
              </a:r>
            </a:p>
          </p:txBody>
        </p:sp>
        <p:sp>
          <p:nvSpPr>
            <p:cNvPr id="9002" name="MS Number"/>
            <p:cNvSpPr>
              <a:spLocks noChangeArrowheads="1"/>
            </p:cNvSpPr>
            <p:nvPr/>
          </p:nvSpPr>
          <p:spPr bwMode="gray">
            <a:xfrm>
              <a:off x="92172" y="275827"/>
              <a:ext cx="477819" cy="70014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148523" tIns="74261" rIns="148523" bIns="74261">
              <a:spAutoFit/>
            </a:bodyPr>
            <a:lstStyle/>
            <a:p>
              <a:pPr algn="ctr"/>
              <a:r>
                <a:rPr lang="es-ES" sz="5850" b="1" kern="0">
                  <a:solidFill>
                    <a:srgbClr val="002569"/>
                  </a:solidFill>
                  <a:latin typeface="Arial"/>
                </a:rPr>
                <a:t>1</a:t>
              </a:r>
            </a:p>
          </p:txBody>
        </p:sp>
        <p:cxnSp>
          <p:nvCxnSpPr>
            <p:cNvPr id="9003" name="MS Header Bar"/>
            <p:cNvCxnSpPr/>
            <p:nvPr/>
          </p:nvCxnSpPr>
          <p:spPr>
            <a:xfrm>
              <a:off x="570525" y="404814"/>
              <a:ext cx="0" cy="526647"/>
            </a:xfrm>
            <a:prstGeom prst="line">
              <a:avLst/>
            </a:prstGeom>
            <a:ln>
              <a:solidFill>
                <a:schemeClr val="tx2"/>
              </a:solidFill>
            </a:ln>
          </p:spPr>
        </p:cxn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10260347-23EB-C74B-951F-52565328B7DE}"/>
              </a:ext>
            </a:extLst>
          </p:cNvPr>
          <p:cNvGrpSpPr/>
          <p:nvPr/>
        </p:nvGrpSpPr>
        <p:grpSpPr>
          <a:xfrm>
            <a:off x="762000" y="4868913"/>
            <a:ext cx="3149575" cy="1673223"/>
            <a:chOff x="762000" y="4916722"/>
            <a:chExt cx="3149575" cy="1673223"/>
          </a:xfrm>
        </p:grpSpPr>
        <p:sp>
          <p:nvSpPr>
            <p:cNvPr id="16" name="Shape 14"/>
            <p:cNvSpPr/>
            <p:nvPr/>
          </p:nvSpPr>
          <p:spPr>
            <a:xfrm>
              <a:off x="762000" y="4916722"/>
              <a:ext cx="3149575" cy="1673223"/>
            </a:xfrm>
            <a:prstGeom prst="rect">
              <a:avLst/>
            </a:prstGeom>
            <a:solidFill>
              <a:srgbClr val="FFFFFF"/>
            </a:solidFill>
            <a:ln w="11906">
              <a:solidFill>
                <a:srgbClr val="D9DEE9"/>
              </a:solidFill>
              <a:prstDash val="solid"/>
            </a:ln>
            <a:effectLst>
              <a:outerShdw blurRad="101600" dist="25400" dir="5400000" algn="tl" rotWithShape="0">
                <a:srgbClr val="000000">
                  <a:alpha val="18000"/>
                </a:srgbClr>
              </a:outerShdw>
            </a:effectLst>
          </p:spPr>
          <p:txBody>
            <a:bodyPr/>
            <a:lstStyle/>
            <a:p>
              <a:endParaRPr lang="es-ES_tradnl"/>
            </a:p>
          </p:txBody>
        </p:sp>
        <p:sp>
          <p:nvSpPr>
            <p:cNvPr id="17" name="Text 15"/>
            <p:cNvSpPr/>
            <p:nvPr/>
          </p:nvSpPr>
          <p:spPr>
            <a:xfrm>
              <a:off x="962325" y="5157081"/>
              <a:ext cx="2748926" cy="192881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ctr">
                <a:buNone/>
              </a:pPr>
              <a:r>
                <a:rPr lang="en-US" kern="0" spc="90">
                  <a:solidFill>
                    <a:srgbClr val="9C7A2E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PASO 1</a:t>
              </a:r>
              <a:endParaRPr lang="en-US"/>
            </a:p>
          </p:txBody>
        </p:sp>
        <p:sp>
          <p:nvSpPr>
            <p:cNvPr id="18" name="Text 16"/>
            <p:cNvSpPr/>
            <p:nvPr/>
          </p:nvSpPr>
          <p:spPr>
            <a:xfrm>
              <a:off x="962232" y="5518534"/>
              <a:ext cx="2748926" cy="264319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ctr">
                <a:buNone/>
              </a:pPr>
              <a:r>
                <a:rPr lang="en-US" sz="2200" b="1" err="1">
                  <a:solidFill>
                    <a:srgbClr val="0A1F44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Buscar</a:t>
              </a:r>
              <a:endParaRPr lang="en-US" sz="2200"/>
            </a:p>
          </p:txBody>
        </p:sp>
        <p:sp>
          <p:nvSpPr>
            <p:cNvPr id="19" name="Text 17"/>
            <p:cNvSpPr/>
            <p:nvPr/>
          </p:nvSpPr>
          <p:spPr>
            <a:xfrm>
              <a:off x="962232" y="6010349"/>
              <a:ext cx="2748926" cy="169069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ctr">
                <a:buNone/>
              </a:pPr>
              <a:r>
                <a:rPr lang="en-US">
                  <a:solidFill>
                    <a:srgbClr val="5C6582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Web, </a:t>
              </a:r>
              <a:r>
                <a:rPr lang="en-US" err="1">
                  <a:solidFill>
                    <a:srgbClr val="5C6582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prensa</a:t>
              </a:r>
              <a:r>
                <a:rPr lang="en-US">
                  <a:solidFill>
                    <a:srgbClr val="5C6582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, LinkedIn</a:t>
              </a:r>
              <a:endParaRPr lang="en-US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CDA3DB2E-965C-1737-EFF8-166EA34D68D2}"/>
              </a:ext>
            </a:extLst>
          </p:cNvPr>
          <p:cNvGrpSpPr/>
          <p:nvPr/>
        </p:nvGrpSpPr>
        <p:grpSpPr>
          <a:xfrm>
            <a:off x="5129533" y="4868913"/>
            <a:ext cx="3149575" cy="1673223"/>
            <a:chOff x="4438408" y="5104931"/>
            <a:chExt cx="3149575" cy="1673223"/>
          </a:xfrm>
        </p:grpSpPr>
        <p:sp>
          <p:nvSpPr>
            <p:cNvPr id="4" name="Shape 14">
              <a:extLst>
                <a:ext uri="{FF2B5EF4-FFF2-40B4-BE49-F238E27FC236}">
                  <a16:creationId xmlns:a16="http://schemas.microsoft.com/office/drawing/2014/main" id="{10A14AE7-82BA-6D79-A273-9096ADE83B9F}"/>
                </a:ext>
              </a:extLst>
            </p:cNvPr>
            <p:cNvSpPr/>
            <p:nvPr/>
          </p:nvSpPr>
          <p:spPr>
            <a:xfrm>
              <a:off x="4438408" y="5104931"/>
              <a:ext cx="3149575" cy="1673223"/>
            </a:xfrm>
            <a:prstGeom prst="rect">
              <a:avLst/>
            </a:prstGeom>
            <a:solidFill>
              <a:srgbClr val="FFFFFF"/>
            </a:solidFill>
            <a:ln w="11906">
              <a:solidFill>
                <a:srgbClr val="D9DEE9"/>
              </a:solidFill>
              <a:prstDash val="solid"/>
            </a:ln>
            <a:effectLst>
              <a:outerShdw blurRad="101600" dist="25400" dir="5400000" algn="tl" rotWithShape="0">
                <a:srgbClr val="000000">
                  <a:alpha val="18000"/>
                </a:srgbClr>
              </a:outerShdw>
            </a:effectLst>
          </p:spPr>
          <p:txBody>
            <a:bodyPr/>
            <a:lstStyle/>
            <a:p>
              <a:endParaRPr lang="es-ES_tradnl"/>
            </a:p>
          </p:txBody>
        </p:sp>
        <p:sp>
          <p:nvSpPr>
            <p:cNvPr id="22" name="Text 20"/>
            <p:cNvSpPr/>
            <p:nvPr/>
          </p:nvSpPr>
          <p:spPr>
            <a:xfrm>
              <a:off x="4638636" y="5376063"/>
              <a:ext cx="2749118" cy="192881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ctr">
                <a:buNone/>
              </a:pPr>
              <a:r>
                <a:rPr lang="en-US" kern="0" spc="90">
                  <a:solidFill>
                    <a:srgbClr val="9C7A2E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PASO 2</a:t>
              </a:r>
              <a:endParaRPr lang="en-US"/>
            </a:p>
          </p:txBody>
        </p:sp>
        <p:sp>
          <p:nvSpPr>
            <p:cNvPr id="23" name="Text 21"/>
            <p:cNvSpPr/>
            <p:nvPr/>
          </p:nvSpPr>
          <p:spPr>
            <a:xfrm>
              <a:off x="4563657" y="5707916"/>
              <a:ext cx="2749118" cy="264319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ctr">
                <a:buNone/>
              </a:pPr>
              <a:r>
                <a:rPr lang="en-US" sz="2200" b="1" err="1">
                  <a:solidFill>
                    <a:srgbClr val="0A1F44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Contrastar</a:t>
              </a:r>
              <a:endParaRPr lang="en-US" sz="2200"/>
            </a:p>
          </p:txBody>
        </p:sp>
        <p:sp>
          <p:nvSpPr>
            <p:cNvPr id="24" name="Text 22"/>
            <p:cNvSpPr/>
            <p:nvPr/>
          </p:nvSpPr>
          <p:spPr>
            <a:xfrm>
              <a:off x="4563657" y="6201965"/>
              <a:ext cx="2749118" cy="169069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ctr">
                <a:buNone/>
              </a:pPr>
              <a:r>
                <a:rPr lang="en-US">
                  <a:solidFill>
                    <a:srgbClr val="5C6582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Reg. Mercantil, </a:t>
              </a:r>
              <a:r>
                <a:rPr lang="en-US" err="1">
                  <a:solidFill>
                    <a:srgbClr val="5C6582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informes</a:t>
              </a:r>
              <a:endParaRPr lang="en-US"/>
            </a:p>
          </p:txBody>
        </p:sp>
      </p:grpSp>
      <p:sp>
        <p:nvSpPr>
          <p:cNvPr id="9004" name="Right Arrow 9003"/>
          <p:cNvSpPr/>
          <p:nvPr/>
        </p:nvSpPr>
        <p:spPr>
          <a:xfrm>
            <a:off x="4337674" y="5568364"/>
            <a:ext cx="365760" cy="274320"/>
          </a:xfrm>
          <a:prstGeom prst="rightArrow">
            <a:avLst/>
          </a:prstGeom>
          <a:solidFill>
            <a:srgbClr val="BF9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3D54F88-C18E-1789-6CEF-DDB428875677}"/>
              </a:ext>
            </a:extLst>
          </p:cNvPr>
          <p:cNvGrpSpPr/>
          <p:nvPr/>
        </p:nvGrpSpPr>
        <p:grpSpPr>
          <a:xfrm>
            <a:off x="9497066" y="4868913"/>
            <a:ext cx="3149575" cy="1673223"/>
            <a:chOff x="762000" y="4916722"/>
            <a:chExt cx="3149575" cy="1673223"/>
          </a:xfrm>
        </p:grpSpPr>
        <p:sp>
          <p:nvSpPr>
            <p:cNvPr id="8" name="Shape 14">
              <a:extLst>
                <a:ext uri="{FF2B5EF4-FFF2-40B4-BE49-F238E27FC236}">
                  <a16:creationId xmlns:a16="http://schemas.microsoft.com/office/drawing/2014/main" id="{0A70710C-145B-D90A-E621-51A708118DE7}"/>
                </a:ext>
              </a:extLst>
            </p:cNvPr>
            <p:cNvSpPr/>
            <p:nvPr/>
          </p:nvSpPr>
          <p:spPr>
            <a:xfrm>
              <a:off x="762000" y="4916722"/>
              <a:ext cx="3149575" cy="1673223"/>
            </a:xfrm>
            <a:prstGeom prst="rect">
              <a:avLst/>
            </a:prstGeom>
            <a:solidFill>
              <a:srgbClr val="FFFFFF"/>
            </a:solidFill>
            <a:ln w="11906">
              <a:solidFill>
                <a:srgbClr val="D9DEE9"/>
              </a:solidFill>
              <a:prstDash val="solid"/>
            </a:ln>
            <a:effectLst>
              <a:outerShdw blurRad="101600" dist="25400" dir="5400000" algn="tl" rotWithShape="0">
                <a:srgbClr val="000000">
                  <a:alpha val="18000"/>
                </a:srgbClr>
              </a:outerShdw>
            </a:effectLst>
          </p:spPr>
          <p:txBody>
            <a:bodyPr/>
            <a:lstStyle/>
            <a:p>
              <a:endParaRPr lang="es-ES_tradnl"/>
            </a:p>
          </p:txBody>
        </p:sp>
        <p:sp>
          <p:nvSpPr>
            <p:cNvPr id="9" name="Text 15">
              <a:extLst>
                <a:ext uri="{FF2B5EF4-FFF2-40B4-BE49-F238E27FC236}">
                  <a16:creationId xmlns:a16="http://schemas.microsoft.com/office/drawing/2014/main" id="{812E4C52-05D5-31D0-4491-0852E530BA00}"/>
                </a:ext>
              </a:extLst>
            </p:cNvPr>
            <p:cNvSpPr/>
            <p:nvPr/>
          </p:nvSpPr>
          <p:spPr>
            <a:xfrm>
              <a:off x="962325" y="5157081"/>
              <a:ext cx="2748926" cy="192881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ctr">
                <a:buNone/>
              </a:pPr>
              <a:r>
                <a:rPr lang="en-US" kern="0" spc="90">
                  <a:solidFill>
                    <a:srgbClr val="9C7A2E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PASO 3</a:t>
              </a:r>
              <a:endParaRPr lang="en-US"/>
            </a:p>
          </p:txBody>
        </p:sp>
        <p:sp>
          <p:nvSpPr>
            <p:cNvPr id="10" name="Text 16">
              <a:extLst>
                <a:ext uri="{FF2B5EF4-FFF2-40B4-BE49-F238E27FC236}">
                  <a16:creationId xmlns:a16="http://schemas.microsoft.com/office/drawing/2014/main" id="{02B0135F-B7A8-A5C1-DFA1-3D94CB1BC02E}"/>
                </a:ext>
              </a:extLst>
            </p:cNvPr>
            <p:cNvSpPr/>
            <p:nvPr/>
          </p:nvSpPr>
          <p:spPr>
            <a:xfrm>
              <a:off x="962232" y="5518534"/>
              <a:ext cx="2748926" cy="264319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ctr">
                <a:buNone/>
              </a:pPr>
              <a:r>
                <a:rPr lang="en-US" sz="2200" b="1" err="1">
                  <a:solidFill>
                    <a:srgbClr val="0A1F44"/>
                  </a:solidFill>
                  <a:latin typeface="Arial" pitchFamily="34" charset="0"/>
                  <a:cs typeface="Arial" pitchFamily="34" charset="-120"/>
                </a:rPr>
                <a:t>Geocodificar</a:t>
              </a:r>
              <a:endParaRPr lang="en-US" sz="2200"/>
            </a:p>
          </p:txBody>
        </p:sp>
        <p:sp>
          <p:nvSpPr>
            <p:cNvPr id="11" name="Text 17">
              <a:extLst>
                <a:ext uri="{FF2B5EF4-FFF2-40B4-BE49-F238E27FC236}">
                  <a16:creationId xmlns:a16="http://schemas.microsoft.com/office/drawing/2014/main" id="{18785F94-75DF-39E2-7646-15F274119F6E}"/>
                </a:ext>
              </a:extLst>
            </p:cNvPr>
            <p:cNvSpPr/>
            <p:nvPr/>
          </p:nvSpPr>
          <p:spPr>
            <a:xfrm>
              <a:off x="962232" y="6010349"/>
              <a:ext cx="2748926" cy="169069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algn="ctr"/>
              <a:r>
                <a:rPr lang="en-US" err="1">
                  <a:solidFill>
                    <a:srgbClr val="5C6582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Coordenadas</a:t>
              </a:r>
              <a:r>
                <a:rPr lang="en-US">
                  <a:solidFill>
                    <a:srgbClr val="5C6582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y </a:t>
              </a:r>
              <a:r>
                <a:rPr lang="en-US" err="1">
                  <a:solidFill>
                    <a:srgbClr val="5C6582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dirección</a:t>
              </a:r>
              <a:endParaRPr lang="en-US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00105FA1-1B03-FD81-18CA-534E2F859679}"/>
              </a:ext>
            </a:extLst>
          </p:cNvPr>
          <p:cNvGrpSpPr/>
          <p:nvPr/>
        </p:nvGrpSpPr>
        <p:grpSpPr>
          <a:xfrm>
            <a:off x="13864596" y="4868913"/>
            <a:ext cx="3149575" cy="1673223"/>
            <a:chOff x="762000" y="4916722"/>
            <a:chExt cx="3149575" cy="1673223"/>
          </a:xfrm>
        </p:grpSpPr>
        <p:sp>
          <p:nvSpPr>
            <p:cNvPr id="25" name="Shape 14">
              <a:extLst>
                <a:ext uri="{FF2B5EF4-FFF2-40B4-BE49-F238E27FC236}">
                  <a16:creationId xmlns:a16="http://schemas.microsoft.com/office/drawing/2014/main" id="{15067C7F-F270-C69F-3B3B-CC75A1ADE527}"/>
                </a:ext>
              </a:extLst>
            </p:cNvPr>
            <p:cNvSpPr/>
            <p:nvPr/>
          </p:nvSpPr>
          <p:spPr>
            <a:xfrm>
              <a:off x="762000" y="4916722"/>
              <a:ext cx="3149575" cy="1673223"/>
            </a:xfrm>
            <a:prstGeom prst="rect">
              <a:avLst/>
            </a:prstGeom>
            <a:solidFill>
              <a:srgbClr val="FFFFFF"/>
            </a:solidFill>
            <a:ln w="11906">
              <a:solidFill>
                <a:srgbClr val="D9DEE9"/>
              </a:solidFill>
              <a:prstDash val="solid"/>
            </a:ln>
            <a:effectLst>
              <a:outerShdw blurRad="101600" dist="25400" dir="5400000" algn="tl" rotWithShape="0">
                <a:srgbClr val="000000">
                  <a:alpha val="18000"/>
                </a:srgbClr>
              </a:outerShdw>
            </a:effectLst>
          </p:spPr>
          <p:txBody>
            <a:bodyPr/>
            <a:lstStyle/>
            <a:p>
              <a:endParaRPr lang="es-ES_tradnl"/>
            </a:p>
          </p:txBody>
        </p:sp>
        <p:sp>
          <p:nvSpPr>
            <p:cNvPr id="30" name="Text 15">
              <a:extLst>
                <a:ext uri="{FF2B5EF4-FFF2-40B4-BE49-F238E27FC236}">
                  <a16:creationId xmlns:a16="http://schemas.microsoft.com/office/drawing/2014/main" id="{CAD32C90-B2B2-287B-8557-10E3E45BD40F}"/>
                </a:ext>
              </a:extLst>
            </p:cNvPr>
            <p:cNvSpPr/>
            <p:nvPr/>
          </p:nvSpPr>
          <p:spPr>
            <a:xfrm>
              <a:off x="962325" y="5157081"/>
              <a:ext cx="2748926" cy="192881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ctr">
                <a:buNone/>
              </a:pPr>
              <a:r>
                <a:rPr lang="en-US" kern="0" spc="90">
                  <a:solidFill>
                    <a:srgbClr val="9C7A2E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PASO 4</a:t>
              </a:r>
              <a:endParaRPr lang="en-US"/>
            </a:p>
          </p:txBody>
        </p:sp>
        <p:sp>
          <p:nvSpPr>
            <p:cNvPr id="39" name="Text 16">
              <a:extLst>
                <a:ext uri="{FF2B5EF4-FFF2-40B4-BE49-F238E27FC236}">
                  <a16:creationId xmlns:a16="http://schemas.microsoft.com/office/drawing/2014/main" id="{9F3A4590-4976-FB11-4952-F3B442A4DFB1}"/>
                </a:ext>
              </a:extLst>
            </p:cNvPr>
            <p:cNvSpPr/>
            <p:nvPr/>
          </p:nvSpPr>
          <p:spPr>
            <a:xfrm>
              <a:off x="962232" y="5518534"/>
              <a:ext cx="2748926" cy="264319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ctr">
                <a:buNone/>
              </a:pPr>
              <a:r>
                <a:rPr lang="en-US" sz="2200" b="1">
                  <a:solidFill>
                    <a:srgbClr val="0A1F44"/>
                  </a:solidFill>
                  <a:latin typeface="Arial" pitchFamily="34" charset="0"/>
                  <a:cs typeface="Arial" pitchFamily="34" charset="-120"/>
                </a:rPr>
                <a:t>Validar</a:t>
              </a:r>
              <a:endParaRPr lang="en-US" sz="2200"/>
            </a:p>
          </p:txBody>
        </p:sp>
        <p:sp>
          <p:nvSpPr>
            <p:cNvPr id="40" name="Text 17">
              <a:extLst>
                <a:ext uri="{FF2B5EF4-FFF2-40B4-BE49-F238E27FC236}">
                  <a16:creationId xmlns:a16="http://schemas.microsoft.com/office/drawing/2014/main" id="{34678FF0-D6DB-2D05-6594-2F38E8758DD1}"/>
                </a:ext>
              </a:extLst>
            </p:cNvPr>
            <p:cNvSpPr/>
            <p:nvPr/>
          </p:nvSpPr>
          <p:spPr>
            <a:xfrm>
              <a:off x="962232" y="6010349"/>
              <a:ext cx="2748926" cy="169069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algn="ctr"/>
              <a:r>
                <a:rPr lang="en-US" err="1">
                  <a:solidFill>
                    <a:srgbClr val="5C6582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Categoría</a:t>
              </a:r>
              <a:r>
                <a:rPr lang="en-US">
                  <a:solidFill>
                    <a:srgbClr val="5C6582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, </a:t>
              </a:r>
              <a:r>
                <a:rPr lang="en-US" err="1">
                  <a:solidFill>
                    <a:srgbClr val="5C6582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vigencia</a:t>
              </a:r>
              <a:endParaRPr lang="en-US"/>
            </a:p>
          </p:txBody>
        </p:sp>
      </p:grpSp>
      <p:sp>
        <p:nvSpPr>
          <p:cNvPr id="42" name="Right Arrow 9003">
            <a:extLst>
              <a:ext uri="{FF2B5EF4-FFF2-40B4-BE49-F238E27FC236}">
                <a16:creationId xmlns:a16="http://schemas.microsoft.com/office/drawing/2014/main" id="{38FF8D51-6898-B0EE-91F2-1B7F2B8B98F9}"/>
              </a:ext>
            </a:extLst>
          </p:cNvPr>
          <p:cNvSpPr/>
          <p:nvPr/>
        </p:nvSpPr>
        <p:spPr>
          <a:xfrm>
            <a:off x="8705207" y="5568364"/>
            <a:ext cx="365760" cy="274320"/>
          </a:xfrm>
          <a:prstGeom prst="rightArrow">
            <a:avLst/>
          </a:prstGeom>
          <a:solidFill>
            <a:srgbClr val="BF9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ight Arrow 9003">
            <a:extLst>
              <a:ext uri="{FF2B5EF4-FFF2-40B4-BE49-F238E27FC236}">
                <a16:creationId xmlns:a16="http://schemas.microsoft.com/office/drawing/2014/main" id="{075923A0-F630-BE6D-FC90-C46E068182A1}"/>
              </a:ext>
            </a:extLst>
          </p:cNvPr>
          <p:cNvSpPr/>
          <p:nvPr/>
        </p:nvSpPr>
        <p:spPr>
          <a:xfrm>
            <a:off x="13072740" y="5568364"/>
            <a:ext cx="365760" cy="274320"/>
          </a:xfrm>
          <a:prstGeom prst="rightArrow">
            <a:avLst/>
          </a:prstGeom>
          <a:solidFill>
            <a:srgbClr val="BF9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EA974DD6-11BE-71ED-6348-BD095B629B9E}"/>
              </a:ext>
            </a:extLst>
          </p:cNvPr>
          <p:cNvGrpSpPr/>
          <p:nvPr/>
        </p:nvGrpSpPr>
        <p:grpSpPr>
          <a:xfrm>
            <a:off x="9817315" y="7474944"/>
            <a:ext cx="4731498" cy="1673222"/>
            <a:chOff x="15189026" y="5814157"/>
            <a:chExt cx="2336974" cy="1206810"/>
          </a:xfrm>
        </p:grpSpPr>
        <p:sp>
          <p:nvSpPr>
            <p:cNvPr id="45" name="Shape 33">
              <a:extLst>
                <a:ext uri="{FF2B5EF4-FFF2-40B4-BE49-F238E27FC236}">
                  <a16:creationId xmlns:a16="http://schemas.microsoft.com/office/drawing/2014/main" id="{4314D5E3-72FF-F84E-D4DC-388546E7A7CF}"/>
                </a:ext>
              </a:extLst>
            </p:cNvPr>
            <p:cNvSpPr/>
            <p:nvPr/>
          </p:nvSpPr>
          <p:spPr>
            <a:xfrm>
              <a:off x="15189026" y="5814157"/>
              <a:ext cx="2336974" cy="1206810"/>
            </a:xfrm>
            <a:prstGeom prst="rect">
              <a:avLst/>
            </a:prstGeom>
            <a:solidFill>
              <a:srgbClr val="0A1F44"/>
            </a:solidFill>
            <a:ln/>
            <a:effectLst>
              <a:outerShdw blurRad="101600" dist="25400" dir="5400000" algn="tl" rotWithShape="0">
                <a:srgbClr val="000000">
                  <a:alpha val="18000"/>
                </a:srgbClr>
              </a:outerShdw>
            </a:effectLst>
          </p:spPr>
          <p:txBody>
            <a:bodyPr/>
            <a:lstStyle/>
            <a:p>
              <a:endParaRPr lang="es-ES_tradnl"/>
            </a:p>
          </p:txBody>
        </p:sp>
        <p:sp>
          <p:nvSpPr>
            <p:cNvPr id="46" name="Text 34">
              <a:extLst>
                <a:ext uri="{FF2B5EF4-FFF2-40B4-BE49-F238E27FC236}">
                  <a16:creationId xmlns:a16="http://schemas.microsoft.com/office/drawing/2014/main" id="{5B483B52-72C2-7AE1-CE0A-08EEC59E07CB}"/>
                </a:ext>
              </a:extLst>
            </p:cNvPr>
            <p:cNvSpPr/>
            <p:nvPr/>
          </p:nvSpPr>
          <p:spPr>
            <a:xfrm>
              <a:off x="15455652" y="6042608"/>
              <a:ext cx="1803722" cy="192881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ctr">
                <a:buNone/>
              </a:pPr>
              <a:r>
                <a:rPr lang="en-US" kern="0" spc="90">
                  <a:solidFill>
                    <a:srgbClr val="D1AE6E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COSTE</a:t>
              </a:r>
              <a:endParaRPr lang="en-US"/>
            </a:p>
          </p:txBody>
        </p:sp>
        <p:sp>
          <p:nvSpPr>
            <p:cNvPr id="47" name="Text 35">
              <a:extLst>
                <a:ext uri="{FF2B5EF4-FFF2-40B4-BE49-F238E27FC236}">
                  <a16:creationId xmlns:a16="http://schemas.microsoft.com/office/drawing/2014/main" id="{E18DAC65-B6B7-8F27-CA97-A06F37393EA6}"/>
                </a:ext>
              </a:extLst>
            </p:cNvPr>
            <p:cNvSpPr/>
            <p:nvPr/>
          </p:nvSpPr>
          <p:spPr>
            <a:xfrm>
              <a:off x="15455652" y="6338887"/>
              <a:ext cx="1803722" cy="407194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/>
            </a:bodyPr>
            <a:lstStyle/>
            <a:p>
              <a:pPr marL="0" indent="0" algn="ctr">
                <a:buNone/>
              </a:pPr>
              <a:r>
                <a:rPr lang="en-US" sz="2400" b="1" err="1">
                  <a:solidFill>
                    <a:srgbClr val="FFFFFF"/>
                  </a:solidFill>
                  <a:latin typeface="Arial" pitchFamily="34" charset="0"/>
                  <a:cs typeface="Arial" pitchFamily="34" charset="-120"/>
                </a:rPr>
                <a:t>Escasos</a:t>
              </a:r>
              <a:r>
                <a:rPr lang="en-US" sz="2400" b="1">
                  <a:solidFill>
                    <a:srgbClr val="FFFFFF"/>
                  </a:solidFill>
                  <a:latin typeface="Arial" pitchFamily="34" charset="0"/>
                  <a:cs typeface="Arial" pitchFamily="34" charset="-120"/>
                </a:rPr>
                <a:t> </a:t>
              </a:r>
              <a:r>
                <a:rPr lang="en-US" sz="2400" b="1" err="1">
                  <a:solidFill>
                    <a:srgbClr val="FFFFFF"/>
                  </a:solidFill>
                  <a:latin typeface="Arial" pitchFamily="34" charset="0"/>
                  <a:cs typeface="Arial" pitchFamily="34" charset="-120"/>
                </a:rPr>
                <a:t>minutos</a:t>
              </a:r>
              <a:endParaRPr lang="en-US" sz="2400"/>
            </a:p>
          </p:txBody>
        </p:sp>
        <p:sp>
          <p:nvSpPr>
            <p:cNvPr id="48" name="Text 36">
              <a:extLst>
                <a:ext uri="{FF2B5EF4-FFF2-40B4-BE49-F238E27FC236}">
                  <a16:creationId xmlns:a16="http://schemas.microsoft.com/office/drawing/2014/main" id="{7EBE2223-470E-56EC-C5B5-F9CFFF69B9E9}"/>
                </a:ext>
              </a:extLst>
            </p:cNvPr>
            <p:cNvSpPr/>
            <p:nvPr/>
          </p:nvSpPr>
          <p:spPr>
            <a:xfrm>
              <a:off x="15588965" y="6661547"/>
              <a:ext cx="1803722" cy="169069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r>
                <a:rPr lang="es-ES">
                  <a:solidFill>
                    <a:srgbClr val="FFFFFF">
                      <a:alpha val="70000"/>
                    </a:srgbClr>
                  </a:solidFill>
                  <a:latin typeface="Arial" pitchFamily="34" charset="0"/>
                  <a:cs typeface="Arial" pitchFamily="34" charset="-120"/>
                </a:rPr>
                <a:t>automatizado por </a:t>
              </a:r>
              <a:r>
                <a:rPr lang="es-ES" err="1">
                  <a:solidFill>
                    <a:srgbClr val="FFFFFF">
                      <a:alpha val="70000"/>
                    </a:srgbClr>
                  </a:solidFill>
                  <a:latin typeface="Arial" pitchFamily="34" charset="0"/>
                  <a:cs typeface="Arial" pitchFamily="34" charset="-120"/>
                </a:rPr>
                <a:t>GeoAssets</a:t>
              </a:r>
              <a:endParaRPr lang="es-ES">
                <a:solidFill>
                  <a:srgbClr val="FFFFFF">
                    <a:alpha val="70000"/>
                  </a:srgbClr>
                </a:solidFill>
                <a:latin typeface="Arial" pitchFamily="34" charset="0"/>
                <a:cs typeface="Arial" pitchFamily="34" charset="-120"/>
              </a:endParaRPr>
            </a:p>
          </p:txBody>
        </p:sp>
      </p:grpSp>
      <p:sp>
        <p:nvSpPr>
          <p:cNvPr id="49" name="Right Arrow 9003">
            <a:extLst>
              <a:ext uri="{FF2B5EF4-FFF2-40B4-BE49-F238E27FC236}">
                <a16:creationId xmlns:a16="http://schemas.microsoft.com/office/drawing/2014/main" id="{3EC9D94A-B805-DAD5-21D3-03CEE7A669E6}"/>
              </a:ext>
            </a:extLst>
          </p:cNvPr>
          <p:cNvSpPr/>
          <p:nvPr/>
        </p:nvSpPr>
        <p:spPr>
          <a:xfrm>
            <a:off x="8705207" y="8078757"/>
            <a:ext cx="365760" cy="274320"/>
          </a:xfrm>
          <a:prstGeom prst="rightArrow">
            <a:avLst/>
          </a:prstGeom>
          <a:solidFill>
            <a:srgbClr val="BF9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 13">
            <a:extLst>
              <a:ext uri="{FF2B5EF4-FFF2-40B4-BE49-F238E27FC236}">
                <a16:creationId xmlns:a16="http://schemas.microsoft.com/office/drawing/2014/main" id="{516C5E08-31EC-DEF9-72D4-98AE0BBA7D67}"/>
              </a:ext>
            </a:extLst>
          </p:cNvPr>
          <p:cNvSpPr/>
          <p:nvPr/>
        </p:nvSpPr>
        <p:spPr>
          <a:xfrm>
            <a:off x="3269526" y="6990066"/>
            <a:ext cx="2136295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200" b="1" kern="0" spc="176">
                <a:solidFill>
                  <a:srgbClr val="5C65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PROBLEMA</a:t>
            </a:r>
            <a:endParaRPr lang="en-US" sz="2200"/>
          </a:p>
        </p:txBody>
      </p:sp>
      <p:sp>
        <p:nvSpPr>
          <p:cNvPr id="51" name="Text 13">
            <a:extLst>
              <a:ext uri="{FF2B5EF4-FFF2-40B4-BE49-F238E27FC236}">
                <a16:creationId xmlns:a16="http://schemas.microsoft.com/office/drawing/2014/main" id="{35E3D208-88C0-4E48-2F2C-E849E1241674}"/>
              </a:ext>
            </a:extLst>
          </p:cNvPr>
          <p:cNvSpPr/>
          <p:nvPr/>
        </p:nvSpPr>
        <p:spPr>
          <a:xfrm>
            <a:off x="9817315" y="6986111"/>
            <a:ext cx="1996724" cy="2165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200" b="1" kern="0" spc="176">
                <a:solidFill>
                  <a:srgbClr val="5C65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SOLUCIÓN</a:t>
            </a:r>
            <a:endParaRPr lang="en-US" sz="2200"/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956375E9-F1B4-3B24-C48B-E12F6EC349BE}"/>
              </a:ext>
            </a:extLst>
          </p:cNvPr>
          <p:cNvGrpSpPr/>
          <p:nvPr/>
        </p:nvGrpSpPr>
        <p:grpSpPr>
          <a:xfrm>
            <a:off x="3146705" y="7474714"/>
            <a:ext cx="4731498" cy="1673222"/>
            <a:chOff x="15189026" y="5814157"/>
            <a:chExt cx="2336974" cy="1206810"/>
          </a:xfrm>
        </p:grpSpPr>
        <p:sp>
          <p:nvSpPr>
            <p:cNvPr id="58" name="Shape 33">
              <a:extLst>
                <a:ext uri="{FF2B5EF4-FFF2-40B4-BE49-F238E27FC236}">
                  <a16:creationId xmlns:a16="http://schemas.microsoft.com/office/drawing/2014/main" id="{CA4B9C12-4902-6E01-5267-3E6A54913891}"/>
                </a:ext>
              </a:extLst>
            </p:cNvPr>
            <p:cNvSpPr/>
            <p:nvPr/>
          </p:nvSpPr>
          <p:spPr>
            <a:xfrm>
              <a:off x="15189026" y="5814157"/>
              <a:ext cx="2336974" cy="1206810"/>
            </a:xfrm>
            <a:prstGeom prst="rect">
              <a:avLst/>
            </a:prstGeom>
            <a:solidFill>
              <a:srgbClr val="0A1F44"/>
            </a:solidFill>
            <a:ln/>
            <a:effectLst>
              <a:outerShdw blurRad="101600" dist="25400" dir="5400000" algn="tl" rotWithShape="0">
                <a:srgbClr val="000000">
                  <a:alpha val="18000"/>
                </a:srgbClr>
              </a:outerShdw>
            </a:effectLst>
          </p:spPr>
          <p:txBody>
            <a:bodyPr/>
            <a:lstStyle/>
            <a:p>
              <a:endParaRPr lang="es-ES_tradnl"/>
            </a:p>
          </p:txBody>
        </p:sp>
        <p:sp>
          <p:nvSpPr>
            <p:cNvPr id="59" name="Text 34">
              <a:extLst>
                <a:ext uri="{FF2B5EF4-FFF2-40B4-BE49-F238E27FC236}">
                  <a16:creationId xmlns:a16="http://schemas.microsoft.com/office/drawing/2014/main" id="{78F28848-3B9B-7F11-DF4E-B2663D95F6EF}"/>
                </a:ext>
              </a:extLst>
            </p:cNvPr>
            <p:cNvSpPr/>
            <p:nvPr/>
          </p:nvSpPr>
          <p:spPr>
            <a:xfrm>
              <a:off x="15455652" y="6042608"/>
              <a:ext cx="1803722" cy="192881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ctr">
                <a:buNone/>
              </a:pPr>
              <a:r>
                <a:rPr lang="en-US" kern="0" spc="90">
                  <a:solidFill>
                    <a:srgbClr val="D1AE6E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COSTE</a:t>
              </a:r>
              <a:endParaRPr lang="en-US"/>
            </a:p>
          </p:txBody>
        </p:sp>
        <p:sp>
          <p:nvSpPr>
            <p:cNvPr id="60" name="Text 35">
              <a:extLst>
                <a:ext uri="{FF2B5EF4-FFF2-40B4-BE49-F238E27FC236}">
                  <a16:creationId xmlns:a16="http://schemas.microsoft.com/office/drawing/2014/main" id="{7AD86ADE-0D7F-9B4C-BBF7-B6C912E3F5C3}"/>
                </a:ext>
              </a:extLst>
            </p:cNvPr>
            <p:cNvSpPr/>
            <p:nvPr/>
          </p:nvSpPr>
          <p:spPr>
            <a:xfrm>
              <a:off x="15455652" y="6338887"/>
              <a:ext cx="1803722" cy="407194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/>
            </a:bodyPr>
            <a:lstStyle/>
            <a:p>
              <a:pPr marL="0" indent="0" algn="ctr">
                <a:buNone/>
              </a:pPr>
              <a:r>
                <a:rPr lang="en-US" sz="2400" b="1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2–4 h</a:t>
              </a:r>
              <a:endParaRPr lang="en-US" sz="2400"/>
            </a:p>
          </p:txBody>
        </p:sp>
        <p:sp>
          <p:nvSpPr>
            <p:cNvPr id="61" name="Text 36">
              <a:extLst>
                <a:ext uri="{FF2B5EF4-FFF2-40B4-BE49-F238E27FC236}">
                  <a16:creationId xmlns:a16="http://schemas.microsoft.com/office/drawing/2014/main" id="{7F562E58-9BEF-3C11-74F1-2AD9E7472B25}"/>
                </a:ext>
              </a:extLst>
            </p:cNvPr>
            <p:cNvSpPr/>
            <p:nvPr/>
          </p:nvSpPr>
          <p:spPr>
            <a:xfrm>
              <a:off x="15455652" y="6661547"/>
              <a:ext cx="1803722" cy="169069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ctr">
                <a:buNone/>
              </a:pPr>
              <a:r>
                <a:rPr lang="en-US" err="1">
                  <a:solidFill>
                    <a:srgbClr val="FFFFFF">
                      <a:alpha val="70000"/>
                    </a:srgbClr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por</a:t>
              </a:r>
              <a:r>
                <a:rPr lang="en-US">
                  <a:solidFill>
                    <a:srgbClr val="FFFFFF">
                      <a:alpha val="70000"/>
                    </a:srgbClr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</a:t>
              </a:r>
              <a:r>
                <a:rPr lang="en-US" err="1">
                  <a:solidFill>
                    <a:srgbClr val="FFFFFF">
                      <a:alpha val="70000"/>
                    </a:srgbClr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empresa</a:t>
              </a:r>
              <a:r>
                <a:rPr lang="en-US">
                  <a:solidFill>
                    <a:srgbClr val="FFFFFF">
                      <a:alpha val="70000"/>
                    </a:srgbClr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· </a:t>
              </a:r>
              <a:r>
                <a:rPr lang="en-US" err="1">
                  <a:solidFill>
                    <a:srgbClr val="FFFFFF">
                      <a:alpha val="70000"/>
                    </a:srgbClr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cobertura</a:t>
              </a:r>
              <a:r>
                <a:rPr lang="en-US">
                  <a:solidFill>
                    <a:srgbClr val="FFFFFF">
                      <a:alpha val="70000"/>
                    </a:srgbClr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</a:t>
              </a:r>
              <a:r>
                <a:rPr lang="en-US" err="1">
                  <a:solidFill>
                    <a:srgbClr val="FFFFFF">
                      <a:alpha val="70000"/>
                    </a:srgbClr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parcial</a:t>
              </a:r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6515457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10"/>
          <p:cNvSpPr/>
          <p:nvPr/>
        </p:nvSpPr>
        <p:spPr>
          <a:xfrm>
            <a:off x="637189" y="2073736"/>
            <a:ext cx="16888803" cy="1004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dirty="0" err="1">
                <a:solidFill>
                  <a:srgbClr val="2A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Llamamos</a:t>
            </a:r>
            <a:r>
              <a:rPr lang="en-US" dirty="0">
                <a:solidFill>
                  <a:srgbClr val="2A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b="1" dirty="0" err="1">
                <a:solidFill>
                  <a:srgbClr val="2A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activo</a:t>
            </a:r>
            <a:r>
              <a:rPr lang="en-US" b="1" dirty="0">
                <a:solidFill>
                  <a:srgbClr val="2A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b="1" dirty="0" err="1">
                <a:solidFill>
                  <a:srgbClr val="2A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productivo</a:t>
            </a:r>
            <a:r>
              <a:rPr lang="en-US" b="1" dirty="0">
                <a:solidFill>
                  <a:srgbClr val="2A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dirty="0">
                <a:solidFill>
                  <a:srgbClr val="2A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</a:t>
            </a:r>
            <a:r>
              <a:rPr lang="en-US" dirty="0" err="1">
                <a:solidFill>
                  <a:srgbClr val="2A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cualquier</a:t>
            </a:r>
            <a:r>
              <a:rPr lang="en-US" dirty="0">
                <a:solidFill>
                  <a:srgbClr val="2A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dirty="0" err="1">
                <a:solidFill>
                  <a:srgbClr val="2A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instalación</a:t>
            </a:r>
            <a:r>
              <a:rPr lang="en-US" dirty="0">
                <a:solidFill>
                  <a:srgbClr val="2A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dirty="0" err="1">
                <a:solidFill>
                  <a:srgbClr val="2A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física</a:t>
            </a:r>
            <a:r>
              <a:rPr lang="en-US" dirty="0">
                <a:solidFill>
                  <a:srgbClr val="2A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dirty="0" err="1">
                <a:solidFill>
                  <a:srgbClr val="2A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desde</a:t>
            </a:r>
            <a:r>
              <a:rPr lang="en-US" dirty="0">
                <a:solidFill>
                  <a:srgbClr val="2A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la </a:t>
            </a:r>
            <a:r>
              <a:rPr lang="en-US" dirty="0" err="1">
                <a:solidFill>
                  <a:srgbClr val="2A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</a:t>
            </a:r>
            <a:r>
              <a:rPr lang="en-US" dirty="0">
                <a:solidFill>
                  <a:srgbClr val="2A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dirty="0" err="1">
                <a:solidFill>
                  <a:srgbClr val="2A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</a:t>
            </a:r>
            <a:r>
              <a:rPr lang="en-US" dirty="0">
                <a:solidFill>
                  <a:srgbClr val="2A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dirty="0" err="1">
                <a:solidFill>
                  <a:srgbClr val="2A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empresa</a:t>
            </a:r>
            <a:r>
              <a:rPr lang="en-US" dirty="0">
                <a:solidFill>
                  <a:srgbClr val="2A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genera valor: </a:t>
            </a:r>
            <a:r>
              <a:rPr lang="en-US" dirty="0" err="1">
                <a:solidFill>
                  <a:srgbClr val="2A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fábricas</a:t>
            </a:r>
            <a:r>
              <a:rPr lang="en-US" dirty="0">
                <a:solidFill>
                  <a:srgbClr val="2A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dirty="0" err="1">
                <a:solidFill>
                  <a:srgbClr val="2A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oficinas</a:t>
            </a:r>
            <a:r>
              <a:rPr lang="en-US" dirty="0">
                <a:solidFill>
                  <a:srgbClr val="2A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dirty="0" err="1">
                <a:solidFill>
                  <a:srgbClr val="2A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centros</a:t>
            </a:r>
            <a:r>
              <a:rPr lang="en-US" dirty="0">
                <a:solidFill>
                  <a:srgbClr val="2A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dirty="0" err="1">
                <a:solidFill>
                  <a:srgbClr val="2A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logísticos</a:t>
            </a:r>
            <a:r>
              <a:rPr lang="en-US" dirty="0">
                <a:solidFill>
                  <a:srgbClr val="2A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puntos de </a:t>
            </a:r>
            <a:r>
              <a:rPr lang="en-US" dirty="0" err="1">
                <a:solidFill>
                  <a:srgbClr val="2A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venta</a:t>
            </a:r>
            <a:r>
              <a:rPr lang="en-US" dirty="0">
                <a:solidFill>
                  <a:srgbClr val="2A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dirty="0" err="1">
                <a:solidFill>
                  <a:srgbClr val="2A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instalaciones</a:t>
            </a:r>
            <a:r>
              <a:rPr lang="en-US" dirty="0">
                <a:solidFill>
                  <a:srgbClr val="2A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dirty="0" err="1">
                <a:solidFill>
                  <a:srgbClr val="2A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energéticas</a:t>
            </a:r>
            <a:r>
              <a:rPr lang="en-US" dirty="0">
                <a:solidFill>
                  <a:srgbClr val="2A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 </a:t>
            </a:r>
            <a:r>
              <a:rPr lang="en-US" dirty="0" err="1">
                <a:solidFill>
                  <a:srgbClr val="2A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agrícolas</a:t>
            </a:r>
            <a:r>
              <a:rPr lang="en-US" dirty="0">
                <a:solidFill>
                  <a:srgbClr val="2A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Su </a:t>
            </a:r>
            <a:r>
              <a:rPr lang="en-US" dirty="0" err="1">
                <a:solidFill>
                  <a:srgbClr val="2A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localización</a:t>
            </a:r>
            <a:r>
              <a:rPr lang="en-US" dirty="0">
                <a:solidFill>
                  <a:srgbClr val="2A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es un input </a:t>
            </a:r>
            <a:r>
              <a:rPr lang="en-US" dirty="0" err="1">
                <a:solidFill>
                  <a:srgbClr val="2A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crítico</a:t>
            </a:r>
            <a:r>
              <a:rPr lang="en-US" dirty="0">
                <a:solidFill>
                  <a:srgbClr val="2A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dirty="0" err="1">
                <a:solidFill>
                  <a:srgbClr val="2A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</a:t>
            </a:r>
            <a:r>
              <a:rPr lang="en-US" dirty="0">
                <a:solidFill>
                  <a:srgbClr val="2A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dirty="0" err="1">
                <a:solidFill>
                  <a:srgbClr val="2A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múltiples</a:t>
            </a:r>
            <a:r>
              <a:rPr lang="en-US" dirty="0">
                <a:solidFill>
                  <a:srgbClr val="2A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dirty="0" err="1">
                <a:solidFill>
                  <a:srgbClr val="2A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sectores</a:t>
            </a:r>
            <a:r>
              <a:rPr lang="en-US" dirty="0">
                <a:solidFill>
                  <a:srgbClr val="2A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</a:p>
          <a:p>
            <a:pPr marL="0" indent="0" algn="l">
              <a:lnSpc>
                <a:spcPct val="155000"/>
              </a:lnSpc>
              <a:buNone/>
            </a:pPr>
            <a:endParaRPr lang="en-US" dirty="0"/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470C0B6D-1511-264F-E681-764076C9AFF6}"/>
              </a:ext>
            </a:extLst>
          </p:cNvPr>
          <p:cNvGrpSpPr/>
          <p:nvPr/>
        </p:nvGrpSpPr>
        <p:grpSpPr>
          <a:xfrm>
            <a:off x="637189" y="3228648"/>
            <a:ext cx="8382000" cy="1316284"/>
            <a:chOff x="762000" y="3694176"/>
            <a:chExt cx="8382000" cy="1316284"/>
          </a:xfrm>
        </p:grpSpPr>
        <p:sp>
          <p:nvSpPr>
            <p:cNvPr id="13" name="Shape 11"/>
            <p:cNvSpPr/>
            <p:nvPr/>
          </p:nvSpPr>
          <p:spPr>
            <a:xfrm>
              <a:off x="762000" y="3694176"/>
              <a:ext cx="8382000" cy="1316284"/>
            </a:xfrm>
            <a:prstGeom prst="roundRect">
              <a:avLst>
                <a:gd name="adj" fmla="val 3363"/>
              </a:avLst>
            </a:prstGeom>
            <a:solidFill>
              <a:srgbClr val="F2F5FA"/>
            </a:solidFill>
            <a:ln w="11906">
              <a:solidFill>
                <a:srgbClr val="E5EAF3"/>
              </a:solidFill>
              <a:prstDash val="solid"/>
            </a:ln>
            <a:effectLst>
              <a:outerShdw blurRad="76200" dist="12700" dir="5400000" algn="tl" rotWithShape="0">
                <a:srgbClr val="000000">
                  <a:alpha val="15000"/>
                </a:srgbClr>
              </a:outerShdw>
            </a:effectLst>
          </p:spPr>
          <p:txBody>
            <a:bodyPr/>
            <a:lstStyle/>
            <a:p>
              <a:endParaRPr lang="es-ES_tradnl"/>
            </a:p>
          </p:txBody>
        </p:sp>
        <p:sp>
          <p:nvSpPr>
            <p:cNvPr id="14" name="Text 12"/>
            <p:cNvSpPr/>
            <p:nvPr/>
          </p:nvSpPr>
          <p:spPr>
            <a:xfrm>
              <a:off x="964406" y="3839810"/>
              <a:ext cx="3948060" cy="170611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buNone/>
              </a:pPr>
              <a:r>
                <a:rPr lang="en-US" b="1" kern="0" spc="176">
                  <a:solidFill>
                    <a:srgbClr val="9C7A2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BANCA</a:t>
              </a:r>
              <a:endParaRPr lang="en-US"/>
            </a:p>
          </p:txBody>
        </p:sp>
        <p:sp>
          <p:nvSpPr>
            <p:cNvPr id="15" name="Text 13"/>
            <p:cNvSpPr/>
            <p:nvPr/>
          </p:nvSpPr>
          <p:spPr>
            <a:xfrm>
              <a:off x="964405" y="4122815"/>
              <a:ext cx="3948060" cy="223269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buNone/>
              </a:pPr>
              <a:r>
                <a:rPr lang="en-US" sz="2200" b="1" kern="0" spc="-7">
                  <a:solidFill>
                    <a:srgbClr val="0A1F44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Riesgo </a:t>
              </a:r>
              <a:r>
                <a:rPr lang="en-US" sz="2200" b="1" kern="0" spc="-7" err="1">
                  <a:solidFill>
                    <a:srgbClr val="0A1F44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colateral</a:t>
              </a:r>
              <a:endParaRPr lang="en-US" sz="2200"/>
            </a:p>
          </p:txBody>
        </p:sp>
        <p:sp>
          <p:nvSpPr>
            <p:cNvPr id="16" name="Text 14"/>
            <p:cNvSpPr/>
            <p:nvPr/>
          </p:nvSpPr>
          <p:spPr>
            <a:xfrm>
              <a:off x="999548" y="4445217"/>
              <a:ext cx="6844570" cy="475237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lnSpc>
                  <a:spcPct val="155000"/>
                </a:lnSpc>
                <a:buNone/>
              </a:pPr>
              <a:r>
                <a:rPr lang="en-US" err="1">
                  <a:solidFill>
                    <a:srgbClr val="2A324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Valoración</a:t>
              </a:r>
              <a:r>
                <a:rPr lang="en-US">
                  <a:solidFill>
                    <a:srgbClr val="2A324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de </a:t>
              </a:r>
              <a:r>
                <a:rPr lang="en-US" err="1">
                  <a:solidFill>
                    <a:srgbClr val="2A324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garantías</a:t>
              </a:r>
              <a:r>
                <a:rPr lang="en-US">
                  <a:solidFill>
                    <a:srgbClr val="2A324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y </a:t>
              </a:r>
              <a:r>
                <a:rPr lang="en-US" err="1">
                  <a:solidFill>
                    <a:srgbClr val="2A324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exposición</a:t>
              </a:r>
              <a:r>
                <a:rPr lang="en-US">
                  <a:solidFill>
                    <a:srgbClr val="2A324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</a:t>
              </a:r>
              <a:r>
                <a:rPr lang="en-US" err="1">
                  <a:solidFill>
                    <a:srgbClr val="2A324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geográfica</a:t>
              </a:r>
              <a:endParaRPr lang="en-US"/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ED18CF2C-4A70-0B02-E1BC-544BE9C842DF}"/>
              </a:ext>
            </a:extLst>
          </p:cNvPr>
          <p:cNvGrpSpPr/>
          <p:nvPr/>
        </p:nvGrpSpPr>
        <p:grpSpPr>
          <a:xfrm>
            <a:off x="9675688" y="3228648"/>
            <a:ext cx="7850312" cy="5838601"/>
            <a:chOff x="9675688" y="2848198"/>
            <a:chExt cx="7850312" cy="5838601"/>
          </a:xfrm>
        </p:grpSpPr>
        <p:sp>
          <p:nvSpPr>
            <p:cNvPr id="29" name="Shape 27"/>
            <p:cNvSpPr/>
            <p:nvPr/>
          </p:nvSpPr>
          <p:spPr>
            <a:xfrm>
              <a:off x="9675688" y="2848198"/>
              <a:ext cx="7850312" cy="5838601"/>
            </a:xfrm>
            <a:prstGeom prst="roundRect">
              <a:avLst>
                <a:gd name="adj" fmla="val 577"/>
              </a:avLst>
            </a:prstGeom>
            <a:solidFill>
              <a:srgbClr val="F2F5FA"/>
            </a:solidFill>
            <a:ln w="11906">
              <a:solidFill>
                <a:srgbClr val="E5EAF3"/>
              </a:solidFill>
              <a:prstDash val="solid"/>
            </a:ln>
          </p:spPr>
          <p:txBody>
            <a:bodyPr/>
            <a:lstStyle/>
            <a:p>
              <a:endParaRPr lang="es-ES_tradnl"/>
            </a:p>
          </p:txBody>
        </p:sp>
        <p:sp>
          <p:nvSpPr>
            <p:cNvPr id="30" name="Shape 28"/>
            <p:cNvSpPr/>
            <p:nvPr/>
          </p:nvSpPr>
          <p:spPr>
            <a:xfrm>
              <a:off x="9858933" y="3010285"/>
              <a:ext cx="2157450" cy="259010"/>
            </a:xfrm>
            <a:prstGeom prst="rect">
              <a:avLst/>
            </a:prstGeom>
            <a:solidFill>
              <a:srgbClr val="FFFFFF"/>
            </a:solidFill>
            <a:ln w="11906">
              <a:solidFill>
                <a:srgbClr val="E5EAF3"/>
              </a:solidFill>
              <a:prstDash val="solid"/>
            </a:ln>
          </p:spPr>
          <p:txBody>
            <a:bodyPr/>
            <a:lstStyle/>
            <a:p>
              <a:endParaRPr lang="es-ES_tradnl"/>
            </a:p>
          </p:txBody>
        </p:sp>
        <p:sp>
          <p:nvSpPr>
            <p:cNvPr id="31" name="Text 29"/>
            <p:cNvSpPr/>
            <p:nvPr/>
          </p:nvSpPr>
          <p:spPr>
            <a:xfrm>
              <a:off x="9966089" y="3071368"/>
              <a:ext cx="2019337" cy="17054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fontScale="92500" lnSpcReduction="10000"/>
            </a:bodyPr>
            <a:lstStyle/>
            <a:p>
              <a:pPr marL="0" indent="0" algn="l">
                <a:buNone/>
              </a:pPr>
              <a:r>
                <a:rPr lang="en-US" sz="900" kern="0" spc="72">
                  <a:solidFill>
                    <a:srgbClr val="18386F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ESPAÑA · ACTIVOS POR TIPO</a:t>
              </a:r>
              <a:endParaRPr lang="en-US" sz="900"/>
            </a:p>
          </p:txBody>
        </p:sp>
        <p:sp>
          <p:nvSpPr>
            <p:cNvPr id="32" name="Shape 30"/>
            <p:cNvSpPr/>
            <p:nvPr/>
          </p:nvSpPr>
          <p:spPr>
            <a:xfrm>
              <a:off x="11968944" y="4544932"/>
              <a:ext cx="133201" cy="117821"/>
            </a:xfrm>
            <a:prstGeom prst="ellipse">
              <a:avLst/>
            </a:prstGeom>
            <a:solidFill>
              <a:srgbClr val="2E7D5B"/>
            </a:solidFill>
            <a:ln w="23813">
              <a:solidFill>
                <a:srgbClr val="FFFFFF"/>
              </a:solidFill>
              <a:prstDash val="solid"/>
            </a:ln>
            <a:effectLst>
              <a:outerShdw blurRad="57150" dist="19050" dir="5400000" algn="bl" rotWithShape="0">
                <a:srgbClr val="000000">
                  <a:alpha val="18000"/>
                </a:srgbClr>
              </a:outerShdw>
            </a:effectLst>
          </p:spPr>
          <p:txBody>
            <a:bodyPr/>
            <a:lstStyle/>
            <a:p>
              <a:endParaRPr lang="es-ES_tradnl"/>
            </a:p>
          </p:txBody>
        </p:sp>
        <p:sp>
          <p:nvSpPr>
            <p:cNvPr id="33" name="Shape 31"/>
            <p:cNvSpPr/>
            <p:nvPr/>
          </p:nvSpPr>
          <p:spPr>
            <a:xfrm>
              <a:off x="12594952" y="5010460"/>
              <a:ext cx="133201" cy="117821"/>
            </a:xfrm>
            <a:prstGeom prst="ellipse">
              <a:avLst/>
            </a:prstGeom>
            <a:solidFill>
              <a:srgbClr val="2E7D5B"/>
            </a:solidFill>
            <a:ln w="23813">
              <a:solidFill>
                <a:srgbClr val="FFFFFF"/>
              </a:solidFill>
              <a:prstDash val="solid"/>
            </a:ln>
            <a:effectLst>
              <a:outerShdw blurRad="57150" dist="19050" dir="5400000" algn="bl" rotWithShape="0">
                <a:srgbClr val="000000">
                  <a:alpha val="18000"/>
                </a:srgbClr>
              </a:outerShdw>
            </a:effectLst>
          </p:spPr>
          <p:txBody>
            <a:bodyPr/>
            <a:lstStyle/>
            <a:p>
              <a:endParaRPr lang="es-ES_tradnl"/>
            </a:p>
          </p:txBody>
        </p:sp>
        <p:sp>
          <p:nvSpPr>
            <p:cNvPr id="34" name="Shape 32"/>
            <p:cNvSpPr/>
            <p:nvPr/>
          </p:nvSpPr>
          <p:spPr>
            <a:xfrm>
              <a:off x="13925476" y="5243142"/>
              <a:ext cx="133201" cy="117821"/>
            </a:xfrm>
            <a:prstGeom prst="ellipse">
              <a:avLst/>
            </a:prstGeom>
            <a:solidFill>
              <a:srgbClr val="C57E1A"/>
            </a:solidFill>
            <a:ln w="23813">
              <a:solidFill>
                <a:srgbClr val="FFFFFF"/>
              </a:solidFill>
              <a:prstDash val="solid"/>
            </a:ln>
            <a:effectLst>
              <a:outerShdw blurRad="57150" dist="19050" dir="5400000" algn="bl" rotWithShape="0">
                <a:srgbClr val="000000">
                  <a:alpha val="18000"/>
                </a:srgbClr>
              </a:outerShdw>
            </a:effectLst>
          </p:spPr>
          <p:txBody>
            <a:bodyPr/>
            <a:lstStyle/>
            <a:p>
              <a:endParaRPr lang="es-ES_tradnl"/>
            </a:p>
          </p:txBody>
        </p:sp>
        <p:sp>
          <p:nvSpPr>
            <p:cNvPr id="35" name="Shape 33"/>
            <p:cNvSpPr/>
            <p:nvPr/>
          </p:nvSpPr>
          <p:spPr>
            <a:xfrm>
              <a:off x="14473349" y="5592164"/>
              <a:ext cx="133201" cy="117821"/>
            </a:xfrm>
            <a:prstGeom prst="ellipse">
              <a:avLst/>
            </a:prstGeom>
            <a:solidFill>
              <a:srgbClr val="2E7D5B"/>
            </a:solidFill>
            <a:ln w="23813">
              <a:solidFill>
                <a:srgbClr val="FFFFFF"/>
              </a:solidFill>
              <a:prstDash val="solid"/>
            </a:ln>
            <a:effectLst>
              <a:outerShdw blurRad="57150" dist="19050" dir="5400000" algn="bl" rotWithShape="0">
                <a:srgbClr val="000000">
                  <a:alpha val="18000"/>
                </a:srgbClr>
              </a:outerShdw>
            </a:effectLst>
          </p:spPr>
          <p:txBody>
            <a:bodyPr/>
            <a:lstStyle/>
            <a:p>
              <a:endParaRPr lang="es-ES_tradnl"/>
            </a:p>
          </p:txBody>
        </p:sp>
        <p:sp>
          <p:nvSpPr>
            <p:cNvPr id="36" name="Shape 34"/>
            <p:cNvSpPr/>
            <p:nvPr/>
          </p:nvSpPr>
          <p:spPr>
            <a:xfrm>
              <a:off x="13377602" y="6173870"/>
              <a:ext cx="133201" cy="117821"/>
            </a:xfrm>
            <a:prstGeom prst="ellipse">
              <a:avLst/>
            </a:prstGeom>
            <a:solidFill>
              <a:srgbClr val="C57E1A"/>
            </a:solidFill>
            <a:ln w="23813">
              <a:solidFill>
                <a:srgbClr val="FFFFFF"/>
              </a:solidFill>
              <a:prstDash val="solid"/>
            </a:ln>
            <a:effectLst>
              <a:outerShdw blurRad="57150" dist="19050" dir="5400000" algn="bl" rotWithShape="0">
                <a:srgbClr val="000000">
                  <a:alpha val="18000"/>
                </a:srgbClr>
              </a:outerShdw>
            </a:effectLst>
          </p:spPr>
          <p:txBody>
            <a:bodyPr/>
            <a:lstStyle/>
            <a:p>
              <a:endParaRPr lang="es-ES_tradnl"/>
            </a:p>
          </p:txBody>
        </p:sp>
        <p:sp>
          <p:nvSpPr>
            <p:cNvPr id="37" name="Shape 35"/>
            <p:cNvSpPr/>
            <p:nvPr/>
          </p:nvSpPr>
          <p:spPr>
            <a:xfrm>
              <a:off x="12360176" y="6406551"/>
              <a:ext cx="133201" cy="117821"/>
            </a:xfrm>
            <a:prstGeom prst="ellipse">
              <a:avLst/>
            </a:prstGeom>
            <a:solidFill>
              <a:srgbClr val="B9384A"/>
            </a:solidFill>
            <a:ln w="23813">
              <a:solidFill>
                <a:srgbClr val="FFFFFF"/>
              </a:solidFill>
              <a:prstDash val="solid"/>
            </a:ln>
            <a:effectLst>
              <a:outerShdw blurRad="57150" dist="19050" dir="5400000" algn="bl" rotWithShape="0">
                <a:srgbClr val="000000">
                  <a:alpha val="18000"/>
                </a:srgbClr>
              </a:outerShdw>
            </a:effectLst>
          </p:spPr>
          <p:txBody>
            <a:bodyPr/>
            <a:lstStyle/>
            <a:p>
              <a:endParaRPr lang="es-ES_tradnl"/>
            </a:p>
          </p:txBody>
        </p:sp>
        <p:sp>
          <p:nvSpPr>
            <p:cNvPr id="38" name="Shape 36"/>
            <p:cNvSpPr/>
            <p:nvPr/>
          </p:nvSpPr>
          <p:spPr>
            <a:xfrm>
              <a:off x="15099543" y="6522892"/>
              <a:ext cx="133201" cy="117821"/>
            </a:xfrm>
            <a:prstGeom prst="ellipse">
              <a:avLst/>
            </a:prstGeom>
            <a:solidFill>
              <a:srgbClr val="2E7D5B"/>
            </a:solidFill>
            <a:ln w="23813">
              <a:solidFill>
                <a:srgbClr val="FFFFFF"/>
              </a:solidFill>
              <a:prstDash val="solid"/>
            </a:ln>
            <a:effectLst>
              <a:outerShdw blurRad="57150" dist="19050" dir="5400000" algn="bl" rotWithShape="0">
                <a:srgbClr val="000000">
                  <a:alpha val="18000"/>
                </a:srgbClr>
              </a:outerShdw>
            </a:effectLst>
          </p:spPr>
          <p:txBody>
            <a:bodyPr/>
            <a:lstStyle/>
            <a:p>
              <a:endParaRPr lang="es-ES_tradnl"/>
            </a:p>
          </p:txBody>
        </p:sp>
        <p:sp>
          <p:nvSpPr>
            <p:cNvPr id="39" name="Shape 37"/>
            <p:cNvSpPr/>
            <p:nvPr/>
          </p:nvSpPr>
          <p:spPr>
            <a:xfrm>
              <a:off x="13925476" y="6988420"/>
              <a:ext cx="133201" cy="117821"/>
            </a:xfrm>
            <a:prstGeom prst="ellipse">
              <a:avLst/>
            </a:prstGeom>
            <a:solidFill>
              <a:srgbClr val="C57E1A"/>
            </a:solidFill>
            <a:ln w="23813">
              <a:solidFill>
                <a:srgbClr val="FFFFFF"/>
              </a:solidFill>
              <a:prstDash val="solid"/>
            </a:ln>
            <a:effectLst>
              <a:outerShdw blurRad="57150" dist="19050" dir="5400000" algn="bl" rotWithShape="0">
                <a:srgbClr val="000000">
                  <a:alpha val="18000"/>
                </a:srgbClr>
              </a:outerShdw>
            </a:effectLst>
          </p:spPr>
          <p:txBody>
            <a:bodyPr/>
            <a:lstStyle/>
            <a:p>
              <a:endParaRPr lang="es-ES_tradnl"/>
            </a:p>
          </p:txBody>
        </p:sp>
        <p:sp>
          <p:nvSpPr>
            <p:cNvPr id="40" name="Shape 38"/>
            <p:cNvSpPr/>
            <p:nvPr/>
          </p:nvSpPr>
          <p:spPr>
            <a:xfrm>
              <a:off x="12908049" y="7104761"/>
              <a:ext cx="133201" cy="117821"/>
            </a:xfrm>
            <a:prstGeom prst="ellipse">
              <a:avLst/>
            </a:prstGeom>
            <a:solidFill>
              <a:srgbClr val="2E7D5B"/>
            </a:solidFill>
            <a:ln w="23813">
              <a:solidFill>
                <a:srgbClr val="FFFFFF"/>
              </a:solidFill>
              <a:prstDash val="solid"/>
            </a:ln>
            <a:effectLst>
              <a:outerShdw blurRad="57150" dist="19050" dir="5400000" algn="bl" rotWithShape="0">
                <a:srgbClr val="000000">
                  <a:alpha val="18000"/>
                </a:srgbClr>
              </a:outerShdw>
            </a:effectLst>
          </p:spPr>
          <p:txBody>
            <a:bodyPr/>
            <a:lstStyle/>
            <a:p>
              <a:endParaRPr lang="es-ES_tradnl"/>
            </a:p>
          </p:txBody>
        </p:sp>
        <p:sp>
          <p:nvSpPr>
            <p:cNvPr id="41" name="Shape 39"/>
            <p:cNvSpPr/>
            <p:nvPr/>
          </p:nvSpPr>
          <p:spPr>
            <a:xfrm>
              <a:off x="11577526" y="5999440"/>
              <a:ext cx="133201" cy="117821"/>
            </a:xfrm>
            <a:prstGeom prst="ellipse">
              <a:avLst/>
            </a:prstGeom>
            <a:solidFill>
              <a:srgbClr val="B9384A"/>
            </a:solidFill>
            <a:ln w="23813">
              <a:solidFill>
                <a:srgbClr val="FFFFFF"/>
              </a:solidFill>
              <a:prstDash val="solid"/>
            </a:ln>
            <a:effectLst>
              <a:outerShdw blurRad="57150" dist="19050" dir="5400000" algn="bl" rotWithShape="0">
                <a:srgbClr val="000000">
                  <a:alpha val="18000"/>
                </a:srgbClr>
              </a:outerShdw>
            </a:effectLst>
          </p:spPr>
          <p:txBody>
            <a:bodyPr/>
            <a:lstStyle/>
            <a:p>
              <a:endParaRPr lang="es-ES_tradnl"/>
            </a:p>
          </p:txBody>
        </p:sp>
        <p:sp>
          <p:nvSpPr>
            <p:cNvPr id="42" name="Shape 40"/>
            <p:cNvSpPr/>
            <p:nvPr/>
          </p:nvSpPr>
          <p:spPr>
            <a:xfrm>
              <a:off x="14708125" y="7337443"/>
              <a:ext cx="133201" cy="117821"/>
            </a:xfrm>
            <a:prstGeom prst="ellipse">
              <a:avLst/>
            </a:prstGeom>
            <a:solidFill>
              <a:srgbClr val="2E7D5B"/>
            </a:solidFill>
            <a:ln w="23813">
              <a:solidFill>
                <a:srgbClr val="FFFFFF"/>
              </a:solidFill>
              <a:prstDash val="solid"/>
            </a:ln>
            <a:effectLst>
              <a:outerShdw blurRad="57150" dist="19050" dir="5400000" algn="bl" rotWithShape="0">
                <a:srgbClr val="000000">
                  <a:alpha val="18000"/>
                </a:srgbClr>
              </a:outerShdw>
            </a:effectLst>
          </p:spPr>
          <p:txBody>
            <a:bodyPr/>
            <a:lstStyle/>
            <a:p>
              <a:endParaRPr lang="es-ES_tradnl"/>
            </a:p>
          </p:txBody>
        </p:sp>
        <p:sp>
          <p:nvSpPr>
            <p:cNvPr id="43" name="Shape 41"/>
            <p:cNvSpPr/>
            <p:nvPr/>
          </p:nvSpPr>
          <p:spPr>
            <a:xfrm>
              <a:off x="12125399" y="7453784"/>
              <a:ext cx="133201" cy="117821"/>
            </a:xfrm>
            <a:prstGeom prst="ellipse">
              <a:avLst/>
            </a:prstGeom>
            <a:solidFill>
              <a:srgbClr val="C57E1A"/>
            </a:solidFill>
            <a:ln w="23813">
              <a:solidFill>
                <a:srgbClr val="FFFFFF"/>
              </a:solidFill>
              <a:prstDash val="solid"/>
            </a:ln>
            <a:effectLst>
              <a:outerShdw blurRad="57150" dist="19050" dir="5400000" algn="bl" rotWithShape="0">
                <a:srgbClr val="000000">
                  <a:alpha val="18000"/>
                </a:srgbClr>
              </a:outerShdw>
            </a:effectLst>
          </p:spPr>
          <p:txBody>
            <a:bodyPr/>
            <a:lstStyle/>
            <a:p>
              <a:endParaRPr lang="es-ES_tradnl"/>
            </a:p>
          </p:txBody>
        </p:sp>
        <p:sp>
          <p:nvSpPr>
            <p:cNvPr id="44" name="Text 42"/>
            <p:cNvSpPr/>
            <p:nvPr/>
          </p:nvSpPr>
          <p:spPr>
            <a:xfrm>
              <a:off x="9858933" y="8408865"/>
              <a:ext cx="1160599" cy="149548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fontScale="85000" lnSpcReduction="20000"/>
            </a:bodyPr>
            <a:lstStyle/>
            <a:p>
              <a:pPr marL="0" indent="0" algn="l">
                <a:buNone/>
              </a:pPr>
              <a:r>
                <a:rPr lang="en-US" sz="900" b="1" kern="0" spc="72">
                  <a:solidFill>
                    <a:srgbClr val="5C6582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HQ / FÁBRICA</a:t>
              </a:r>
              <a:endParaRPr lang="en-US" sz="900"/>
            </a:p>
          </p:txBody>
        </p:sp>
        <p:sp>
          <p:nvSpPr>
            <p:cNvPr id="45" name="Text 43"/>
            <p:cNvSpPr/>
            <p:nvPr/>
          </p:nvSpPr>
          <p:spPr>
            <a:xfrm>
              <a:off x="11114670" y="8408865"/>
              <a:ext cx="1640012" cy="149548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fontScale="85000" lnSpcReduction="20000"/>
            </a:bodyPr>
            <a:lstStyle/>
            <a:p>
              <a:pPr marL="0" indent="0" algn="l">
                <a:buNone/>
              </a:pPr>
              <a:r>
                <a:rPr lang="en-US" sz="900" b="1" kern="0" spc="72">
                  <a:solidFill>
                    <a:srgbClr val="5C6582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LOGÍSTICA / OFICINA</a:t>
              </a:r>
              <a:endParaRPr lang="en-US" sz="900"/>
            </a:p>
          </p:txBody>
        </p:sp>
        <p:sp>
          <p:nvSpPr>
            <p:cNvPr id="46" name="Text 44"/>
            <p:cNvSpPr/>
            <p:nvPr/>
          </p:nvSpPr>
          <p:spPr>
            <a:xfrm>
              <a:off x="12849820" y="8408865"/>
              <a:ext cx="609005" cy="149548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fontScale="85000" lnSpcReduction="20000"/>
            </a:bodyPr>
            <a:lstStyle/>
            <a:p>
              <a:pPr marL="0" indent="0" algn="l">
                <a:buNone/>
              </a:pPr>
              <a:r>
                <a:rPr lang="en-US" sz="900" b="1" kern="0" spc="72">
                  <a:solidFill>
                    <a:srgbClr val="5C6582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OTRO</a:t>
              </a:r>
              <a:endParaRPr lang="en-US" sz="900"/>
            </a:p>
          </p:txBody>
        </p:sp>
      </p:grpSp>
      <p:grpSp>
        <p:nvGrpSpPr>
          <p:cNvPr id="9000" name="MS Header Group"/>
          <p:cNvGrpSpPr/>
          <p:nvPr/>
        </p:nvGrpSpPr>
        <p:grpSpPr>
          <a:xfrm>
            <a:off x="282819" y="579094"/>
            <a:ext cx="13786135" cy="1057874"/>
            <a:chOff x="92172" y="275827"/>
            <a:chExt cx="9190756" cy="705249"/>
          </a:xfrm>
        </p:grpSpPr>
        <p:sp>
          <p:nvSpPr>
            <p:cNvPr id="9001" name="MS Title Box"/>
            <p:cNvSpPr>
              <a:spLocks noChangeArrowheads="1"/>
            </p:cNvSpPr>
            <p:nvPr/>
          </p:nvSpPr>
          <p:spPr bwMode="gray">
            <a:xfrm>
              <a:off x="776292" y="404814"/>
              <a:ext cx="8506636" cy="576262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37160" tIns="68580" rIns="137160" bIns="68580" anchor="ctr"/>
            <a:lstStyle/>
            <a:p>
              <a:pPr>
                <a:lnSpc>
                  <a:spcPts val="3150"/>
                </a:lnSpc>
              </a:pPr>
              <a:r>
                <a:rPr lang="es-ES" sz="3000" b="1" dirty="0">
                  <a:solidFill>
                    <a:srgbClr val="002569"/>
                  </a:solidFill>
                  <a:latin typeface="Arial"/>
                </a:rPr>
                <a:t>El problema</a:t>
              </a:r>
            </a:p>
            <a:p>
              <a:r>
                <a:rPr lang="es-ES" sz="2700" dirty="0">
                  <a:solidFill>
                    <a:srgbClr val="E0D399">
                      <a:lumMod val="75000"/>
                    </a:srgbClr>
                  </a:solidFill>
                  <a:latin typeface="Arial"/>
                </a:rPr>
                <a:t>Contexto de mercado: activos productivos invisibles para los datos públicos</a:t>
              </a:r>
            </a:p>
          </p:txBody>
        </p:sp>
        <p:sp>
          <p:nvSpPr>
            <p:cNvPr id="9002" name="MS Number"/>
            <p:cNvSpPr>
              <a:spLocks noChangeArrowheads="1"/>
            </p:cNvSpPr>
            <p:nvPr/>
          </p:nvSpPr>
          <p:spPr bwMode="gray">
            <a:xfrm>
              <a:off x="92172" y="275827"/>
              <a:ext cx="477819" cy="70014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148523" tIns="74261" rIns="148523" bIns="74261">
              <a:spAutoFit/>
            </a:bodyPr>
            <a:lstStyle/>
            <a:p>
              <a:pPr algn="ctr"/>
              <a:r>
                <a:rPr lang="es-ES" sz="5850" b="1" kern="0">
                  <a:solidFill>
                    <a:srgbClr val="002569"/>
                  </a:solidFill>
                  <a:latin typeface="Arial"/>
                </a:rPr>
                <a:t>1</a:t>
              </a:r>
            </a:p>
          </p:txBody>
        </p:sp>
        <p:cxnSp>
          <p:nvCxnSpPr>
            <p:cNvPr id="9003" name="MS Header Bar"/>
            <p:cNvCxnSpPr/>
            <p:nvPr/>
          </p:nvCxnSpPr>
          <p:spPr>
            <a:xfrm>
              <a:off x="570525" y="404814"/>
              <a:ext cx="0" cy="526647"/>
            </a:xfrm>
            <a:prstGeom prst="line">
              <a:avLst/>
            </a:prstGeom>
            <a:ln>
              <a:solidFill>
                <a:schemeClr val="tx2"/>
              </a:solidFill>
            </a:ln>
          </p:spPr>
        </p:cxn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D6F5968E-14F6-A9B8-A7F5-407AD72CCB40}"/>
              </a:ext>
            </a:extLst>
          </p:cNvPr>
          <p:cNvGrpSpPr/>
          <p:nvPr/>
        </p:nvGrpSpPr>
        <p:grpSpPr>
          <a:xfrm>
            <a:off x="637189" y="4718312"/>
            <a:ext cx="8382000" cy="1316284"/>
            <a:chOff x="721465" y="5183982"/>
            <a:chExt cx="8382000" cy="1316284"/>
          </a:xfrm>
        </p:grpSpPr>
        <p:sp>
          <p:nvSpPr>
            <p:cNvPr id="3" name="Shape 11">
              <a:extLst>
                <a:ext uri="{FF2B5EF4-FFF2-40B4-BE49-F238E27FC236}">
                  <a16:creationId xmlns:a16="http://schemas.microsoft.com/office/drawing/2014/main" id="{D4CF69BA-E3F1-15CE-70B3-7F79E83CAF23}"/>
                </a:ext>
              </a:extLst>
            </p:cNvPr>
            <p:cNvSpPr/>
            <p:nvPr/>
          </p:nvSpPr>
          <p:spPr>
            <a:xfrm>
              <a:off x="721465" y="5183982"/>
              <a:ext cx="8382000" cy="1316284"/>
            </a:xfrm>
            <a:prstGeom prst="roundRect">
              <a:avLst>
                <a:gd name="adj" fmla="val 3363"/>
              </a:avLst>
            </a:prstGeom>
            <a:solidFill>
              <a:srgbClr val="F2F5FA"/>
            </a:solidFill>
            <a:ln w="11906">
              <a:solidFill>
                <a:srgbClr val="E5EAF3"/>
              </a:solidFill>
              <a:prstDash val="solid"/>
            </a:ln>
            <a:effectLst>
              <a:outerShdw blurRad="76200" dist="12700" dir="5400000" algn="tl" rotWithShape="0">
                <a:srgbClr val="000000">
                  <a:alpha val="15000"/>
                </a:srgbClr>
              </a:outerShdw>
            </a:effectLst>
          </p:spPr>
          <p:txBody>
            <a:bodyPr/>
            <a:lstStyle/>
            <a:p>
              <a:endParaRPr lang="es-ES_tradnl"/>
            </a:p>
          </p:txBody>
        </p:sp>
        <p:sp>
          <p:nvSpPr>
            <p:cNvPr id="4" name="Text 12">
              <a:extLst>
                <a:ext uri="{FF2B5EF4-FFF2-40B4-BE49-F238E27FC236}">
                  <a16:creationId xmlns:a16="http://schemas.microsoft.com/office/drawing/2014/main" id="{CDD0390F-ED26-3FD3-D68C-7ABFA150B1B5}"/>
                </a:ext>
              </a:extLst>
            </p:cNvPr>
            <p:cNvSpPr/>
            <p:nvPr/>
          </p:nvSpPr>
          <p:spPr>
            <a:xfrm>
              <a:off x="923871" y="5329616"/>
              <a:ext cx="3948060" cy="170611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r>
                <a:rPr lang="en-US" b="1" kern="0" spc="176">
                  <a:solidFill>
                    <a:srgbClr val="9C7A2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CONSULTORÍA</a:t>
              </a:r>
              <a:endParaRPr lang="en-US"/>
            </a:p>
            <a:p>
              <a:pPr marL="0" indent="0" algn="l">
                <a:buNone/>
              </a:pPr>
              <a:endParaRPr lang="en-US"/>
            </a:p>
          </p:txBody>
        </p:sp>
        <p:sp>
          <p:nvSpPr>
            <p:cNvPr id="5" name="Text 13">
              <a:extLst>
                <a:ext uri="{FF2B5EF4-FFF2-40B4-BE49-F238E27FC236}">
                  <a16:creationId xmlns:a16="http://schemas.microsoft.com/office/drawing/2014/main" id="{C45E686B-8826-5C68-880A-B1B8D80DD10B}"/>
                </a:ext>
              </a:extLst>
            </p:cNvPr>
            <p:cNvSpPr/>
            <p:nvPr/>
          </p:nvSpPr>
          <p:spPr>
            <a:xfrm>
              <a:off x="923870" y="5612621"/>
              <a:ext cx="3948060" cy="223269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r>
                <a:rPr lang="en-US" sz="2400" b="1" kern="0" spc="-7">
                  <a:solidFill>
                    <a:srgbClr val="0A1F44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&amp;A y due diligence</a:t>
              </a:r>
              <a:endParaRPr lang="en-US" sz="2200"/>
            </a:p>
          </p:txBody>
        </p:sp>
        <p:sp>
          <p:nvSpPr>
            <p:cNvPr id="6" name="Text 14">
              <a:extLst>
                <a:ext uri="{FF2B5EF4-FFF2-40B4-BE49-F238E27FC236}">
                  <a16:creationId xmlns:a16="http://schemas.microsoft.com/office/drawing/2014/main" id="{0A816DF0-F216-1A58-59EE-9C5986C98D59}"/>
                </a:ext>
              </a:extLst>
            </p:cNvPr>
            <p:cNvSpPr/>
            <p:nvPr/>
          </p:nvSpPr>
          <p:spPr>
            <a:xfrm>
              <a:off x="959013" y="5935023"/>
              <a:ext cx="6844570" cy="475237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>
                <a:lnSpc>
                  <a:spcPct val="155000"/>
                </a:lnSpc>
              </a:pPr>
              <a:r>
                <a:rPr lang="en-US" err="1">
                  <a:solidFill>
                    <a:srgbClr val="2A324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Mapeo</a:t>
              </a:r>
              <a:r>
                <a:rPr lang="en-US">
                  <a:solidFill>
                    <a:srgbClr val="2A324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de </a:t>
              </a:r>
              <a:r>
                <a:rPr lang="en-US" err="1">
                  <a:solidFill>
                    <a:srgbClr val="2A324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patrimonio</a:t>
              </a:r>
              <a:r>
                <a:rPr lang="en-US">
                  <a:solidFill>
                    <a:srgbClr val="2A324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</a:t>
              </a:r>
              <a:r>
                <a:rPr lang="en-US" err="1">
                  <a:solidFill>
                    <a:srgbClr val="2A324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en</a:t>
              </a:r>
              <a:r>
                <a:rPr lang="en-US">
                  <a:solidFill>
                    <a:srgbClr val="2A324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</a:t>
              </a:r>
              <a:r>
                <a:rPr lang="en-US" err="1">
                  <a:solidFill>
                    <a:srgbClr val="2A324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operaciones</a:t>
              </a:r>
              <a:endParaRPr lang="en-US"/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504BDA81-42C1-5D18-FAC3-DC51B9EEBE6D}"/>
              </a:ext>
            </a:extLst>
          </p:cNvPr>
          <p:cNvGrpSpPr/>
          <p:nvPr/>
        </p:nvGrpSpPr>
        <p:grpSpPr>
          <a:xfrm>
            <a:off x="637189" y="6368767"/>
            <a:ext cx="8382000" cy="1316284"/>
            <a:chOff x="646026" y="6592061"/>
            <a:chExt cx="8382000" cy="1316284"/>
          </a:xfrm>
        </p:grpSpPr>
        <p:sp>
          <p:nvSpPr>
            <p:cNvPr id="9" name="Shape 11">
              <a:extLst>
                <a:ext uri="{FF2B5EF4-FFF2-40B4-BE49-F238E27FC236}">
                  <a16:creationId xmlns:a16="http://schemas.microsoft.com/office/drawing/2014/main" id="{2859C310-59AC-1D71-51F7-30B72067DF68}"/>
                </a:ext>
              </a:extLst>
            </p:cNvPr>
            <p:cNvSpPr/>
            <p:nvPr/>
          </p:nvSpPr>
          <p:spPr>
            <a:xfrm>
              <a:off x="646026" y="6592061"/>
              <a:ext cx="8382000" cy="1316284"/>
            </a:xfrm>
            <a:prstGeom prst="roundRect">
              <a:avLst>
                <a:gd name="adj" fmla="val 3363"/>
              </a:avLst>
            </a:prstGeom>
            <a:solidFill>
              <a:srgbClr val="F2F5FA"/>
            </a:solidFill>
            <a:ln w="11906">
              <a:solidFill>
                <a:srgbClr val="E5EAF3"/>
              </a:solidFill>
              <a:prstDash val="solid"/>
            </a:ln>
            <a:effectLst>
              <a:outerShdw blurRad="76200" dist="12700" dir="5400000" algn="tl" rotWithShape="0">
                <a:srgbClr val="000000">
                  <a:alpha val="15000"/>
                </a:srgbClr>
              </a:outerShdw>
            </a:effectLst>
          </p:spPr>
          <p:txBody>
            <a:bodyPr/>
            <a:lstStyle/>
            <a:p>
              <a:endParaRPr lang="es-ES_tradnl"/>
            </a:p>
          </p:txBody>
        </p:sp>
        <p:sp>
          <p:nvSpPr>
            <p:cNvPr id="10" name="Text 12">
              <a:extLst>
                <a:ext uri="{FF2B5EF4-FFF2-40B4-BE49-F238E27FC236}">
                  <a16:creationId xmlns:a16="http://schemas.microsoft.com/office/drawing/2014/main" id="{513D73C1-829F-AF8B-44B4-E630BA7232E3}"/>
                </a:ext>
              </a:extLst>
            </p:cNvPr>
            <p:cNvSpPr/>
            <p:nvPr/>
          </p:nvSpPr>
          <p:spPr>
            <a:xfrm>
              <a:off x="848432" y="6737695"/>
              <a:ext cx="3948060" cy="170611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buNone/>
              </a:pPr>
              <a:r>
                <a:rPr lang="en-US" b="1" kern="0" spc="176">
                  <a:solidFill>
                    <a:srgbClr val="9C7A2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SEGUROS</a:t>
              </a:r>
              <a:endParaRPr lang="en-US"/>
            </a:p>
          </p:txBody>
        </p:sp>
        <p:sp>
          <p:nvSpPr>
            <p:cNvPr id="11" name="Text 13">
              <a:extLst>
                <a:ext uri="{FF2B5EF4-FFF2-40B4-BE49-F238E27FC236}">
                  <a16:creationId xmlns:a16="http://schemas.microsoft.com/office/drawing/2014/main" id="{95B69433-D2A7-36F9-4B2A-118DE561D027}"/>
                </a:ext>
              </a:extLst>
            </p:cNvPr>
            <p:cNvSpPr/>
            <p:nvPr/>
          </p:nvSpPr>
          <p:spPr>
            <a:xfrm>
              <a:off x="848431" y="7020700"/>
              <a:ext cx="3948060" cy="223269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r>
                <a:rPr lang="en-US" sz="2400" b="1" kern="0" spc="-7" err="1">
                  <a:solidFill>
                    <a:srgbClr val="0A1F44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Suscripción</a:t>
              </a:r>
              <a:r>
                <a:rPr lang="en-US" sz="2400" b="1" kern="0" spc="-7">
                  <a:solidFill>
                    <a:srgbClr val="0A1F44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y </a:t>
              </a:r>
              <a:r>
                <a:rPr lang="en-US" sz="2400" b="1" kern="0" spc="-7" err="1">
                  <a:solidFill>
                    <a:srgbClr val="0A1F44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siniestros</a:t>
              </a:r>
              <a:endParaRPr lang="en-US" sz="2400"/>
            </a:p>
          </p:txBody>
        </p:sp>
        <p:sp>
          <p:nvSpPr>
            <p:cNvPr id="47" name="Text 14">
              <a:extLst>
                <a:ext uri="{FF2B5EF4-FFF2-40B4-BE49-F238E27FC236}">
                  <a16:creationId xmlns:a16="http://schemas.microsoft.com/office/drawing/2014/main" id="{282D98D7-AE29-F428-BDA2-93D791CD87AF}"/>
                </a:ext>
              </a:extLst>
            </p:cNvPr>
            <p:cNvSpPr/>
            <p:nvPr/>
          </p:nvSpPr>
          <p:spPr>
            <a:xfrm>
              <a:off x="883574" y="7343102"/>
              <a:ext cx="6844570" cy="475237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>
                <a:lnSpc>
                  <a:spcPct val="155000"/>
                </a:lnSpc>
              </a:pPr>
              <a:r>
                <a:rPr lang="en-US" err="1">
                  <a:solidFill>
                    <a:srgbClr val="2A324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Concentración</a:t>
              </a:r>
              <a:r>
                <a:rPr lang="en-US">
                  <a:solidFill>
                    <a:srgbClr val="2A324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de </a:t>
              </a:r>
              <a:r>
                <a:rPr lang="en-US" err="1">
                  <a:solidFill>
                    <a:srgbClr val="2A324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riesgo</a:t>
              </a:r>
              <a:r>
                <a:rPr lang="en-US">
                  <a:solidFill>
                    <a:srgbClr val="2A324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</a:t>
              </a:r>
              <a:r>
                <a:rPr lang="en-US" err="1">
                  <a:solidFill>
                    <a:srgbClr val="2A324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por</a:t>
              </a:r>
              <a:r>
                <a:rPr lang="en-US">
                  <a:solidFill>
                    <a:srgbClr val="2A324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zona</a:t>
              </a:r>
              <a:endParaRPr lang="en-US"/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053EE804-46EC-6FBD-85D7-F7DC95A63E30}"/>
              </a:ext>
            </a:extLst>
          </p:cNvPr>
          <p:cNvGrpSpPr/>
          <p:nvPr/>
        </p:nvGrpSpPr>
        <p:grpSpPr>
          <a:xfrm>
            <a:off x="637189" y="7802608"/>
            <a:ext cx="8382000" cy="1316284"/>
            <a:chOff x="646026" y="6592061"/>
            <a:chExt cx="8382000" cy="1316284"/>
          </a:xfrm>
        </p:grpSpPr>
        <p:sp>
          <p:nvSpPr>
            <p:cNvPr id="56" name="Shape 11">
              <a:extLst>
                <a:ext uri="{FF2B5EF4-FFF2-40B4-BE49-F238E27FC236}">
                  <a16:creationId xmlns:a16="http://schemas.microsoft.com/office/drawing/2014/main" id="{ED5BAD89-F423-9516-F65E-E3D6F7DDF561}"/>
                </a:ext>
              </a:extLst>
            </p:cNvPr>
            <p:cNvSpPr/>
            <p:nvPr/>
          </p:nvSpPr>
          <p:spPr>
            <a:xfrm>
              <a:off x="646026" y="6592061"/>
              <a:ext cx="8382000" cy="1316284"/>
            </a:xfrm>
            <a:prstGeom prst="roundRect">
              <a:avLst>
                <a:gd name="adj" fmla="val 3363"/>
              </a:avLst>
            </a:prstGeom>
            <a:solidFill>
              <a:srgbClr val="F2F5FA"/>
            </a:solidFill>
            <a:ln w="11906">
              <a:solidFill>
                <a:srgbClr val="E5EAF3"/>
              </a:solidFill>
              <a:prstDash val="solid"/>
            </a:ln>
            <a:effectLst>
              <a:outerShdw blurRad="76200" dist="12700" dir="5400000" algn="tl" rotWithShape="0">
                <a:srgbClr val="000000">
                  <a:alpha val="15000"/>
                </a:srgbClr>
              </a:outerShdw>
            </a:effectLst>
          </p:spPr>
          <p:txBody>
            <a:bodyPr/>
            <a:lstStyle/>
            <a:p>
              <a:endParaRPr lang="es-ES_tradnl"/>
            </a:p>
          </p:txBody>
        </p:sp>
        <p:sp>
          <p:nvSpPr>
            <p:cNvPr id="57" name="Text 12">
              <a:extLst>
                <a:ext uri="{FF2B5EF4-FFF2-40B4-BE49-F238E27FC236}">
                  <a16:creationId xmlns:a16="http://schemas.microsoft.com/office/drawing/2014/main" id="{812E9BEF-3331-2C42-A11C-749ABB89D1F6}"/>
                </a:ext>
              </a:extLst>
            </p:cNvPr>
            <p:cNvSpPr/>
            <p:nvPr/>
          </p:nvSpPr>
          <p:spPr>
            <a:xfrm>
              <a:off x="848432" y="6737695"/>
              <a:ext cx="3948060" cy="170611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r>
                <a:rPr lang="en-US" b="1" kern="0" spc="176">
                  <a:solidFill>
                    <a:srgbClr val="9C7A2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ESG</a:t>
              </a:r>
              <a:endParaRPr lang="en-US"/>
            </a:p>
          </p:txBody>
        </p:sp>
        <p:sp>
          <p:nvSpPr>
            <p:cNvPr id="58" name="Text 13">
              <a:extLst>
                <a:ext uri="{FF2B5EF4-FFF2-40B4-BE49-F238E27FC236}">
                  <a16:creationId xmlns:a16="http://schemas.microsoft.com/office/drawing/2014/main" id="{CEF669A4-B668-BFD6-B92C-B32E0238652B}"/>
                </a:ext>
              </a:extLst>
            </p:cNvPr>
            <p:cNvSpPr/>
            <p:nvPr/>
          </p:nvSpPr>
          <p:spPr>
            <a:xfrm>
              <a:off x="848431" y="7020700"/>
              <a:ext cx="3948060" cy="223269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r>
                <a:rPr lang="en-US" sz="2400" b="1" kern="0" spc="-7" err="1">
                  <a:solidFill>
                    <a:srgbClr val="0A1F44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Exposición</a:t>
              </a:r>
              <a:r>
                <a:rPr lang="en-US" sz="2400" b="1" kern="0" spc="-7">
                  <a:solidFill>
                    <a:srgbClr val="0A1F44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</a:t>
              </a:r>
              <a:r>
                <a:rPr lang="en-US" sz="2400" b="1" kern="0" spc="-7" err="1">
                  <a:solidFill>
                    <a:srgbClr val="0A1F44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ambiental</a:t>
              </a:r>
              <a:endParaRPr lang="en-US" sz="2400"/>
            </a:p>
          </p:txBody>
        </p:sp>
        <p:sp>
          <p:nvSpPr>
            <p:cNvPr id="59" name="Text 14">
              <a:extLst>
                <a:ext uri="{FF2B5EF4-FFF2-40B4-BE49-F238E27FC236}">
                  <a16:creationId xmlns:a16="http://schemas.microsoft.com/office/drawing/2014/main" id="{E8039697-2EEF-6D3F-1C89-06625A0EE9B9}"/>
                </a:ext>
              </a:extLst>
            </p:cNvPr>
            <p:cNvSpPr/>
            <p:nvPr/>
          </p:nvSpPr>
          <p:spPr>
            <a:xfrm>
              <a:off x="883574" y="7343102"/>
              <a:ext cx="6844570" cy="475237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>
                <a:lnSpc>
                  <a:spcPct val="155000"/>
                </a:lnSpc>
              </a:pPr>
              <a:r>
                <a:rPr lang="en-US">
                  <a:solidFill>
                    <a:srgbClr val="2A324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Activos </a:t>
              </a:r>
              <a:r>
                <a:rPr lang="en-US" err="1">
                  <a:solidFill>
                    <a:srgbClr val="2A324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industriales</a:t>
              </a:r>
              <a:r>
                <a:rPr lang="en-US">
                  <a:solidFill>
                    <a:srgbClr val="2A324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</a:t>
              </a:r>
              <a:r>
                <a:rPr lang="en-US" err="1">
                  <a:solidFill>
                    <a:srgbClr val="2A324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en</a:t>
              </a:r>
              <a:r>
                <a:rPr lang="en-US">
                  <a:solidFill>
                    <a:srgbClr val="2A324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zonas </a:t>
              </a:r>
              <a:r>
                <a:rPr lang="en-US" err="1">
                  <a:solidFill>
                    <a:srgbClr val="2A324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sensibles</a:t>
              </a:r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487910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00" name="MS Header Group"/>
          <p:cNvGrpSpPr/>
          <p:nvPr/>
        </p:nvGrpSpPr>
        <p:grpSpPr>
          <a:xfrm>
            <a:off x="282819" y="579094"/>
            <a:ext cx="13786134" cy="1057874"/>
            <a:chOff x="92172" y="275827"/>
            <a:chExt cx="9190756" cy="705249"/>
          </a:xfrm>
        </p:grpSpPr>
        <p:sp>
          <p:nvSpPr>
            <p:cNvPr id="9001" name="MS Title Box"/>
            <p:cNvSpPr>
              <a:spLocks noChangeArrowheads="1"/>
            </p:cNvSpPr>
            <p:nvPr/>
          </p:nvSpPr>
          <p:spPr bwMode="gray">
            <a:xfrm>
              <a:off x="776292" y="404814"/>
              <a:ext cx="8506636" cy="5762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137160" tIns="68580" rIns="137160" bIns="68580" anchor="ctr"/>
            <a:lstStyle/>
            <a:p>
              <a:pPr defTabSz="1371600">
                <a:lnSpc>
                  <a:spcPts val="3150"/>
                </a:lnSpc>
                <a:defRPr/>
              </a:pPr>
              <a:r>
                <a:rPr lang="es-ES" sz="3000" b="1">
                  <a:solidFill>
                    <a:srgbClr val="002569"/>
                  </a:solidFill>
                  <a:latin typeface="Arial"/>
                  <a:cs typeface="Segoe UI" panose="020B0502040204020203" pitchFamily="34" charset="0"/>
                </a:rPr>
                <a:t>El analista hace 4 saltos antes de tener un solo activo geolocalizado</a:t>
              </a:r>
            </a:p>
            <a:p>
              <a:pPr defTabSz="1371600">
                <a:defRPr/>
              </a:pPr>
              <a:r>
                <a:rPr lang="es-ES" sz="2700">
                  <a:solidFill>
                    <a:srgbClr val="E0D399">
                      <a:lumMod val="75000"/>
                    </a:srgbClr>
                  </a:solidFill>
                  <a:latin typeface="Arial"/>
                  <a:cs typeface="Segoe UI" panose="020B0502040204020203" pitchFamily="34" charset="0"/>
                </a:rPr>
                <a:t>AS IS · El proceso manual actual</a:t>
              </a:r>
            </a:p>
          </p:txBody>
        </p:sp>
        <p:sp>
          <p:nvSpPr>
            <p:cNvPr id="9002" name="MS Number"/>
            <p:cNvSpPr>
              <a:spLocks noChangeArrowheads="1"/>
            </p:cNvSpPr>
            <p:nvPr/>
          </p:nvSpPr>
          <p:spPr bwMode="gray">
            <a:xfrm>
              <a:off x="92172" y="275827"/>
              <a:ext cx="477819" cy="7001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148523" tIns="74261" rIns="148523" bIns="74261">
              <a:spAutoFit/>
            </a:bodyPr>
            <a:lstStyle/>
            <a:p>
              <a:pPr algn="ctr" defTabSz="1371600">
                <a:buSzPct val="65000"/>
                <a:defRPr/>
              </a:pPr>
              <a:r>
                <a:rPr lang="es-ES" sz="5850" b="1" kern="0">
                  <a:solidFill>
                    <a:srgbClr val="002569"/>
                  </a:solidFill>
                  <a:latin typeface="Arial"/>
                  <a:cs typeface="Segoe UI" panose="020B0502040204020203" pitchFamily="34" charset="0"/>
                </a:rPr>
                <a:t>1</a:t>
              </a:r>
            </a:p>
          </p:txBody>
        </p:sp>
        <p:cxnSp>
          <p:nvCxnSpPr>
            <p:cNvPr id="9003" name="MS Header Bar"/>
            <p:cNvCxnSpPr/>
            <p:nvPr/>
          </p:nvCxnSpPr>
          <p:spPr>
            <a:xfrm>
              <a:off x="570525" y="404814"/>
              <a:ext cx="0" cy="526647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90189327-0996-0774-DC4E-6E49A6036AD1}"/>
              </a:ext>
            </a:extLst>
          </p:cNvPr>
          <p:cNvGrpSpPr/>
          <p:nvPr/>
        </p:nvGrpSpPr>
        <p:grpSpPr>
          <a:xfrm>
            <a:off x="641183" y="3384287"/>
            <a:ext cx="16764000" cy="2819103"/>
            <a:chOff x="762000" y="2324396"/>
            <a:chExt cx="16764000" cy="2819103"/>
          </a:xfrm>
        </p:grpSpPr>
        <p:sp>
          <p:nvSpPr>
            <p:cNvPr id="12" name="Shape 10"/>
            <p:cNvSpPr/>
            <p:nvPr/>
          </p:nvSpPr>
          <p:spPr>
            <a:xfrm>
              <a:off x="762000" y="2324396"/>
              <a:ext cx="4062450" cy="2819103"/>
            </a:xfrm>
            <a:prstGeom prst="roundRect">
              <a:avLst>
                <a:gd name="adj" fmla="val 1774"/>
              </a:avLst>
            </a:prstGeom>
            <a:solidFill>
              <a:srgbClr val="FFFFFF"/>
            </a:solidFill>
            <a:ln/>
            <a:effectLst>
              <a:outerShdw blurRad="101600" dist="25400" dir="5400000" algn="tl" rotWithShape="0">
                <a:srgbClr val="000000">
                  <a:alpha val="18000"/>
                </a:srgbClr>
              </a:outerShdw>
            </a:effectLst>
          </p:spPr>
          <p:txBody>
            <a:bodyPr/>
            <a:lstStyle/>
            <a:p>
              <a:endParaRPr lang="es-ES_tradnl"/>
            </a:p>
          </p:txBody>
        </p:sp>
        <p:sp>
          <p:nvSpPr>
            <p:cNvPr id="13" name="Shape 11"/>
            <p:cNvSpPr/>
            <p:nvPr/>
          </p:nvSpPr>
          <p:spPr>
            <a:xfrm>
              <a:off x="762000" y="4460453"/>
              <a:ext cx="4062450" cy="11906"/>
            </a:xfrm>
            <a:prstGeom prst="rect">
              <a:avLst/>
            </a:prstGeom>
            <a:solidFill>
              <a:srgbClr val="D9DEE9"/>
            </a:solidFill>
            <a:ln/>
          </p:spPr>
          <p:txBody>
            <a:bodyPr/>
            <a:lstStyle/>
            <a:p>
              <a:endParaRPr lang="es-ES_tradnl"/>
            </a:p>
          </p:txBody>
        </p:sp>
        <p:sp>
          <p:nvSpPr>
            <p:cNvPr id="14" name="Shape 12"/>
            <p:cNvSpPr/>
            <p:nvPr/>
          </p:nvSpPr>
          <p:spPr>
            <a:xfrm>
              <a:off x="762000" y="2324397"/>
              <a:ext cx="4062450" cy="23813"/>
            </a:xfrm>
            <a:prstGeom prst="rect">
              <a:avLst/>
            </a:prstGeom>
            <a:solidFill>
              <a:srgbClr val="18386F"/>
            </a:solidFill>
            <a:ln/>
          </p:spPr>
          <p:txBody>
            <a:bodyPr/>
            <a:lstStyle/>
            <a:p>
              <a:endParaRPr lang="es-ES_tradnl"/>
            </a:p>
          </p:txBody>
        </p:sp>
        <p:sp>
          <p:nvSpPr>
            <p:cNvPr id="15" name="Shape 13"/>
            <p:cNvSpPr/>
            <p:nvPr/>
          </p:nvSpPr>
          <p:spPr>
            <a:xfrm>
              <a:off x="762000" y="2324397"/>
              <a:ext cx="11906" cy="2147962"/>
            </a:xfrm>
            <a:prstGeom prst="rect">
              <a:avLst/>
            </a:prstGeom>
            <a:solidFill>
              <a:srgbClr val="D9DEE9"/>
            </a:solidFill>
            <a:ln/>
          </p:spPr>
          <p:txBody>
            <a:bodyPr/>
            <a:lstStyle/>
            <a:p>
              <a:endParaRPr lang="es-ES_tradnl"/>
            </a:p>
          </p:txBody>
        </p:sp>
        <p:sp>
          <p:nvSpPr>
            <p:cNvPr id="16" name="Shape 14"/>
            <p:cNvSpPr/>
            <p:nvPr/>
          </p:nvSpPr>
          <p:spPr>
            <a:xfrm>
              <a:off x="4812543" y="2324397"/>
              <a:ext cx="11906" cy="2147962"/>
            </a:xfrm>
            <a:prstGeom prst="rect">
              <a:avLst/>
            </a:prstGeom>
            <a:solidFill>
              <a:srgbClr val="D9DEE9"/>
            </a:solidFill>
            <a:ln/>
          </p:spPr>
          <p:txBody>
            <a:bodyPr/>
            <a:lstStyle/>
            <a:p>
              <a:endParaRPr lang="es-ES_tradnl"/>
            </a:p>
          </p:txBody>
        </p:sp>
        <p:sp>
          <p:nvSpPr>
            <p:cNvPr id="17" name="Text 15"/>
            <p:cNvSpPr/>
            <p:nvPr/>
          </p:nvSpPr>
          <p:spPr>
            <a:xfrm>
              <a:off x="1078632" y="2652935"/>
              <a:ext cx="3532062" cy="192881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buNone/>
              </a:pPr>
              <a:r>
                <a:rPr lang="en-US" b="1" kern="0" spc="176">
                  <a:solidFill>
                    <a:srgbClr val="9C7A2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01 · </a:t>
              </a:r>
              <a:r>
                <a:rPr lang="en-US" sz="2200" b="1" kern="0" spc="176">
                  <a:solidFill>
                    <a:srgbClr val="9C7A2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BUSCAR</a:t>
              </a:r>
              <a:endParaRPr lang="en-US" sz="2200"/>
            </a:p>
          </p:txBody>
        </p:sp>
        <p:sp>
          <p:nvSpPr>
            <p:cNvPr id="18" name="Text 16"/>
            <p:cNvSpPr/>
            <p:nvPr/>
          </p:nvSpPr>
          <p:spPr>
            <a:xfrm>
              <a:off x="1078631" y="2979222"/>
              <a:ext cx="3532062" cy="252413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buNone/>
              </a:pPr>
              <a:r>
                <a:rPr lang="en-US" b="1" kern="0" spc="-7">
                  <a:solidFill>
                    <a:srgbClr val="0A1F44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Web </a:t>
              </a:r>
              <a:r>
                <a:rPr lang="en-US" b="1" kern="0" spc="-7" err="1">
                  <a:solidFill>
                    <a:srgbClr val="0A1F44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abierta</a:t>
              </a:r>
              <a:r>
                <a:rPr lang="en-US" b="1" kern="0" spc="-7">
                  <a:solidFill>
                    <a:srgbClr val="0A1F44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+ LinkedIn</a:t>
              </a:r>
              <a:endParaRPr lang="en-US"/>
            </a:p>
          </p:txBody>
        </p:sp>
        <p:sp>
          <p:nvSpPr>
            <p:cNvPr id="19" name="Text 17"/>
            <p:cNvSpPr/>
            <p:nvPr/>
          </p:nvSpPr>
          <p:spPr>
            <a:xfrm>
              <a:off x="1078632" y="3271251"/>
              <a:ext cx="3532062" cy="1333947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lnSpc>
                  <a:spcPct val="155000"/>
                </a:lnSpc>
                <a:buNone/>
              </a:pPr>
              <a:r>
                <a:rPr lang="en-US" err="1">
                  <a:solidFill>
                    <a:srgbClr val="2A324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Consultas</a:t>
              </a:r>
              <a:r>
                <a:rPr lang="en-US">
                  <a:solidFill>
                    <a:srgbClr val="2A324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</a:t>
              </a:r>
              <a:r>
                <a:rPr lang="en-US" err="1">
                  <a:solidFill>
                    <a:srgbClr val="2A324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dispersas</a:t>
              </a:r>
              <a:r>
                <a:rPr lang="en-US">
                  <a:solidFill>
                    <a:srgbClr val="2A324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</a:t>
              </a:r>
              <a:r>
                <a:rPr lang="en-US" err="1">
                  <a:solidFill>
                    <a:srgbClr val="2A324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en</a:t>
              </a:r>
              <a:r>
                <a:rPr lang="en-US">
                  <a:solidFill>
                    <a:srgbClr val="2A324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Google, </a:t>
              </a:r>
              <a:r>
                <a:rPr lang="en-US" err="1">
                  <a:solidFill>
                    <a:srgbClr val="2A324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prensa</a:t>
              </a:r>
              <a:r>
                <a:rPr lang="en-US">
                  <a:solidFill>
                    <a:srgbClr val="2A324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sectorial y </a:t>
              </a:r>
              <a:r>
                <a:rPr lang="en-US" err="1">
                  <a:solidFill>
                    <a:srgbClr val="2A324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notas</a:t>
              </a:r>
              <a:r>
                <a:rPr lang="en-US">
                  <a:solidFill>
                    <a:srgbClr val="2A324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de </a:t>
              </a:r>
              <a:r>
                <a:rPr lang="en-US" err="1">
                  <a:solidFill>
                    <a:srgbClr val="2A324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inversores</a:t>
              </a:r>
              <a:r>
                <a:rPr lang="en-US">
                  <a:solidFill>
                    <a:srgbClr val="2A324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.</a:t>
              </a:r>
              <a:endParaRPr lang="en-US"/>
            </a:p>
          </p:txBody>
        </p:sp>
        <p:sp>
          <p:nvSpPr>
            <p:cNvPr id="20" name="Shape 18"/>
            <p:cNvSpPr/>
            <p:nvPr/>
          </p:nvSpPr>
          <p:spPr>
            <a:xfrm>
              <a:off x="1078632" y="3855838"/>
              <a:ext cx="3429186" cy="11906"/>
            </a:xfrm>
            <a:prstGeom prst="rect">
              <a:avLst/>
            </a:prstGeom>
            <a:solidFill>
              <a:srgbClr val="D9DEE9"/>
            </a:solidFill>
            <a:ln/>
          </p:spPr>
          <p:txBody>
            <a:bodyPr/>
            <a:lstStyle/>
            <a:p>
              <a:endParaRPr lang="es-ES_tradnl"/>
            </a:p>
          </p:txBody>
        </p:sp>
        <p:sp>
          <p:nvSpPr>
            <p:cNvPr id="21" name="Text 19"/>
            <p:cNvSpPr/>
            <p:nvPr/>
          </p:nvSpPr>
          <p:spPr>
            <a:xfrm>
              <a:off x="1044636" y="4637874"/>
              <a:ext cx="3532062" cy="192732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buNone/>
              </a:pPr>
              <a:r>
                <a:rPr lang="en-US" b="1">
                  <a:solidFill>
                    <a:srgbClr val="B9384A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⚠ </a:t>
              </a:r>
              <a:r>
                <a:rPr lang="en-US" b="1" err="1">
                  <a:solidFill>
                    <a:srgbClr val="B9384A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Resultado</a:t>
              </a:r>
              <a:r>
                <a:rPr lang="en-US" b="1">
                  <a:solidFill>
                    <a:srgbClr val="B9384A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 </a:t>
              </a:r>
              <a:r>
                <a:rPr lang="en-US" b="1" err="1">
                  <a:solidFill>
                    <a:srgbClr val="B9384A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ruidoso</a:t>
              </a:r>
              <a:endParaRPr lang="en-US" b="1"/>
            </a:p>
          </p:txBody>
        </p:sp>
        <p:sp>
          <p:nvSpPr>
            <p:cNvPr id="22" name="Shape 20"/>
            <p:cNvSpPr/>
            <p:nvPr/>
          </p:nvSpPr>
          <p:spPr>
            <a:xfrm>
              <a:off x="4995788" y="2324397"/>
              <a:ext cx="4062450" cy="2819102"/>
            </a:xfrm>
            <a:prstGeom prst="roundRect">
              <a:avLst>
                <a:gd name="adj" fmla="val 1774"/>
              </a:avLst>
            </a:prstGeom>
            <a:solidFill>
              <a:srgbClr val="FFFFFF"/>
            </a:solidFill>
            <a:ln/>
            <a:effectLst>
              <a:outerShdw blurRad="101600" dist="25400" dir="5400000" algn="tl" rotWithShape="0">
                <a:srgbClr val="000000">
                  <a:alpha val="18000"/>
                </a:srgbClr>
              </a:outerShdw>
            </a:effectLst>
          </p:spPr>
          <p:txBody>
            <a:bodyPr/>
            <a:lstStyle/>
            <a:p>
              <a:endParaRPr lang="es-ES_tradnl"/>
            </a:p>
          </p:txBody>
        </p:sp>
        <p:sp>
          <p:nvSpPr>
            <p:cNvPr id="23" name="Shape 21"/>
            <p:cNvSpPr/>
            <p:nvPr/>
          </p:nvSpPr>
          <p:spPr>
            <a:xfrm>
              <a:off x="4995788" y="4460453"/>
              <a:ext cx="4062450" cy="11906"/>
            </a:xfrm>
            <a:prstGeom prst="rect">
              <a:avLst/>
            </a:prstGeom>
            <a:solidFill>
              <a:srgbClr val="D9DEE9"/>
            </a:solidFill>
            <a:ln/>
          </p:spPr>
          <p:txBody>
            <a:bodyPr/>
            <a:lstStyle/>
            <a:p>
              <a:endParaRPr lang="es-ES_tradnl"/>
            </a:p>
          </p:txBody>
        </p:sp>
        <p:sp>
          <p:nvSpPr>
            <p:cNvPr id="24" name="Shape 22"/>
            <p:cNvSpPr/>
            <p:nvPr/>
          </p:nvSpPr>
          <p:spPr>
            <a:xfrm>
              <a:off x="4995788" y="2324397"/>
              <a:ext cx="4062450" cy="23813"/>
            </a:xfrm>
            <a:prstGeom prst="rect">
              <a:avLst/>
            </a:prstGeom>
            <a:solidFill>
              <a:srgbClr val="18386F"/>
            </a:solidFill>
            <a:ln/>
          </p:spPr>
          <p:txBody>
            <a:bodyPr/>
            <a:lstStyle/>
            <a:p>
              <a:endParaRPr lang="es-ES_tradnl"/>
            </a:p>
          </p:txBody>
        </p:sp>
        <p:sp>
          <p:nvSpPr>
            <p:cNvPr id="25" name="Shape 23"/>
            <p:cNvSpPr/>
            <p:nvPr/>
          </p:nvSpPr>
          <p:spPr>
            <a:xfrm>
              <a:off x="4995788" y="2324397"/>
              <a:ext cx="11906" cy="2147962"/>
            </a:xfrm>
            <a:prstGeom prst="rect">
              <a:avLst/>
            </a:prstGeom>
            <a:solidFill>
              <a:srgbClr val="D9DEE9"/>
            </a:solidFill>
            <a:ln/>
          </p:spPr>
          <p:txBody>
            <a:bodyPr/>
            <a:lstStyle/>
            <a:p>
              <a:endParaRPr lang="es-ES_tradnl"/>
            </a:p>
          </p:txBody>
        </p:sp>
        <p:sp>
          <p:nvSpPr>
            <p:cNvPr id="26" name="Shape 24"/>
            <p:cNvSpPr/>
            <p:nvPr/>
          </p:nvSpPr>
          <p:spPr>
            <a:xfrm>
              <a:off x="9046332" y="2324397"/>
              <a:ext cx="11906" cy="2147962"/>
            </a:xfrm>
            <a:prstGeom prst="rect">
              <a:avLst/>
            </a:prstGeom>
            <a:solidFill>
              <a:srgbClr val="D9DEE9"/>
            </a:solidFill>
            <a:ln/>
          </p:spPr>
          <p:txBody>
            <a:bodyPr/>
            <a:lstStyle/>
            <a:p>
              <a:endParaRPr lang="es-ES_tradnl"/>
            </a:p>
          </p:txBody>
        </p:sp>
        <p:sp>
          <p:nvSpPr>
            <p:cNvPr id="27" name="Text 25"/>
            <p:cNvSpPr/>
            <p:nvPr/>
          </p:nvSpPr>
          <p:spPr>
            <a:xfrm>
              <a:off x="5312420" y="2652935"/>
              <a:ext cx="3532062" cy="192881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buNone/>
              </a:pPr>
              <a:r>
                <a:rPr lang="en-US" sz="2200" b="1" kern="0" spc="176">
                  <a:solidFill>
                    <a:srgbClr val="9C7A2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02 · CONTRASTAR</a:t>
              </a:r>
              <a:endParaRPr lang="en-US" sz="2200"/>
            </a:p>
          </p:txBody>
        </p:sp>
        <p:sp>
          <p:nvSpPr>
            <p:cNvPr id="28" name="Text 26"/>
            <p:cNvSpPr/>
            <p:nvPr/>
          </p:nvSpPr>
          <p:spPr>
            <a:xfrm>
              <a:off x="5312420" y="2979222"/>
              <a:ext cx="3532062" cy="252413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buNone/>
              </a:pPr>
              <a:r>
                <a:rPr lang="en-US" b="1" kern="0" spc="-7">
                  <a:solidFill>
                    <a:srgbClr val="0A1F44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Reg. Mercantil + </a:t>
              </a:r>
              <a:r>
                <a:rPr lang="en-US" b="1" kern="0" spc="-7" err="1">
                  <a:solidFill>
                    <a:srgbClr val="0A1F44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informes</a:t>
              </a:r>
              <a:endParaRPr lang="en-US"/>
            </a:p>
          </p:txBody>
        </p:sp>
        <p:sp>
          <p:nvSpPr>
            <p:cNvPr id="29" name="Text 27"/>
            <p:cNvSpPr/>
            <p:nvPr/>
          </p:nvSpPr>
          <p:spPr>
            <a:xfrm>
              <a:off x="5312420" y="3327285"/>
              <a:ext cx="3532062" cy="1221879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lnSpc>
                  <a:spcPct val="155000"/>
                </a:lnSpc>
                <a:buNone/>
              </a:pPr>
              <a:r>
                <a:rPr lang="en-US">
                  <a:solidFill>
                    <a:srgbClr val="2A324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Cruce con CNAE, </a:t>
              </a:r>
              <a:r>
                <a:rPr lang="en-US" err="1">
                  <a:solidFill>
                    <a:srgbClr val="2A324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memorias</a:t>
              </a:r>
              <a:r>
                <a:rPr lang="en-US">
                  <a:solidFill>
                    <a:srgbClr val="2A324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</a:t>
              </a:r>
              <a:r>
                <a:rPr lang="en-US" err="1">
                  <a:solidFill>
                    <a:srgbClr val="2A324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anuales</a:t>
              </a:r>
              <a:r>
                <a:rPr lang="en-US">
                  <a:solidFill>
                    <a:srgbClr val="2A324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y </a:t>
              </a:r>
              <a:r>
                <a:rPr lang="en-US" err="1">
                  <a:solidFill>
                    <a:srgbClr val="2A324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filiales</a:t>
              </a:r>
              <a:r>
                <a:rPr lang="en-US">
                  <a:solidFill>
                    <a:srgbClr val="2A324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</a:t>
              </a:r>
              <a:r>
                <a:rPr lang="en-US" err="1">
                  <a:solidFill>
                    <a:srgbClr val="2A324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declaradas</a:t>
              </a:r>
              <a:r>
                <a:rPr lang="en-US">
                  <a:solidFill>
                    <a:srgbClr val="2A324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.</a:t>
              </a:r>
              <a:endParaRPr lang="en-US"/>
            </a:p>
          </p:txBody>
        </p:sp>
        <p:sp>
          <p:nvSpPr>
            <p:cNvPr id="30" name="Shape 28"/>
            <p:cNvSpPr/>
            <p:nvPr/>
          </p:nvSpPr>
          <p:spPr>
            <a:xfrm>
              <a:off x="5312420" y="3855838"/>
              <a:ext cx="3429186" cy="11906"/>
            </a:xfrm>
            <a:prstGeom prst="rect">
              <a:avLst/>
            </a:prstGeom>
            <a:solidFill>
              <a:srgbClr val="D9DEE9"/>
            </a:solidFill>
            <a:ln/>
          </p:spPr>
          <p:txBody>
            <a:bodyPr/>
            <a:lstStyle/>
            <a:p>
              <a:endParaRPr lang="es-ES_tradnl"/>
            </a:p>
          </p:txBody>
        </p:sp>
        <p:sp>
          <p:nvSpPr>
            <p:cNvPr id="31" name="Text 29"/>
            <p:cNvSpPr/>
            <p:nvPr/>
          </p:nvSpPr>
          <p:spPr>
            <a:xfrm>
              <a:off x="5312420" y="4637874"/>
              <a:ext cx="3532062" cy="192732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buNone/>
              </a:pPr>
              <a:r>
                <a:rPr lang="en-US" b="1">
                  <a:solidFill>
                    <a:srgbClr val="B9384A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⚠ Sin </a:t>
              </a:r>
              <a:r>
                <a:rPr lang="en-US" b="1" err="1">
                  <a:solidFill>
                    <a:srgbClr val="B9384A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coordenadas</a:t>
              </a:r>
              <a:endParaRPr lang="en-US" b="1"/>
            </a:p>
          </p:txBody>
        </p:sp>
        <p:sp>
          <p:nvSpPr>
            <p:cNvPr id="32" name="Shape 30"/>
            <p:cNvSpPr/>
            <p:nvPr/>
          </p:nvSpPr>
          <p:spPr>
            <a:xfrm>
              <a:off x="9229576" y="2324397"/>
              <a:ext cx="4062450" cy="2819102"/>
            </a:xfrm>
            <a:prstGeom prst="roundRect">
              <a:avLst>
                <a:gd name="adj" fmla="val 1774"/>
              </a:avLst>
            </a:prstGeom>
            <a:solidFill>
              <a:srgbClr val="FFFFFF"/>
            </a:solidFill>
            <a:ln/>
            <a:effectLst>
              <a:outerShdw blurRad="101600" dist="25400" dir="5400000" algn="tl" rotWithShape="0">
                <a:srgbClr val="000000">
                  <a:alpha val="18000"/>
                </a:srgbClr>
              </a:outerShdw>
            </a:effectLst>
          </p:spPr>
          <p:txBody>
            <a:bodyPr/>
            <a:lstStyle/>
            <a:p>
              <a:endParaRPr lang="es-ES_tradnl"/>
            </a:p>
          </p:txBody>
        </p:sp>
        <p:sp>
          <p:nvSpPr>
            <p:cNvPr id="33" name="Shape 31"/>
            <p:cNvSpPr/>
            <p:nvPr/>
          </p:nvSpPr>
          <p:spPr>
            <a:xfrm>
              <a:off x="9229576" y="4460453"/>
              <a:ext cx="4062450" cy="11906"/>
            </a:xfrm>
            <a:prstGeom prst="rect">
              <a:avLst/>
            </a:prstGeom>
            <a:solidFill>
              <a:srgbClr val="D9DEE9"/>
            </a:solidFill>
            <a:ln/>
          </p:spPr>
          <p:txBody>
            <a:bodyPr/>
            <a:lstStyle/>
            <a:p>
              <a:endParaRPr lang="es-ES_tradnl"/>
            </a:p>
          </p:txBody>
        </p:sp>
        <p:sp>
          <p:nvSpPr>
            <p:cNvPr id="34" name="Shape 32"/>
            <p:cNvSpPr/>
            <p:nvPr/>
          </p:nvSpPr>
          <p:spPr>
            <a:xfrm>
              <a:off x="9229576" y="2324397"/>
              <a:ext cx="4062450" cy="23813"/>
            </a:xfrm>
            <a:prstGeom prst="rect">
              <a:avLst/>
            </a:prstGeom>
            <a:solidFill>
              <a:srgbClr val="18386F"/>
            </a:solidFill>
            <a:ln/>
          </p:spPr>
          <p:txBody>
            <a:bodyPr/>
            <a:lstStyle/>
            <a:p>
              <a:endParaRPr lang="es-ES_tradnl"/>
            </a:p>
          </p:txBody>
        </p:sp>
        <p:sp>
          <p:nvSpPr>
            <p:cNvPr id="35" name="Shape 33"/>
            <p:cNvSpPr/>
            <p:nvPr/>
          </p:nvSpPr>
          <p:spPr>
            <a:xfrm>
              <a:off x="9229576" y="2324397"/>
              <a:ext cx="11906" cy="2147962"/>
            </a:xfrm>
            <a:prstGeom prst="rect">
              <a:avLst/>
            </a:prstGeom>
            <a:solidFill>
              <a:srgbClr val="D9DEE9"/>
            </a:solidFill>
            <a:ln/>
          </p:spPr>
          <p:txBody>
            <a:bodyPr/>
            <a:lstStyle/>
            <a:p>
              <a:endParaRPr lang="es-ES_tradnl"/>
            </a:p>
          </p:txBody>
        </p:sp>
        <p:sp>
          <p:nvSpPr>
            <p:cNvPr id="36" name="Shape 34"/>
            <p:cNvSpPr/>
            <p:nvPr/>
          </p:nvSpPr>
          <p:spPr>
            <a:xfrm>
              <a:off x="13280120" y="2324397"/>
              <a:ext cx="11906" cy="2147962"/>
            </a:xfrm>
            <a:prstGeom prst="rect">
              <a:avLst/>
            </a:prstGeom>
            <a:solidFill>
              <a:srgbClr val="D9DEE9"/>
            </a:solidFill>
            <a:ln/>
          </p:spPr>
          <p:txBody>
            <a:bodyPr/>
            <a:lstStyle/>
            <a:p>
              <a:endParaRPr lang="es-ES_tradnl"/>
            </a:p>
          </p:txBody>
        </p:sp>
        <p:sp>
          <p:nvSpPr>
            <p:cNvPr id="37" name="Text 35"/>
            <p:cNvSpPr/>
            <p:nvPr/>
          </p:nvSpPr>
          <p:spPr>
            <a:xfrm>
              <a:off x="9546208" y="2652935"/>
              <a:ext cx="3532062" cy="192881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buNone/>
              </a:pPr>
              <a:r>
                <a:rPr lang="en-US" sz="2200" b="1" kern="0" spc="176">
                  <a:solidFill>
                    <a:srgbClr val="9C7A2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03 · GEOCODIFICAR</a:t>
              </a:r>
              <a:endParaRPr lang="en-US" sz="2200"/>
            </a:p>
          </p:txBody>
        </p:sp>
        <p:sp>
          <p:nvSpPr>
            <p:cNvPr id="38" name="Text 36"/>
            <p:cNvSpPr/>
            <p:nvPr/>
          </p:nvSpPr>
          <p:spPr>
            <a:xfrm>
              <a:off x="9546208" y="2979222"/>
              <a:ext cx="3532062" cy="252413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buNone/>
              </a:pPr>
              <a:r>
                <a:rPr lang="en-US" b="1" kern="0" spc="-7">
                  <a:solidFill>
                    <a:srgbClr val="0A1F44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Pegar dirección a mano</a:t>
              </a:r>
              <a:endParaRPr lang="en-US"/>
            </a:p>
          </p:txBody>
        </p:sp>
        <p:sp>
          <p:nvSpPr>
            <p:cNvPr id="39" name="Text 37"/>
            <p:cNvSpPr/>
            <p:nvPr/>
          </p:nvSpPr>
          <p:spPr>
            <a:xfrm>
              <a:off x="9546208" y="3415995"/>
              <a:ext cx="3532062" cy="1044458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lnSpc>
                  <a:spcPct val="155000"/>
                </a:lnSpc>
                <a:buNone/>
              </a:pPr>
              <a:r>
                <a:rPr lang="en-US" err="1">
                  <a:solidFill>
                    <a:srgbClr val="2A324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Conversión</a:t>
              </a:r>
              <a:r>
                <a:rPr lang="en-US">
                  <a:solidFill>
                    <a:srgbClr val="2A324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manual de </a:t>
              </a:r>
              <a:r>
                <a:rPr lang="en-US" err="1">
                  <a:solidFill>
                    <a:srgbClr val="2A324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dirección</a:t>
              </a:r>
              <a:r>
                <a:rPr lang="en-US">
                  <a:solidFill>
                    <a:srgbClr val="2A324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postal a </a:t>
              </a:r>
              <a:r>
                <a:rPr lang="en-US" err="1">
                  <a:solidFill>
                    <a:srgbClr val="2A324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lat</a:t>
              </a:r>
              <a:r>
                <a:rPr lang="en-US">
                  <a:solidFill>
                    <a:srgbClr val="2A324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/</a:t>
              </a:r>
              <a:r>
                <a:rPr lang="en-US" err="1">
                  <a:solidFill>
                    <a:srgbClr val="2A324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lon</a:t>
              </a:r>
              <a:r>
                <a:rPr lang="en-US">
                  <a:solidFill>
                    <a:srgbClr val="2A324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</a:t>
              </a:r>
              <a:r>
                <a:rPr lang="en-US" err="1">
                  <a:solidFill>
                    <a:srgbClr val="2A324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en</a:t>
              </a:r>
              <a:r>
                <a:rPr lang="en-US">
                  <a:solidFill>
                    <a:srgbClr val="2A324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</a:t>
              </a:r>
              <a:r>
                <a:rPr lang="en-US" err="1">
                  <a:solidFill>
                    <a:srgbClr val="2A324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mapas</a:t>
              </a:r>
              <a:r>
                <a:rPr lang="en-US">
                  <a:solidFill>
                    <a:srgbClr val="2A324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.</a:t>
              </a:r>
              <a:endParaRPr lang="en-US"/>
            </a:p>
          </p:txBody>
        </p:sp>
        <p:sp>
          <p:nvSpPr>
            <p:cNvPr id="40" name="Shape 38"/>
            <p:cNvSpPr/>
            <p:nvPr/>
          </p:nvSpPr>
          <p:spPr>
            <a:xfrm>
              <a:off x="9546208" y="3855838"/>
              <a:ext cx="3429186" cy="11906"/>
            </a:xfrm>
            <a:prstGeom prst="rect">
              <a:avLst/>
            </a:prstGeom>
            <a:solidFill>
              <a:srgbClr val="D9DEE9"/>
            </a:solidFill>
            <a:ln/>
          </p:spPr>
          <p:txBody>
            <a:bodyPr/>
            <a:lstStyle/>
            <a:p>
              <a:endParaRPr lang="es-ES_tradnl"/>
            </a:p>
          </p:txBody>
        </p:sp>
        <p:sp>
          <p:nvSpPr>
            <p:cNvPr id="41" name="Text 39"/>
            <p:cNvSpPr/>
            <p:nvPr/>
          </p:nvSpPr>
          <p:spPr>
            <a:xfrm>
              <a:off x="9546208" y="4637874"/>
              <a:ext cx="3532062" cy="192732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buNone/>
              </a:pPr>
              <a:r>
                <a:rPr lang="en-US" b="1">
                  <a:solidFill>
                    <a:srgbClr val="B9384A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⚠ </a:t>
              </a:r>
              <a:r>
                <a:rPr lang="en-US" b="1" err="1">
                  <a:solidFill>
                    <a:srgbClr val="B9384A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Errores</a:t>
              </a:r>
              <a:r>
                <a:rPr lang="en-US" b="1">
                  <a:solidFill>
                    <a:srgbClr val="B9384A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 </a:t>
              </a:r>
              <a:r>
                <a:rPr lang="en-US" b="1" err="1">
                  <a:solidFill>
                    <a:srgbClr val="B9384A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tipográficos</a:t>
              </a:r>
              <a:endParaRPr lang="en-US" b="1"/>
            </a:p>
          </p:txBody>
        </p:sp>
        <p:sp>
          <p:nvSpPr>
            <p:cNvPr id="42" name="Shape 40"/>
            <p:cNvSpPr/>
            <p:nvPr/>
          </p:nvSpPr>
          <p:spPr>
            <a:xfrm>
              <a:off x="13463364" y="2324397"/>
              <a:ext cx="4062636" cy="2819102"/>
            </a:xfrm>
            <a:prstGeom prst="roundRect">
              <a:avLst>
                <a:gd name="adj" fmla="val 1774"/>
              </a:avLst>
            </a:prstGeom>
            <a:solidFill>
              <a:srgbClr val="FFFFFF"/>
            </a:solidFill>
            <a:ln/>
            <a:effectLst>
              <a:outerShdw blurRad="101600" dist="25400" dir="5400000" algn="tl" rotWithShape="0">
                <a:srgbClr val="000000">
                  <a:alpha val="18000"/>
                </a:srgbClr>
              </a:outerShdw>
            </a:effectLst>
          </p:spPr>
          <p:txBody>
            <a:bodyPr/>
            <a:lstStyle/>
            <a:p>
              <a:endParaRPr lang="es-ES_tradnl"/>
            </a:p>
          </p:txBody>
        </p:sp>
        <p:sp>
          <p:nvSpPr>
            <p:cNvPr id="43" name="Shape 41"/>
            <p:cNvSpPr/>
            <p:nvPr/>
          </p:nvSpPr>
          <p:spPr>
            <a:xfrm>
              <a:off x="13463364" y="4460453"/>
              <a:ext cx="4062636" cy="11906"/>
            </a:xfrm>
            <a:prstGeom prst="rect">
              <a:avLst/>
            </a:prstGeom>
            <a:solidFill>
              <a:srgbClr val="D9DEE9"/>
            </a:solidFill>
            <a:ln/>
          </p:spPr>
          <p:txBody>
            <a:bodyPr/>
            <a:lstStyle/>
            <a:p>
              <a:endParaRPr lang="es-ES_tradnl"/>
            </a:p>
          </p:txBody>
        </p:sp>
        <p:sp>
          <p:nvSpPr>
            <p:cNvPr id="44" name="Shape 42"/>
            <p:cNvSpPr/>
            <p:nvPr/>
          </p:nvSpPr>
          <p:spPr>
            <a:xfrm>
              <a:off x="13463364" y="2324397"/>
              <a:ext cx="4062636" cy="23813"/>
            </a:xfrm>
            <a:prstGeom prst="rect">
              <a:avLst/>
            </a:prstGeom>
            <a:solidFill>
              <a:srgbClr val="18386F"/>
            </a:solidFill>
            <a:ln/>
          </p:spPr>
          <p:txBody>
            <a:bodyPr/>
            <a:lstStyle/>
            <a:p>
              <a:endParaRPr lang="es-ES_tradnl"/>
            </a:p>
          </p:txBody>
        </p:sp>
        <p:sp>
          <p:nvSpPr>
            <p:cNvPr id="45" name="Shape 43"/>
            <p:cNvSpPr/>
            <p:nvPr/>
          </p:nvSpPr>
          <p:spPr>
            <a:xfrm>
              <a:off x="13463364" y="2324397"/>
              <a:ext cx="11906" cy="2147962"/>
            </a:xfrm>
            <a:prstGeom prst="rect">
              <a:avLst/>
            </a:prstGeom>
            <a:solidFill>
              <a:srgbClr val="D9DEE9"/>
            </a:solidFill>
            <a:ln/>
          </p:spPr>
          <p:txBody>
            <a:bodyPr/>
            <a:lstStyle/>
            <a:p>
              <a:endParaRPr lang="es-ES_tradnl"/>
            </a:p>
          </p:txBody>
        </p:sp>
        <p:sp>
          <p:nvSpPr>
            <p:cNvPr id="46" name="Shape 44"/>
            <p:cNvSpPr/>
            <p:nvPr/>
          </p:nvSpPr>
          <p:spPr>
            <a:xfrm>
              <a:off x="17514094" y="2324397"/>
              <a:ext cx="11906" cy="2147962"/>
            </a:xfrm>
            <a:prstGeom prst="rect">
              <a:avLst/>
            </a:prstGeom>
            <a:solidFill>
              <a:srgbClr val="D9DEE9"/>
            </a:solidFill>
            <a:ln/>
          </p:spPr>
          <p:txBody>
            <a:bodyPr/>
            <a:lstStyle/>
            <a:p>
              <a:endParaRPr lang="es-ES_tradnl"/>
            </a:p>
          </p:txBody>
        </p:sp>
        <p:sp>
          <p:nvSpPr>
            <p:cNvPr id="47" name="Text 45"/>
            <p:cNvSpPr/>
            <p:nvPr/>
          </p:nvSpPr>
          <p:spPr>
            <a:xfrm>
              <a:off x="13779996" y="2652935"/>
              <a:ext cx="3532253" cy="192881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buNone/>
              </a:pPr>
              <a:r>
                <a:rPr lang="en-US" sz="2200" b="1" kern="0" spc="176">
                  <a:solidFill>
                    <a:srgbClr val="9C7A2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04 · VALIDAR</a:t>
              </a:r>
              <a:endParaRPr lang="en-US" sz="2200"/>
            </a:p>
          </p:txBody>
        </p:sp>
        <p:sp>
          <p:nvSpPr>
            <p:cNvPr id="48" name="Text 46"/>
            <p:cNvSpPr/>
            <p:nvPr/>
          </p:nvSpPr>
          <p:spPr>
            <a:xfrm>
              <a:off x="13779996" y="2979222"/>
              <a:ext cx="3532253" cy="252413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buNone/>
              </a:pPr>
              <a:r>
                <a:rPr lang="en-US" b="1" kern="0" spc="-7">
                  <a:solidFill>
                    <a:srgbClr val="0A1F44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¿Sigue operativo?</a:t>
              </a:r>
              <a:endParaRPr lang="en-US"/>
            </a:p>
          </p:txBody>
        </p:sp>
        <p:sp>
          <p:nvSpPr>
            <p:cNvPr id="49" name="Text 47"/>
            <p:cNvSpPr/>
            <p:nvPr/>
          </p:nvSpPr>
          <p:spPr>
            <a:xfrm>
              <a:off x="13779996" y="3250480"/>
              <a:ext cx="3532253" cy="1375488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lnSpc>
                  <a:spcPct val="155000"/>
                </a:lnSpc>
                <a:buNone/>
              </a:pPr>
              <a:r>
                <a:rPr lang="en-US" err="1">
                  <a:solidFill>
                    <a:srgbClr val="2A324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Verificar</a:t>
              </a:r>
              <a:r>
                <a:rPr lang="en-US">
                  <a:solidFill>
                    <a:srgbClr val="2A324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</a:t>
              </a:r>
              <a:r>
                <a:rPr lang="en-US" err="1">
                  <a:solidFill>
                    <a:srgbClr val="2A324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vigencia</a:t>
              </a:r>
              <a:r>
                <a:rPr lang="en-US">
                  <a:solidFill>
                    <a:srgbClr val="2A324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, </a:t>
              </a:r>
              <a:r>
                <a:rPr lang="en-US" err="1">
                  <a:solidFill>
                    <a:srgbClr val="2A324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categoría</a:t>
              </a:r>
              <a:r>
                <a:rPr lang="en-US">
                  <a:solidFill>
                    <a:srgbClr val="2A324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</a:t>
              </a:r>
              <a:r>
                <a:rPr lang="en-US" err="1">
                  <a:solidFill>
                    <a:srgbClr val="2A324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correcta</a:t>
              </a:r>
              <a:r>
                <a:rPr lang="en-US">
                  <a:solidFill>
                    <a:srgbClr val="2A324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y </a:t>
              </a:r>
              <a:r>
                <a:rPr lang="en-US" err="1">
                  <a:solidFill>
                    <a:srgbClr val="2A324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pertenencia</a:t>
              </a:r>
              <a:r>
                <a:rPr lang="en-US">
                  <a:solidFill>
                    <a:srgbClr val="2A324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real al </a:t>
              </a:r>
              <a:r>
                <a:rPr lang="en-US" err="1">
                  <a:solidFill>
                    <a:srgbClr val="2A324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grupo</a:t>
              </a:r>
              <a:r>
                <a:rPr lang="en-US">
                  <a:solidFill>
                    <a:srgbClr val="2A324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.</a:t>
              </a:r>
              <a:endParaRPr lang="en-US"/>
            </a:p>
          </p:txBody>
        </p:sp>
        <p:sp>
          <p:nvSpPr>
            <p:cNvPr id="50" name="Shape 48"/>
            <p:cNvSpPr/>
            <p:nvPr/>
          </p:nvSpPr>
          <p:spPr>
            <a:xfrm>
              <a:off x="13779996" y="3855838"/>
              <a:ext cx="3429372" cy="11906"/>
            </a:xfrm>
            <a:prstGeom prst="rect">
              <a:avLst/>
            </a:prstGeom>
            <a:solidFill>
              <a:srgbClr val="D9DEE9"/>
            </a:solidFill>
            <a:ln/>
          </p:spPr>
          <p:txBody>
            <a:bodyPr/>
            <a:lstStyle/>
            <a:p>
              <a:endParaRPr lang="es-ES_tradnl"/>
            </a:p>
          </p:txBody>
        </p:sp>
        <p:sp>
          <p:nvSpPr>
            <p:cNvPr id="51" name="Text 49"/>
            <p:cNvSpPr/>
            <p:nvPr/>
          </p:nvSpPr>
          <p:spPr>
            <a:xfrm>
              <a:off x="13809284" y="4637874"/>
              <a:ext cx="3532253" cy="192732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buNone/>
              </a:pPr>
              <a:r>
                <a:rPr lang="en-US" b="1">
                  <a:solidFill>
                    <a:srgbClr val="B9384A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⚠ Activos </a:t>
              </a:r>
              <a:r>
                <a:rPr lang="en-US" b="1" err="1">
                  <a:solidFill>
                    <a:srgbClr val="B9384A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cerrados</a:t>
              </a:r>
              <a:endParaRPr lang="en-US" b="1"/>
            </a:p>
          </p:txBody>
        </p:sp>
        <p:sp>
          <p:nvSpPr>
            <p:cNvPr id="9004" name="Right Arrow 9003"/>
            <p:cNvSpPr/>
            <p:nvPr/>
          </p:nvSpPr>
          <p:spPr>
            <a:xfrm>
              <a:off x="4773168" y="3263547"/>
              <a:ext cx="274320" cy="329184"/>
            </a:xfrm>
            <a:prstGeom prst="rightArrow">
              <a:avLst/>
            </a:prstGeom>
            <a:solidFill>
              <a:srgbClr val="1F386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005" name="Right Arrow 9004"/>
            <p:cNvSpPr/>
            <p:nvPr/>
          </p:nvSpPr>
          <p:spPr>
            <a:xfrm>
              <a:off x="9006840" y="3263547"/>
              <a:ext cx="274320" cy="329184"/>
            </a:xfrm>
            <a:prstGeom prst="rightArrow">
              <a:avLst/>
            </a:prstGeom>
            <a:solidFill>
              <a:srgbClr val="1F386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006" name="Right Arrow 9005"/>
            <p:cNvSpPr/>
            <p:nvPr/>
          </p:nvSpPr>
          <p:spPr>
            <a:xfrm>
              <a:off x="13240511" y="3263547"/>
              <a:ext cx="274320" cy="329184"/>
            </a:xfrm>
            <a:prstGeom prst="rightArrow">
              <a:avLst/>
            </a:prstGeom>
            <a:solidFill>
              <a:srgbClr val="1F386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E96B9C04-BAF7-0777-DF1F-7732A78BC94B}"/>
              </a:ext>
            </a:extLst>
          </p:cNvPr>
          <p:cNvGrpSpPr/>
          <p:nvPr/>
        </p:nvGrpSpPr>
        <p:grpSpPr>
          <a:xfrm>
            <a:off x="664332" y="6867665"/>
            <a:ext cx="16764000" cy="2280271"/>
            <a:chOff x="750094" y="5682332"/>
            <a:chExt cx="16764000" cy="2280271"/>
          </a:xfrm>
        </p:grpSpPr>
        <p:sp>
          <p:nvSpPr>
            <p:cNvPr id="52" name="Shape 50"/>
            <p:cNvSpPr/>
            <p:nvPr/>
          </p:nvSpPr>
          <p:spPr>
            <a:xfrm>
              <a:off x="750094" y="5682332"/>
              <a:ext cx="5435575" cy="2280271"/>
            </a:xfrm>
            <a:prstGeom prst="roundRect">
              <a:avLst>
                <a:gd name="adj" fmla="val 1849"/>
              </a:avLst>
            </a:prstGeom>
            <a:solidFill>
              <a:srgbClr val="0A1F44"/>
            </a:solidFill>
            <a:ln w="11906">
              <a:solidFill>
                <a:srgbClr val="0A1F44"/>
              </a:solidFill>
              <a:prstDash val="solid"/>
            </a:ln>
            <a:effectLst>
              <a:outerShdw blurRad="101600" dist="25400" dir="5400000" algn="tl" rotWithShape="0">
                <a:srgbClr val="000000">
                  <a:alpha val="18000"/>
                </a:srgbClr>
              </a:outerShdw>
            </a:effectLst>
          </p:spPr>
          <p:txBody>
            <a:bodyPr/>
            <a:lstStyle/>
            <a:p>
              <a:endParaRPr lang="es-ES_tradnl"/>
            </a:p>
          </p:txBody>
        </p:sp>
        <p:sp>
          <p:nvSpPr>
            <p:cNvPr id="53" name="Text 51"/>
            <p:cNvSpPr/>
            <p:nvPr/>
          </p:nvSpPr>
          <p:spPr>
            <a:xfrm>
              <a:off x="1066726" y="5998964"/>
              <a:ext cx="4946381" cy="192881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buNone/>
              </a:pPr>
              <a:r>
                <a:rPr lang="en-US" sz="2200" b="1" kern="0" spc="176">
                  <a:solidFill>
                    <a:srgbClr val="D1AE6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TIEMPO</a:t>
              </a:r>
              <a:endParaRPr lang="en-US" sz="2200"/>
            </a:p>
          </p:txBody>
        </p:sp>
        <p:sp>
          <p:nvSpPr>
            <p:cNvPr id="54" name="Text 52"/>
            <p:cNvSpPr/>
            <p:nvPr/>
          </p:nvSpPr>
          <p:spPr>
            <a:xfrm>
              <a:off x="1044636" y="6367353"/>
              <a:ext cx="2286000" cy="647737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fontScale="85000" lnSpcReduction="20000"/>
            </a:bodyPr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en-US" sz="5600" b="1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2–4</a:t>
              </a:r>
              <a:endParaRPr lang="en-US" sz="4800"/>
            </a:p>
          </p:txBody>
        </p:sp>
        <p:sp>
          <p:nvSpPr>
            <p:cNvPr id="55" name="Text 53"/>
            <p:cNvSpPr/>
            <p:nvPr/>
          </p:nvSpPr>
          <p:spPr>
            <a:xfrm>
              <a:off x="2227399" y="6637064"/>
              <a:ext cx="1315194" cy="2286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fontScale="92500" lnSpcReduction="10000"/>
            </a:bodyPr>
            <a:lstStyle/>
            <a:p>
              <a:pPr marL="0" indent="0" algn="l">
                <a:buNone/>
              </a:pPr>
              <a:r>
                <a:rPr lang="en-US" sz="1350">
                  <a:solidFill>
                    <a:srgbClr val="D1AE6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horas / empresa</a:t>
              </a:r>
              <a:endParaRPr lang="en-US" sz="1350"/>
            </a:p>
          </p:txBody>
        </p:sp>
        <p:sp>
          <p:nvSpPr>
            <p:cNvPr id="56" name="Text 54"/>
            <p:cNvSpPr/>
            <p:nvPr/>
          </p:nvSpPr>
          <p:spPr>
            <a:xfrm>
              <a:off x="1044636" y="6961232"/>
              <a:ext cx="5276322" cy="302046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lnSpc>
                  <a:spcPct val="155000"/>
                </a:lnSpc>
                <a:buNone/>
              </a:pPr>
              <a:r>
                <a:rPr lang="en-US">
                  <a:solidFill>
                    <a:srgbClr val="FFFFFF">
                      <a:alpha val="72000"/>
                    </a:srgbClr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Para </a:t>
              </a:r>
              <a:r>
                <a:rPr lang="en-US" err="1">
                  <a:solidFill>
                    <a:srgbClr val="FFFFFF">
                      <a:alpha val="72000"/>
                    </a:srgbClr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una</a:t>
              </a:r>
              <a:r>
                <a:rPr lang="en-US">
                  <a:solidFill>
                    <a:srgbClr val="FFFFFF">
                      <a:alpha val="72000"/>
                    </a:srgbClr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</a:t>
              </a:r>
              <a:r>
                <a:rPr lang="en-US" err="1">
                  <a:solidFill>
                    <a:srgbClr val="FFFFFF">
                      <a:alpha val="72000"/>
                    </a:srgbClr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cobertura</a:t>
              </a:r>
              <a:r>
                <a:rPr lang="en-US">
                  <a:solidFill>
                    <a:srgbClr val="FFFFFF">
                      <a:alpha val="72000"/>
                    </a:srgbClr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</a:t>
              </a:r>
              <a:r>
                <a:rPr lang="en-US" err="1">
                  <a:solidFill>
                    <a:srgbClr val="FFFFFF">
                      <a:alpha val="72000"/>
                    </a:srgbClr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parcial</a:t>
              </a:r>
              <a:r>
                <a:rPr lang="en-US">
                  <a:solidFill>
                    <a:srgbClr val="FFFFFF">
                      <a:alpha val="72000"/>
                    </a:srgbClr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</a:t>
              </a:r>
              <a:r>
                <a:rPr lang="en-US" err="1">
                  <a:solidFill>
                    <a:srgbClr val="FFFFFF">
                      <a:alpha val="72000"/>
                    </a:srgbClr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estimada</a:t>
              </a:r>
              <a:r>
                <a:rPr lang="en-US">
                  <a:solidFill>
                    <a:srgbClr val="FFFFFF">
                      <a:alpha val="72000"/>
                    </a:srgbClr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del 40–60 % del </a:t>
              </a:r>
              <a:r>
                <a:rPr lang="en-US" err="1">
                  <a:solidFill>
                    <a:srgbClr val="FFFFFF">
                      <a:alpha val="72000"/>
                    </a:srgbClr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patrimonio</a:t>
              </a:r>
              <a:r>
                <a:rPr lang="en-US">
                  <a:solidFill>
                    <a:srgbClr val="FFFFFF">
                      <a:alpha val="72000"/>
                    </a:srgbClr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real.</a:t>
              </a:r>
              <a:endParaRPr lang="en-US"/>
            </a:p>
          </p:txBody>
        </p:sp>
        <p:sp>
          <p:nvSpPr>
            <p:cNvPr id="57" name="Shape 55"/>
            <p:cNvSpPr/>
            <p:nvPr/>
          </p:nvSpPr>
          <p:spPr>
            <a:xfrm>
              <a:off x="6414120" y="5682332"/>
              <a:ext cx="5435761" cy="2280271"/>
            </a:xfrm>
            <a:prstGeom prst="roundRect">
              <a:avLst>
                <a:gd name="adj" fmla="val 1849"/>
              </a:avLst>
            </a:prstGeom>
            <a:solidFill>
              <a:srgbClr val="0A1F44"/>
            </a:solidFill>
            <a:ln w="11906">
              <a:solidFill>
                <a:srgbClr val="0A1F44"/>
              </a:solidFill>
              <a:prstDash val="solid"/>
            </a:ln>
            <a:effectLst>
              <a:outerShdw blurRad="101600" dist="25400" dir="5400000" algn="tl" rotWithShape="0">
                <a:srgbClr val="000000">
                  <a:alpha val="18000"/>
                </a:srgbClr>
              </a:outerShdw>
            </a:effectLst>
          </p:spPr>
          <p:txBody>
            <a:bodyPr/>
            <a:lstStyle/>
            <a:p>
              <a:endParaRPr lang="es-ES_tradnl"/>
            </a:p>
          </p:txBody>
        </p:sp>
        <p:sp>
          <p:nvSpPr>
            <p:cNvPr id="58" name="Text 56"/>
            <p:cNvSpPr/>
            <p:nvPr/>
          </p:nvSpPr>
          <p:spPr>
            <a:xfrm>
              <a:off x="6730752" y="5998964"/>
              <a:ext cx="4946572" cy="192881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buNone/>
              </a:pPr>
              <a:r>
                <a:rPr lang="en-US" sz="2200" b="1" kern="0" spc="176">
                  <a:solidFill>
                    <a:srgbClr val="D1AE6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CALIDAD</a:t>
              </a:r>
              <a:endParaRPr lang="en-US" sz="2200"/>
            </a:p>
          </p:txBody>
        </p:sp>
        <p:sp>
          <p:nvSpPr>
            <p:cNvPr id="59" name="Text 57"/>
            <p:cNvSpPr/>
            <p:nvPr/>
          </p:nvSpPr>
          <p:spPr>
            <a:xfrm>
              <a:off x="6760332" y="6367353"/>
              <a:ext cx="2286000" cy="647737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fontScale="85000" lnSpcReduction="20000"/>
            </a:bodyPr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en-US" sz="5600" b="1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~30%</a:t>
              </a:r>
              <a:endParaRPr lang="en-US" sz="4800"/>
            </a:p>
          </p:txBody>
        </p:sp>
        <p:sp>
          <p:nvSpPr>
            <p:cNvPr id="60" name="Text 58"/>
            <p:cNvSpPr/>
            <p:nvPr/>
          </p:nvSpPr>
          <p:spPr>
            <a:xfrm>
              <a:off x="8541004" y="6643836"/>
              <a:ext cx="1467557" cy="2286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fontScale="92500" lnSpcReduction="10000"/>
            </a:bodyPr>
            <a:lstStyle/>
            <a:p>
              <a:pPr marL="0" indent="0" algn="l">
                <a:buNone/>
              </a:pPr>
              <a:r>
                <a:rPr lang="en-US" sz="1350" err="1">
                  <a:solidFill>
                    <a:srgbClr val="D1AE6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errores</a:t>
              </a:r>
              <a:r>
                <a:rPr lang="en-US" sz="1350">
                  <a:solidFill>
                    <a:srgbClr val="D1AE6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</a:t>
              </a:r>
              <a:r>
                <a:rPr lang="en-US" sz="1350" err="1">
                  <a:solidFill>
                    <a:srgbClr val="D1AE6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frecuentes</a:t>
              </a:r>
              <a:endParaRPr lang="en-US" sz="1350"/>
            </a:p>
          </p:txBody>
        </p:sp>
        <p:sp>
          <p:nvSpPr>
            <p:cNvPr id="61" name="Text 59"/>
            <p:cNvSpPr/>
            <p:nvPr/>
          </p:nvSpPr>
          <p:spPr>
            <a:xfrm>
              <a:off x="6730752" y="6953696"/>
              <a:ext cx="4946572" cy="274179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lnSpc>
                  <a:spcPct val="155000"/>
                </a:lnSpc>
                <a:buNone/>
              </a:pPr>
              <a:r>
                <a:rPr lang="en-US">
                  <a:solidFill>
                    <a:srgbClr val="FFFFFF">
                      <a:alpha val="72000"/>
                    </a:srgbClr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Activos </a:t>
              </a:r>
              <a:r>
                <a:rPr lang="en-US" err="1">
                  <a:solidFill>
                    <a:srgbClr val="FFFFFF">
                      <a:alpha val="72000"/>
                    </a:srgbClr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cerrados</a:t>
              </a:r>
              <a:r>
                <a:rPr lang="en-US">
                  <a:solidFill>
                    <a:srgbClr val="FFFFFF">
                      <a:alpha val="72000"/>
                    </a:srgbClr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, </a:t>
              </a:r>
              <a:r>
                <a:rPr lang="en-US" err="1">
                  <a:solidFill>
                    <a:srgbClr val="FFFFFF">
                      <a:alpha val="72000"/>
                    </a:srgbClr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categoría</a:t>
              </a:r>
              <a:r>
                <a:rPr lang="en-US">
                  <a:solidFill>
                    <a:srgbClr val="FFFFFF">
                      <a:alpha val="72000"/>
                    </a:srgbClr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</a:t>
              </a:r>
              <a:r>
                <a:rPr lang="en-US" err="1">
                  <a:solidFill>
                    <a:srgbClr val="FFFFFF">
                      <a:alpha val="72000"/>
                    </a:srgbClr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incorrecta</a:t>
              </a:r>
              <a:r>
                <a:rPr lang="en-US">
                  <a:solidFill>
                    <a:srgbClr val="FFFFFF">
                      <a:alpha val="72000"/>
                    </a:srgbClr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, </a:t>
              </a:r>
              <a:r>
                <a:rPr lang="en-US" err="1">
                  <a:solidFill>
                    <a:srgbClr val="FFFFFF">
                      <a:alpha val="72000"/>
                    </a:srgbClr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dirección</a:t>
              </a:r>
              <a:r>
                <a:rPr lang="en-US">
                  <a:solidFill>
                    <a:srgbClr val="FFFFFF">
                      <a:alpha val="72000"/>
                    </a:srgbClr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sin </a:t>
              </a:r>
              <a:r>
                <a:rPr lang="en-US" err="1">
                  <a:solidFill>
                    <a:srgbClr val="FFFFFF">
                      <a:alpha val="72000"/>
                    </a:srgbClr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coordenadas</a:t>
              </a:r>
              <a:r>
                <a:rPr lang="en-US">
                  <a:solidFill>
                    <a:srgbClr val="FFFFFF">
                      <a:alpha val="72000"/>
                    </a:srgbClr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.</a:t>
              </a:r>
              <a:endParaRPr lang="en-US"/>
            </a:p>
          </p:txBody>
        </p:sp>
        <p:sp>
          <p:nvSpPr>
            <p:cNvPr id="62" name="Shape 60"/>
            <p:cNvSpPr/>
            <p:nvPr/>
          </p:nvSpPr>
          <p:spPr>
            <a:xfrm>
              <a:off x="12078333" y="5682332"/>
              <a:ext cx="5435761" cy="2280271"/>
            </a:xfrm>
            <a:prstGeom prst="roundRect">
              <a:avLst>
                <a:gd name="adj" fmla="val 1849"/>
              </a:avLst>
            </a:prstGeom>
            <a:solidFill>
              <a:srgbClr val="0A1F44"/>
            </a:solidFill>
            <a:ln w="11906">
              <a:solidFill>
                <a:srgbClr val="0A1F44"/>
              </a:solidFill>
              <a:prstDash val="solid"/>
            </a:ln>
            <a:effectLst>
              <a:outerShdw blurRad="101600" dist="25400" dir="5400000" algn="tl" rotWithShape="0">
                <a:srgbClr val="000000">
                  <a:alpha val="18000"/>
                </a:srgbClr>
              </a:outerShdw>
            </a:effectLst>
          </p:spPr>
          <p:txBody>
            <a:bodyPr/>
            <a:lstStyle/>
            <a:p>
              <a:endParaRPr lang="es-ES_tradnl"/>
            </a:p>
          </p:txBody>
        </p:sp>
        <p:sp>
          <p:nvSpPr>
            <p:cNvPr id="63" name="Text 61"/>
            <p:cNvSpPr/>
            <p:nvPr/>
          </p:nvSpPr>
          <p:spPr>
            <a:xfrm>
              <a:off x="12394965" y="6098938"/>
              <a:ext cx="4946572" cy="192881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buNone/>
              </a:pPr>
              <a:r>
                <a:rPr lang="en-US" sz="2200" b="1" kern="0" spc="176">
                  <a:solidFill>
                    <a:srgbClr val="D1AE6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REPRODUCIBILIDAD</a:t>
              </a:r>
              <a:endParaRPr lang="en-US" sz="2200"/>
            </a:p>
          </p:txBody>
        </p:sp>
        <p:sp>
          <p:nvSpPr>
            <p:cNvPr id="2" name="Text 61">
              <a:extLst>
                <a:ext uri="{FF2B5EF4-FFF2-40B4-BE49-F238E27FC236}">
                  <a16:creationId xmlns:a16="http://schemas.microsoft.com/office/drawing/2014/main" id="{5E51B5AE-91FB-45D2-AF20-39A70FA7CEFE}"/>
                </a:ext>
              </a:extLst>
            </p:cNvPr>
            <p:cNvSpPr/>
            <p:nvPr/>
          </p:nvSpPr>
          <p:spPr>
            <a:xfrm>
              <a:off x="12394965" y="6565493"/>
              <a:ext cx="4946572" cy="192881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buNone/>
              </a:pPr>
              <a:r>
                <a:rPr lang="en-US" sz="2200" b="1" kern="0" spc="176">
                  <a:solidFill>
                    <a:srgbClr val="D1AE6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COBERTURA PARCIAL</a:t>
              </a:r>
              <a:endParaRPr lang="en-US" sz="2200"/>
            </a:p>
          </p:txBody>
        </p:sp>
        <p:sp>
          <p:nvSpPr>
            <p:cNvPr id="3" name="Text 61">
              <a:extLst>
                <a:ext uri="{FF2B5EF4-FFF2-40B4-BE49-F238E27FC236}">
                  <a16:creationId xmlns:a16="http://schemas.microsoft.com/office/drawing/2014/main" id="{ADFB3773-D48D-791A-BAE5-5E91926A7504}"/>
                </a:ext>
              </a:extLst>
            </p:cNvPr>
            <p:cNvSpPr/>
            <p:nvPr/>
          </p:nvSpPr>
          <p:spPr>
            <a:xfrm>
              <a:off x="12394965" y="7053670"/>
              <a:ext cx="4946572" cy="192881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buNone/>
              </a:pPr>
              <a:r>
                <a:rPr lang="en-US" sz="2200" b="1" kern="0" spc="176">
                  <a:solidFill>
                    <a:srgbClr val="D1AE6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ALTO RIESGO DE ERROR</a:t>
              </a:r>
              <a:endParaRPr lang="en-US" sz="2200"/>
            </a:p>
          </p:txBody>
        </p:sp>
      </p:grpSp>
      <p:sp>
        <p:nvSpPr>
          <p:cNvPr id="8960" name="Text 10">
            <a:extLst>
              <a:ext uri="{FF2B5EF4-FFF2-40B4-BE49-F238E27FC236}">
                <a16:creationId xmlns:a16="http://schemas.microsoft.com/office/drawing/2014/main" id="{FD40552E-790D-834A-1CBC-D35F653F056D}"/>
              </a:ext>
            </a:extLst>
          </p:cNvPr>
          <p:cNvSpPr/>
          <p:nvPr/>
        </p:nvSpPr>
        <p:spPr>
          <a:xfrm>
            <a:off x="673874" y="1683337"/>
            <a:ext cx="16888803" cy="1004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>
              <a:lnSpc>
                <a:spcPct val="155000"/>
              </a:lnSpc>
            </a:pPr>
            <a:r>
              <a:rPr lang="es-ES_tradnl" sz="19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Las nuevas exigencias regulatorias impulsadas por Société Générale obligan a las compañías a incorporar el cálculo de riesgos físicos dentro de sus marcos de gestión de riesgo climático.</a:t>
            </a:r>
            <a:endParaRPr lang="en-US" sz="1900" b="1">
              <a:solidFill>
                <a:srgbClr val="2A3247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l">
              <a:lnSpc>
                <a:spcPct val="155000"/>
              </a:lnSpc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8256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5" name="Rectangle 9004"/>
          <p:cNvSpPr/>
          <p:nvPr/>
        </p:nvSpPr>
        <p:spPr>
          <a:xfrm>
            <a:off x="758952" y="5607475"/>
            <a:ext cx="16760951" cy="42243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04" name="Rectangle 9003"/>
          <p:cNvSpPr/>
          <p:nvPr/>
        </p:nvSpPr>
        <p:spPr>
          <a:xfrm>
            <a:off x="758952" y="4523502"/>
            <a:ext cx="16760951" cy="41446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Shape 10"/>
          <p:cNvSpPr/>
          <p:nvPr/>
        </p:nvSpPr>
        <p:spPr>
          <a:xfrm>
            <a:off x="762000" y="3511042"/>
            <a:ext cx="4023196" cy="35155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>
            <a:endParaRPr lang="es-ES_tradnl"/>
          </a:p>
        </p:txBody>
      </p:sp>
      <p:sp>
        <p:nvSpPr>
          <p:cNvPr id="13" name="Shape 11"/>
          <p:cNvSpPr/>
          <p:nvPr/>
        </p:nvSpPr>
        <p:spPr>
          <a:xfrm>
            <a:off x="762000" y="3852221"/>
            <a:ext cx="4023196" cy="10377"/>
          </a:xfrm>
          <a:prstGeom prst="rect">
            <a:avLst/>
          </a:prstGeom>
          <a:solidFill>
            <a:srgbClr val="E5EAF3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14" name="Text 12"/>
          <p:cNvSpPr/>
          <p:nvPr/>
        </p:nvSpPr>
        <p:spPr>
          <a:xfrm>
            <a:off x="933450" y="3627276"/>
            <a:ext cx="3800992" cy="141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l">
              <a:buNone/>
            </a:pPr>
            <a:r>
              <a:rPr lang="en-US" sz="900" b="1" kern="0" spc="9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 / HERRAMIENTA</a:t>
            </a:r>
            <a:endParaRPr lang="en-US" sz="900"/>
          </a:p>
        </p:txBody>
      </p:sp>
      <p:sp>
        <p:nvSpPr>
          <p:cNvPr id="15" name="Shape 13"/>
          <p:cNvSpPr/>
          <p:nvPr/>
        </p:nvSpPr>
        <p:spPr>
          <a:xfrm>
            <a:off x="4785196" y="3511042"/>
            <a:ext cx="1850120" cy="35155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>
            <a:endParaRPr lang="es-ES_tradnl"/>
          </a:p>
        </p:txBody>
      </p:sp>
      <p:sp>
        <p:nvSpPr>
          <p:cNvPr id="16" name="Shape 14"/>
          <p:cNvSpPr/>
          <p:nvPr/>
        </p:nvSpPr>
        <p:spPr>
          <a:xfrm>
            <a:off x="4785196" y="3852221"/>
            <a:ext cx="1850120" cy="10377"/>
          </a:xfrm>
          <a:prstGeom prst="rect">
            <a:avLst/>
          </a:prstGeom>
          <a:solidFill>
            <a:srgbClr val="E5EAF3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17" name="Text 15"/>
          <p:cNvSpPr/>
          <p:nvPr/>
        </p:nvSpPr>
        <p:spPr>
          <a:xfrm>
            <a:off x="4956646" y="3627276"/>
            <a:ext cx="1583420" cy="141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l">
              <a:buNone/>
            </a:pPr>
            <a:r>
              <a:rPr lang="en-US" sz="900" b="1" kern="0" spc="9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COBERTURA</a:t>
            </a:r>
            <a:endParaRPr lang="en-US" sz="900"/>
          </a:p>
        </p:txBody>
      </p:sp>
      <p:sp>
        <p:nvSpPr>
          <p:cNvPr id="18" name="Shape 16"/>
          <p:cNvSpPr/>
          <p:nvPr/>
        </p:nvSpPr>
        <p:spPr>
          <a:xfrm>
            <a:off x="6635316" y="3511042"/>
            <a:ext cx="2487848" cy="35155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>
            <a:endParaRPr lang="es-ES_tradnl"/>
          </a:p>
        </p:txBody>
      </p:sp>
      <p:sp>
        <p:nvSpPr>
          <p:cNvPr id="19" name="Shape 17"/>
          <p:cNvSpPr/>
          <p:nvPr/>
        </p:nvSpPr>
        <p:spPr>
          <a:xfrm>
            <a:off x="6635316" y="3852221"/>
            <a:ext cx="2487848" cy="10377"/>
          </a:xfrm>
          <a:prstGeom prst="rect">
            <a:avLst/>
          </a:prstGeom>
          <a:solidFill>
            <a:srgbClr val="E5EAF3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20" name="Text 18"/>
          <p:cNvSpPr/>
          <p:nvPr/>
        </p:nvSpPr>
        <p:spPr>
          <a:xfrm>
            <a:off x="6806766" y="3627276"/>
            <a:ext cx="2221148" cy="141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l">
              <a:buNone/>
            </a:pPr>
            <a:r>
              <a:rPr lang="en-US" sz="900" b="1" kern="0" spc="9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GEOLOCALIZACIÓN</a:t>
            </a:r>
            <a:endParaRPr lang="en-US" sz="900"/>
          </a:p>
        </p:txBody>
      </p:sp>
      <p:sp>
        <p:nvSpPr>
          <p:cNvPr id="21" name="Shape 19"/>
          <p:cNvSpPr/>
          <p:nvPr/>
        </p:nvSpPr>
        <p:spPr>
          <a:xfrm>
            <a:off x="9123164" y="3511042"/>
            <a:ext cx="3408908" cy="35155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>
            <a:endParaRPr lang="es-ES_tradnl"/>
          </a:p>
        </p:txBody>
      </p:sp>
      <p:sp>
        <p:nvSpPr>
          <p:cNvPr id="22" name="Shape 20"/>
          <p:cNvSpPr/>
          <p:nvPr/>
        </p:nvSpPr>
        <p:spPr>
          <a:xfrm>
            <a:off x="9123164" y="3852221"/>
            <a:ext cx="3408908" cy="10377"/>
          </a:xfrm>
          <a:prstGeom prst="rect">
            <a:avLst/>
          </a:prstGeom>
          <a:solidFill>
            <a:srgbClr val="E5EAF3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23" name="Text 21"/>
          <p:cNvSpPr/>
          <p:nvPr/>
        </p:nvSpPr>
        <p:spPr>
          <a:xfrm>
            <a:off x="9294614" y="3627276"/>
            <a:ext cx="3168275" cy="141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l">
              <a:buNone/>
            </a:pPr>
            <a:r>
              <a:rPr lang="en-US" sz="900" b="1" kern="0" spc="9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FILTRA ACTIVOS PRODUCTIVOS</a:t>
            </a:r>
            <a:endParaRPr lang="en-US" sz="900"/>
          </a:p>
        </p:txBody>
      </p:sp>
      <p:sp>
        <p:nvSpPr>
          <p:cNvPr id="24" name="Shape 22"/>
          <p:cNvSpPr/>
          <p:nvPr/>
        </p:nvSpPr>
        <p:spPr>
          <a:xfrm>
            <a:off x="12532072" y="3511042"/>
            <a:ext cx="2813410" cy="35155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>
            <a:endParaRPr lang="es-ES_tradnl"/>
          </a:p>
        </p:txBody>
      </p:sp>
      <p:sp>
        <p:nvSpPr>
          <p:cNvPr id="25" name="Shape 23"/>
          <p:cNvSpPr/>
          <p:nvPr/>
        </p:nvSpPr>
        <p:spPr>
          <a:xfrm>
            <a:off x="12532072" y="3852221"/>
            <a:ext cx="2813410" cy="10377"/>
          </a:xfrm>
          <a:prstGeom prst="rect">
            <a:avLst/>
          </a:prstGeom>
          <a:solidFill>
            <a:srgbClr val="E5EAF3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26" name="Text 24"/>
          <p:cNvSpPr/>
          <p:nvPr/>
        </p:nvSpPr>
        <p:spPr>
          <a:xfrm>
            <a:off x="12703522" y="3627276"/>
            <a:ext cx="2554912" cy="141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l">
              <a:buNone/>
            </a:pPr>
            <a:r>
              <a:rPr lang="en-US" sz="900" b="1" kern="0" spc="9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SCORING DE CONFIANZA</a:t>
            </a:r>
            <a:endParaRPr lang="en-US" sz="900"/>
          </a:p>
        </p:txBody>
      </p:sp>
      <p:sp>
        <p:nvSpPr>
          <p:cNvPr id="27" name="Shape 25"/>
          <p:cNvSpPr/>
          <p:nvPr/>
        </p:nvSpPr>
        <p:spPr>
          <a:xfrm>
            <a:off x="15345482" y="3511042"/>
            <a:ext cx="2180518" cy="35155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>
            <a:endParaRPr lang="es-ES_tradnl"/>
          </a:p>
        </p:txBody>
      </p:sp>
      <p:sp>
        <p:nvSpPr>
          <p:cNvPr id="28" name="Shape 26"/>
          <p:cNvSpPr/>
          <p:nvPr/>
        </p:nvSpPr>
        <p:spPr>
          <a:xfrm>
            <a:off x="15345482" y="3852221"/>
            <a:ext cx="2180518" cy="10377"/>
          </a:xfrm>
          <a:prstGeom prst="rect">
            <a:avLst/>
          </a:prstGeom>
          <a:solidFill>
            <a:srgbClr val="E5EAF3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29" name="Text 27"/>
          <p:cNvSpPr/>
          <p:nvPr/>
        </p:nvSpPr>
        <p:spPr>
          <a:xfrm>
            <a:off x="15516932" y="3627276"/>
            <a:ext cx="1913818" cy="141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l">
              <a:buNone/>
            </a:pPr>
            <a:r>
              <a:rPr lang="en-US" sz="900" b="1" kern="0" spc="9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AUTOMATIZACIÓN</a:t>
            </a:r>
            <a:endParaRPr lang="en-US" sz="900"/>
          </a:p>
        </p:txBody>
      </p:sp>
      <p:sp>
        <p:nvSpPr>
          <p:cNvPr id="30" name="Shape 28"/>
          <p:cNvSpPr/>
          <p:nvPr/>
        </p:nvSpPr>
        <p:spPr>
          <a:xfrm>
            <a:off x="762000" y="4395775"/>
            <a:ext cx="4023196" cy="10377"/>
          </a:xfrm>
          <a:prstGeom prst="rect">
            <a:avLst/>
          </a:prstGeom>
          <a:solidFill>
            <a:srgbClr val="E8ECF3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31" name="Text 29"/>
          <p:cNvSpPr/>
          <p:nvPr/>
        </p:nvSpPr>
        <p:spPr>
          <a:xfrm>
            <a:off x="933450" y="3978835"/>
            <a:ext cx="3800992" cy="3339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>
                <a:solidFill>
                  <a:srgbClr val="0E14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Fuentes públicas </a:t>
            </a:r>
            <a:r>
              <a:rPr lang="en-US" sz="975">
                <a:solidFill>
                  <a:srgbClr val="5C65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CNAE, Reg. Mercantil</a:t>
            </a:r>
            <a:endParaRPr lang="en-US" sz="1125"/>
          </a:p>
        </p:txBody>
      </p:sp>
      <p:sp>
        <p:nvSpPr>
          <p:cNvPr id="32" name="Shape 30"/>
          <p:cNvSpPr/>
          <p:nvPr/>
        </p:nvSpPr>
        <p:spPr>
          <a:xfrm>
            <a:off x="4785196" y="4395775"/>
            <a:ext cx="1850120" cy="10377"/>
          </a:xfrm>
          <a:prstGeom prst="rect">
            <a:avLst/>
          </a:prstGeom>
          <a:solidFill>
            <a:srgbClr val="E8ECF3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33" name="Text 31"/>
          <p:cNvSpPr/>
          <p:nvPr/>
        </p:nvSpPr>
        <p:spPr>
          <a:xfrm>
            <a:off x="4956646" y="3978835"/>
            <a:ext cx="1583420" cy="3339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>
                <a:solidFill>
                  <a:srgbClr val="9C7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◐ Parcial</a:t>
            </a:r>
            <a:endParaRPr lang="en-US" sz="1125"/>
          </a:p>
        </p:txBody>
      </p:sp>
      <p:sp>
        <p:nvSpPr>
          <p:cNvPr id="34" name="Shape 32"/>
          <p:cNvSpPr/>
          <p:nvPr/>
        </p:nvSpPr>
        <p:spPr>
          <a:xfrm>
            <a:off x="6635316" y="4395775"/>
            <a:ext cx="2487848" cy="10377"/>
          </a:xfrm>
          <a:prstGeom prst="rect">
            <a:avLst/>
          </a:prstGeom>
          <a:solidFill>
            <a:srgbClr val="E8ECF3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35" name="Text 33"/>
          <p:cNvSpPr/>
          <p:nvPr/>
        </p:nvSpPr>
        <p:spPr>
          <a:xfrm>
            <a:off x="6806766" y="3978835"/>
            <a:ext cx="2221148" cy="3339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>
                <a:solidFill>
                  <a:srgbClr val="B938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Solo dirección</a:t>
            </a:r>
            <a:endParaRPr lang="en-US" sz="1125"/>
          </a:p>
        </p:txBody>
      </p:sp>
      <p:sp>
        <p:nvSpPr>
          <p:cNvPr id="36" name="Shape 34"/>
          <p:cNvSpPr/>
          <p:nvPr/>
        </p:nvSpPr>
        <p:spPr>
          <a:xfrm>
            <a:off x="9123164" y="4395775"/>
            <a:ext cx="3408908" cy="10377"/>
          </a:xfrm>
          <a:prstGeom prst="rect">
            <a:avLst/>
          </a:prstGeom>
          <a:solidFill>
            <a:srgbClr val="E8ECF3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37" name="Text 35"/>
          <p:cNvSpPr/>
          <p:nvPr/>
        </p:nvSpPr>
        <p:spPr>
          <a:xfrm>
            <a:off x="9294614" y="3978835"/>
            <a:ext cx="3168275" cy="3339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>
                <a:solidFill>
                  <a:srgbClr val="B938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125"/>
          </a:p>
        </p:txBody>
      </p:sp>
      <p:sp>
        <p:nvSpPr>
          <p:cNvPr id="38" name="Shape 36"/>
          <p:cNvSpPr/>
          <p:nvPr/>
        </p:nvSpPr>
        <p:spPr>
          <a:xfrm>
            <a:off x="12532072" y="4395775"/>
            <a:ext cx="2813410" cy="10377"/>
          </a:xfrm>
          <a:prstGeom prst="rect">
            <a:avLst/>
          </a:prstGeom>
          <a:solidFill>
            <a:srgbClr val="E8ECF3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39" name="Text 37"/>
          <p:cNvSpPr/>
          <p:nvPr/>
        </p:nvSpPr>
        <p:spPr>
          <a:xfrm>
            <a:off x="12703522" y="3978835"/>
            <a:ext cx="2554912" cy="3339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>
                <a:solidFill>
                  <a:srgbClr val="B938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125"/>
          </a:p>
        </p:txBody>
      </p:sp>
      <p:sp>
        <p:nvSpPr>
          <p:cNvPr id="40" name="Shape 38"/>
          <p:cNvSpPr/>
          <p:nvPr/>
        </p:nvSpPr>
        <p:spPr>
          <a:xfrm>
            <a:off x="15345482" y="4395775"/>
            <a:ext cx="2180518" cy="10377"/>
          </a:xfrm>
          <a:prstGeom prst="rect">
            <a:avLst/>
          </a:prstGeom>
          <a:solidFill>
            <a:srgbClr val="E8ECF3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41" name="Text 39"/>
          <p:cNvSpPr/>
          <p:nvPr/>
        </p:nvSpPr>
        <p:spPr>
          <a:xfrm>
            <a:off x="15516932" y="3978835"/>
            <a:ext cx="1913818" cy="3339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>
                <a:solidFill>
                  <a:srgbClr val="B938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Manual</a:t>
            </a:r>
            <a:endParaRPr lang="en-US" sz="1125"/>
          </a:p>
        </p:txBody>
      </p:sp>
      <p:sp>
        <p:nvSpPr>
          <p:cNvPr id="42" name="Shape 40"/>
          <p:cNvSpPr/>
          <p:nvPr/>
        </p:nvSpPr>
        <p:spPr>
          <a:xfrm>
            <a:off x="762000" y="4939328"/>
            <a:ext cx="4023196" cy="10377"/>
          </a:xfrm>
          <a:prstGeom prst="rect">
            <a:avLst/>
          </a:prstGeom>
          <a:solidFill>
            <a:srgbClr val="E8ECF3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43" name="Text 41"/>
          <p:cNvSpPr/>
          <p:nvPr/>
        </p:nvSpPr>
        <p:spPr>
          <a:xfrm>
            <a:off x="933450" y="4522388"/>
            <a:ext cx="3800992" cy="3339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>
                <a:solidFill>
                  <a:srgbClr val="0E14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Maps API </a:t>
            </a:r>
            <a:r>
              <a:rPr lang="en-US" sz="975">
                <a:solidFill>
                  <a:srgbClr val="5C65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Places + Geocoding</a:t>
            </a:r>
            <a:endParaRPr lang="en-US" sz="1125"/>
          </a:p>
        </p:txBody>
      </p:sp>
      <p:sp>
        <p:nvSpPr>
          <p:cNvPr id="44" name="Shape 42"/>
          <p:cNvSpPr/>
          <p:nvPr/>
        </p:nvSpPr>
        <p:spPr>
          <a:xfrm>
            <a:off x="4785196" y="4939328"/>
            <a:ext cx="1850120" cy="10377"/>
          </a:xfrm>
          <a:prstGeom prst="rect">
            <a:avLst/>
          </a:prstGeom>
          <a:solidFill>
            <a:srgbClr val="E8ECF3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45" name="Text 43"/>
          <p:cNvSpPr/>
          <p:nvPr/>
        </p:nvSpPr>
        <p:spPr>
          <a:xfrm>
            <a:off x="4956646" y="4522388"/>
            <a:ext cx="1583420" cy="3339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>
                <a:solidFill>
                  <a:srgbClr val="2E7D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Amplia</a:t>
            </a:r>
            <a:endParaRPr lang="en-US" sz="1125"/>
          </a:p>
        </p:txBody>
      </p:sp>
      <p:sp>
        <p:nvSpPr>
          <p:cNvPr id="46" name="Shape 44"/>
          <p:cNvSpPr/>
          <p:nvPr/>
        </p:nvSpPr>
        <p:spPr>
          <a:xfrm>
            <a:off x="6635316" y="4939328"/>
            <a:ext cx="2487848" cy="10377"/>
          </a:xfrm>
          <a:prstGeom prst="rect">
            <a:avLst/>
          </a:prstGeom>
          <a:solidFill>
            <a:srgbClr val="E8ECF3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47" name="Text 45"/>
          <p:cNvSpPr/>
          <p:nvPr/>
        </p:nvSpPr>
        <p:spPr>
          <a:xfrm>
            <a:off x="6806766" y="4522388"/>
            <a:ext cx="2221148" cy="3339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>
                <a:solidFill>
                  <a:srgbClr val="2E7D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Lat/Lon</a:t>
            </a:r>
            <a:endParaRPr lang="en-US" sz="1125"/>
          </a:p>
        </p:txBody>
      </p:sp>
      <p:sp>
        <p:nvSpPr>
          <p:cNvPr id="48" name="Shape 46"/>
          <p:cNvSpPr/>
          <p:nvPr/>
        </p:nvSpPr>
        <p:spPr>
          <a:xfrm>
            <a:off x="9123164" y="4939328"/>
            <a:ext cx="3408908" cy="10377"/>
          </a:xfrm>
          <a:prstGeom prst="rect">
            <a:avLst/>
          </a:prstGeom>
          <a:solidFill>
            <a:srgbClr val="E8ECF3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49" name="Text 47"/>
          <p:cNvSpPr/>
          <p:nvPr/>
        </p:nvSpPr>
        <p:spPr>
          <a:xfrm>
            <a:off x="9294614" y="4522388"/>
            <a:ext cx="3168275" cy="3339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>
                <a:solidFill>
                  <a:srgbClr val="B938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Mezcla todo tipo de POI</a:t>
            </a:r>
            <a:endParaRPr lang="en-US" sz="1125"/>
          </a:p>
        </p:txBody>
      </p:sp>
      <p:sp>
        <p:nvSpPr>
          <p:cNvPr id="50" name="Shape 48"/>
          <p:cNvSpPr/>
          <p:nvPr/>
        </p:nvSpPr>
        <p:spPr>
          <a:xfrm>
            <a:off x="12532072" y="4939328"/>
            <a:ext cx="2813410" cy="10377"/>
          </a:xfrm>
          <a:prstGeom prst="rect">
            <a:avLst/>
          </a:prstGeom>
          <a:solidFill>
            <a:srgbClr val="E8ECF3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51" name="Text 49"/>
          <p:cNvSpPr/>
          <p:nvPr/>
        </p:nvSpPr>
        <p:spPr>
          <a:xfrm>
            <a:off x="12703522" y="4522388"/>
            <a:ext cx="2554912" cy="3339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>
                <a:solidFill>
                  <a:srgbClr val="B938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125"/>
          </a:p>
        </p:txBody>
      </p:sp>
      <p:sp>
        <p:nvSpPr>
          <p:cNvPr id="52" name="Shape 50"/>
          <p:cNvSpPr/>
          <p:nvPr/>
        </p:nvSpPr>
        <p:spPr>
          <a:xfrm>
            <a:off x="15345482" y="4939328"/>
            <a:ext cx="2180518" cy="10377"/>
          </a:xfrm>
          <a:prstGeom prst="rect">
            <a:avLst/>
          </a:prstGeom>
          <a:solidFill>
            <a:srgbClr val="E8ECF3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53" name="Text 51"/>
          <p:cNvSpPr/>
          <p:nvPr/>
        </p:nvSpPr>
        <p:spPr>
          <a:xfrm>
            <a:off x="15516932" y="4522388"/>
            <a:ext cx="1913818" cy="3339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>
                <a:solidFill>
                  <a:srgbClr val="9C7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◐ Bruta</a:t>
            </a:r>
            <a:endParaRPr lang="en-US" sz="1125"/>
          </a:p>
        </p:txBody>
      </p:sp>
      <p:sp>
        <p:nvSpPr>
          <p:cNvPr id="54" name="Shape 52"/>
          <p:cNvSpPr/>
          <p:nvPr/>
        </p:nvSpPr>
        <p:spPr>
          <a:xfrm>
            <a:off x="762000" y="5482882"/>
            <a:ext cx="4023196" cy="10377"/>
          </a:xfrm>
          <a:prstGeom prst="rect">
            <a:avLst/>
          </a:prstGeom>
          <a:solidFill>
            <a:srgbClr val="E8ECF3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55" name="Text 53"/>
          <p:cNvSpPr/>
          <p:nvPr/>
        </p:nvSpPr>
        <p:spPr>
          <a:xfrm>
            <a:off x="933450" y="5065941"/>
            <a:ext cx="3800992" cy="3339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>
                <a:solidFill>
                  <a:srgbClr val="0E14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Inteligencia competitiva </a:t>
            </a:r>
            <a:r>
              <a:rPr lang="en-US" sz="975">
                <a:solidFill>
                  <a:srgbClr val="5C65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Bureau van Dijk, Dun &amp; B.</a:t>
            </a:r>
            <a:endParaRPr lang="en-US" sz="1125"/>
          </a:p>
        </p:txBody>
      </p:sp>
      <p:sp>
        <p:nvSpPr>
          <p:cNvPr id="56" name="Shape 54"/>
          <p:cNvSpPr/>
          <p:nvPr/>
        </p:nvSpPr>
        <p:spPr>
          <a:xfrm>
            <a:off x="4785196" y="5482882"/>
            <a:ext cx="1850120" cy="10377"/>
          </a:xfrm>
          <a:prstGeom prst="rect">
            <a:avLst/>
          </a:prstGeom>
          <a:solidFill>
            <a:srgbClr val="E8ECF3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57" name="Text 55"/>
          <p:cNvSpPr/>
          <p:nvPr/>
        </p:nvSpPr>
        <p:spPr>
          <a:xfrm>
            <a:off x="4956646" y="5065941"/>
            <a:ext cx="1583420" cy="3339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>
                <a:solidFill>
                  <a:srgbClr val="2E7D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Amplia</a:t>
            </a:r>
            <a:endParaRPr lang="en-US" sz="1125"/>
          </a:p>
        </p:txBody>
      </p:sp>
      <p:sp>
        <p:nvSpPr>
          <p:cNvPr id="58" name="Shape 56"/>
          <p:cNvSpPr/>
          <p:nvPr/>
        </p:nvSpPr>
        <p:spPr>
          <a:xfrm>
            <a:off x="6635316" y="5482882"/>
            <a:ext cx="2487848" cy="10377"/>
          </a:xfrm>
          <a:prstGeom prst="rect">
            <a:avLst/>
          </a:prstGeom>
          <a:solidFill>
            <a:srgbClr val="E8ECF3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59" name="Text 57"/>
          <p:cNvSpPr/>
          <p:nvPr/>
        </p:nvSpPr>
        <p:spPr>
          <a:xfrm>
            <a:off x="6806766" y="5065941"/>
            <a:ext cx="2221148" cy="3339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>
                <a:solidFill>
                  <a:srgbClr val="9C7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◐ Variable</a:t>
            </a:r>
            <a:endParaRPr lang="en-US" sz="1125"/>
          </a:p>
        </p:txBody>
      </p:sp>
      <p:sp>
        <p:nvSpPr>
          <p:cNvPr id="60" name="Shape 58"/>
          <p:cNvSpPr/>
          <p:nvPr/>
        </p:nvSpPr>
        <p:spPr>
          <a:xfrm>
            <a:off x="9123164" y="5482882"/>
            <a:ext cx="3408908" cy="10377"/>
          </a:xfrm>
          <a:prstGeom prst="rect">
            <a:avLst/>
          </a:prstGeom>
          <a:solidFill>
            <a:srgbClr val="E8ECF3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61" name="Text 59"/>
          <p:cNvSpPr/>
          <p:nvPr/>
        </p:nvSpPr>
        <p:spPr>
          <a:xfrm>
            <a:off x="9294614" y="5065941"/>
            <a:ext cx="3168275" cy="3339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>
                <a:solidFill>
                  <a:srgbClr val="9C7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◐ Manual</a:t>
            </a:r>
            <a:endParaRPr lang="en-US" sz="1125"/>
          </a:p>
        </p:txBody>
      </p:sp>
      <p:sp>
        <p:nvSpPr>
          <p:cNvPr id="62" name="Shape 60"/>
          <p:cNvSpPr/>
          <p:nvPr/>
        </p:nvSpPr>
        <p:spPr>
          <a:xfrm>
            <a:off x="12532072" y="5482882"/>
            <a:ext cx="2813410" cy="10377"/>
          </a:xfrm>
          <a:prstGeom prst="rect">
            <a:avLst/>
          </a:prstGeom>
          <a:solidFill>
            <a:srgbClr val="E8ECF3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63" name="Text 61"/>
          <p:cNvSpPr/>
          <p:nvPr/>
        </p:nvSpPr>
        <p:spPr>
          <a:xfrm>
            <a:off x="12703522" y="5065941"/>
            <a:ext cx="2554912" cy="3339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>
                <a:solidFill>
                  <a:srgbClr val="B938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125"/>
          </a:p>
        </p:txBody>
      </p:sp>
      <p:sp>
        <p:nvSpPr>
          <p:cNvPr id="64" name="Shape 62"/>
          <p:cNvSpPr/>
          <p:nvPr/>
        </p:nvSpPr>
        <p:spPr>
          <a:xfrm>
            <a:off x="15345482" y="5482882"/>
            <a:ext cx="2180518" cy="10377"/>
          </a:xfrm>
          <a:prstGeom prst="rect">
            <a:avLst/>
          </a:prstGeom>
          <a:solidFill>
            <a:srgbClr val="E8ECF3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65" name="Text 63"/>
          <p:cNvSpPr/>
          <p:nvPr/>
        </p:nvSpPr>
        <p:spPr>
          <a:xfrm>
            <a:off x="15516932" y="5065941"/>
            <a:ext cx="1913818" cy="3339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>
                <a:solidFill>
                  <a:srgbClr val="B938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Cara · sin API</a:t>
            </a:r>
            <a:endParaRPr lang="en-US" sz="1125"/>
          </a:p>
        </p:txBody>
      </p:sp>
      <p:sp>
        <p:nvSpPr>
          <p:cNvPr id="66" name="Shape 64"/>
          <p:cNvSpPr/>
          <p:nvPr/>
        </p:nvSpPr>
        <p:spPr>
          <a:xfrm>
            <a:off x="762000" y="6026436"/>
            <a:ext cx="4023196" cy="10377"/>
          </a:xfrm>
          <a:prstGeom prst="rect">
            <a:avLst/>
          </a:prstGeom>
          <a:solidFill>
            <a:srgbClr val="E8ECF3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67" name="Text 65"/>
          <p:cNvSpPr/>
          <p:nvPr/>
        </p:nvSpPr>
        <p:spPr>
          <a:xfrm>
            <a:off x="933450" y="5609495"/>
            <a:ext cx="3800992" cy="3339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>
                <a:solidFill>
                  <a:srgbClr val="0E14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Scrapers ad-hoc </a:t>
            </a:r>
            <a:r>
              <a:rPr lang="en-US" sz="975">
                <a:solidFill>
                  <a:srgbClr val="5C65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Custom, por equipo</a:t>
            </a:r>
            <a:endParaRPr lang="en-US" sz="1125"/>
          </a:p>
        </p:txBody>
      </p:sp>
      <p:sp>
        <p:nvSpPr>
          <p:cNvPr id="68" name="Shape 66"/>
          <p:cNvSpPr/>
          <p:nvPr/>
        </p:nvSpPr>
        <p:spPr>
          <a:xfrm>
            <a:off x="4785196" y="6026436"/>
            <a:ext cx="1850120" cy="10377"/>
          </a:xfrm>
          <a:prstGeom prst="rect">
            <a:avLst/>
          </a:prstGeom>
          <a:solidFill>
            <a:srgbClr val="E8ECF3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69" name="Text 67"/>
          <p:cNvSpPr/>
          <p:nvPr/>
        </p:nvSpPr>
        <p:spPr>
          <a:xfrm>
            <a:off x="4956646" y="5609495"/>
            <a:ext cx="1583420" cy="3339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>
                <a:solidFill>
                  <a:srgbClr val="9C7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◐ Frágil</a:t>
            </a:r>
            <a:endParaRPr lang="en-US" sz="1125"/>
          </a:p>
        </p:txBody>
      </p:sp>
      <p:sp>
        <p:nvSpPr>
          <p:cNvPr id="70" name="Shape 68"/>
          <p:cNvSpPr/>
          <p:nvPr/>
        </p:nvSpPr>
        <p:spPr>
          <a:xfrm>
            <a:off x="6635316" y="6026436"/>
            <a:ext cx="2487848" cy="10377"/>
          </a:xfrm>
          <a:prstGeom prst="rect">
            <a:avLst/>
          </a:prstGeom>
          <a:solidFill>
            <a:srgbClr val="E8ECF3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71" name="Text 69"/>
          <p:cNvSpPr/>
          <p:nvPr/>
        </p:nvSpPr>
        <p:spPr>
          <a:xfrm>
            <a:off x="6806766" y="5609495"/>
            <a:ext cx="2221148" cy="3339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>
                <a:solidFill>
                  <a:srgbClr val="9C7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◐</a:t>
            </a:r>
            <a:endParaRPr lang="en-US" sz="1125"/>
          </a:p>
        </p:txBody>
      </p:sp>
      <p:sp>
        <p:nvSpPr>
          <p:cNvPr id="72" name="Shape 70"/>
          <p:cNvSpPr/>
          <p:nvPr/>
        </p:nvSpPr>
        <p:spPr>
          <a:xfrm>
            <a:off x="9123164" y="6026436"/>
            <a:ext cx="3408908" cy="10377"/>
          </a:xfrm>
          <a:prstGeom prst="rect">
            <a:avLst/>
          </a:prstGeom>
          <a:solidFill>
            <a:srgbClr val="E8ECF3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73" name="Text 71"/>
          <p:cNvSpPr/>
          <p:nvPr/>
        </p:nvSpPr>
        <p:spPr>
          <a:xfrm>
            <a:off x="9294614" y="5609495"/>
            <a:ext cx="3168275" cy="3339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>
                <a:solidFill>
                  <a:srgbClr val="9C7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◐ Reglas duras</a:t>
            </a:r>
            <a:endParaRPr lang="en-US" sz="1125"/>
          </a:p>
        </p:txBody>
      </p:sp>
      <p:sp>
        <p:nvSpPr>
          <p:cNvPr id="74" name="Shape 72"/>
          <p:cNvSpPr/>
          <p:nvPr/>
        </p:nvSpPr>
        <p:spPr>
          <a:xfrm>
            <a:off x="12532072" y="6026436"/>
            <a:ext cx="2813410" cy="10377"/>
          </a:xfrm>
          <a:prstGeom prst="rect">
            <a:avLst/>
          </a:prstGeom>
          <a:solidFill>
            <a:srgbClr val="E8ECF3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75" name="Text 73"/>
          <p:cNvSpPr/>
          <p:nvPr/>
        </p:nvSpPr>
        <p:spPr>
          <a:xfrm>
            <a:off x="12703522" y="5609495"/>
            <a:ext cx="2554912" cy="3339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>
                <a:solidFill>
                  <a:srgbClr val="B938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125"/>
          </a:p>
        </p:txBody>
      </p:sp>
      <p:sp>
        <p:nvSpPr>
          <p:cNvPr id="76" name="Shape 74"/>
          <p:cNvSpPr/>
          <p:nvPr/>
        </p:nvSpPr>
        <p:spPr>
          <a:xfrm>
            <a:off x="15345482" y="6026436"/>
            <a:ext cx="2180518" cy="10377"/>
          </a:xfrm>
          <a:prstGeom prst="rect">
            <a:avLst/>
          </a:prstGeom>
          <a:solidFill>
            <a:srgbClr val="E8ECF3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77" name="Text 75"/>
          <p:cNvSpPr/>
          <p:nvPr/>
        </p:nvSpPr>
        <p:spPr>
          <a:xfrm>
            <a:off x="15516932" y="5609495"/>
            <a:ext cx="1913818" cy="3339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>
                <a:solidFill>
                  <a:srgbClr val="9C7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◐</a:t>
            </a:r>
            <a:endParaRPr lang="en-US" sz="1125"/>
          </a:p>
        </p:txBody>
      </p:sp>
      <p:sp>
        <p:nvSpPr>
          <p:cNvPr id="78" name="Shape 76"/>
          <p:cNvSpPr/>
          <p:nvPr/>
        </p:nvSpPr>
        <p:spPr>
          <a:xfrm>
            <a:off x="762000" y="6036814"/>
            <a:ext cx="4023196" cy="553931"/>
          </a:xfrm>
          <a:prstGeom prst="rect">
            <a:avLst/>
          </a:prstGeom>
          <a:solidFill>
            <a:srgbClr val="FAF6EA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79" name="Shape 77"/>
          <p:cNvSpPr/>
          <p:nvPr/>
        </p:nvSpPr>
        <p:spPr>
          <a:xfrm>
            <a:off x="762000" y="6580367"/>
            <a:ext cx="4023196" cy="10377"/>
          </a:xfrm>
          <a:prstGeom prst="rect">
            <a:avLst/>
          </a:prstGeom>
          <a:solidFill>
            <a:srgbClr val="E8ECF3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80" name="Text 78"/>
          <p:cNvSpPr/>
          <p:nvPr/>
        </p:nvSpPr>
        <p:spPr>
          <a:xfrm>
            <a:off x="933450" y="6153048"/>
            <a:ext cx="3800992" cy="3442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>
                <a:solidFill>
                  <a:srgbClr val="0E14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GeoAssets Intelligence </a:t>
            </a:r>
            <a:r>
              <a:rPr lang="en-US" sz="975" b="1">
                <a:solidFill>
                  <a:srgbClr val="9C7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 propuesta</a:t>
            </a:r>
            <a:endParaRPr lang="en-US" sz="1125"/>
          </a:p>
        </p:txBody>
      </p:sp>
      <p:sp>
        <p:nvSpPr>
          <p:cNvPr id="81" name="Shape 79"/>
          <p:cNvSpPr/>
          <p:nvPr/>
        </p:nvSpPr>
        <p:spPr>
          <a:xfrm>
            <a:off x="4785196" y="6036814"/>
            <a:ext cx="1850120" cy="553931"/>
          </a:xfrm>
          <a:prstGeom prst="rect">
            <a:avLst/>
          </a:prstGeom>
          <a:solidFill>
            <a:srgbClr val="FAF6EA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82" name="Shape 80"/>
          <p:cNvSpPr/>
          <p:nvPr/>
        </p:nvSpPr>
        <p:spPr>
          <a:xfrm>
            <a:off x="4785196" y="6580367"/>
            <a:ext cx="1850120" cy="10377"/>
          </a:xfrm>
          <a:prstGeom prst="rect">
            <a:avLst/>
          </a:prstGeom>
          <a:solidFill>
            <a:srgbClr val="E8ECF3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83" name="Text 81"/>
          <p:cNvSpPr/>
          <p:nvPr/>
        </p:nvSpPr>
        <p:spPr>
          <a:xfrm>
            <a:off x="4956646" y="6153048"/>
            <a:ext cx="1583420" cy="3442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>
                <a:solidFill>
                  <a:srgbClr val="2E7D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Multi-fuente</a:t>
            </a:r>
            <a:endParaRPr lang="en-US" sz="1125"/>
          </a:p>
        </p:txBody>
      </p:sp>
      <p:sp>
        <p:nvSpPr>
          <p:cNvPr id="84" name="Shape 82"/>
          <p:cNvSpPr/>
          <p:nvPr/>
        </p:nvSpPr>
        <p:spPr>
          <a:xfrm>
            <a:off x="6635316" y="6036814"/>
            <a:ext cx="2487848" cy="553931"/>
          </a:xfrm>
          <a:prstGeom prst="rect">
            <a:avLst/>
          </a:prstGeom>
          <a:solidFill>
            <a:srgbClr val="FAF6EA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85" name="Shape 83"/>
          <p:cNvSpPr/>
          <p:nvPr/>
        </p:nvSpPr>
        <p:spPr>
          <a:xfrm>
            <a:off x="6635316" y="6580367"/>
            <a:ext cx="2487848" cy="10377"/>
          </a:xfrm>
          <a:prstGeom prst="rect">
            <a:avLst/>
          </a:prstGeom>
          <a:solidFill>
            <a:srgbClr val="E8ECF3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86" name="Text 84"/>
          <p:cNvSpPr/>
          <p:nvPr/>
        </p:nvSpPr>
        <p:spPr>
          <a:xfrm>
            <a:off x="6806766" y="6153048"/>
            <a:ext cx="2221148" cy="3442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>
                <a:solidFill>
                  <a:srgbClr val="2E7D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Lat/Lon + dirección</a:t>
            </a:r>
            <a:endParaRPr lang="en-US" sz="1125"/>
          </a:p>
        </p:txBody>
      </p:sp>
      <p:sp>
        <p:nvSpPr>
          <p:cNvPr id="87" name="Shape 85"/>
          <p:cNvSpPr/>
          <p:nvPr/>
        </p:nvSpPr>
        <p:spPr>
          <a:xfrm>
            <a:off x="9123164" y="6036814"/>
            <a:ext cx="3408908" cy="553931"/>
          </a:xfrm>
          <a:prstGeom prst="rect">
            <a:avLst/>
          </a:prstGeom>
          <a:solidFill>
            <a:srgbClr val="FAF6EA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88" name="Shape 86"/>
          <p:cNvSpPr/>
          <p:nvPr/>
        </p:nvSpPr>
        <p:spPr>
          <a:xfrm>
            <a:off x="9123164" y="6580367"/>
            <a:ext cx="3408908" cy="10377"/>
          </a:xfrm>
          <a:prstGeom prst="rect">
            <a:avLst/>
          </a:prstGeom>
          <a:solidFill>
            <a:srgbClr val="E8ECF3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89" name="Text 87"/>
          <p:cNvSpPr/>
          <p:nvPr/>
        </p:nvSpPr>
        <p:spPr>
          <a:xfrm>
            <a:off x="9294614" y="6153048"/>
            <a:ext cx="3168275" cy="3442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>
                <a:solidFill>
                  <a:srgbClr val="2E7D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LLM clasifica 12 cat.</a:t>
            </a:r>
            <a:endParaRPr lang="en-US" sz="1125"/>
          </a:p>
        </p:txBody>
      </p:sp>
      <p:sp>
        <p:nvSpPr>
          <p:cNvPr id="90" name="Shape 88"/>
          <p:cNvSpPr/>
          <p:nvPr/>
        </p:nvSpPr>
        <p:spPr>
          <a:xfrm>
            <a:off x="12532072" y="6036814"/>
            <a:ext cx="2813410" cy="553931"/>
          </a:xfrm>
          <a:prstGeom prst="rect">
            <a:avLst/>
          </a:prstGeom>
          <a:solidFill>
            <a:srgbClr val="FAF6EA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91" name="Shape 89"/>
          <p:cNvSpPr/>
          <p:nvPr/>
        </p:nvSpPr>
        <p:spPr>
          <a:xfrm>
            <a:off x="12532072" y="6580367"/>
            <a:ext cx="2813410" cy="10377"/>
          </a:xfrm>
          <a:prstGeom prst="rect">
            <a:avLst/>
          </a:prstGeom>
          <a:solidFill>
            <a:srgbClr val="E8ECF3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92" name="Text 90"/>
          <p:cNvSpPr/>
          <p:nvPr/>
        </p:nvSpPr>
        <p:spPr>
          <a:xfrm>
            <a:off x="12703522" y="6153048"/>
            <a:ext cx="2554912" cy="3442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>
                <a:solidFill>
                  <a:srgbClr val="2E7D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Score 0–100 + tiers</a:t>
            </a:r>
            <a:endParaRPr lang="en-US" sz="1125"/>
          </a:p>
        </p:txBody>
      </p:sp>
      <p:sp>
        <p:nvSpPr>
          <p:cNvPr id="93" name="Shape 91"/>
          <p:cNvSpPr/>
          <p:nvPr/>
        </p:nvSpPr>
        <p:spPr>
          <a:xfrm>
            <a:off x="15345482" y="6036814"/>
            <a:ext cx="2180518" cy="553931"/>
          </a:xfrm>
          <a:prstGeom prst="rect">
            <a:avLst/>
          </a:prstGeom>
          <a:solidFill>
            <a:srgbClr val="FAF6EA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94" name="Shape 92"/>
          <p:cNvSpPr/>
          <p:nvPr/>
        </p:nvSpPr>
        <p:spPr>
          <a:xfrm>
            <a:off x="15345482" y="6580367"/>
            <a:ext cx="2180518" cy="10377"/>
          </a:xfrm>
          <a:prstGeom prst="rect">
            <a:avLst/>
          </a:prstGeom>
          <a:solidFill>
            <a:srgbClr val="E8ECF3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95" name="Text 93"/>
          <p:cNvSpPr/>
          <p:nvPr/>
        </p:nvSpPr>
        <p:spPr>
          <a:xfrm>
            <a:off x="15516932" y="6153048"/>
            <a:ext cx="1913818" cy="3442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>
                <a:solidFill>
                  <a:srgbClr val="2E7D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End-to-end</a:t>
            </a:r>
            <a:endParaRPr lang="en-US" sz="1125"/>
          </a:p>
        </p:txBody>
      </p:sp>
      <p:sp>
        <p:nvSpPr>
          <p:cNvPr id="96" name="Shape 94"/>
          <p:cNvSpPr/>
          <p:nvPr/>
        </p:nvSpPr>
        <p:spPr>
          <a:xfrm>
            <a:off x="762000" y="8199028"/>
            <a:ext cx="16764000" cy="487771"/>
          </a:xfrm>
          <a:prstGeom prst="rect">
            <a:avLst/>
          </a:prstGeom>
          <a:solidFill>
            <a:srgbClr val="FAF6EA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97" name="Shape 95"/>
          <p:cNvSpPr/>
          <p:nvPr/>
        </p:nvSpPr>
        <p:spPr>
          <a:xfrm>
            <a:off x="762000" y="8199028"/>
            <a:ext cx="23813" cy="487771"/>
          </a:xfrm>
          <a:prstGeom prst="rect">
            <a:avLst/>
          </a:prstGeom>
          <a:solidFill>
            <a:srgbClr val="B89455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98" name="Text 96"/>
          <p:cNvSpPr/>
          <p:nvPr/>
        </p:nvSpPr>
        <p:spPr>
          <a:xfrm>
            <a:off x="1052513" y="8365078"/>
            <a:ext cx="16709708" cy="188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200" b="1">
                <a:solidFill>
                  <a:srgbClr val="9C7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CONCLUSIÓN · </a:t>
            </a:r>
            <a:r>
              <a:rPr lang="en-US" sz="1200">
                <a:solidFill>
                  <a:srgbClr val="2A3247"/>
                </a:solidFill>
                <a:highlight>
                  <a:srgbClr val="FAF6EA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Ninguna fuente individual cubre simultáneamente </a:t>
            </a:r>
            <a:r>
              <a:rPr lang="en-US" sz="1200" b="1">
                <a:solidFill>
                  <a:srgbClr val="2A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cobertura amplia</a:t>
            </a:r>
            <a:r>
              <a:rPr lang="en-US" sz="1200">
                <a:solidFill>
                  <a:srgbClr val="2A3247"/>
                </a:solidFill>
                <a:highlight>
                  <a:srgbClr val="FAF6EA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1200" b="1">
                <a:solidFill>
                  <a:srgbClr val="2A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geolocalización fiable</a:t>
            </a:r>
            <a:r>
              <a:rPr lang="en-US" sz="1200">
                <a:solidFill>
                  <a:srgbClr val="2A3247"/>
                </a:solidFill>
                <a:highlight>
                  <a:srgbClr val="FAF6EA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1200" b="1">
                <a:solidFill>
                  <a:srgbClr val="2A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filtrado por tipo de activo </a:t>
            </a:r>
            <a:r>
              <a:rPr lang="en-US" sz="1200">
                <a:solidFill>
                  <a:srgbClr val="2A3247"/>
                </a:solidFill>
                <a:highlight>
                  <a:srgbClr val="FAF6EA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y </a:t>
            </a:r>
            <a:r>
              <a:rPr lang="en-US" sz="1200" b="1">
                <a:solidFill>
                  <a:srgbClr val="2A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scoring objetivo</a:t>
            </a:r>
            <a:r>
              <a:rPr lang="en-US" sz="1200">
                <a:solidFill>
                  <a:srgbClr val="2A3247"/>
                </a:solidFill>
                <a:highlight>
                  <a:srgbClr val="FAF6EA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. La oportunidad está en orquestarlas.</a:t>
            </a:r>
            <a:endParaRPr lang="en-US" sz="1200"/>
          </a:p>
        </p:txBody>
      </p:sp>
      <p:grpSp>
        <p:nvGrpSpPr>
          <p:cNvPr id="9000" name="MS Header Group"/>
          <p:cNvGrpSpPr/>
          <p:nvPr/>
        </p:nvGrpSpPr>
        <p:grpSpPr>
          <a:xfrm>
            <a:off x="282819" y="579094"/>
            <a:ext cx="13786134" cy="1057874"/>
            <a:chOff x="92172" y="275827"/>
            <a:chExt cx="9190756" cy="705249"/>
          </a:xfrm>
        </p:grpSpPr>
        <p:sp>
          <p:nvSpPr>
            <p:cNvPr id="9001" name="MS Title Box"/>
            <p:cNvSpPr>
              <a:spLocks noChangeArrowheads="1"/>
            </p:cNvSpPr>
            <p:nvPr/>
          </p:nvSpPr>
          <p:spPr bwMode="gray">
            <a:xfrm>
              <a:off x="776292" y="404814"/>
              <a:ext cx="8506636" cy="576262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37160" tIns="68580" rIns="137160" bIns="68580" anchor="ctr"/>
            <a:lstStyle/>
            <a:p>
              <a:pPr>
                <a:lnSpc>
                  <a:spcPts val="3150"/>
                </a:lnSpc>
              </a:pPr>
              <a:r>
                <a:rPr lang="es-ES" sz="3000" b="1">
                  <a:solidFill>
                    <a:srgbClr val="002569"/>
                  </a:solidFill>
                  <a:latin typeface="Arial"/>
                </a:rPr>
                <a:t>Las herramientas actuales resuelven una pieza, nunca el conjunto</a:t>
              </a:r>
            </a:p>
            <a:p>
              <a:r>
                <a:rPr lang="es-ES" sz="2700">
                  <a:solidFill>
                    <a:srgbClr val="E0D399">
                      <a:lumMod val="75000"/>
                    </a:srgbClr>
                  </a:solidFill>
                  <a:latin typeface="Arial"/>
                </a:rPr>
                <a:t>SOLUCIONES EXISTENTES</a:t>
              </a:r>
            </a:p>
          </p:txBody>
        </p:sp>
        <p:sp>
          <p:nvSpPr>
            <p:cNvPr id="9002" name="MS Number"/>
            <p:cNvSpPr>
              <a:spLocks noChangeArrowheads="1"/>
            </p:cNvSpPr>
            <p:nvPr/>
          </p:nvSpPr>
          <p:spPr bwMode="gray">
            <a:xfrm>
              <a:off x="92172" y="275827"/>
              <a:ext cx="477819" cy="70014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148523" tIns="74261" rIns="148523" bIns="74261">
              <a:spAutoFit/>
            </a:bodyPr>
            <a:lstStyle/>
            <a:p>
              <a:pPr algn="ctr"/>
              <a:r>
                <a:rPr lang="es-ES" sz="5850" b="1" kern="0">
                  <a:solidFill>
                    <a:srgbClr val="002569"/>
                  </a:solidFill>
                  <a:latin typeface="Arial"/>
                </a:rPr>
                <a:t>1</a:t>
              </a:r>
            </a:p>
          </p:txBody>
        </p:sp>
        <p:cxnSp>
          <p:nvCxnSpPr>
            <p:cNvPr id="9003" name="MS Header Bar"/>
            <p:cNvCxnSpPr/>
            <p:nvPr/>
          </p:nvCxnSpPr>
          <p:spPr>
            <a:xfrm>
              <a:off x="570525" y="404814"/>
              <a:ext cx="0" cy="526647"/>
            </a:xfrm>
            <a:prstGeom prst="line">
              <a:avLst/>
            </a:prstGeom>
            <a:ln>
              <a:solidFill>
                <a:schemeClr val="tx2"/>
              </a:solidFill>
            </a:ln>
          </p:spPr>
        </p:cxnSp>
      </p:grpSp>
    </p:spTree>
    <p:extLst>
      <p:ext uri="{BB962C8B-B14F-4D97-AF65-F5344CB8AC3E}">
        <p14:creationId xmlns:p14="http://schemas.microsoft.com/office/powerpoint/2010/main" val="6841415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10"/>
          <p:cNvSpPr/>
          <p:nvPr/>
        </p:nvSpPr>
        <p:spPr>
          <a:xfrm>
            <a:off x="758952" y="2423160"/>
            <a:ext cx="16770096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 dirty="0">
                <a:solidFill>
                  <a:srgbClr val="5C65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</a:t>
            </a:r>
            <a:r>
              <a:rPr lang="en-US" sz="1300" dirty="0" err="1">
                <a:solidFill>
                  <a:srgbClr val="5C65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primera</a:t>
            </a:r>
            <a:r>
              <a:rPr lang="en-US" sz="1300" dirty="0">
                <a:solidFill>
                  <a:srgbClr val="5C65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00" dirty="0" err="1">
                <a:solidFill>
                  <a:srgbClr val="5C65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vez</a:t>
            </a:r>
            <a:r>
              <a:rPr lang="en-US" sz="1300" dirty="0">
                <a:solidFill>
                  <a:srgbClr val="5C65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00" dirty="0" err="1">
                <a:solidFill>
                  <a:srgbClr val="5C65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disponemos</a:t>
            </a:r>
            <a:r>
              <a:rPr lang="en-US" sz="1300" dirty="0">
                <a:solidFill>
                  <a:srgbClr val="5C65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00" dirty="0" err="1">
                <a:solidFill>
                  <a:srgbClr val="5C65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simultáneamente</a:t>
            </a:r>
            <a:r>
              <a:rPr lang="en-US" sz="1300" dirty="0">
                <a:solidFill>
                  <a:srgbClr val="5C65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 </a:t>
            </a:r>
            <a:r>
              <a:rPr lang="en-US" sz="1300" dirty="0" err="1">
                <a:solidFill>
                  <a:srgbClr val="5C65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modelos</a:t>
            </a:r>
            <a:r>
              <a:rPr lang="en-US" sz="1300" dirty="0">
                <a:solidFill>
                  <a:srgbClr val="5C65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 </a:t>
            </a:r>
            <a:r>
              <a:rPr lang="en-US" sz="1300" dirty="0" err="1">
                <a:solidFill>
                  <a:srgbClr val="5C65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lenguaje</a:t>
            </a:r>
            <a:r>
              <a:rPr lang="en-US" sz="1300" dirty="0">
                <a:solidFill>
                  <a:srgbClr val="5C65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00" dirty="0" err="1">
                <a:solidFill>
                  <a:srgbClr val="5C65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capaces</a:t>
            </a:r>
            <a:r>
              <a:rPr lang="en-US" sz="1300" dirty="0">
                <a:solidFill>
                  <a:srgbClr val="5C65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 </a:t>
            </a:r>
            <a:r>
              <a:rPr lang="en-US" sz="1300" dirty="0" err="1">
                <a:solidFill>
                  <a:srgbClr val="5C65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razonar</a:t>
            </a:r>
            <a:r>
              <a:rPr lang="en-US" sz="1300" dirty="0">
                <a:solidFill>
                  <a:srgbClr val="5C65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00" dirty="0" err="1">
                <a:solidFill>
                  <a:srgbClr val="5C65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sobre</a:t>
            </a:r>
            <a:r>
              <a:rPr lang="en-US" sz="1300" dirty="0">
                <a:solidFill>
                  <a:srgbClr val="5C65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00" dirty="0" err="1">
                <a:solidFill>
                  <a:srgbClr val="5C65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texto</a:t>
            </a:r>
            <a:r>
              <a:rPr lang="en-US" sz="1300" dirty="0">
                <a:solidFill>
                  <a:srgbClr val="5C65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no </a:t>
            </a:r>
            <a:r>
              <a:rPr lang="en-US" sz="1300" dirty="0" err="1">
                <a:solidFill>
                  <a:srgbClr val="5C65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estructurado</a:t>
            </a:r>
            <a:r>
              <a:rPr lang="en-US" sz="1300" dirty="0">
                <a:solidFill>
                  <a:srgbClr val="5C65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APIs </a:t>
            </a:r>
            <a:r>
              <a:rPr lang="en-US" sz="1300" dirty="0" err="1">
                <a:solidFill>
                  <a:srgbClr val="5C65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geoespaciales</a:t>
            </a:r>
            <a:r>
              <a:rPr lang="en-US" sz="1300" dirty="0">
                <a:solidFill>
                  <a:srgbClr val="5C65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 </a:t>
            </a:r>
            <a:r>
              <a:rPr lang="en-US" sz="1300" dirty="0" err="1">
                <a:solidFill>
                  <a:srgbClr val="5C65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cobertura</a:t>
            </a:r>
            <a:r>
              <a:rPr lang="en-US" sz="1300" dirty="0">
                <a:solidFill>
                  <a:srgbClr val="5C65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global, y frameworks de </a:t>
            </a:r>
            <a:r>
              <a:rPr lang="en-US" sz="1300" dirty="0" err="1">
                <a:solidFill>
                  <a:srgbClr val="5C65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agentes</a:t>
            </a:r>
            <a:r>
              <a:rPr lang="en-US" sz="1300" dirty="0">
                <a:solidFill>
                  <a:srgbClr val="5C65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00" dirty="0" err="1">
                <a:solidFill>
                  <a:srgbClr val="5C65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</a:t>
            </a:r>
            <a:r>
              <a:rPr lang="en-US" sz="1300" dirty="0">
                <a:solidFill>
                  <a:srgbClr val="5C65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00" dirty="0" err="1">
                <a:solidFill>
                  <a:srgbClr val="5C65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orquestan</a:t>
            </a:r>
            <a:r>
              <a:rPr lang="en-US" sz="1300" dirty="0">
                <a:solidFill>
                  <a:srgbClr val="5C65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ambos sin </a:t>
            </a:r>
            <a:r>
              <a:rPr lang="en-US" sz="1300" dirty="0" err="1">
                <a:solidFill>
                  <a:srgbClr val="5C65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intervención</a:t>
            </a:r>
            <a:r>
              <a:rPr lang="en-US" sz="1300" dirty="0">
                <a:solidFill>
                  <a:srgbClr val="5C65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humana.</a:t>
            </a:r>
            <a:endParaRPr lang="en-US" sz="1650" dirty="0"/>
          </a:p>
        </p:txBody>
      </p:sp>
      <p:grpSp>
        <p:nvGrpSpPr>
          <p:cNvPr id="9000" name="MS Header Group"/>
          <p:cNvGrpSpPr/>
          <p:nvPr/>
        </p:nvGrpSpPr>
        <p:grpSpPr>
          <a:xfrm>
            <a:off x="282819" y="579094"/>
            <a:ext cx="13786134" cy="1057874"/>
            <a:chOff x="92172" y="275827"/>
            <a:chExt cx="9190756" cy="705249"/>
          </a:xfrm>
        </p:grpSpPr>
        <p:sp>
          <p:nvSpPr>
            <p:cNvPr id="9001" name="MS Title Box"/>
            <p:cNvSpPr>
              <a:spLocks noChangeArrowheads="1"/>
            </p:cNvSpPr>
            <p:nvPr/>
          </p:nvSpPr>
          <p:spPr bwMode="gray">
            <a:xfrm>
              <a:off x="776292" y="404814"/>
              <a:ext cx="8506636" cy="5762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137160" tIns="68580" rIns="137160" bIns="68580" anchor="ctr"/>
            <a:lstStyle/>
            <a:p>
              <a:pPr defTabSz="1371600">
                <a:lnSpc>
                  <a:spcPts val="3150"/>
                </a:lnSpc>
                <a:defRPr/>
              </a:pPr>
              <a:r>
                <a:rPr lang="es-ES" sz="3000" b="1">
                  <a:solidFill>
                    <a:srgbClr val="002569"/>
                  </a:solidFill>
                  <a:latin typeface="Arial"/>
                  <a:cs typeface="Segoe UI" panose="020B0502040204020203" pitchFamily="34" charset="0"/>
                </a:rPr>
                <a:t>Tres tecnologías han madurado a la vez. Es el momento.</a:t>
              </a:r>
            </a:p>
            <a:p>
              <a:pPr defTabSz="1371600">
                <a:defRPr/>
              </a:pPr>
              <a:r>
                <a:rPr lang="es-ES" sz="2700">
                  <a:solidFill>
                    <a:srgbClr val="E0D399">
                      <a:lumMod val="75000"/>
                    </a:srgbClr>
                  </a:solidFill>
                  <a:latin typeface="Arial"/>
                  <a:cs typeface="Segoe UI" panose="020B0502040204020203" pitchFamily="34" charset="0"/>
                </a:rPr>
                <a:t>OPORTUNIDAD</a:t>
              </a:r>
            </a:p>
          </p:txBody>
        </p:sp>
        <p:sp>
          <p:nvSpPr>
            <p:cNvPr id="9002" name="MS Number"/>
            <p:cNvSpPr>
              <a:spLocks noChangeArrowheads="1"/>
            </p:cNvSpPr>
            <p:nvPr/>
          </p:nvSpPr>
          <p:spPr bwMode="gray">
            <a:xfrm>
              <a:off x="92172" y="275827"/>
              <a:ext cx="477819" cy="7001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148523" tIns="74261" rIns="148523" bIns="74261">
              <a:spAutoFit/>
            </a:bodyPr>
            <a:lstStyle/>
            <a:p>
              <a:pPr algn="ctr" defTabSz="1371600">
                <a:buSzPct val="65000"/>
                <a:defRPr/>
              </a:pPr>
              <a:r>
                <a:rPr lang="es-ES" sz="5850" b="1" kern="0">
                  <a:solidFill>
                    <a:srgbClr val="002569"/>
                  </a:solidFill>
                  <a:latin typeface="Arial"/>
                  <a:cs typeface="Segoe UI" panose="020B0502040204020203" pitchFamily="34" charset="0"/>
                </a:rPr>
                <a:t>1</a:t>
              </a:r>
            </a:p>
          </p:txBody>
        </p:sp>
        <p:cxnSp>
          <p:nvCxnSpPr>
            <p:cNvPr id="9003" name="MS Header Bar"/>
            <p:cNvCxnSpPr/>
            <p:nvPr/>
          </p:nvCxnSpPr>
          <p:spPr>
            <a:xfrm>
              <a:off x="570525" y="404814"/>
              <a:ext cx="0" cy="526647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004" name="Oval 9003"/>
          <p:cNvSpPr/>
          <p:nvPr/>
        </p:nvSpPr>
        <p:spPr>
          <a:xfrm>
            <a:off x="8275320" y="5577840"/>
            <a:ext cx="1737360" cy="1737360"/>
          </a:xfrm>
          <a:prstGeom prst="ellipse">
            <a:avLst/>
          </a:prstGeom>
          <a:solidFill>
            <a:srgbClr val="1F3864"/>
          </a:solidFill>
          <a:ln>
            <a:noFill/>
          </a:ln>
          <a:effectLst>
            <a:outerShdw blurRad="152400" dist="38100" dir="5400000" algn="tl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05" name="TextBox 9004"/>
          <p:cNvSpPr txBox="1"/>
          <p:nvPr/>
        </p:nvSpPr>
        <p:spPr>
          <a:xfrm>
            <a:off x="8275320" y="6108192"/>
            <a:ext cx="1737360" cy="6766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200" b="1">
                <a:solidFill>
                  <a:srgbClr val="BF9000"/>
                </a:solidFill>
                <a:latin typeface="Calibri"/>
              </a:rPr>
              <a:t>GEOASSETS</a:t>
            </a:r>
          </a:p>
          <a:p>
            <a:pPr algn="ctr"/>
            <a:r>
              <a:rPr sz="1600" b="1" i="1">
                <a:solidFill>
                  <a:srgbClr val="FFFFFF"/>
                </a:solidFill>
                <a:latin typeface="Calibri"/>
              </a:rPr>
              <a:t>Intelligence</a:t>
            </a:r>
          </a:p>
        </p:txBody>
      </p:sp>
      <p:cxnSp>
        <p:nvCxnSpPr>
          <p:cNvPr id="9006" name="Connector 9005"/>
          <p:cNvCxnSpPr/>
          <p:nvPr/>
        </p:nvCxnSpPr>
        <p:spPr>
          <a:xfrm>
            <a:off x="9144000" y="5486399"/>
            <a:ext cx="0" cy="45721"/>
          </a:xfrm>
          <a:prstGeom prst="line">
            <a:avLst/>
          </a:prstGeom>
          <a:ln w="12700">
            <a:solidFill>
              <a:srgbClr val="BF9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07" name="Connector 9006"/>
          <p:cNvCxnSpPr/>
          <p:nvPr/>
        </p:nvCxnSpPr>
        <p:spPr>
          <a:xfrm flipV="1">
            <a:off x="6675120" y="6720840"/>
            <a:ext cx="1554480" cy="685800"/>
          </a:xfrm>
          <a:prstGeom prst="line">
            <a:avLst/>
          </a:prstGeom>
          <a:ln w="12700">
            <a:solidFill>
              <a:srgbClr val="BF9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08" name="Connector 9007"/>
          <p:cNvCxnSpPr/>
          <p:nvPr/>
        </p:nvCxnSpPr>
        <p:spPr>
          <a:xfrm flipH="1" flipV="1">
            <a:off x="10058400" y="6720840"/>
            <a:ext cx="1554480" cy="685800"/>
          </a:xfrm>
          <a:prstGeom prst="line">
            <a:avLst/>
          </a:prstGeom>
          <a:ln w="12700">
            <a:solidFill>
              <a:srgbClr val="BF9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09" name="Connector 9008"/>
          <p:cNvCxnSpPr/>
          <p:nvPr/>
        </p:nvCxnSpPr>
        <p:spPr>
          <a:xfrm>
            <a:off x="6720840" y="8549640"/>
            <a:ext cx="4846319" cy="0"/>
          </a:xfrm>
          <a:prstGeom prst="line">
            <a:avLst/>
          </a:prstGeom>
          <a:ln w="12700">
            <a:solidFill>
              <a:srgbClr val="BF9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10" name="Rounded Rectangle 9009"/>
          <p:cNvSpPr/>
          <p:nvPr/>
        </p:nvSpPr>
        <p:spPr>
          <a:xfrm>
            <a:off x="6217920" y="3246120"/>
            <a:ext cx="5852160" cy="2194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>
            <a:outerShdw blurRad="152400" dist="38100" dir="5400000" algn="tl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11" name="Oval 9010"/>
          <p:cNvSpPr/>
          <p:nvPr/>
        </p:nvSpPr>
        <p:spPr>
          <a:xfrm>
            <a:off x="6629400" y="3566160"/>
            <a:ext cx="457200" cy="457200"/>
          </a:xfrm>
          <a:prstGeom prst="ellipse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12" name="Rounded Rectangle 9011"/>
          <p:cNvSpPr/>
          <p:nvPr/>
        </p:nvSpPr>
        <p:spPr>
          <a:xfrm>
            <a:off x="6748272" y="3721608"/>
            <a:ext cx="219456" cy="146304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13" name="Oval 9012"/>
          <p:cNvSpPr/>
          <p:nvPr/>
        </p:nvSpPr>
        <p:spPr>
          <a:xfrm>
            <a:off x="6782104" y="3776472"/>
            <a:ext cx="36576" cy="36576"/>
          </a:xfrm>
          <a:prstGeom prst="ellipse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14" name="Oval 9013"/>
          <p:cNvSpPr/>
          <p:nvPr/>
        </p:nvSpPr>
        <p:spPr>
          <a:xfrm>
            <a:off x="6839712" y="3776472"/>
            <a:ext cx="36576" cy="36576"/>
          </a:xfrm>
          <a:prstGeom prst="ellipse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15" name="Oval 9014"/>
          <p:cNvSpPr/>
          <p:nvPr/>
        </p:nvSpPr>
        <p:spPr>
          <a:xfrm>
            <a:off x="6897319" y="3776472"/>
            <a:ext cx="36576" cy="36576"/>
          </a:xfrm>
          <a:prstGeom prst="ellipse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16" name="TextBox 9015"/>
          <p:cNvSpPr txBox="1"/>
          <p:nvPr/>
        </p:nvSpPr>
        <p:spPr>
          <a:xfrm>
            <a:off x="7287768" y="3675888"/>
            <a:ext cx="4370831" cy="24688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BF9000"/>
                </a:solidFill>
                <a:latin typeface="Calibri"/>
              </a:rPr>
              <a:t>PILAR 1</a:t>
            </a:r>
          </a:p>
        </p:txBody>
      </p:sp>
      <p:sp>
        <p:nvSpPr>
          <p:cNvPr id="9017" name="TextBox 9016"/>
          <p:cNvSpPr txBox="1"/>
          <p:nvPr/>
        </p:nvSpPr>
        <p:spPr>
          <a:xfrm>
            <a:off x="6629400" y="4297680"/>
            <a:ext cx="50292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>
                <a:solidFill>
                  <a:srgbClr val="1F3864"/>
                </a:solidFill>
                <a:latin typeface="Calibri"/>
              </a:rPr>
              <a:t>Modelos de lenguaje</a:t>
            </a:r>
          </a:p>
        </p:txBody>
      </p:sp>
      <p:sp>
        <p:nvSpPr>
          <p:cNvPr id="9018" name="TextBox 9017"/>
          <p:cNvSpPr txBox="1"/>
          <p:nvPr/>
        </p:nvSpPr>
        <p:spPr>
          <a:xfrm>
            <a:off x="6629400" y="4754880"/>
            <a:ext cx="5029200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dirty="0" err="1">
                <a:solidFill>
                  <a:srgbClr val="404040"/>
                </a:solidFill>
                <a:latin typeface="Calibri"/>
              </a:rPr>
              <a:t>Razonan</a:t>
            </a:r>
            <a:r>
              <a:rPr sz="1100" dirty="0">
                <a:solidFill>
                  <a:srgbClr val="404040"/>
                </a:solidFill>
                <a:latin typeface="Calibri"/>
              </a:rPr>
              <a:t> </a:t>
            </a:r>
            <a:r>
              <a:rPr sz="1100" dirty="0" err="1">
                <a:solidFill>
                  <a:srgbClr val="404040"/>
                </a:solidFill>
                <a:latin typeface="Calibri"/>
              </a:rPr>
              <a:t>sobre</a:t>
            </a:r>
            <a:r>
              <a:rPr sz="1100" dirty="0">
                <a:solidFill>
                  <a:srgbClr val="404040"/>
                </a:solidFill>
                <a:latin typeface="Calibri"/>
              </a:rPr>
              <a:t> </a:t>
            </a:r>
            <a:r>
              <a:rPr sz="1100" dirty="0" err="1">
                <a:solidFill>
                  <a:srgbClr val="404040"/>
                </a:solidFill>
                <a:latin typeface="Calibri"/>
              </a:rPr>
              <a:t>texto</a:t>
            </a:r>
            <a:r>
              <a:rPr sz="1100" dirty="0">
                <a:solidFill>
                  <a:srgbClr val="404040"/>
                </a:solidFill>
                <a:latin typeface="Calibri"/>
              </a:rPr>
              <a:t> y </a:t>
            </a:r>
            <a:r>
              <a:rPr sz="1100" dirty="0" err="1">
                <a:solidFill>
                  <a:srgbClr val="404040"/>
                </a:solidFill>
                <a:latin typeface="Calibri"/>
              </a:rPr>
              <a:t>devuelven</a:t>
            </a:r>
            <a:r>
              <a:rPr sz="1100" dirty="0">
                <a:solidFill>
                  <a:srgbClr val="404040"/>
                </a:solidFill>
                <a:latin typeface="Calibri"/>
              </a:rPr>
              <a:t> JSON </a:t>
            </a:r>
            <a:r>
              <a:rPr sz="1100" dirty="0" err="1">
                <a:solidFill>
                  <a:srgbClr val="404040"/>
                </a:solidFill>
                <a:latin typeface="Calibri"/>
              </a:rPr>
              <a:t>estructurado</a:t>
            </a:r>
            <a:r>
              <a:rPr sz="1100" dirty="0">
                <a:solidFill>
                  <a:srgbClr val="404040"/>
                </a:solidFill>
                <a:latin typeface="Calibri"/>
              </a:rPr>
              <a:t>.</a:t>
            </a:r>
          </a:p>
        </p:txBody>
      </p:sp>
      <p:sp>
        <p:nvSpPr>
          <p:cNvPr id="9019" name="Rounded Rectangle 9018"/>
          <p:cNvSpPr/>
          <p:nvPr/>
        </p:nvSpPr>
        <p:spPr>
          <a:xfrm>
            <a:off x="457200" y="7452360"/>
            <a:ext cx="6217920" cy="2194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>
            <a:outerShdw blurRad="152400" dist="38100" dir="5400000" algn="tl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20" name="Oval 9019"/>
          <p:cNvSpPr/>
          <p:nvPr/>
        </p:nvSpPr>
        <p:spPr>
          <a:xfrm>
            <a:off x="868680" y="7772400"/>
            <a:ext cx="457200" cy="457200"/>
          </a:xfrm>
          <a:prstGeom prst="ellipse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21" name="Oval 9020"/>
          <p:cNvSpPr/>
          <p:nvPr/>
        </p:nvSpPr>
        <p:spPr>
          <a:xfrm>
            <a:off x="1028700" y="7868412"/>
            <a:ext cx="137160" cy="1371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22" name="Isosceles Triangle 9021"/>
          <p:cNvSpPr/>
          <p:nvPr/>
        </p:nvSpPr>
        <p:spPr>
          <a:xfrm rot="10800000">
            <a:off x="1046988" y="7978140"/>
            <a:ext cx="100584" cy="132588"/>
          </a:xfrm>
          <a:prstGeom prst="triangl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23" name="Oval 9022"/>
          <p:cNvSpPr/>
          <p:nvPr/>
        </p:nvSpPr>
        <p:spPr>
          <a:xfrm>
            <a:off x="1077163" y="7904988"/>
            <a:ext cx="41148" cy="41148"/>
          </a:xfrm>
          <a:prstGeom prst="ellipse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24" name="TextBox 9023"/>
          <p:cNvSpPr txBox="1"/>
          <p:nvPr/>
        </p:nvSpPr>
        <p:spPr>
          <a:xfrm>
            <a:off x="1527048" y="7882127"/>
            <a:ext cx="4736592" cy="24688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BF9000"/>
                </a:solidFill>
                <a:latin typeface="Calibri"/>
              </a:rPr>
              <a:t>PILAR 2</a:t>
            </a:r>
          </a:p>
        </p:txBody>
      </p:sp>
      <p:sp>
        <p:nvSpPr>
          <p:cNvPr id="9025" name="TextBox 9024"/>
          <p:cNvSpPr txBox="1"/>
          <p:nvPr/>
        </p:nvSpPr>
        <p:spPr>
          <a:xfrm>
            <a:off x="868680" y="8503920"/>
            <a:ext cx="5394959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>
                <a:solidFill>
                  <a:srgbClr val="1F3864"/>
                </a:solidFill>
                <a:latin typeface="Calibri"/>
              </a:rPr>
              <a:t>APIs geoespaciales</a:t>
            </a:r>
          </a:p>
        </p:txBody>
      </p:sp>
      <p:sp>
        <p:nvSpPr>
          <p:cNvPr id="9026" name="TextBox 9025"/>
          <p:cNvSpPr txBox="1"/>
          <p:nvPr/>
        </p:nvSpPr>
        <p:spPr>
          <a:xfrm>
            <a:off x="868680" y="8961120"/>
            <a:ext cx="5394959" cy="4114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dirty="0">
                <a:solidFill>
                  <a:srgbClr val="404040"/>
                </a:solidFill>
                <a:latin typeface="Calibri"/>
              </a:rPr>
              <a:t>Google Maps Places + Geocoding API. </a:t>
            </a:r>
            <a:r>
              <a:rPr sz="1100" dirty="0" err="1">
                <a:solidFill>
                  <a:srgbClr val="404040"/>
                </a:solidFill>
                <a:latin typeface="Calibri"/>
              </a:rPr>
              <a:t>Cobertura</a:t>
            </a:r>
            <a:r>
              <a:rPr sz="1100" dirty="0">
                <a:solidFill>
                  <a:srgbClr val="404040"/>
                </a:solidFill>
                <a:latin typeface="Calibri"/>
              </a:rPr>
              <a:t> </a:t>
            </a:r>
            <a:r>
              <a:rPr sz="1100" dirty="0" err="1">
                <a:solidFill>
                  <a:srgbClr val="404040"/>
                </a:solidFill>
                <a:latin typeface="Calibri"/>
              </a:rPr>
              <a:t>mundial</a:t>
            </a:r>
            <a:r>
              <a:rPr sz="1100" dirty="0">
                <a:solidFill>
                  <a:srgbClr val="404040"/>
                </a:solidFill>
                <a:latin typeface="Calibri"/>
              </a:rPr>
              <a:t> de POIs y </a:t>
            </a:r>
            <a:r>
              <a:rPr sz="1100" dirty="0" err="1">
                <a:solidFill>
                  <a:srgbClr val="404040"/>
                </a:solidFill>
                <a:latin typeface="Calibri"/>
              </a:rPr>
              <a:t>conversión</a:t>
            </a:r>
            <a:r>
              <a:rPr sz="1100" dirty="0">
                <a:solidFill>
                  <a:srgbClr val="404040"/>
                </a:solidFill>
                <a:latin typeface="Calibri"/>
              </a:rPr>
              <a:t> a </a:t>
            </a:r>
            <a:r>
              <a:rPr sz="1100" dirty="0" err="1">
                <a:solidFill>
                  <a:srgbClr val="404040"/>
                </a:solidFill>
                <a:latin typeface="Calibri"/>
              </a:rPr>
              <a:t>coordenadas</a:t>
            </a:r>
            <a:r>
              <a:rPr sz="1100" dirty="0">
                <a:solidFill>
                  <a:srgbClr val="404040"/>
                </a:solidFill>
                <a:latin typeface="Calibri"/>
              </a:rPr>
              <a:t>.</a:t>
            </a:r>
          </a:p>
        </p:txBody>
      </p:sp>
      <p:sp>
        <p:nvSpPr>
          <p:cNvPr id="9027" name="Rounded Rectangle 9026"/>
          <p:cNvSpPr/>
          <p:nvPr/>
        </p:nvSpPr>
        <p:spPr>
          <a:xfrm>
            <a:off x="11612880" y="7452360"/>
            <a:ext cx="6217920" cy="2194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>
            <a:outerShdw blurRad="152400" dist="38100" dir="5400000" algn="tl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28" name="Oval 9027"/>
          <p:cNvSpPr/>
          <p:nvPr/>
        </p:nvSpPr>
        <p:spPr>
          <a:xfrm>
            <a:off x="12024359" y="7772400"/>
            <a:ext cx="457200" cy="457200"/>
          </a:xfrm>
          <a:prstGeom prst="ellipse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29" name="Rounded Rectangle 9028"/>
          <p:cNvSpPr/>
          <p:nvPr/>
        </p:nvSpPr>
        <p:spPr>
          <a:xfrm>
            <a:off x="12129515" y="7932420"/>
            <a:ext cx="246888" cy="18288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30" name="Oval 9029"/>
          <p:cNvSpPr/>
          <p:nvPr/>
        </p:nvSpPr>
        <p:spPr>
          <a:xfrm>
            <a:off x="12179807" y="7984540"/>
            <a:ext cx="41148" cy="41148"/>
          </a:xfrm>
          <a:prstGeom prst="ellipse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31" name="Oval 9030"/>
          <p:cNvSpPr/>
          <p:nvPr/>
        </p:nvSpPr>
        <p:spPr>
          <a:xfrm>
            <a:off x="12284963" y="7984540"/>
            <a:ext cx="41148" cy="41148"/>
          </a:xfrm>
          <a:prstGeom prst="ellipse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32" name="Rectangle 9031"/>
          <p:cNvSpPr/>
          <p:nvPr/>
        </p:nvSpPr>
        <p:spPr>
          <a:xfrm>
            <a:off x="12246559" y="7863840"/>
            <a:ext cx="12801" cy="685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33" name="Oval 9032"/>
          <p:cNvSpPr/>
          <p:nvPr/>
        </p:nvSpPr>
        <p:spPr>
          <a:xfrm>
            <a:off x="12223699" y="7827264"/>
            <a:ext cx="58521" cy="58521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34" name="TextBox 9033"/>
          <p:cNvSpPr txBox="1"/>
          <p:nvPr/>
        </p:nvSpPr>
        <p:spPr>
          <a:xfrm>
            <a:off x="12682728" y="7882127"/>
            <a:ext cx="4736592" cy="24688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BF9000"/>
                </a:solidFill>
                <a:latin typeface="Calibri"/>
              </a:rPr>
              <a:t>PILAR 3</a:t>
            </a:r>
          </a:p>
        </p:txBody>
      </p:sp>
      <p:sp>
        <p:nvSpPr>
          <p:cNvPr id="9035" name="TextBox 9034"/>
          <p:cNvSpPr txBox="1"/>
          <p:nvPr/>
        </p:nvSpPr>
        <p:spPr>
          <a:xfrm>
            <a:off x="12024359" y="8503920"/>
            <a:ext cx="5394959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>
                <a:solidFill>
                  <a:srgbClr val="1F3864"/>
                </a:solidFill>
                <a:latin typeface="Calibri"/>
              </a:rPr>
              <a:t>Agentes IA</a:t>
            </a:r>
          </a:p>
        </p:txBody>
      </p:sp>
      <p:sp>
        <p:nvSpPr>
          <p:cNvPr id="9036" name="TextBox 9035"/>
          <p:cNvSpPr txBox="1"/>
          <p:nvPr/>
        </p:nvSpPr>
        <p:spPr>
          <a:xfrm>
            <a:off x="12024359" y="8961120"/>
            <a:ext cx="5394959" cy="4114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>
                <a:solidFill>
                  <a:srgbClr val="404040"/>
                </a:solidFill>
                <a:latin typeface="Calibri"/>
              </a:rPr>
              <a:t>CrewAI + DuckDuckGo MCP. Búsqueda web autónoma y razonada paso a paso.</a:t>
            </a:r>
          </a:p>
        </p:txBody>
      </p:sp>
    </p:spTree>
    <p:extLst>
      <p:ext uri="{BB962C8B-B14F-4D97-AF65-F5344CB8AC3E}">
        <p14:creationId xmlns:p14="http://schemas.microsoft.com/office/powerpoint/2010/main" val="21453306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10"/>
          <p:cNvSpPr/>
          <p:nvPr/>
        </p:nvSpPr>
        <p:spPr>
          <a:xfrm>
            <a:off x="762000" y="3000561"/>
            <a:ext cx="4868726" cy="2520218"/>
          </a:xfrm>
          <a:prstGeom prst="roundRect">
            <a:avLst>
              <a:gd name="adj" fmla="val 1512"/>
            </a:avLst>
          </a:prstGeom>
          <a:solidFill>
            <a:srgbClr val="FFFFFF"/>
          </a:solidFill>
          <a:ln w="11906">
            <a:solidFill>
              <a:srgbClr val="D9DEE9"/>
            </a:solidFill>
            <a:prstDash val="solid"/>
          </a:ln>
          <a:effectLst>
            <a:outerShdw blurRad="101600" dist="25400" dir="5400000" algn="t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_tradnl"/>
          </a:p>
        </p:txBody>
      </p:sp>
      <p:sp>
        <p:nvSpPr>
          <p:cNvPr id="13" name="Text 11"/>
          <p:cNvSpPr/>
          <p:nvPr/>
        </p:nvSpPr>
        <p:spPr>
          <a:xfrm>
            <a:off x="1040495" y="3279056"/>
            <a:ext cx="4441089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75" b="1" kern="0" spc="176">
                <a:solidFill>
                  <a:srgbClr val="9C7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</a:t>
            </a:r>
            <a:endParaRPr lang="en-US" sz="975"/>
          </a:p>
        </p:txBody>
      </p:sp>
      <p:sp>
        <p:nvSpPr>
          <p:cNvPr id="14" name="Text 12"/>
          <p:cNvSpPr/>
          <p:nvPr/>
        </p:nvSpPr>
        <p:spPr>
          <a:xfrm>
            <a:off x="1040495" y="3548063"/>
            <a:ext cx="4441089" cy="2881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kern="0" spc="-8">
                <a:solidFill>
                  <a:srgbClr val="0A1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Nombre de empresa</a:t>
            </a:r>
            <a:endParaRPr lang="en-US" sz="1650"/>
          </a:p>
        </p:txBody>
      </p:sp>
      <p:sp>
        <p:nvSpPr>
          <p:cNvPr id="15" name="Shape 13"/>
          <p:cNvSpPr/>
          <p:nvPr/>
        </p:nvSpPr>
        <p:spPr>
          <a:xfrm>
            <a:off x="1040495" y="3931295"/>
            <a:ext cx="4311737" cy="456902"/>
          </a:xfrm>
          <a:prstGeom prst="rect">
            <a:avLst/>
          </a:prstGeom>
          <a:solidFill>
            <a:srgbClr val="F2F5FA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16" name="Shape 14"/>
          <p:cNvSpPr/>
          <p:nvPr/>
        </p:nvSpPr>
        <p:spPr>
          <a:xfrm>
            <a:off x="1040495" y="3931295"/>
            <a:ext cx="23813" cy="456902"/>
          </a:xfrm>
          <a:prstGeom prst="rect">
            <a:avLst/>
          </a:prstGeom>
          <a:solidFill>
            <a:srgbClr val="18386F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17" name="Text 15"/>
          <p:cNvSpPr/>
          <p:nvPr/>
        </p:nvSpPr>
        <p:spPr>
          <a:xfrm>
            <a:off x="1197657" y="4064645"/>
            <a:ext cx="4150576" cy="2283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>
                <a:solidFill>
                  <a:srgbClr val="0A1F4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"Inditex"</a:t>
            </a:r>
            <a:endParaRPr lang="en-US" sz="1125"/>
          </a:p>
        </p:txBody>
      </p:sp>
      <p:sp>
        <p:nvSpPr>
          <p:cNvPr id="18" name="Text 16"/>
          <p:cNvSpPr/>
          <p:nvPr/>
        </p:nvSpPr>
        <p:spPr>
          <a:xfrm>
            <a:off x="1040495" y="4521398"/>
            <a:ext cx="4441089" cy="45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50">
                <a:solidFill>
                  <a:srgbClr val="2A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un documento PDF/Excel con activos. O simplemente un nombre y dejamos al agente buscar.</a:t>
            </a:r>
            <a:endParaRPr lang="en-US" sz="1050"/>
          </a:p>
        </p:txBody>
      </p:sp>
      <p:sp>
        <p:nvSpPr>
          <p:cNvPr id="19" name="Shape 17"/>
          <p:cNvSpPr/>
          <p:nvPr/>
        </p:nvSpPr>
        <p:spPr>
          <a:xfrm>
            <a:off x="5859177" y="3000561"/>
            <a:ext cx="6569646" cy="2520218"/>
          </a:xfrm>
          <a:prstGeom prst="rect">
            <a:avLst/>
          </a:prstGeom>
          <a:solidFill>
            <a:srgbClr val="0A1F44"/>
          </a:solidFill>
          <a:ln/>
          <a:effectLst>
            <a:outerShdw blurRad="101600" dist="25400" dir="5400000" algn="t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_tradnl"/>
          </a:p>
        </p:txBody>
      </p:sp>
      <p:sp>
        <p:nvSpPr>
          <p:cNvPr id="20" name="Text 18"/>
          <p:cNvSpPr/>
          <p:nvPr/>
        </p:nvSpPr>
        <p:spPr>
          <a:xfrm>
            <a:off x="6125766" y="3267149"/>
            <a:ext cx="6217563" cy="2166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>
                <a:solidFill>
                  <a:srgbClr val="D1A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</a:t>
            </a:r>
            <a:endParaRPr lang="en-US" sz="1200"/>
          </a:p>
        </p:txBody>
      </p:sp>
      <p:sp>
        <p:nvSpPr>
          <p:cNvPr id="21" name="Text 19"/>
          <p:cNvSpPr/>
          <p:nvPr/>
        </p:nvSpPr>
        <p:spPr>
          <a:xfrm>
            <a:off x="6125766" y="3623965"/>
            <a:ext cx="6217563" cy="2643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404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GeoAssets Intelligence</a:t>
            </a:r>
            <a:endParaRPr lang="en-US" sz="1404"/>
          </a:p>
        </p:txBody>
      </p:sp>
      <p:sp>
        <p:nvSpPr>
          <p:cNvPr id="22" name="Shape 20"/>
          <p:cNvSpPr/>
          <p:nvPr/>
        </p:nvSpPr>
        <p:spPr>
          <a:xfrm>
            <a:off x="6125766" y="4028405"/>
            <a:ext cx="1948532" cy="649635"/>
          </a:xfrm>
          <a:prstGeom prst="rect">
            <a:avLst/>
          </a:prstGeom>
          <a:solidFill>
            <a:srgbClr val="FFFFFF">
              <a:alpha val="6000"/>
            </a:srgbClr>
          </a:solidFill>
          <a:ln w="11906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23" name="Text 21"/>
          <p:cNvSpPr/>
          <p:nvPr/>
        </p:nvSpPr>
        <p:spPr>
          <a:xfrm>
            <a:off x="6270873" y="4173513"/>
            <a:ext cx="1734517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kern="0" spc="83">
                <a:solidFill>
                  <a:srgbClr val="D1AE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PIPELINE 1</a:t>
            </a:r>
            <a:endParaRPr lang="en-US" sz="825"/>
          </a:p>
        </p:txBody>
      </p:sp>
      <p:sp>
        <p:nvSpPr>
          <p:cNvPr id="24" name="Text 22"/>
          <p:cNvSpPr/>
          <p:nvPr/>
        </p:nvSpPr>
        <p:spPr>
          <a:xfrm>
            <a:off x="6270873" y="4354339"/>
            <a:ext cx="1734517" cy="2166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Maps API</a:t>
            </a:r>
            <a:endParaRPr lang="en-US" sz="1200"/>
          </a:p>
        </p:txBody>
      </p:sp>
      <p:sp>
        <p:nvSpPr>
          <p:cNvPr id="25" name="Shape 23"/>
          <p:cNvSpPr/>
          <p:nvPr/>
        </p:nvSpPr>
        <p:spPr>
          <a:xfrm>
            <a:off x="8169548" y="4028405"/>
            <a:ext cx="1948718" cy="649635"/>
          </a:xfrm>
          <a:prstGeom prst="rect">
            <a:avLst/>
          </a:prstGeom>
          <a:solidFill>
            <a:srgbClr val="FFFFFF">
              <a:alpha val="6000"/>
            </a:srgbClr>
          </a:solidFill>
          <a:ln w="11906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26" name="Text 24"/>
          <p:cNvSpPr/>
          <p:nvPr/>
        </p:nvSpPr>
        <p:spPr>
          <a:xfrm>
            <a:off x="8314655" y="4173513"/>
            <a:ext cx="1734703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kern="0" spc="83">
                <a:solidFill>
                  <a:srgbClr val="D1AE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PIPELINE 2</a:t>
            </a:r>
            <a:endParaRPr lang="en-US" sz="825"/>
          </a:p>
        </p:txBody>
      </p:sp>
      <p:sp>
        <p:nvSpPr>
          <p:cNvPr id="27" name="Text 25"/>
          <p:cNvSpPr/>
          <p:nvPr/>
        </p:nvSpPr>
        <p:spPr>
          <a:xfrm>
            <a:off x="8314655" y="4354339"/>
            <a:ext cx="1734703" cy="2166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Documento</a:t>
            </a:r>
            <a:endParaRPr lang="en-US" sz="1200"/>
          </a:p>
        </p:txBody>
      </p:sp>
      <p:sp>
        <p:nvSpPr>
          <p:cNvPr id="28" name="Shape 26"/>
          <p:cNvSpPr/>
          <p:nvPr/>
        </p:nvSpPr>
        <p:spPr>
          <a:xfrm>
            <a:off x="10213516" y="4028405"/>
            <a:ext cx="1948718" cy="649635"/>
          </a:xfrm>
          <a:prstGeom prst="rect">
            <a:avLst/>
          </a:prstGeom>
          <a:solidFill>
            <a:srgbClr val="FFFFFF">
              <a:alpha val="6000"/>
            </a:srgbClr>
          </a:solidFill>
          <a:ln w="11906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29" name="Text 27"/>
          <p:cNvSpPr/>
          <p:nvPr/>
        </p:nvSpPr>
        <p:spPr>
          <a:xfrm>
            <a:off x="10358624" y="4173513"/>
            <a:ext cx="1734703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kern="0" spc="83">
                <a:solidFill>
                  <a:srgbClr val="D1AE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PIPELINE 3</a:t>
            </a:r>
            <a:endParaRPr lang="en-US" sz="825"/>
          </a:p>
        </p:txBody>
      </p:sp>
      <p:sp>
        <p:nvSpPr>
          <p:cNvPr id="30" name="Text 28"/>
          <p:cNvSpPr/>
          <p:nvPr/>
        </p:nvSpPr>
        <p:spPr>
          <a:xfrm>
            <a:off x="10358624" y="4354339"/>
            <a:ext cx="1734703" cy="2166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Agente IA</a:t>
            </a:r>
            <a:endParaRPr lang="en-US" sz="1200"/>
          </a:p>
        </p:txBody>
      </p:sp>
      <p:sp>
        <p:nvSpPr>
          <p:cNvPr id="31" name="Text 29"/>
          <p:cNvSpPr/>
          <p:nvPr/>
        </p:nvSpPr>
        <p:spPr>
          <a:xfrm>
            <a:off x="6125766" y="4849378"/>
            <a:ext cx="6217563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>
                <a:solidFill>
                  <a:srgbClr val="FFFFFF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Localiza · clasifica en 12 categorías · puntúa cada activo con un </a:t>
            </a:r>
            <a:r>
              <a:rPr lang="en-US" sz="1050" b="1">
                <a:solidFill>
                  <a:srgbClr val="D1A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0–100 </a:t>
            </a:r>
            <a:r>
              <a:rPr lang="en-US" sz="1050">
                <a:solidFill>
                  <a:srgbClr val="FFFFFF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un tier de confianza.</a:t>
            </a:r>
            <a:endParaRPr lang="en-US" sz="1050"/>
          </a:p>
        </p:txBody>
      </p:sp>
      <p:sp>
        <p:nvSpPr>
          <p:cNvPr id="32" name="Shape 30"/>
          <p:cNvSpPr/>
          <p:nvPr/>
        </p:nvSpPr>
        <p:spPr>
          <a:xfrm>
            <a:off x="12657274" y="3000561"/>
            <a:ext cx="4868726" cy="2520218"/>
          </a:xfrm>
          <a:prstGeom prst="roundRect">
            <a:avLst>
              <a:gd name="adj" fmla="val 1512"/>
            </a:avLst>
          </a:prstGeom>
          <a:solidFill>
            <a:srgbClr val="FFFFFF"/>
          </a:solidFill>
          <a:ln w="11906">
            <a:solidFill>
              <a:srgbClr val="D9DEE9"/>
            </a:solidFill>
            <a:prstDash val="solid"/>
          </a:ln>
          <a:effectLst>
            <a:outerShdw blurRad="101600" dist="25400" dir="5400000" algn="t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_tradnl"/>
          </a:p>
        </p:txBody>
      </p:sp>
      <p:sp>
        <p:nvSpPr>
          <p:cNvPr id="33" name="Text 31"/>
          <p:cNvSpPr/>
          <p:nvPr/>
        </p:nvSpPr>
        <p:spPr>
          <a:xfrm>
            <a:off x="12935769" y="3279056"/>
            <a:ext cx="4441089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75" b="1" kern="0" spc="176">
                <a:solidFill>
                  <a:srgbClr val="9C7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975"/>
          </a:p>
        </p:txBody>
      </p:sp>
      <p:sp>
        <p:nvSpPr>
          <p:cNvPr id="34" name="Text 32"/>
          <p:cNvSpPr/>
          <p:nvPr/>
        </p:nvSpPr>
        <p:spPr>
          <a:xfrm>
            <a:off x="12935769" y="3548063"/>
            <a:ext cx="4441089" cy="2881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kern="0" spc="-8">
                <a:solidFill>
                  <a:srgbClr val="0A1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Mapa + dataset</a:t>
            </a:r>
            <a:endParaRPr lang="en-US" sz="1650"/>
          </a:p>
        </p:txBody>
      </p:sp>
      <p:sp>
        <p:nvSpPr>
          <p:cNvPr id="35" name="Shape 33"/>
          <p:cNvSpPr/>
          <p:nvPr/>
        </p:nvSpPr>
        <p:spPr>
          <a:xfrm>
            <a:off x="12935769" y="3931295"/>
            <a:ext cx="910642" cy="280913"/>
          </a:xfrm>
          <a:prstGeom prst="roundRect">
            <a:avLst>
              <a:gd name="adj" fmla="val 50000"/>
            </a:avLst>
          </a:prstGeom>
          <a:solidFill>
            <a:srgbClr val="E5F1EB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36" name="Text 34"/>
          <p:cNvSpPr/>
          <p:nvPr/>
        </p:nvSpPr>
        <p:spPr>
          <a:xfrm>
            <a:off x="13061975" y="4000351"/>
            <a:ext cx="734430" cy="1809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900" b="1" kern="0" spc="54">
                <a:solidFill>
                  <a:srgbClr val="2E7D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≥ 70</a:t>
            </a:r>
            <a:endParaRPr lang="en-US" sz="900"/>
          </a:p>
        </p:txBody>
      </p:sp>
      <p:sp>
        <p:nvSpPr>
          <p:cNvPr id="37" name="Text 35"/>
          <p:cNvSpPr/>
          <p:nvPr/>
        </p:nvSpPr>
        <p:spPr>
          <a:xfrm>
            <a:off x="13922499" y="4000314"/>
            <a:ext cx="1052326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050">
                <a:solidFill>
                  <a:srgbClr val="5C65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Validable directo</a:t>
            </a:r>
            <a:endParaRPr lang="en-US" sz="1050"/>
          </a:p>
        </p:txBody>
      </p:sp>
      <p:sp>
        <p:nvSpPr>
          <p:cNvPr id="38" name="Shape 36"/>
          <p:cNvSpPr/>
          <p:nvPr/>
        </p:nvSpPr>
        <p:spPr>
          <a:xfrm>
            <a:off x="12935769" y="4288296"/>
            <a:ext cx="1238436" cy="269007"/>
          </a:xfrm>
          <a:prstGeom prst="roundRect">
            <a:avLst>
              <a:gd name="adj" fmla="val 50000"/>
            </a:avLst>
          </a:prstGeom>
          <a:solidFill>
            <a:srgbClr val="FAEFDC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39" name="Text 37"/>
          <p:cNvSpPr/>
          <p:nvPr/>
        </p:nvSpPr>
        <p:spPr>
          <a:xfrm>
            <a:off x="13061975" y="4357353"/>
            <a:ext cx="1062224" cy="1689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00" b="1" kern="0" spc="54">
                <a:solidFill>
                  <a:srgbClr val="C57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 40–69</a:t>
            </a:r>
            <a:endParaRPr lang="en-US" sz="900"/>
          </a:p>
        </p:txBody>
      </p:sp>
      <p:sp>
        <p:nvSpPr>
          <p:cNvPr id="40" name="Text 38"/>
          <p:cNvSpPr/>
          <p:nvPr/>
        </p:nvSpPr>
        <p:spPr>
          <a:xfrm>
            <a:off x="14250293" y="4351362"/>
            <a:ext cx="99540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050">
                <a:solidFill>
                  <a:srgbClr val="5C65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Revisión rápida</a:t>
            </a:r>
            <a:endParaRPr lang="en-US" sz="1050"/>
          </a:p>
        </p:txBody>
      </p:sp>
      <p:sp>
        <p:nvSpPr>
          <p:cNvPr id="41" name="Shape 39"/>
          <p:cNvSpPr/>
          <p:nvPr/>
        </p:nvSpPr>
        <p:spPr>
          <a:xfrm>
            <a:off x="12935769" y="4633392"/>
            <a:ext cx="883667" cy="269007"/>
          </a:xfrm>
          <a:prstGeom prst="roundRect">
            <a:avLst>
              <a:gd name="adj" fmla="val 50000"/>
            </a:avLst>
          </a:prstGeom>
          <a:solidFill>
            <a:srgbClr val="F4DCE0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42" name="Text 40"/>
          <p:cNvSpPr/>
          <p:nvPr/>
        </p:nvSpPr>
        <p:spPr>
          <a:xfrm>
            <a:off x="13061975" y="4702448"/>
            <a:ext cx="707454" cy="1689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00" b="1" kern="0" spc="54">
                <a:solidFill>
                  <a:srgbClr val="B938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&lt; 40</a:t>
            </a:r>
            <a:endParaRPr lang="en-US" sz="900"/>
          </a:p>
        </p:txBody>
      </p:sp>
      <p:sp>
        <p:nvSpPr>
          <p:cNvPr id="43" name="Text 41"/>
          <p:cNvSpPr/>
          <p:nvPr/>
        </p:nvSpPr>
        <p:spPr>
          <a:xfrm>
            <a:off x="13895524" y="4696458"/>
            <a:ext cx="78778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050">
                <a:solidFill>
                  <a:srgbClr val="5C65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Descartable</a:t>
            </a:r>
            <a:endParaRPr lang="en-US" sz="1050"/>
          </a:p>
        </p:txBody>
      </p:sp>
      <p:sp>
        <p:nvSpPr>
          <p:cNvPr id="44" name="Text 42"/>
          <p:cNvSpPr/>
          <p:nvPr/>
        </p:nvSpPr>
        <p:spPr>
          <a:xfrm>
            <a:off x="12935769" y="5035600"/>
            <a:ext cx="4441089" cy="24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50">
                <a:solidFill>
                  <a:srgbClr val="2A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Exportable a CSV / Excel con todos los campos y las señales del score.</a:t>
            </a:r>
            <a:endParaRPr lang="en-US" sz="1050"/>
          </a:p>
        </p:txBody>
      </p:sp>
      <p:sp>
        <p:nvSpPr>
          <p:cNvPr id="45" name="Text 43"/>
          <p:cNvSpPr/>
          <p:nvPr/>
        </p:nvSpPr>
        <p:spPr>
          <a:xfrm>
            <a:off x="762000" y="5901779"/>
            <a:ext cx="17266920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75" b="1" kern="0" spc="176">
                <a:solidFill>
                  <a:srgbClr val="5C65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KPIS DE ÉXITO DEFINIDOS</a:t>
            </a:r>
            <a:endParaRPr lang="en-US" sz="975"/>
          </a:p>
        </p:txBody>
      </p:sp>
      <p:sp>
        <p:nvSpPr>
          <p:cNvPr id="46" name="Shape 44"/>
          <p:cNvSpPr/>
          <p:nvPr/>
        </p:nvSpPr>
        <p:spPr>
          <a:xfrm>
            <a:off x="762000" y="6227899"/>
            <a:ext cx="5435575" cy="1333128"/>
          </a:xfrm>
          <a:prstGeom prst="roundRect">
            <a:avLst>
              <a:gd name="adj" fmla="val 2858"/>
            </a:avLst>
          </a:prstGeom>
          <a:solidFill>
            <a:srgbClr val="F2F5FA"/>
          </a:solidFill>
          <a:ln w="11906">
            <a:solidFill>
              <a:srgbClr val="E5EAF3"/>
            </a:solidFill>
            <a:prstDash val="solid"/>
          </a:ln>
          <a:effectLst>
            <a:outerShdw blurRad="101600" dist="25400" dir="5400000" algn="t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_tradnl"/>
          </a:p>
        </p:txBody>
      </p:sp>
      <p:sp>
        <p:nvSpPr>
          <p:cNvPr id="47" name="Text 45"/>
          <p:cNvSpPr/>
          <p:nvPr/>
        </p:nvSpPr>
        <p:spPr>
          <a:xfrm>
            <a:off x="1002357" y="6355080"/>
            <a:ext cx="228600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800" b="1" kern="0" spc="-96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 80%</a:t>
            </a:r>
            <a:endParaRPr lang="en-US" sz="4800"/>
          </a:p>
        </p:txBody>
      </p:sp>
      <p:sp>
        <p:nvSpPr>
          <p:cNvPr id="48" name="Text 46"/>
          <p:cNvSpPr/>
          <p:nvPr/>
        </p:nvSpPr>
        <p:spPr>
          <a:xfrm>
            <a:off x="1002357" y="7205472"/>
            <a:ext cx="5103506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00" b="1" kern="0" spc="42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COBERTURA DE ACTIVOS CONOCIDOS</a:t>
            </a:r>
            <a:endParaRPr lang="en-US" sz="1050"/>
          </a:p>
        </p:txBody>
      </p:sp>
      <p:sp>
        <p:nvSpPr>
          <p:cNvPr id="49" name="Shape 47"/>
          <p:cNvSpPr/>
          <p:nvPr/>
        </p:nvSpPr>
        <p:spPr>
          <a:xfrm>
            <a:off x="6426026" y="6227899"/>
            <a:ext cx="5435761" cy="1333128"/>
          </a:xfrm>
          <a:prstGeom prst="roundRect">
            <a:avLst>
              <a:gd name="adj" fmla="val 2858"/>
            </a:avLst>
          </a:prstGeom>
          <a:solidFill>
            <a:srgbClr val="F2F5FA"/>
          </a:solidFill>
          <a:ln w="11906">
            <a:solidFill>
              <a:srgbClr val="E5EAF3"/>
            </a:solidFill>
            <a:prstDash val="solid"/>
          </a:ln>
          <a:effectLst>
            <a:outerShdw blurRad="101600" dist="25400" dir="5400000" algn="t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_tradnl"/>
          </a:p>
        </p:txBody>
      </p:sp>
      <p:sp>
        <p:nvSpPr>
          <p:cNvPr id="50" name="Text 48"/>
          <p:cNvSpPr/>
          <p:nvPr/>
        </p:nvSpPr>
        <p:spPr>
          <a:xfrm>
            <a:off x="6666384" y="6355080"/>
            <a:ext cx="228600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800" b="1" kern="0" spc="-96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 60%</a:t>
            </a:r>
            <a:endParaRPr lang="en-US" sz="4800"/>
          </a:p>
        </p:txBody>
      </p:sp>
      <p:sp>
        <p:nvSpPr>
          <p:cNvPr id="51" name="Text 49"/>
          <p:cNvSpPr/>
          <p:nvPr/>
        </p:nvSpPr>
        <p:spPr>
          <a:xfrm>
            <a:off x="6666384" y="7205472"/>
            <a:ext cx="5103698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00" b="1" kern="0" spc="42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RESULTADOS EN TIER HIGH</a:t>
            </a:r>
            <a:endParaRPr lang="en-US" sz="1050"/>
          </a:p>
        </p:txBody>
      </p:sp>
      <p:sp>
        <p:nvSpPr>
          <p:cNvPr id="52" name="Shape 50"/>
          <p:cNvSpPr/>
          <p:nvPr/>
        </p:nvSpPr>
        <p:spPr>
          <a:xfrm>
            <a:off x="12090239" y="6227899"/>
            <a:ext cx="5435575" cy="1333128"/>
          </a:xfrm>
          <a:prstGeom prst="roundRect">
            <a:avLst>
              <a:gd name="adj" fmla="val 2858"/>
            </a:avLst>
          </a:prstGeom>
          <a:solidFill>
            <a:srgbClr val="F2F5FA"/>
          </a:solidFill>
          <a:ln w="11906">
            <a:solidFill>
              <a:srgbClr val="E5EAF3"/>
            </a:solidFill>
            <a:prstDash val="solid"/>
          </a:ln>
          <a:effectLst>
            <a:outerShdw blurRad="101600" dist="25400" dir="5400000" algn="t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_tradnl"/>
          </a:p>
        </p:txBody>
      </p:sp>
      <p:sp>
        <p:nvSpPr>
          <p:cNvPr id="53" name="Text 51"/>
          <p:cNvSpPr/>
          <p:nvPr/>
        </p:nvSpPr>
        <p:spPr>
          <a:xfrm>
            <a:off x="12330596" y="6355080"/>
            <a:ext cx="228600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800" b="1" kern="0" spc="-96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4800"/>
          </a:p>
        </p:txBody>
      </p:sp>
      <p:sp>
        <p:nvSpPr>
          <p:cNvPr id="54" name="Text 52"/>
          <p:cNvSpPr/>
          <p:nvPr/>
        </p:nvSpPr>
        <p:spPr>
          <a:xfrm>
            <a:off x="12330596" y="7205472"/>
            <a:ext cx="5103506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00" b="1" kern="0" spc="42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CATEGORÍAS DE ACTIVO DEFINIDAS</a:t>
            </a:r>
            <a:endParaRPr lang="en-US" sz="1050"/>
          </a:p>
        </p:txBody>
      </p:sp>
      <p:grpSp>
        <p:nvGrpSpPr>
          <p:cNvPr id="9000" name="MS Header Group"/>
          <p:cNvGrpSpPr/>
          <p:nvPr/>
        </p:nvGrpSpPr>
        <p:grpSpPr>
          <a:xfrm>
            <a:off x="282819" y="579094"/>
            <a:ext cx="13786134" cy="1057874"/>
            <a:chOff x="92172" y="275827"/>
            <a:chExt cx="9190756" cy="705249"/>
          </a:xfrm>
        </p:grpSpPr>
        <p:sp>
          <p:nvSpPr>
            <p:cNvPr id="9001" name="MS Title Box"/>
            <p:cNvSpPr>
              <a:spLocks noChangeArrowheads="1"/>
            </p:cNvSpPr>
            <p:nvPr/>
          </p:nvSpPr>
          <p:spPr bwMode="gray">
            <a:xfrm>
              <a:off x="776292" y="404814"/>
              <a:ext cx="8506636" cy="576262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37160" tIns="68580" rIns="137160" bIns="68580" anchor="ctr"/>
            <a:lstStyle/>
            <a:p>
              <a:pPr>
                <a:lnSpc>
                  <a:spcPts val="3150"/>
                </a:lnSpc>
              </a:pPr>
              <a:r>
                <a:rPr lang="es-ES" sz="3000" b="1">
                  <a:solidFill>
                    <a:srgbClr val="002569"/>
                  </a:solidFill>
                  <a:latin typeface="Arial"/>
                </a:rPr>
                <a:t>Un sistema end-to-end con mínima intervención humana</a:t>
              </a:r>
            </a:p>
            <a:p>
              <a:r>
                <a:rPr lang="es-ES" sz="2700">
                  <a:solidFill>
                    <a:srgbClr val="E0D399">
                      <a:lumMod val="75000"/>
                    </a:srgbClr>
                  </a:solidFill>
                  <a:latin typeface="Arial"/>
                </a:rPr>
                <a:t>OBJETIVO Y ALCANCE</a:t>
              </a:r>
            </a:p>
          </p:txBody>
        </p:sp>
        <p:sp>
          <p:nvSpPr>
            <p:cNvPr id="9002" name="MS Number"/>
            <p:cNvSpPr>
              <a:spLocks noChangeArrowheads="1"/>
            </p:cNvSpPr>
            <p:nvPr/>
          </p:nvSpPr>
          <p:spPr bwMode="gray">
            <a:xfrm>
              <a:off x="92172" y="275827"/>
              <a:ext cx="477819" cy="70014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148523" tIns="74261" rIns="148523" bIns="74261">
              <a:spAutoFit/>
            </a:bodyPr>
            <a:lstStyle/>
            <a:p>
              <a:pPr algn="ctr"/>
              <a:r>
                <a:rPr lang="es-ES" sz="5850" b="1" kern="0">
                  <a:solidFill>
                    <a:srgbClr val="002569"/>
                  </a:solidFill>
                  <a:latin typeface="Arial"/>
                </a:rPr>
                <a:t>1</a:t>
              </a:r>
            </a:p>
          </p:txBody>
        </p:sp>
        <p:cxnSp>
          <p:nvCxnSpPr>
            <p:cNvPr id="9003" name="MS Header Bar"/>
            <p:cNvCxnSpPr/>
            <p:nvPr/>
          </p:nvCxnSpPr>
          <p:spPr>
            <a:xfrm>
              <a:off x="570525" y="404814"/>
              <a:ext cx="0" cy="526647"/>
            </a:xfrm>
            <a:prstGeom prst="line">
              <a:avLst/>
            </a:prstGeom>
            <a:ln>
              <a:solidFill>
                <a:schemeClr val="tx2"/>
              </a:solidFill>
            </a:ln>
          </p:spPr>
        </p:cxnSp>
      </p:grpSp>
    </p:spTree>
    <p:extLst>
      <p:ext uri="{BB962C8B-B14F-4D97-AF65-F5344CB8AC3E}">
        <p14:creationId xmlns:p14="http://schemas.microsoft.com/office/powerpoint/2010/main" val="14078248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26D4868-8701-1324-CB15-FBA257066D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6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255256"/>
            <a:ext cx="18288000" cy="9729788"/>
          </a:xfrm>
          <a:prstGeom prst="rect">
            <a:avLst/>
          </a:prstGeom>
        </p:spPr>
      </p:pic>
      <p:graphicFrame>
        <p:nvGraphicFramePr>
          <p:cNvPr id="6" name="Object 5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4369" y="3848"/>
          <a:ext cx="3176" cy="31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270" imgH="270" progId="TCLayout.ActiveDocument.1">
                  <p:embed/>
                </p:oleObj>
              </mc:Choice>
              <mc:Fallback>
                <p:oleObj name="think-cell Slide" r:id="rId5" imgW="270" imgH="270" progId="TCLayout.ActiveDocument.1">
                  <p:embed/>
                  <p:pic>
                    <p:nvPicPr>
                      <p:cNvPr id="6" name="Object 5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369" y="3848"/>
                        <a:ext cx="3176" cy="317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" name="TextBox 23">
            <a:extLst>
              <a:ext uri="{FF2B5EF4-FFF2-40B4-BE49-F238E27FC236}">
                <a16:creationId xmlns:a16="http://schemas.microsoft.com/office/drawing/2014/main" id="{25FFD7D5-7622-4CE1-9525-56F18FF62B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1327" y="812469"/>
            <a:ext cx="6823923" cy="901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60895" tIns="80445" rIns="160895" bIns="80445" anchor="t">
            <a:spAutoFit/>
          </a:bodyPr>
          <a:lstStyle>
            <a:defPPr>
              <a:defRPr lang="es-E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defRPr/>
            </a:pPr>
            <a:r>
              <a:rPr lang="es-ES" sz="4800" b="1" noProof="0">
                <a:solidFill>
                  <a:srgbClr val="FFFFFF"/>
                </a:solidFill>
                <a:latin typeface="+mj-lt"/>
                <a:cs typeface="Arial"/>
                <a:sym typeface="Arial"/>
              </a:rPr>
              <a:t>Índice</a:t>
            </a:r>
            <a:endParaRPr lang="es-ES" sz="4800" b="1" noProof="0">
              <a:solidFill>
                <a:srgbClr val="FFFFFF"/>
              </a:solidFill>
              <a:latin typeface="+mj-lt"/>
              <a:cs typeface="Arial"/>
            </a:endParaRPr>
          </a:p>
        </p:txBody>
      </p:sp>
      <p:grpSp>
        <p:nvGrpSpPr>
          <p:cNvPr id="2000" name="IdxGroup0"/>
          <p:cNvGrpSpPr/>
          <p:nvPr/>
        </p:nvGrpSpPr>
        <p:grpSpPr>
          <a:xfrm>
            <a:off x="2047897" y="2536436"/>
            <a:ext cx="8604329" cy="571050"/>
            <a:chOff x="969531" y="947475"/>
            <a:chExt cx="5736219" cy="380700"/>
          </a:xfrm>
        </p:grpSpPr>
        <p:sp>
          <p:nvSpPr>
            <p:cNvPr id="2001" name="IdxNum0"/>
            <p:cNvSpPr txBox="1"/>
            <p:nvPr/>
          </p:nvSpPr>
          <p:spPr>
            <a:xfrm>
              <a:off x="969531" y="947475"/>
              <a:ext cx="564600" cy="38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688" tIns="118688" rIns="118688" bIns="118688" anchor="ctr" anchorCtr="0">
              <a:noAutofit/>
            </a:bodyPr>
            <a:lstStyle/>
            <a:p>
              <a:pPr>
                <a:buClr>
                  <a:srgbClr val="000000"/>
                </a:buClr>
                <a:buSzPts val="1900"/>
              </a:pPr>
              <a:r>
                <a:rPr lang="es-ES" sz="2850" b="1">
                  <a:solidFill>
                    <a:schemeClr val="bg2">
                      <a:lumMod val="60000"/>
                      <a:lumOff val="40000"/>
                    </a:schemeClr>
                  </a:solidFill>
                  <a:latin typeface="+mj-lt"/>
                  <a:ea typeface="Lato Black"/>
                  <a:cs typeface="Lato Black"/>
                  <a:sym typeface="Lato Black"/>
                </a:rPr>
                <a:t>01</a:t>
              </a:r>
            </a:p>
          </p:txBody>
        </p:sp>
        <p:sp>
          <p:nvSpPr>
            <p:cNvPr id="2002" name="IdxTitle0"/>
            <p:cNvSpPr txBox="1"/>
            <p:nvPr/>
          </p:nvSpPr>
          <p:spPr>
            <a:xfrm>
              <a:off x="1708650" y="947475"/>
              <a:ext cx="4997100" cy="38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688" tIns="118688" rIns="118688" bIns="118688" anchor="ctr" anchorCtr="0">
              <a:noAutofit/>
            </a:bodyPr>
            <a:lstStyle/>
            <a:p>
              <a:r>
                <a:rPr lang="es-ES" sz="2400" b="1">
                  <a:solidFill>
                    <a:schemeClr val="bg2">
                      <a:lumMod val="60000"/>
                      <a:lumOff val="40000"/>
                    </a:schemeClr>
                  </a:solidFill>
                  <a:latin typeface="+mj-lt"/>
                  <a:ea typeface="Lato Black"/>
                  <a:cs typeface="Lato Black"/>
                  <a:sym typeface="Lato Black"/>
                </a:rPr>
                <a:t>Contexto y oportunidad</a:t>
              </a:r>
            </a:p>
          </p:txBody>
        </p:sp>
        <p:cxnSp>
          <p:nvCxnSpPr>
            <p:cNvPr id="2003" name="IdxBar0"/>
            <p:cNvCxnSpPr/>
            <p:nvPr/>
          </p:nvCxnSpPr>
          <p:spPr>
            <a:xfrm>
              <a:off x="1515900" y="952425"/>
              <a:ext cx="0" cy="370800"/>
            </a:xfrm>
            <a:prstGeom prst="straightConnector1">
              <a:avLst/>
            </a:prstGeom>
            <a:noFill/>
            <a:ln w="28575" cap="flat" cmpd="sng">
              <a:solidFill>
                <a:schemeClr val="bg2">
                  <a:lumMod val="60000"/>
                  <a:lumOff val="4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010" name="IdxGroup1"/>
          <p:cNvGrpSpPr/>
          <p:nvPr/>
        </p:nvGrpSpPr>
        <p:grpSpPr>
          <a:xfrm>
            <a:off x="2047897" y="3171436"/>
            <a:ext cx="8604329" cy="571050"/>
            <a:chOff x="969531" y="947475"/>
            <a:chExt cx="5736219" cy="380700"/>
          </a:xfrm>
        </p:grpSpPr>
        <p:sp>
          <p:nvSpPr>
            <p:cNvPr id="2011" name="IdxNum1"/>
            <p:cNvSpPr txBox="1"/>
            <p:nvPr/>
          </p:nvSpPr>
          <p:spPr>
            <a:xfrm>
              <a:off x="969531" y="947475"/>
              <a:ext cx="564600" cy="38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688" tIns="118688" rIns="118688" bIns="118688" anchor="ctr" anchorCtr="0">
              <a:noAutofit/>
            </a:bodyPr>
            <a:lstStyle/>
            <a:p>
              <a:pPr>
                <a:buClr>
                  <a:srgbClr val="000000"/>
                </a:buClr>
                <a:buSzPts val="1900"/>
              </a:pPr>
              <a:r>
                <a:rPr lang="es-ES" sz="2850" b="1">
                  <a:solidFill>
                    <a:schemeClr val="bg1"/>
                  </a:solidFill>
                  <a:latin typeface="+mj-lt"/>
                  <a:ea typeface="Lato Black"/>
                  <a:cs typeface="Lato Black"/>
                  <a:sym typeface="Lato Black"/>
                </a:rPr>
                <a:t>02</a:t>
              </a:r>
            </a:p>
          </p:txBody>
        </p:sp>
        <p:sp>
          <p:nvSpPr>
            <p:cNvPr id="2012" name="IdxTitle1"/>
            <p:cNvSpPr txBox="1"/>
            <p:nvPr/>
          </p:nvSpPr>
          <p:spPr>
            <a:xfrm>
              <a:off x="1708650" y="947475"/>
              <a:ext cx="4997100" cy="38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688" tIns="118688" rIns="118688" bIns="118688" anchor="ctr" anchorCtr="0">
              <a:noAutofit/>
            </a:bodyPr>
            <a:lstStyle/>
            <a:p>
              <a:r>
                <a:rPr lang="es-ES" sz="2400" b="1">
                  <a:solidFill>
                    <a:schemeClr val="bg1"/>
                  </a:solidFill>
                  <a:latin typeface="+mj-lt"/>
                  <a:ea typeface="Lato Black"/>
                  <a:cs typeface="Lato Black"/>
                  <a:sym typeface="Lato Black"/>
                </a:rPr>
                <a:t>La solución</a:t>
              </a:r>
            </a:p>
          </p:txBody>
        </p:sp>
        <p:cxnSp>
          <p:nvCxnSpPr>
            <p:cNvPr id="2013" name="IdxBar1"/>
            <p:cNvCxnSpPr/>
            <p:nvPr/>
          </p:nvCxnSpPr>
          <p:spPr>
            <a:xfrm>
              <a:off x="1515900" y="952425"/>
              <a:ext cx="0" cy="370800"/>
            </a:xfrm>
            <a:prstGeom prst="straightConnector1">
              <a:avLst/>
            </a:prstGeom>
            <a:noFill/>
            <a:ln w="28575" cap="flat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020" name="IdxGroup2"/>
          <p:cNvGrpSpPr/>
          <p:nvPr/>
        </p:nvGrpSpPr>
        <p:grpSpPr>
          <a:xfrm>
            <a:off x="2047897" y="3806436"/>
            <a:ext cx="8604329" cy="571050"/>
            <a:chOff x="969531" y="947475"/>
            <a:chExt cx="5736219" cy="380700"/>
          </a:xfrm>
        </p:grpSpPr>
        <p:sp>
          <p:nvSpPr>
            <p:cNvPr id="2021" name="IdxNum2"/>
            <p:cNvSpPr txBox="1"/>
            <p:nvPr/>
          </p:nvSpPr>
          <p:spPr>
            <a:xfrm>
              <a:off x="969531" y="947475"/>
              <a:ext cx="564600" cy="38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688" tIns="118688" rIns="118688" bIns="118688" anchor="ctr" anchorCtr="0">
              <a:noAutofit/>
            </a:bodyPr>
            <a:lstStyle/>
            <a:p>
              <a:pPr>
                <a:buClr>
                  <a:srgbClr val="000000"/>
                </a:buClr>
                <a:buSzPts val="1900"/>
              </a:pPr>
              <a:r>
                <a:rPr lang="es-ES" sz="2850" b="1">
                  <a:solidFill>
                    <a:schemeClr val="bg2">
                      <a:lumMod val="60000"/>
                      <a:lumOff val="40000"/>
                    </a:schemeClr>
                  </a:solidFill>
                  <a:latin typeface="+mj-lt"/>
                  <a:ea typeface="Lato Black"/>
                  <a:cs typeface="Lato Black"/>
                  <a:sym typeface="Lato Black"/>
                </a:rPr>
                <a:t>03</a:t>
              </a:r>
            </a:p>
          </p:txBody>
        </p:sp>
        <p:sp>
          <p:nvSpPr>
            <p:cNvPr id="2022" name="IdxTitle2"/>
            <p:cNvSpPr txBox="1"/>
            <p:nvPr/>
          </p:nvSpPr>
          <p:spPr>
            <a:xfrm>
              <a:off x="1708650" y="947475"/>
              <a:ext cx="4997100" cy="38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688" tIns="118688" rIns="118688" bIns="118688" anchor="ctr" anchorCtr="0">
              <a:noAutofit/>
            </a:bodyPr>
            <a:lstStyle/>
            <a:p>
              <a:r>
                <a:rPr lang="es-ES" sz="2400" b="1">
                  <a:solidFill>
                    <a:schemeClr val="bg2">
                      <a:lumMod val="60000"/>
                      <a:lumOff val="40000"/>
                    </a:schemeClr>
                  </a:solidFill>
                  <a:latin typeface="+mj-lt"/>
                  <a:ea typeface="Lato Black"/>
                  <a:cs typeface="Lato Black"/>
                  <a:sym typeface="Lato Black"/>
                </a:rPr>
                <a:t>Arquitectura técnica</a:t>
              </a:r>
            </a:p>
          </p:txBody>
        </p:sp>
        <p:cxnSp>
          <p:nvCxnSpPr>
            <p:cNvPr id="2023" name="IdxBar2"/>
            <p:cNvCxnSpPr/>
            <p:nvPr/>
          </p:nvCxnSpPr>
          <p:spPr>
            <a:xfrm>
              <a:off x="1515900" y="952425"/>
              <a:ext cx="0" cy="370800"/>
            </a:xfrm>
            <a:prstGeom prst="straightConnector1">
              <a:avLst/>
            </a:prstGeom>
            <a:noFill/>
            <a:ln w="28575" cap="flat" cmpd="sng">
              <a:solidFill>
                <a:schemeClr val="bg2">
                  <a:lumMod val="60000"/>
                  <a:lumOff val="4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030" name="IdxGroup3"/>
          <p:cNvGrpSpPr/>
          <p:nvPr/>
        </p:nvGrpSpPr>
        <p:grpSpPr>
          <a:xfrm>
            <a:off x="2047897" y="4441436"/>
            <a:ext cx="8604329" cy="571050"/>
            <a:chOff x="969531" y="947475"/>
            <a:chExt cx="5736219" cy="380700"/>
          </a:xfrm>
        </p:grpSpPr>
        <p:sp>
          <p:nvSpPr>
            <p:cNvPr id="2031" name="IdxNum3"/>
            <p:cNvSpPr txBox="1"/>
            <p:nvPr/>
          </p:nvSpPr>
          <p:spPr>
            <a:xfrm>
              <a:off x="969531" y="947475"/>
              <a:ext cx="564600" cy="38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688" tIns="118688" rIns="118688" bIns="118688" anchor="ctr" anchorCtr="0">
              <a:noAutofit/>
            </a:bodyPr>
            <a:lstStyle/>
            <a:p>
              <a:pPr>
                <a:buClr>
                  <a:srgbClr val="000000"/>
                </a:buClr>
                <a:buSzPts val="1900"/>
              </a:pPr>
              <a:r>
                <a:rPr lang="es-ES" sz="2850" b="1">
                  <a:solidFill>
                    <a:schemeClr val="bg2">
                      <a:lumMod val="60000"/>
                      <a:lumOff val="40000"/>
                    </a:schemeClr>
                  </a:solidFill>
                  <a:latin typeface="+mj-lt"/>
                  <a:ea typeface="Lato Black"/>
                  <a:cs typeface="Lato Black"/>
                  <a:sym typeface="Lato Black"/>
                </a:rPr>
                <a:t>04</a:t>
              </a:r>
            </a:p>
          </p:txBody>
        </p:sp>
        <p:sp>
          <p:nvSpPr>
            <p:cNvPr id="2032" name="IdxTitle3"/>
            <p:cNvSpPr txBox="1"/>
            <p:nvPr/>
          </p:nvSpPr>
          <p:spPr>
            <a:xfrm>
              <a:off x="1708650" y="947475"/>
              <a:ext cx="4997100" cy="38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688" tIns="118688" rIns="118688" bIns="118688" anchor="ctr" anchorCtr="0">
              <a:noAutofit/>
            </a:bodyPr>
            <a:lstStyle/>
            <a:p>
              <a:r>
                <a:rPr lang="es-ES" sz="2400" b="1">
                  <a:solidFill>
                    <a:schemeClr val="bg2">
                      <a:lumMod val="60000"/>
                      <a:lumOff val="40000"/>
                    </a:schemeClr>
                  </a:solidFill>
                  <a:latin typeface="+mj-lt"/>
                  <a:ea typeface="Lato Black"/>
                  <a:cs typeface="Lato Black"/>
                  <a:sym typeface="Lato Black"/>
                </a:rPr>
                <a:t>Pipelines de análisis</a:t>
              </a:r>
            </a:p>
          </p:txBody>
        </p:sp>
        <p:cxnSp>
          <p:nvCxnSpPr>
            <p:cNvPr id="2033" name="IdxBar3"/>
            <p:cNvCxnSpPr/>
            <p:nvPr/>
          </p:nvCxnSpPr>
          <p:spPr>
            <a:xfrm>
              <a:off x="1515900" y="952425"/>
              <a:ext cx="0" cy="370800"/>
            </a:xfrm>
            <a:prstGeom prst="straightConnector1">
              <a:avLst/>
            </a:prstGeom>
            <a:noFill/>
            <a:ln w="28575" cap="flat" cmpd="sng">
              <a:solidFill>
                <a:schemeClr val="bg2">
                  <a:lumMod val="60000"/>
                  <a:lumOff val="4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040" name="IdxGroup4"/>
          <p:cNvGrpSpPr/>
          <p:nvPr/>
        </p:nvGrpSpPr>
        <p:grpSpPr>
          <a:xfrm>
            <a:off x="2047897" y="5076436"/>
            <a:ext cx="8604329" cy="571050"/>
            <a:chOff x="969531" y="947475"/>
            <a:chExt cx="5736219" cy="380700"/>
          </a:xfrm>
        </p:grpSpPr>
        <p:sp>
          <p:nvSpPr>
            <p:cNvPr id="2041" name="IdxNum4"/>
            <p:cNvSpPr txBox="1"/>
            <p:nvPr/>
          </p:nvSpPr>
          <p:spPr>
            <a:xfrm>
              <a:off x="969531" y="947475"/>
              <a:ext cx="564600" cy="38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688" tIns="118688" rIns="118688" bIns="118688" anchor="ctr" anchorCtr="0">
              <a:noAutofit/>
            </a:bodyPr>
            <a:lstStyle/>
            <a:p>
              <a:pPr>
                <a:buClr>
                  <a:srgbClr val="000000"/>
                </a:buClr>
                <a:buSzPts val="1900"/>
              </a:pPr>
              <a:r>
                <a:rPr lang="es-ES" sz="2850" b="1">
                  <a:solidFill>
                    <a:schemeClr val="bg2">
                      <a:lumMod val="60000"/>
                      <a:lumOff val="40000"/>
                    </a:schemeClr>
                  </a:solidFill>
                  <a:latin typeface="+mj-lt"/>
                  <a:ea typeface="Lato Black"/>
                  <a:cs typeface="Lato Black"/>
                  <a:sym typeface="Lato Black"/>
                </a:rPr>
                <a:t>05</a:t>
              </a:r>
            </a:p>
          </p:txBody>
        </p:sp>
        <p:sp>
          <p:nvSpPr>
            <p:cNvPr id="2042" name="IdxTitle4"/>
            <p:cNvSpPr txBox="1"/>
            <p:nvPr/>
          </p:nvSpPr>
          <p:spPr>
            <a:xfrm>
              <a:off x="1708650" y="947475"/>
              <a:ext cx="4997100" cy="38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688" tIns="118688" rIns="118688" bIns="118688" anchor="ctr" anchorCtr="0">
              <a:noAutofit/>
            </a:bodyPr>
            <a:lstStyle/>
            <a:p>
              <a:r>
                <a:rPr lang="es-ES" sz="2400" b="1">
                  <a:solidFill>
                    <a:schemeClr val="bg2">
                      <a:lumMod val="60000"/>
                      <a:lumOff val="40000"/>
                    </a:schemeClr>
                  </a:solidFill>
                  <a:latin typeface="+mj-lt"/>
                  <a:ea typeface="Lato Black"/>
                  <a:cs typeface="Lato Black"/>
                  <a:sym typeface="Lato Black"/>
                </a:rPr>
                <a:t>Demostración y resultados</a:t>
              </a:r>
            </a:p>
          </p:txBody>
        </p:sp>
        <p:cxnSp>
          <p:nvCxnSpPr>
            <p:cNvPr id="2043" name="IdxBar4"/>
            <p:cNvCxnSpPr/>
            <p:nvPr/>
          </p:nvCxnSpPr>
          <p:spPr>
            <a:xfrm>
              <a:off x="1515900" y="952425"/>
              <a:ext cx="0" cy="370800"/>
            </a:xfrm>
            <a:prstGeom prst="straightConnector1">
              <a:avLst/>
            </a:prstGeom>
            <a:noFill/>
            <a:ln w="28575" cap="flat" cmpd="sng">
              <a:solidFill>
                <a:schemeClr val="bg2">
                  <a:lumMod val="60000"/>
                  <a:lumOff val="4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050" name="IdxGroup5"/>
          <p:cNvGrpSpPr/>
          <p:nvPr/>
        </p:nvGrpSpPr>
        <p:grpSpPr>
          <a:xfrm>
            <a:off x="2047897" y="5711436"/>
            <a:ext cx="8604329" cy="571050"/>
            <a:chOff x="969531" y="947475"/>
            <a:chExt cx="5736219" cy="380700"/>
          </a:xfrm>
        </p:grpSpPr>
        <p:sp>
          <p:nvSpPr>
            <p:cNvPr id="2051" name="IdxNum5"/>
            <p:cNvSpPr txBox="1"/>
            <p:nvPr/>
          </p:nvSpPr>
          <p:spPr>
            <a:xfrm>
              <a:off x="969531" y="947475"/>
              <a:ext cx="564600" cy="38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688" tIns="118688" rIns="118688" bIns="118688" anchor="ctr" anchorCtr="0">
              <a:noAutofit/>
            </a:bodyPr>
            <a:lstStyle/>
            <a:p>
              <a:pPr>
                <a:buClr>
                  <a:srgbClr val="000000"/>
                </a:buClr>
                <a:buSzPts val="1900"/>
              </a:pPr>
              <a:r>
                <a:rPr lang="es-ES" sz="2850" b="1">
                  <a:solidFill>
                    <a:schemeClr val="bg2">
                      <a:lumMod val="60000"/>
                      <a:lumOff val="40000"/>
                    </a:schemeClr>
                  </a:solidFill>
                  <a:latin typeface="+mj-lt"/>
                  <a:ea typeface="Lato Black"/>
                  <a:cs typeface="Lato Black"/>
                  <a:sym typeface="Lato Black"/>
                </a:rPr>
                <a:t>06</a:t>
              </a:r>
            </a:p>
          </p:txBody>
        </p:sp>
        <p:sp>
          <p:nvSpPr>
            <p:cNvPr id="2052" name="IdxTitle5"/>
            <p:cNvSpPr txBox="1"/>
            <p:nvPr/>
          </p:nvSpPr>
          <p:spPr>
            <a:xfrm>
              <a:off x="1708650" y="947475"/>
              <a:ext cx="4997100" cy="38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688" tIns="118688" rIns="118688" bIns="118688" anchor="ctr" anchorCtr="0">
              <a:noAutofit/>
            </a:bodyPr>
            <a:lstStyle/>
            <a:p>
              <a:r>
                <a:rPr lang="es-ES" sz="2400" b="1">
                  <a:solidFill>
                    <a:schemeClr val="bg2">
                      <a:lumMod val="60000"/>
                      <a:lumOff val="40000"/>
                    </a:schemeClr>
                  </a:solidFill>
                  <a:latin typeface="+mj-lt"/>
                  <a:ea typeface="Lato Black"/>
                  <a:cs typeface="Lato Black"/>
                  <a:sym typeface="Lato Black"/>
                </a:rPr>
                <a:t>Benchmarking</a:t>
              </a:r>
            </a:p>
          </p:txBody>
        </p:sp>
        <p:cxnSp>
          <p:nvCxnSpPr>
            <p:cNvPr id="2053" name="IdxBar5"/>
            <p:cNvCxnSpPr/>
            <p:nvPr/>
          </p:nvCxnSpPr>
          <p:spPr>
            <a:xfrm>
              <a:off x="1515900" y="952425"/>
              <a:ext cx="0" cy="370800"/>
            </a:xfrm>
            <a:prstGeom prst="straightConnector1">
              <a:avLst/>
            </a:prstGeom>
            <a:noFill/>
            <a:ln w="28575" cap="flat" cmpd="sng">
              <a:solidFill>
                <a:schemeClr val="bg2">
                  <a:lumMod val="60000"/>
                  <a:lumOff val="4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060" name="IdxGroup6"/>
          <p:cNvGrpSpPr/>
          <p:nvPr/>
        </p:nvGrpSpPr>
        <p:grpSpPr>
          <a:xfrm>
            <a:off x="2047897" y="6346436"/>
            <a:ext cx="8604329" cy="571050"/>
            <a:chOff x="969531" y="947475"/>
            <a:chExt cx="5736219" cy="380700"/>
          </a:xfrm>
        </p:grpSpPr>
        <p:sp>
          <p:nvSpPr>
            <p:cNvPr id="2061" name="IdxNum6"/>
            <p:cNvSpPr txBox="1"/>
            <p:nvPr/>
          </p:nvSpPr>
          <p:spPr>
            <a:xfrm>
              <a:off x="969531" y="947475"/>
              <a:ext cx="564600" cy="38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688" tIns="118688" rIns="118688" bIns="118688" anchor="ctr" anchorCtr="0">
              <a:noAutofit/>
            </a:bodyPr>
            <a:lstStyle/>
            <a:p>
              <a:pPr>
                <a:buClr>
                  <a:srgbClr val="000000"/>
                </a:buClr>
                <a:buSzPts val="1900"/>
              </a:pPr>
              <a:r>
                <a:rPr lang="es-ES" sz="2850" b="1">
                  <a:solidFill>
                    <a:schemeClr val="bg2">
                      <a:lumMod val="60000"/>
                      <a:lumOff val="40000"/>
                    </a:schemeClr>
                  </a:solidFill>
                  <a:latin typeface="+mj-lt"/>
                  <a:ea typeface="Lato Black"/>
                  <a:cs typeface="Lato Black"/>
                  <a:sym typeface="Lato Black"/>
                </a:rPr>
                <a:t>07</a:t>
              </a:r>
            </a:p>
          </p:txBody>
        </p:sp>
        <p:sp>
          <p:nvSpPr>
            <p:cNvPr id="2062" name="IdxTitle6"/>
            <p:cNvSpPr txBox="1"/>
            <p:nvPr/>
          </p:nvSpPr>
          <p:spPr>
            <a:xfrm>
              <a:off x="1708650" y="947475"/>
              <a:ext cx="4997100" cy="38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688" tIns="118688" rIns="118688" bIns="118688" anchor="ctr" anchorCtr="0">
              <a:noAutofit/>
            </a:bodyPr>
            <a:lstStyle/>
            <a:p>
              <a:r>
                <a:rPr lang="es-ES" sz="2400" b="1">
                  <a:solidFill>
                    <a:schemeClr val="bg2">
                      <a:lumMod val="60000"/>
                      <a:lumOff val="40000"/>
                    </a:schemeClr>
                  </a:solidFill>
                  <a:latin typeface="+mj-lt"/>
                  <a:ea typeface="Lato Black"/>
                  <a:cs typeface="Lato Black"/>
                  <a:sym typeface="Lato Black"/>
                </a:rPr>
                <a:t>Propuesta de valor y cierre</a:t>
              </a:r>
            </a:p>
          </p:txBody>
        </p:sp>
        <p:cxnSp>
          <p:nvCxnSpPr>
            <p:cNvPr id="2063" name="IdxBar6"/>
            <p:cNvCxnSpPr/>
            <p:nvPr/>
          </p:nvCxnSpPr>
          <p:spPr>
            <a:xfrm>
              <a:off x="1515900" y="952425"/>
              <a:ext cx="0" cy="370800"/>
            </a:xfrm>
            <a:prstGeom prst="straightConnector1">
              <a:avLst/>
            </a:prstGeom>
            <a:noFill/>
            <a:ln w="28575" cap="flat" cmpd="sng">
              <a:solidFill>
                <a:schemeClr val="bg2">
                  <a:lumMod val="60000"/>
                  <a:lumOff val="4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070" name="IdxGroup7"/>
          <p:cNvGrpSpPr/>
          <p:nvPr/>
        </p:nvGrpSpPr>
        <p:grpSpPr>
          <a:xfrm>
            <a:off x="2047897" y="6981436"/>
            <a:ext cx="8604329" cy="571050"/>
            <a:chOff x="969531" y="947475"/>
            <a:chExt cx="5736219" cy="380700"/>
          </a:xfrm>
        </p:grpSpPr>
        <p:sp>
          <p:nvSpPr>
            <p:cNvPr id="2071" name="IdxNum7"/>
            <p:cNvSpPr txBox="1"/>
            <p:nvPr/>
          </p:nvSpPr>
          <p:spPr>
            <a:xfrm>
              <a:off x="969531" y="947475"/>
              <a:ext cx="564600" cy="38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688" tIns="118688" rIns="118688" bIns="118688" anchor="ctr" anchorCtr="0">
              <a:noAutofit/>
            </a:bodyPr>
            <a:lstStyle/>
            <a:p>
              <a:pPr>
                <a:buClr>
                  <a:srgbClr val="000000"/>
                </a:buClr>
                <a:buSzPts val="1900"/>
              </a:pPr>
              <a:r>
                <a:rPr lang="es-ES" sz="2850" b="1">
                  <a:solidFill>
                    <a:schemeClr val="bg2">
                      <a:lumMod val="60000"/>
                      <a:lumOff val="40000"/>
                    </a:schemeClr>
                  </a:solidFill>
                  <a:latin typeface="+mj-lt"/>
                  <a:ea typeface="Lato Black"/>
                  <a:cs typeface="Lato Black"/>
                  <a:sym typeface="Lato Black"/>
                </a:rPr>
                <a:t>08</a:t>
              </a:r>
            </a:p>
          </p:txBody>
        </p:sp>
        <p:sp>
          <p:nvSpPr>
            <p:cNvPr id="2072" name="IdxTitle7"/>
            <p:cNvSpPr txBox="1"/>
            <p:nvPr/>
          </p:nvSpPr>
          <p:spPr>
            <a:xfrm>
              <a:off x="1708650" y="947475"/>
              <a:ext cx="4997100" cy="38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688" tIns="118688" rIns="118688" bIns="118688" anchor="ctr" anchorCtr="0">
              <a:noAutofit/>
            </a:bodyPr>
            <a:lstStyle/>
            <a:p>
              <a:r>
                <a:rPr lang="es-ES" sz="2400" b="1">
                  <a:solidFill>
                    <a:schemeClr val="bg2">
                      <a:lumMod val="60000"/>
                      <a:lumOff val="40000"/>
                    </a:schemeClr>
                  </a:solidFill>
                  <a:latin typeface="+mj-lt"/>
                  <a:ea typeface="Lato Black"/>
                  <a:cs typeface="Lato Black"/>
                  <a:sym typeface="Lato Black"/>
                </a:rPr>
                <a:t>Bibliografía y anexos</a:t>
              </a:r>
            </a:p>
          </p:txBody>
        </p:sp>
        <p:cxnSp>
          <p:nvCxnSpPr>
            <p:cNvPr id="2073" name="IdxBar7"/>
            <p:cNvCxnSpPr/>
            <p:nvPr/>
          </p:nvCxnSpPr>
          <p:spPr>
            <a:xfrm>
              <a:off x="1515900" y="952425"/>
              <a:ext cx="0" cy="370800"/>
            </a:xfrm>
            <a:prstGeom prst="straightConnector1">
              <a:avLst/>
            </a:prstGeom>
            <a:noFill/>
            <a:ln w="28575" cap="flat" cmpd="sng">
              <a:solidFill>
                <a:schemeClr val="bg2">
                  <a:lumMod val="60000"/>
                  <a:lumOff val="4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</p:spTree>
    <p:extLst>
      <p:ext uri="{BB962C8B-B14F-4D97-AF65-F5344CB8AC3E}">
        <p14:creationId xmlns:p14="http://schemas.microsoft.com/office/powerpoint/2010/main" val="8093408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00" name="MS Header Group"/>
          <p:cNvGrpSpPr/>
          <p:nvPr/>
        </p:nvGrpSpPr>
        <p:grpSpPr>
          <a:xfrm>
            <a:off x="282819" y="579094"/>
            <a:ext cx="13786134" cy="1057874"/>
            <a:chOff x="92172" y="275827"/>
            <a:chExt cx="9190756" cy="705249"/>
          </a:xfrm>
        </p:grpSpPr>
        <p:sp>
          <p:nvSpPr>
            <p:cNvPr id="9001" name="MS Title Box"/>
            <p:cNvSpPr>
              <a:spLocks noChangeArrowheads="1"/>
            </p:cNvSpPr>
            <p:nvPr/>
          </p:nvSpPr>
          <p:spPr bwMode="gray">
            <a:xfrm>
              <a:off x="776292" y="404814"/>
              <a:ext cx="8506636" cy="576262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37160" tIns="68580" rIns="137160" bIns="68580" anchor="ctr"/>
            <a:lstStyle/>
            <a:p>
              <a:pPr>
                <a:lnSpc>
                  <a:spcPts val="3150"/>
                </a:lnSpc>
              </a:pPr>
              <a:r>
                <a:rPr lang="es-ES" sz="3000" b="1" dirty="0">
                  <a:solidFill>
                    <a:srgbClr val="002569"/>
                  </a:solidFill>
                  <a:latin typeface="Arial"/>
                </a:rPr>
                <a:t>La solución</a:t>
              </a:r>
            </a:p>
            <a:p>
              <a:r>
                <a:rPr lang="es-ES" sz="2700" dirty="0">
                  <a:solidFill>
                    <a:srgbClr val="E0D399">
                      <a:lumMod val="75000"/>
                    </a:srgbClr>
                  </a:solidFill>
                  <a:latin typeface="Arial"/>
                </a:rPr>
                <a:t>Tres modos de análisis sobre una misma plataforma</a:t>
              </a:r>
            </a:p>
          </p:txBody>
        </p:sp>
        <p:sp>
          <p:nvSpPr>
            <p:cNvPr id="9002" name="MS Number"/>
            <p:cNvSpPr>
              <a:spLocks noChangeArrowheads="1"/>
            </p:cNvSpPr>
            <p:nvPr/>
          </p:nvSpPr>
          <p:spPr bwMode="gray">
            <a:xfrm>
              <a:off x="92172" y="275827"/>
              <a:ext cx="477819" cy="70014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148523" tIns="74261" rIns="148523" bIns="74261">
              <a:spAutoFit/>
            </a:bodyPr>
            <a:lstStyle/>
            <a:p>
              <a:pPr algn="ctr"/>
              <a:r>
                <a:rPr lang="es-ES" sz="5850" b="1" kern="0">
                  <a:solidFill>
                    <a:srgbClr val="002569"/>
                  </a:solidFill>
                  <a:latin typeface="Arial"/>
                </a:rPr>
                <a:t>2</a:t>
              </a:r>
            </a:p>
          </p:txBody>
        </p:sp>
        <p:cxnSp>
          <p:nvCxnSpPr>
            <p:cNvPr id="9003" name="MS Header Bar"/>
            <p:cNvCxnSpPr/>
            <p:nvPr/>
          </p:nvCxnSpPr>
          <p:spPr>
            <a:xfrm>
              <a:off x="570525" y="404814"/>
              <a:ext cx="0" cy="526647"/>
            </a:xfrm>
            <a:prstGeom prst="line">
              <a:avLst/>
            </a:prstGeom>
            <a:ln>
              <a:solidFill>
                <a:schemeClr val="tx2"/>
              </a:solidFill>
            </a:ln>
          </p:spPr>
        </p:cxnSp>
      </p:grpSp>
      <p:sp>
        <p:nvSpPr>
          <p:cNvPr id="9004" name="TextBox 9003"/>
          <p:cNvSpPr txBox="1"/>
          <p:nvPr/>
        </p:nvSpPr>
        <p:spPr>
          <a:xfrm>
            <a:off x="758952" y="2048256"/>
            <a:ext cx="16770096" cy="5539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s-ES_tradnl" sz="1800" b="1" dirty="0">
                <a:solidFill>
                  <a:srgbClr val="1F3864"/>
                </a:solidFill>
                <a:latin typeface="Calibri"/>
              </a:rPr>
              <a:t>GeoAssets</a:t>
            </a:r>
            <a:r>
              <a:rPr sz="1800" b="1" dirty="0">
                <a:solidFill>
                  <a:srgbClr val="1F3864"/>
                </a:solidFill>
                <a:latin typeface="Calibri"/>
              </a:rPr>
              <a:t> Intelligence</a:t>
            </a:r>
            <a:r>
              <a:rPr sz="1800" dirty="0">
                <a:solidFill>
                  <a:srgbClr val="404040"/>
                </a:solidFill>
                <a:latin typeface="Calibri"/>
              </a:rPr>
              <a:t> es </a:t>
            </a:r>
            <a:r>
              <a:rPr lang="es-ES_tradnl" sz="1800" dirty="0">
                <a:solidFill>
                  <a:srgbClr val="404040"/>
                </a:solidFill>
                <a:latin typeface="Calibri"/>
              </a:rPr>
              <a:t>una</a:t>
            </a:r>
            <a:r>
              <a:rPr sz="1800" dirty="0">
                <a:solidFill>
                  <a:srgbClr val="404040"/>
                </a:solidFill>
                <a:latin typeface="Calibri"/>
              </a:rPr>
              <a:t> </a:t>
            </a:r>
            <a:r>
              <a:rPr lang="es-ES_tradnl" sz="1800" dirty="0">
                <a:solidFill>
                  <a:srgbClr val="404040"/>
                </a:solidFill>
                <a:latin typeface="Calibri"/>
              </a:rPr>
              <a:t>aplicación</a:t>
            </a:r>
            <a:r>
              <a:rPr sz="1800" dirty="0">
                <a:solidFill>
                  <a:srgbClr val="404040"/>
                </a:solidFill>
                <a:latin typeface="Calibri"/>
              </a:rPr>
              <a:t> web </a:t>
            </a:r>
            <a:r>
              <a:rPr lang="es-ES_tradnl" sz="1800" dirty="0">
                <a:solidFill>
                  <a:srgbClr val="404040"/>
                </a:solidFill>
                <a:latin typeface="Calibri"/>
              </a:rPr>
              <a:t>cuyo</a:t>
            </a:r>
            <a:r>
              <a:rPr sz="1800" dirty="0">
                <a:solidFill>
                  <a:srgbClr val="404040"/>
                </a:solidFill>
                <a:latin typeface="Calibri"/>
              </a:rPr>
              <a:t> </a:t>
            </a:r>
            <a:r>
              <a:rPr lang="es-ES_tradnl" sz="1800" dirty="0">
                <a:solidFill>
                  <a:srgbClr val="404040"/>
                </a:solidFill>
                <a:latin typeface="Calibri"/>
              </a:rPr>
              <a:t>núcleo</a:t>
            </a:r>
            <a:r>
              <a:rPr sz="1800" dirty="0">
                <a:solidFill>
                  <a:srgbClr val="404040"/>
                </a:solidFill>
                <a:latin typeface="Calibri"/>
              </a:rPr>
              <a:t> es un dashboard </a:t>
            </a:r>
            <a:r>
              <a:rPr lang="es-ES_tradnl" sz="1800" dirty="0">
                <a:solidFill>
                  <a:srgbClr val="404040"/>
                </a:solidFill>
                <a:latin typeface="Calibri"/>
              </a:rPr>
              <a:t>cartográfico</a:t>
            </a:r>
            <a:r>
              <a:rPr sz="1800" dirty="0">
                <a:solidFill>
                  <a:srgbClr val="404040"/>
                </a:solidFill>
                <a:latin typeface="Calibri"/>
              </a:rPr>
              <a:t>. La </a:t>
            </a:r>
            <a:r>
              <a:rPr lang="es-ES_tradnl" sz="1800" dirty="0">
                <a:solidFill>
                  <a:srgbClr val="404040"/>
                </a:solidFill>
                <a:latin typeface="Calibri"/>
              </a:rPr>
              <a:t>plataforma</a:t>
            </a:r>
            <a:r>
              <a:rPr sz="1800" dirty="0">
                <a:solidFill>
                  <a:srgbClr val="404040"/>
                </a:solidFill>
                <a:latin typeface="Calibri"/>
              </a:rPr>
              <a:t> </a:t>
            </a:r>
            <a:r>
              <a:rPr lang="es-ES_tradnl" sz="1800" dirty="0">
                <a:solidFill>
                  <a:srgbClr val="404040"/>
                </a:solidFill>
                <a:latin typeface="Calibri"/>
              </a:rPr>
              <a:t>orquesta</a:t>
            </a:r>
            <a:r>
              <a:rPr sz="1800" dirty="0">
                <a:solidFill>
                  <a:srgbClr val="404040"/>
                </a:solidFill>
                <a:latin typeface="Calibri"/>
              </a:rPr>
              <a:t> </a:t>
            </a:r>
            <a:r>
              <a:rPr lang="es-ES_tradnl" sz="1800" dirty="0">
                <a:solidFill>
                  <a:srgbClr val="404040"/>
                </a:solidFill>
                <a:latin typeface="Calibri"/>
              </a:rPr>
              <a:t>tres</a:t>
            </a:r>
            <a:r>
              <a:rPr sz="1800" dirty="0">
                <a:solidFill>
                  <a:srgbClr val="404040"/>
                </a:solidFill>
                <a:latin typeface="Calibri"/>
              </a:rPr>
              <a:t> </a:t>
            </a:r>
            <a:r>
              <a:rPr lang="es-ES_tradnl" sz="1800" dirty="0">
                <a:solidFill>
                  <a:srgbClr val="404040"/>
                </a:solidFill>
                <a:latin typeface="Calibri"/>
              </a:rPr>
              <a:t>tecnologías</a:t>
            </a:r>
            <a:r>
              <a:rPr sz="1800" dirty="0">
                <a:solidFill>
                  <a:srgbClr val="404040"/>
                </a:solidFill>
                <a:latin typeface="Calibri"/>
              </a:rPr>
              <a:t> </a:t>
            </a:r>
            <a:r>
              <a:rPr lang="es-ES_tradnl" sz="1800" dirty="0">
                <a:solidFill>
                  <a:srgbClr val="404040"/>
                </a:solidFill>
                <a:latin typeface="Calibri"/>
              </a:rPr>
              <a:t>habilitadoras</a:t>
            </a:r>
            <a:r>
              <a:rPr sz="1800" dirty="0">
                <a:solidFill>
                  <a:srgbClr val="404040"/>
                </a:solidFill>
                <a:latin typeface="Calibri"/>
              </a:rPr>
              <a:t> </a:t>
            </a:r>
            <a:r>
              <a:rPr lang="es-ES_tradnl" sz="1800" dirty="0">
                <a:solidFill>
                  <a:srgbClr val="404040"/>
                </a:solidFill>
                <a:latin typeface="Calibri"/>
              </a:rPr>
              <a:t>detrás</a:t>
            </a:r>
            <a:r>
              <a:rPr sz="1800" dirty="0">
                <a:solidFill>
                  <a:srgbClr val="404040"/>
                </a:solidFill>
                <a:latin typeface="Calibri"/>
              </a:rPr>
              <a:t> de </a:t>
            </a:r>
            <a:r>
              <a:rPr lang="es-ES_tradnl" sz="1800" dirty="0">
                <a:solidFill>
                  <a:srgbClr val="404040"/>
                </a:solidFill>
                <a:latin typeface="Calibri"/>
              </a:rPr>
              <a:t>una</a:t>
            </a:r>
            <a:r>
              <a:rPr sz="1800" dirty="0">
                <a:solidFill>
                  <a:srgbClr val="404040"/>
                </a:solidFill>
                <a:latin typeface="Calibri"/>
              </a:rPr>
              <a:t> </a:t>
            </a:r>
            <a:r>
              <a:rPr lang="es-ES_tradnl" sz="1800" dirty="0">
                <a:solidFill>
                  <a:srgbClr val="404040"/>
                </a:solidFill>
                <a:latin typeface="Calibri"/>
              </a:rPr>
              <a:t>experiencia</a:t>
            </a:r>
            <a:r>
              <a:rPr sz="1800" dirty="0">
                <a:solidFill>
                  <a:srgbClr val="404040"/>
                </a:solidFill>
                <a:latin typeface="Calibri"/>
              </a:rPr>
              <a:t> </a:t>
            </a:r>
            <a:r>
              <a:rPr lang="es-ES_tradnl" sz="1800" dirty="0">
                <a:solidFill>
                  <a:srgbClr val="404040"/>
                </a:solidFill>
                <a:latin typeface="Calibri"/>
              </a:rPr>
              <a:t>única</a:t>
            </a:r>
            <a:r>
              <a:rPr sz="1800" dirty="0">
                <a:solidFill>
                  <a:srgbClr val="404040"/>
                </a:solidFill>
                <a:latin typeface="Calibri"/>
              </a:rPr>
              <a:t>: </a:t>
            </a:r>
            <a:r>
              <a:rPr lang="es-ES_tradnl" sz="1800" dirty="0">
                <a:solidFill>
                  <a:srgbClr val="404040"/>
                </a:solidFill>
                <a:latin typeface="Calibri"/>
              </a:rPr>
              <a:t>el</a:t>
            </a:r>
            <a:r>
              <a:rPr sz="1800" dirty="0">
                <a:solidFill>
                  <a:srgbClr val="404040"/>
                </a:solidFill>
                <a:latin typeface="Calibri"/>
              </a:rPr>
              <a:t> </a:t>
            </a:r>
            <a:r>
              <a:rPr lang="es-ES_tradnl" sz="1800" dirty="0">
                <a:solidFill>
                  <a:srgbClr val="404040"/>
                </a:solidFill>
                <a:latin typeface="Calibri"/>
              </a:rPr>
              <a:t>analista</a:t>
            </a:r>
            <a:r>
              <a:rPr sz="1800" dirty="0">
                <a:solidFill>
                  <a:srgbClr val="404040"/>
                </a:solidFill>
                <a:latin typeface="Calibri"/>
              </a:rPr>
              <a:t> </a:t>
            </a:r>
            <a:r>
              <a:rPr lang="es-ES_tradnl" sz="1800" dirty="0">
                <a:solidFill>
                  <a:srgbClr val="404040"/>
                </a:solidFill>
                <a:latin typeface="Calibri"/>
              </a:rPr>
              <a:t>elige</a:t>
            </a:r>
            <a:r>
              <a:rPr sz="1800" dirty="0">
                <a:solidFill>
                  <a:srgbClr val="404040"/>
                </a:solidFill>
                <a:latin typeface="Calibri"/>
              </a:rPr>
              <a:t> </a:t>
            </a:r>
            <a:r>
              <a:rPr lang="es-ES_tradnl" sz="1800" dirty="0">
                <a:solidFill>
                  <a:srgbClr val="404040"/>
                </a:solidFill>
                <a:latin typeface="Calibri"/>
              </a:rPr>
              <a:t>el</a:t>
            </a:r>
            <a:r>
              <a:rPr sz="1800" dirty="0">
                <a:solidFill>
                  <a:srgbClr val="404040"/>
                </a:solidFill>
                <a:latin typeface="Calibri"/>
              </a:rPr>
              <a:t> modo de </a:t>
            </a:r>
            <a:r>
              <a:rPr lang="es-ES_tradnl" sz="1800" dirty="0">
                <a:solidFill>
                  <a:srgbClr val="404040"/>
                </a:solidFill>
                <a:latin typeface="Calibri"/>
              </a:rPr>
              <a:t>búsqueda</a:t>
            </a:r>
            <a:r>
              <a:rPr sz="1800" dirty="0">
                <a:solidFill>
                  <a:srgbClr val="404040"/>
                </a:solidFill>
                <a:latin typeface="Calibri"/>
              </a:rPr>
              <a:t> y </a:t>
            </a:r>
            <a:r>
              <a:rPr lang="es-ES_tradnl" sz="1800" dirty="0">
                <a:solidFill>
                  <a:srgbClr val="404040"/>
                </a:solidFill>
                <a:latin typeface="Calibri"/>
              </a:rPr>
              <a:t>obtiene</a:t>
            </a:r>
            <a:r>
              <a:rPr sz="1800" dirty="0">
                <a:solidFill>
                  <a:srgbClr val="404040"/>
                </a:solidFill>
                <a:latin typeface="Calibri"/>
              </a:rPr>
              <a:t> </a:t>
            </a:r>
            <a:r>
              <a:rPr lang="es-ES_tradnl" sz="1800" dirty="0">
                <a:solidFill>
                  <a:srgbClr val="404040"/>
                </a:solidFill>
                <a:latin typeface="Calibri"/>
              </a:rPr>
              <a:t>el</a:t>
            </a:r>
            <a:r>
              <a:rPr sz="1800" dirty="0">
                <a:solidFill>
                  <a:srgbClr val="404040"/>
                </a:solidFill>
                <a:latin typeface="Calibri"/>
              </a:rPr>
              <a:t> </a:t>
            </a:r>
            <a:r>
              <a:rPr lang="es-ES_tradnl" sz="1800" dirty="0">
                <a:solidFill>
                  <a:srgbClr val="404040"/>
                </a:solidFill>
                <a:latin typeface="Calibri"/>
              </a:rPr>
              <a:t>mapa</a:t>
            </a:r>
            <a:r>
              <a:rPr sz="1800" dirty="0">
                <a:solidFill>
                  <a:srgbClr val="404040"/>
                </a:solidFill>
                <a:latin typeface="Calibri"/>
              </a:rPr>
              <a:t> con </a:t>
            </a:r>
            <a:r>
              <a:rPr lang="es-ES_tradnl" sz="1800" dirty="0">
                <a:solidFill>
                  <a:srgbClr val="404040"/>
                </a:solidFill>
                <a:latin typeface="Calibri"/>
              </a:rPr>
              <a:t>activos</a:t>
            </a:r>
            <a:r>
              <a:rPr sz="1800" dirty="0">
                <a:solidFill>
                  <a:srgbClr val="404040"/>
                </a:solidFill>
                <a:latin typeface="Calibri"/>
              </a:rPr>
              <a:t> </a:t>
            </a:r>
            <a:r>
              <a:rPr lang="es-ES_tradnl" sz="1800" dirty="0">
                <a:solidFill>
                  <a:srgbClr val="404040"/>
                </a:solidFill>
                <a:latin typeface="Calibri"/>
              </a:rPr>
              <a:t>puntuados</a:t>
            </a:r>
            <a:r>
              <a:rPr sz="1800" dirty="0">
                <a:solidFill>
                  <a:srgbClr val="404040"/>
                </a:solidFill>
                <a:latin typeface="Calibri"/>
              </a:rPr>
              <a:t>.</a:t>
            </a:r>
          </a:p>
        </p:txBody>
      </p:sp>
      <p:sp>
        <p:nvSpPr>
          <p:cNvPr id="2" name="Trapezoid 1">
            <a:extLst>
              <a:ext uri="{FF2B5EF4-FFF2-40B4-BE49-F238E27FC236}">
                <a16:creationId xmlns:a16="http://schemas.microsoft.com/office/drawing/2014/main" id="{F9D57DFD-7A61-647D-8872-F28E193E269B}"/>
              </a:ext>
            </a:extLst>
          </p:cNvPr>
          <p:cNvSpPr/>
          <p:nvPr/>
        </p:nvSpPr>
        <p:spPr>
          <a:xfrm rot="10800000">
            <a:off x="758952" y="3017520"/>
            <a:ext cx="5413248" cy="868680"/>
          </a:xfrm>
          <a:prstGeom prst="trapezoid">
            <a:avLst>
              <a:gd name="adj" fmla="val 20000"/>
            </a:avLst>
          </a:prstGeom>
          <a:solidFill>
            <a:srgbClr val="1F3864"/>
          </a:solidFill>
          <a:ln>
            <a:noFill/>
          </a:ln>
          <a:effectLst>
            <a:outerShdw blurRad="101600" dist="25400" dir="54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A9631C97-B7D2-B911-410D-F92C5090A568}"/>
              </a:ext>
            </a:extLst>
          </p:cNvPr>
          <p:cNvSpPr/>
          <p:nvPr/>
        </p:nvSpPr>
        <p:spPr>
          <a:xfrm>
            <a:off x="1376172" y="3165346"/>
            <a:ext cx="502920" cy="5029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61528787-B7B6-63FD-4041-6FB406B8D6BC}"/>
              </a:ext>
            </a:extLst>
          </p:cNvPr>
          <p:cNvSpPr/>
          <p:nvPr/>
        </p:nvSpPr>
        <p:spPr>
          <a:xfrm>
            <a:off x="1549907" y="3270504"/>
            <a:ext cx="155448" cy="155448"/>
          </a:xfrm>
          <a:prstGeom prst="ellipse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Isosceles Triangle 4">
            <a:extLst>
              <a:ext uri="{FF2B5EF4-FFF2-40B4-BE49-F238E27FC236}">
                <a16:creationId xmlns:a16="http://schemas.microsoft.com/office/drawing/2014/main" id="{246F79A0-33CD-2BAC-326D-F18257F08445}"/>
              </a:ext>
            </a:extLst>
          </p:cNvPr>
          <p:cNvSpPr/>
          <p:nvPr/>
        </p:nvSpPr>
        <p:spPr>
          <a:xfrm rot="10800000">
            <a:off x="1572767" y="3389376"/>
            <a:ext cx="109728" cy="146304"/>
          </a:xfrm>
          <a:prstGeom prst="triangle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8E33498-2890-1981-B7BE-DB68CCEF267A}"/>
              </a:ext>
            </a:extLst>
          </p:cNvPr>
          <p:cNvSpPr/>
          <p:nvPr/>
        </p:nvSpPr>
        <p:spPr>
          <a:xfrm>
            <a:off x="1604772" y="3311652"/>
            <a:ext cx="45720" cy="457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9F534C4-F09F-6FD6-BE85-E4545815D1A4}"/>
              </a:ext>
            </a:extLst>
          </p:cNvPr>
          <p:cNvSpPr txBox="1"/>
          <p:nvPr/>
        </p:nvSpPr>
        <p:spPr>
          <a:xfrm>
            <a:off x="1993391" y="3160776"/>
            <a:ext cx="3995928" cy="5029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300" b="1" dirty="0">
                <a:solidFill>
                  <a:srgbClr val="FFFFFF"/>
                </a:solidFill>
                <a:latin typeface="Calibri"/>
              </a:rPr>
              <a:t>MODO 01</a:t>
            </a:r>
          </a:p>
          <a:p>
            <a:r>
              <a:rPr sz="1800" b="1" dirty="0" err="1">
                <a:solidFill>
                  <a:srgbClr val="FFFFFF"/>
                </a:solidFill>
                <a:latin typeface="Calibri"/>
              </a:rPr>
              <a:t>Búsqueda</a:t>
            </a:r>
            <a:r>
              <a:rPr sz="1800" b="1" dirty="0">
                <a:solidFill>
                  <a:srgbClr val="FFFFFF"/>
                </a:solidFill>
                <a:latin typeface="Calibri"/>
              </a:rPr>
              <a:t> Maps</a:t>
            </a:r>
          </a:p>
        </p:txBody>
      </p:sp>
      <p:sp>
        <p:nvSpPr>
          <p:cNvPr id="8" name="Rounded Rectangle 9010">
            <a:extLst>
              <a:ext uri="{FF2B5EF4-FFF2-40B4-BE49-F238E27FC236}">
                <a16:creationId xmlns:a16="http://schemas.microsoft.com/office/drawing/2014/main" id="{DE39F87E-92DA-6798-A6F0-EBB3EF2ECB38}"/>
              </a:ext>
            </a:extLst>
          </p:cNvPr>
          <p:cNvSpPr/>
          <p:nvPr/>
        </p:nvSpPr>
        <p:spPr>
          <a:xfrm>
            <a:off x="758952" y="3877053"/>
            <a:ext cx="5413248" cy="47548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>
            <a:outerShdw blurRad="76200" dist="12700" dir="5400000" algn="t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75A6402-8F22-EE43-30D7-ABA40F355BC8}"/>
              </a:ext>
            </a:extLst>
          </p:cNvPr>
          <p:cNvSpPr txBox="1"/>
          <p:nvPr/>
        </p:nvSpPr>
        <p:spPr>
          <a:xfrm>
            <a:off x="1051560" y="4105655"/>
            <a:ext cx="4828032" cy="6001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s-ES_tradnl" sz="1300" dirty="0">
                <a:solidFill>
                  <a:srgbClr val="404040"/>
                </a:solidFill>
                <a:latin typeface="Calibri"/>
              </a:rPr>
              <a:t>El usuario teclea el nombre de la empresa. El sistema lanza el pipeline automático sobre Google Places API enriquecido con LLM y devuelve los activos clasificados sobre el mapa.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8B22D11-9236-D106-AC75-0D59E2754CBC}"/>
              </a:ext>
            </a:extLst>
          </p:cNvPr>
          <p:cNvSpPr txBox="1"/>
          <p:nvPr/>
        </p:nvSpPr>
        <p:spPr>
          <a:xfrm>
            <a:off x="1051560" y="5032756"/>
            <a:ext cx="448071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400" b="1" dirty="0">
                <a:solidFill>
                  <a:srgbClr val="BF9000"/>
                </a:solidFill>
                <a:latin typeface="Calibri"/>
              </a:rPr>
              <a:t>FLUJO</a:t>
            </a:r>
          </a:p>
        </p:txBody>
      </p:sp>
      <p:sp>
        <p:nvSpPr>
          <p:cNvPr id="11" name="Chevron 9013">
            <a:extLst>
              <a:ext uri="{FF2B5EF4-FFF2-40B4-BE49-F238E27FC236}">
                <a16:creationId xmlns:a16="http://schemas.microsoft.com/office/drawing/2014/main" id="{FEDFCA0E-A529-AD6A-DA22-977329B0948E}"/>
              </a:ext>
            </a:extLst>
          </p:cNvPr>
          <p:cNvSpPr/>
          <p:nvPr/>
        </p:nvSpPr>
        <p:spPr>
          <a:xfrm>
            <a:off x="1033271" y="5166360"/>
            <a:ext cx="1188720" cy="329184"/>
          </a:xfrm>
          <a:prstGeom prst="chevron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F6F5ED2-4ED7-D81B-814E-FA76124F7E18}"/>
              </a:ext>
            </a:extLst>
          </p:cNvPr>
          <p:cNvSpPr txBox="1"/>
          <p:nvPr/>
        </p:nvSpPr>
        <p:spPr>
          <a:xfrm>
            <a:off x="1147572" y="5230368"/>
            <a:ext cx="960120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300" b="1" dirty="0">
                <a:solidFill>
                  <a:srgbClr val="FFFFFF"/>
                </a:solidFill>
                <a:latin typeface="Consolas"/>
              </a:rPr>
              <a:t>Search</a:t>
            </a:r>
          </a:p>
        </p:txBody>
      </p:sp>
      <p:sp>
        <p:nvSpPr>
          <p:cNvPr id="13" name="Chevron 9015">
            <a:extLst>
              <a:ext uri="{FF2B5EF4-FFF2-40B4-BE49-F238E27FC236}">
                <a16:creationId xmlns:a16="http://schemas.microsoft.com/office/drawing/2014/main" id="{48C01AF5-C700-9767-B49D-D7CC84037F4E}"/>
              </a:ext>
            </a:extLst>
          </p:cNvPr>
          <p:cNvSpPr/>
          <p:nvPr/>
        </p:nvSpPr>
        <p:spPr>
          <a:xfrm>
            <a:off x="2258568" y="5166360"/>
            <a:ext cx="1188720" cy="329184"/>
          </a:xfrm>
          <a:prstGeom prst="chevron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3F24374-CF97-B3A7-09A2-B912DA1F8393}"/>
              </a:ext>
            </a:extLst>
          </p:cNvPr>
          <p:cNvSpPr txBox="1"/>
          <p:nvPr/>
        </p:nvSpPr>
        <p:spPr>
          <a:xfrm>
            <a:off x="2372868" y="5230368"/>
            <a:ext cx="960120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es-ES_tradnl" sz="1300" b="1" dirty="0">
                <a:solidFill>
                  <a:srgbClr val="FFFFFF"/>
                </a:solidFill>
                <a:latin typeface="Consolas"/>
              </a:rPr>
              <a:t> </a:t>
            </a:r>
            <a:r>
              <a:rPr sz="1300" b="1" dirty="0">
                <a:solidFill>
                  <a:srgbClr val="FFFFFF"/>
                </a:solidFill>
                <a:latin typeface="Consolas"/>
              </a:rPr>
              <a:t>Classify</a:t>
            </a:r>
          </a:p>
        </p:txBody>
      </p:sp>
      <p:sp>
        <p:nvSpPr>
          <p:cNvPr id="15" name="Chevron 9017">
            <a:extLst>
              <a:ext uri="{FF2B5EF4-FFF2-40B4-BE49-F238E27FC236}">
                <a16:creationId xmlns:a16="http://schemas.microsoft.com/office/drawing/2014/main" id="{14FC60FE-0AE1-93EC-0108-1380465A10A4}"/>
              </a:ext>
            </a:extLst>
          </p:cNvPr>
          <p:cNvSpPr/>
          <p:nvPr/>
        </p:nvSpPr>
        <p:spPr>
          <a:xfrm>
            <a:off x="3483864" y="5166360"/>
            <a:ext cx="1188720" cy="329184"/>
          </a:xfrm>
          <a:prstGeom prst="chevron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C0D30A1-8128-F349-03F0-A877BF74D191}"/>
              </a:ext>
            </a:extLst>
          </p:cNvPr>
          <p:cNvSpPr txBox="1"/>
          <p:nvPr/>
        </p:nvSpPr>
        <p:spPr>
          <a:xfrm>
            <a:off x="3598164" y="5230368"/>
            <a:ext cx="960120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onsolas"/>
              </a:rPr>
              <a:t>Enrich</a:t>
            </a:r>
          </a:p>
        </p:txBody>
      </p:sp>
      <p:sp>
        <p:nvSpPr>
          <p:cNvPr id="17" name="Chevron 9019">
            <a:extLst>
              <a:ext uri="{FF2B5EF4-FFF2-40B4-BE49-F238E27FC236}">
                <a16:creationId xmlns:a16="http://schemas.microsoft.com/office/drawing/2014/main" id="{DA058DD5-54FE-F3E0-6845-ACA3E0ED8073}"/>
              </a:ext>
            </a:extLst>
          </p:cNvPr>
          <p:cNvSpPr/>
          <p:nvPr/>
        </p:nvSpPr>
        <p:spPr>
          <a:xfrm>
            <a:off x="4709160" y="5166360"/>
            <a:ext cx="1188720" cy="329184"/>
          </a:xfrm>
          <a:prstGeom prst="chevron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751C35D-03A0-1C7D-7C0A-7D1ABA40875E}"/>
              </a:ext>
            </a:extLst>
          </p:cNvPr>
          <p:cNvSpPr txBox="1"/>
          <p:nvPr/>
        </p:nvSpPr>
        <p:spPr>
          <a:xfrm>
            <a:off x="4823460" y="5230368"/>
            <a:ext cx="960120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300" b="1" dirty="0">
                <a:solidFill>
                  <a:srgbClr val="FFFFFF"/>
                </a:solidFill>
                <a:latin typeface="Consolas"/>
              </a:rPr>
              <a:t>Score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91B388A-C37F-6A66-6705-C4731ADB539D}"/>
              </a:ext>
            </a:extLst>
          </p:cNvPr>
          <p:cNvSpPr txBox="1"/>
          <p:nvPr/>
        </p:nvSpPr>
        <p:spPr>
          <a:xfrm>
            <a:off x="1051560" y="5998463"/>
            <a:ext cx="747384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400" b="1" dirty="0">
                <a:solidFill>
                  <a:srgbClr val="BF9000"/>
                </a:solidFill>
                <a:latin typeface="Calibri"/>
              </a:rPr>
              <a:t>VENTAJAS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2B3C3BD-0365-CE94-641A-B402A5251AE7}"/>
              </a:ext>
            </a:extLst>
          </p:cNvPr>
          <p:cNvSpPr txBox="1"/>
          <p:nvPr/>
        </p:nvSpPr>
        <p:spPr>
          <a:xfrm>
            <a:off x="1051560" y="6272783"/>
            <a:ext cx="4828032" cy="2000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 dirty="0">
                <a:solidFill>
                  <a:srgbClr val="4F814F"/>
                </a:solidFill>
                <a:latin typeface="Calibri"/>
              </a:rPr>
              <a:t>✓  </a:t>
            </a:r>
            <a:r>
              <a:rPr sz="1300" dirty="0">
                <a:solidFill>
                  <a:srgbClr val="404040"/>
                </a:solidFill>
                <a:latin typeface="Calibri"/>
              </a:rPr>
              <a:t>Cero </a:t>
            </a:r>
            <a:r>
              <a:rPr sz="1300" dirty="0" err="1">
                <a:solidFill>
                  <a:srgbClr val="404040"/>
                </a:solidFill>
                <a:latin typeface="Calibri"/>
              </a:rPr>
              <a:t>fricción</a:t>
            </a:r>
            <a:r>
              <a:rPr sz="1300" dirty="0">
                <a:solidFill>
                  <a:srgbClr val="404040"/>
                </a:solidFill>
                <a:latin typeface="Calibri"/>
              </a:rPr>
              <a:t> para </a:t>
            </a:r>
            <a:r>
              <a:rPr sz="1300" dirty="0" err="1">
                <a:solidFill>
                  <a:srgbClr val="404040"/>
                </a:solidFill>
                <a:latin typeface="Calibri"/>
              </a:rPr>
              <a:t>el</a:t>
            </a:r>
            <a:r>
              <a:rPr sz="1300" dirty="0">
                <a:solidFill>
                  <a:srgbClr val="404040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404040"/>
                </a:solidFill>
                <a:latin typeface="Calibri"/>
              </a:rPr>
              <a:t>analista</a:t>
            </a:r>
            <a:endParaRPr sz="1300" dirty="0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DA5C85F-E970-0F6B-64D9-3BB745B0F264}"/>
              </a:ext>
            </a:extLst>
          </p:cNvPr>
          <p:cNvSpPr txBox="1"/>
          <p:nvPr/>
        </p:nvSpPr>
        <p:spPr>
          <a:xfrm>
            <a:off x="1051560" y="6565391"/>
            <a:ext cx="4828032" cy="2000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4F814F"/>
                </a:solidFill>
                <a:latin typeface="Calibri"/>
              </a:rPr>
              <a:t>✓  </a:t>
            </a:r>
            <a:r>
              <a:rPr sz="1300">
                <a:solidFill>
                  <a:srgbClr val="404040"/>
                </a:solidFill>
                <a:latin typeface="Calibri"/>
              </a:rPr>
              <a:t>Sin </a:t>
            </a:r>
            <a:r>
              <a:rPr lang="es-ES_tradnl" sz="1300" err="1">
                <a:solidFill>
                  <a:srgbClr val="404040"/>
                </a:solidFill>
                <a:latin typeface="Calibri"/>
              </a:rPr>
              <a:t>documento</a:t>
            </a:r>
            <a:r>
              <a:rPr sz="1300">
                <a:solidFill>
                  <a:srgbClr val="404040"/>
                </a:solidFill>
                <a:latin typeface="Calibri"/>
              </a:rPr>
              <a:t> </a:t>
            </a:r>
            <a:r>
              <a:rPr lang="es-ES_tradnl" sz="1300" err="1">
                <a:solidFill>
                  <a:srgbClr val="404040"/>
                </a:solidFill>
                <a:latin typeface="Calibri"/>
              </a:rPr>
              <a:t>previo</a:t>
            </a:r>
            <a:endParaRPr sz="1300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4DDC9FD-39D1-62A4-E408-5FCE6AECE1D2}"/>
              </a:ext>
            </a:extLst>
          </p:cNvPr>
          <p:cNvSpPr txBox="1"/>
          <p:nvPr/>
        </p:nvSpPr>
        <p:spPr>
          <a:xfrm>
            <a:off x="1051560" y="6857999"/>
            <a:ext cx="4828032" cy="2000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4F814F"/>
                </a:solidFill>
                <a:latin typeface="Calibri"/>
              </a:rPr>
              <a:t>✓  </a:t>
            </a:r>
            <a:r>
              <a:rPr sz="1300">
                <a:solidFill>
                  <a:srgbClr val="404040"/>
                </a:solidFill>
                <a:latin typeface="Calibri"/>
              </a:rPr>
              <a:t>Cobertura amplia inmediata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A530A2D-4D16-AD01-2F1D-37BCF5D64271}"/>
              </a:ext>
            </a:extLst>
          </p:cNvPr>
          <p:cNvSpPr/>
          <p:nvPr/>
        </p:nvSpPr>
        <p:spPr>
          <a:xfrm>
            <a:off x="1051560" y="7626093"/>
            <a:ext cx="4828032" cy="4572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24" name="Rounded Rectangle 9028">
            <a:extLst>
              <a:ext uri="{FF2B5EF4-FFF2-40B4-BE49-F238E27FC236}">
                <a16:creationId xmlns:a16="http://schemas.microsoft.com/office/drawing/2014/main" id="{0CE84075-FCB5-2E2E-2784-8CBA1EFCA097}"/>
              </a:ext>
            </a:extLst>
          </p:cNvPr>
          <p:cNvSpPr/>
          <p:nvPr/>
        </p:nvSpPr>
        <p:spPr>
          <a:xfrm>
            <a:off x="4279392" y="7424927"/>
            <a:ext cx="1371600" cy="201168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52AAA9B-7F26-0771-01DC-38C89A6BEAC4}"/>
              </a:ext>
            </a:extLst>
          </p:cNvPr>
          <p:cNvSpPr txBox="1"/>
          <p:nvPr/>
        </p:nvSpPr>
        <p:spPr>
          <a:xfrm>
            <a:off x="4279392" y="7448567"/>
            <a:ext cx="1371600" cy="15388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COSTE/BENEFICIO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AE25F9F-F940-C1ED-204A-2B5DAE38911C}"/>
              </a:ext>
            </a:extLst>
          </p:cNvPr>
          <p:cNvSpPr txBox="1"/>
          <p:nvPr/>
        </p:nvSpPr>
        <p:spPr>
          <a:xfrm>
            <a:off x="1051560" y="7717536"/>
            <a:ext cx="666657" cy="2000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595959"/>
                </a:solidFill>
                <a:latin typeface="Calibri"/>
              </a:rPr>
              <a:t>LATENCIA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5A2E7D1-A3FE-FAD7-D597-7961FCE37151}"/>
              </a:ext>
            </a:extLst>
          </p:cNvPr>
          <p:cNvSpPr txBox="1"/>
          <p:nvPr/>
        </p:nvSpPr>
        <p:spPr>
          <a:xfrm>
            <a:off x="1051560" y="7964423"/>
            <a:ext cx="210312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2000" b="1" dirty="0">
                <a:solidFill>
                  <a:srgbClr val="1F3864"/>
                </a:solidFill>
                <a:latin typeface="Calibri"/>
              </a:rPr>
              <a:t>~45 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C40047C-0FC6-0B59-0B17-07943AACDA6B}"/>
              </a:ext>
            </a:extLst>
          </p:cNvPr>
          <p:cNvSpPr txBox="1"/>
          <p:nvPr/>
        </p:nvSpPr>
        <p:spPr>
          <a:xfrm>
            <a:off x="1051560" y="8311893"/>
            <a:ext cx="2885405" cy="16927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 dirty="0">
                <a:solidFill>
                  <a:srgbClr val="595959"/>
                </a:solidFill>
                <a:latin typeface="Calibri"/>
              </a:rPr>
              <a:t>MEJOR CASO  </a:t>
            </a:r>
            <a:r>
              <a:rPr sz="1300" b="1" dirty="0">
                <a:solidFill>
                  <a:srgbClr val="1F3864"/>
                </a:solidFill>
                <a:latin typeface="Calibri"/>
              </a:rPr>
              <a:t>Empresas con </a:t>
            </a:r>
            <a:r>
              <a:rPr sz="1300" b="1" dirty="0" err="1">
                <a:solidFill>
                  <a:srgbClr val="1F3864"/>
                </a:solidFill>
                <a:latin typeface="Calibri"/>
              </a:rPr>
              <a:t>alta</a:t>
            </a:r>
            <a:r>
              <a:rPr sz="1300" b="1" dirty="0">
                <a:solidFill>
                  <a:srgbClr val="1F3864"/>
                </a:solidFill>
                <a:latin typeface="Calibri"/>
              </a:rPr>
              <a:t> </a:t>
            </a:r>
            <a:r>
              <a:rPr sz="1300" b="1" dirty="0" err="1">
                <a:solidFill>
                  <a:srgbClr val="1F3864"/>
                </a:solidFill>
                <a:latin typeface="Calibri"/>
              </a:rPr>
              <a:t>presencia</a:t>
            </a:r>
            <a:r>
              <a:rPr sz="1300" b="1" dirty="0">
                <a:solidFill>
                  <a:srgbClr val="1F3864"/>
                </a:solidFill>
                <a:latin typeface="Calibri"/>
              </a:rPr>
              <a:t> digital</a:t>
            </a:r>
          </a:p>
        </p:txBody>
      </p:sp>
      <p:sp>
        <p:nvSpPr>
          <p:cNvPr id="29" name="Trapezoid 28">
            <a:extLst>
              <a:ext uri="{FF2B5EF4-FFF2-40B4-BE49-F238E27FC236}">
                <a16:creationId xmlns:a16="http://schemas.microsoft.com/office/drawing/2014/main" id="{E2B8E0F1-4563-7511-38E8-B9ABE3F5FB88}"/>
              </a:ext>
            </a:extLst>
          </p:cNvPr>
          <p:cNvSpPr/>
          <p:nvPr/>
        </p:nvSpPr>
        <p:spPr>
          <a:xfrm rot="10800000">
            <a:off x="6455664" y="3017520"/>
            <a:ext cx="5413248" cy="868680"/>
          </a:xfrm>
          <a:prstGeom prst="trapezoid">
            <a:avLst>
              <a:gd name="adj" fmla="val 20000"/>
            </a:avLst>
          </a:prstGeom>
          <a:solidFill>
            <a:srgbClr val="BF9000"/>
          </a:solidFill>
          <a:ln>
            <a:noFill/>
          </a:ln>
          <a:effectLst>
            <a:outerShdw blurRad="101600" dist="25400" dir="54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08306F77-AAF1-72DA-9534-BA7D3D426CD0}"/>
              </a:ext>
            </a:extLst>
          </p:cNvPr>
          <p:cNvSpPr/>
          <p:nvPr/>
        </p:nvSpPr>
        <p:spPr>
          <a:xfrm>
            <a:off x="7072883" y="3165346"/>
            <a:ext cx="502920" cy="5029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Folded Corner 9035">
            <a:extLst>
              <a:ext uri="{FF2B5EF4-FFF2-40B4-BE49-F238E27FC236}">
                <a16:creationId xmlns:a16="http://schemas.microsoft.com/office/drawing/2014/main" id="{F833D29C-3119-FC5D-8F4F-C4DE23654509}"/>
              </a:ext>
            </a:extLst>
          </p:cNvPr>
          <p:cNvSpPr/>
          <p:nvPr/>
        </p:nvSpPr>
        <p:spPr>
          <a:xfrm>
            <a:off x="7214616" y="3279646"/>
            <a:ext cx="219456" cy="274320"/>
          </a:xfrm>
          <a:prstGeom prst="foldedCorner">
            <a:avLst/>
          </a:prstGeom>
          <a:solidFill>
            <a:srgbClr val="BF9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55A4CAE-5507-DFE4-7772-8F5C491C5386}"/>
              </a:ext>
            </a:extLst>
          </p:cNvPr>
          <p:cNvSpPr/>
          <p:nvPr/>
        </p:nvSpPr>
        <p:spPr>
          <a:xfrm>
            <a:off x="7242048" y="3343656"/>
            <a:ext cx="146304" cy="109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3DC3EF2-746A-1DAA-C7FB-108A090F316D}"/>
              </a:ext>
            </a:extLst>
          </p:cNvPr>
          <p:cNvSpPr/>
          <p:nvPr/>
        </p:nvSpPr>
        <p:spPr>
          <a:xfrm>
            <a:off x="7242048" y="3398520"/>
            <a:ext cx="146304" cy="109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2F1B6FD-60E4-953A-6CC2-44796D408FEA}"/>
              </a:ext>
            </a:extLst>
          </p:cNvPr>
          <p:cNvSpPr/>
          <p:nvPr/>
        </p:nvSpPr>
        <p:spPr>
          <a:xfrm>
            <a:off x="7242048" y="3453384"/>
            <a:ext cx="91440" cy="109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B844C07-D3D3-D041-EA47-C12692A97E28}"/>
              </a:ext>
            </a:extLst>
          </p:cNvPr>
          <p:cNvSpPr txBox="1"/>
          <p:nvPr/>
        </p:nvSpPr>
        <p:spPr>
          <a:xfrm>
            <a:off x="7690104" y="3160776"/>
            <a:ext cx="3995927" cy="5029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300" b="1" dirty="0">
                <a:solidFill>
                  <a:srgbClr val="FFFFFF"/>
                </a:solidFill>
                <a:latin typeface="Calibri"/>
              </a:rPr>
              <a:t>MODO 02</a:t>
            </a:r>
          </a:p>
          <a:p>
            <a:r>
              <a:rPr sz="1800" b="1" dirty="0">
                <a:solidFill>
                  <a:srgbClr val="FFFFFF"/>
                </a:solidFill>
                <a:latin typeface="Calibri"/>
              </a:rPr>
              <a:t>Carga de </a:t>
            </a:r>
            <a:r>
              <a:rPr sz="1800" b="1" dirty="0" err="1">
                <a:solidFill>
                  <a:srgbClr val="FFFFFF"/>
                </a:solidFill>
                <a:latin typeface="Calibri"/>
              </a:rPr>
              <a:t>documento</a:t>
            </a:r>
            <a:endParaRPr sz="18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6" name="Rounded Rectangle 9040">
            <a:extLst>
              <a:ext uri="{FF2B5EF4-FFF2-40B4-BE49-F238E27FC236}">
                <a16:creationId xmlns:a16="http://schemas.microsoft.com/office/drawing/2014/main" id="{536A4DAC-E3F7-564B-9589-61960EA3C41D}"/>
              </a:ext>
            </a:extLst>
          </p:cNvPr>
          <p:cNvSpPr/>
          <p:nvPr/>
        </p:nvSpPr>
        <p:spPr>
          <a:xfrm>
            <a:off x="6455664" y="3877053"/>
            <a:ext cx="5413248" cy="47548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>
            <a:outerShdw blurRad="76200" dist="12700" dir="5400000" algn="t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7A4A18D-5D9B-8D62-E49D-11A31838152E}"/>
              </a:ext>
            </a:extLst>
          </p:cNvPr>
          <p:cNvSpPr txBox="1"/>
          <p:nvPr/>
        </p:nvSpPr>
        <p:spPr>
          <a:xfrm>
            <a:off x="6748272" y="4105655"/>
            <a:ext cx="4828032" cy="6001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dirty="0">
                <a:solidFill>
                  <a:srgbClr val="404040"/>
                </a:solidFill>
                <a:latin typeface="Calibri"/>
              </a:rPr>
              <a:t>El </a:t>
            </a:r>
            <a:r>
              <a:rPr sz="1300" dirty="0" err="1">
                <a:solidFill>
                  <a:srgbClr val="404040"/>
                </a:solidFill>
                <a:latin typeface="Calibri"/>
              </a:rPr>
              <a:t>usuario</a:t>
            </a:r>
            <a:r>
              <a:rPr sz="1300" dirty="0">
                <a:solidFill>
                  <a:srgbClr val="404040"/>
                </a:solidFill>
                <a:latin typeface="Calibri"/>
              </a:rPr>
              <a:t> arrastra un PDF, DOCX o Excel con </a:t>
            </a:r>
            <a:r>
              <a:rPr sz="1300" dirty="0" err="1">
                <a:solidFill>
                  <a:srgbClr val="404040"/>
                </a:solidFill>
                <a:latin typeface="Calibri"/>
              </a:rPr>
              <a:t>activos</a:t>
            </a:r>
            <a:r>
              <a:rPr sz="1300" dirty="0">
                <a:solidFill>
                  <a:srgbClr val="404040"/>
                </a:solidFill>
                <a:latin typeface="Calibri"/>
              </a:rPr>
              <a:t>. El pipeline </a:t>
            </a:r>
            <a:r>
              <a:rPr sz="1300" dirty="0" err="1">
                <a:solidFill>
                  <a:srgbClr val="404040"/>
                </a:solidFill>
                <a:latin typeface="Calibri"/>
              </a:rPr>
              <a:t>ejecuta</a:t>
            </a:r>
            <a:r>
              <a:rPr sz="1300" dirty="0">
                <a:solidFill>
                  <a:srgbClr val="404040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404040"/>
                </a:solidFill>
                <a:latin typeface="Calibri"/>
              </a:rPr>
              <a:t>extracción</a:t>
            </a:r>
            <a:r>
              <a:rPr sz="1300" dirty="0">
                <a:solidFill>
                  <a:srgbClr val="404040"/>
                </a:solidFill>
                <a:latin typeface="Calibri"/>
              </a:rPr>
              <a:t> IA </a:t>
            </a:r>
            <a:r>
              <a:rPr sz="1300" dirty="0" err="1">
                <a:solidFill>
                  <a:srgbClr val="404040"/>
                </a:solidFill>
                <a:latin typeface="Calibri"/>
              </a:rPr>
              <a:t>por</a:t>
            </a:r>
            <a:r>
              <a:rPr sz="1300" dirty="0">
                <a:solidFill>
                  <a:srgbClr val="404040"/>
                </a:solidFill>
                <a:latin typeface="Calibri"/>
              </a:rPr>
              <a:t> chunks, </a:t>
            </a:r>
            <a:r>
              <a:rPr sz="1300" dirty="0" err="1">
                <a:solidFill>
                  <a:srgbClr val="404040"/>
                </a:solidFill>
                <a:latin typeface="Calibri"/>
              </a:rPr>
              <a:t>deduplicación</a:t>
            </a:r>
            <a:r>
              <a:rPr sz="1300" dirty="0">
                <a:solidFill>
                  <a:srgbClr val="404040"/>
                </a:solidFill>
                <a:latin typeface="Calibri"/>
              </a:rPr>
              <a:t>, geocoding y scoring documental </a:t>
            </a:r>
            <a:r>
              <a:rPr sz="1300" dirty="0" err="1">
                <a:solidFill>
                  <a:srgbClr val="404040"/>
                </a:solidFill>
                <a:latin typeface="Calibri"/>
              </a:rPr>
              <a:t>sobre</a:t>
            </a:r>
            <a:r>
              <a:rPr sz="1300" dirty="0">
                <a:solidFill>
                  <a:srgbClr val="404040"/>
                </a:solidFill>
                <a:latin typeface="Calibri"/>
              </a:rPr>
              <a:t> lo </a:t>
            </a:r>
            <a:r>
              <a:rPr sz="1300" dirty="0" err="1">
                <a:solidFill>
                  <a:srgbClr val="404040"/>
                </a:solidFill>
                <a:latin typeface="Calibri"/>
              </a:rPr>
              <a:t>extraído</a:t>
            </a:r>
            <a:r>
              <a:rPr sz="1300" dirty="0">
                <a:solidFill>
                  <a:srgbClr val="404040"/>
                </a:solidFill>
                <a:latin typeface="Calibri"/>
              </a:rPr>
              <a:t>.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3FD2E42-9DE7-DE27-AB7C-E3FD3CF78586}"/>
              </a:ext>
            </a:extLst>
          </p:cNvPr>
          <p:cNvSpPr txBox="1"/>
          <p:nvPr/>
        </p:nvSpPr>
        <p:spPr>
          <a:xfrm>
            <a:off x="6748272" y="5032756"/>
            <a:ext cx="448071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400" b="1" dirty="0">
                <a:solidFill>
                  <a:srgbClr val="BF9000"/>
                </a:solidFill>
                <a:latin typeface="Calibri"/>
              </a:rPr>
              <a:t>FLUJO</a:t>
            </a:r>
          </a:p>
        </p:txBody>
      </p:sp>
      <p:sp>
        <p:nvSpPr>
          <p:cNvPr id="39" name="Chevron 9043">
            <a:extLst>
              <a:ext uri="{FF2B5EF4-FFF2-40B4-BE49-F238E27FC236}">
                <a16:creationId xmlns:a16="http://schemas.microsoft.com/office/drawing/2014/main" id="{E18D2A1F-D0E1-3216-6445-ED8AB0E203E2}"/>
              </a:ext>
            </a:extLst>
          </p:cNvPr>
          <p:cNvSpPr/>
          <p:nvPr/>
        </p:nvSpPr>
        <p:spPr>
          <a:xfrm>
            <a:off x="7342631" y="5166360"/>
            <a:ext cx="1188720" cy="329184"/>
          </a:xfrm>
          <a:prstGeom prst="chevron">
            <a:avLst/>
          </a:prstGeom>
          <a:solidFill>
            <a:srgbClr val="BF9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533CF7F-BE81-C9A9-9C65-00B932A284C8}"/>
              </a:ext>
            </a:extLst>
          </p:cNvPr>
          <p:cNvSpPr txBox="1"/>
          <p:nvPr/>
        </p:nvSpPr>
        <p:spPr>
          <a:xfrm>
            <a:off x="7456931" y="5230368"/>
            <a:ext cx="960120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300" b="1" dirty="0">
                <a:solidFill>
                  <a:srgbClr val="FFFFFF"/>
                </a:solidFill>
                <a:latin typeface="Consolas"/>
              </a:rPr>
              <a:t>Parse</a:t>
            </a:r>
          </a:p>
        </p:txBody>
      </p:sp>
      <p:sp>
        <p:nvSpPr>
          <p:cNvPr id="41" name="Chevron 9045">
            <a:extLst>
              <a:ext uri="{FF2B5EF4-FFF2-40B4-BE49-F238E27FC236}">
                <a16:creationId xmlns:a16="http://schemas.microsoft.com/office/drawing/2014/main" id="{37337DB2-02A5-A72B-64C8-51E06B34EB86}"/>
              </a:ext>
            </a:extLst>
          </p:cNvPr>
          <p:cNvSpPr/>
          <p:nvPr/>
        </p:nvSpPr>
        <p:spPr>
          <a:xfrm>
            <a:off x="8567928" y="5166360"/>
            <a:ext cx="1188720" cy="329184"/>
          </a:xfrm>
          <a:prstGeom prst="chevron">
            <a:avLst/>
          </a:prstGeom>
          <a:solidFill>
            <a:srgbClr val="BF9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9BA84D1-DD48-16A9-8E01-2F345320FC60}"/>
              </a:ext>
            </a:extLst>
          </p:cNvPr>
          <p:cNvSpPr txBox="1"/>
          <p:nvPr/>
        </p:nvSpPr>
        <p:spPr>
          <a:xfrm>
            <a:off x="8682228" y="5230368"/>
            <a:ext cx="960120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300" b="1" dirty="0">
                <a:solidFill>
                  <a:srgbClr val="FFFFFF"/>
                </a:solidFill>
                <a:latin typeface="Consolas"/>
              </a:rPr>
              <a:t>Chunk</a:t>
            </a:r>
          </a:p>
        </p:txBody>
      </p:sp>
      <p:sp>
        <p:nvSpPr>
          <p:cNvPr id="43" name="Chevron 9047">
            <a:extLst>
              <a:ext uri="{FF2B5EF4-FFF2-40B4-BE49-F238E27FC236}">
                <a16:creationId xmlns:a16="http://schemas.microsoft.com/office/drawing/2014/main" id="{D0BCF187-A287-8683-BCF0-A5096D587408}"/>
              </a:ext>
            </a:extLst>
          </p:cNvPr>
          <p:cNvSpPr/>
          <p:nvPr/>
        </p:nvSpPr>
        <p:spPr>
          <a:xfrm>
            <a:off x="9793224" y="5166360"/>
            <a:ext cx="1188720" cy="329184"/>
          </a:xfrm>
          <a:prstGeom prst="chevron">
            <a:avLst/>
          </a:prstGeom>
          <a:solidFill>
            <a:srgbClr val="BF9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3631F95-767E-FFB8-A1A5-7F6D6711FF86}"/>
              </a:ext>
            </a:extLst>
          </p:cNvPr>
          <p:cNvSpPr txBox="1"/>
          <p:nvPr/>
        </p:nvSpPr>
        <p:spPr>
          <a:xfrm>
            <a:off x="9907524" y="5230368"/>
            <a:ext cx="960120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300" b="1" dirty="0">
                <a:solidFill>
                  <a:srgbClr val="FFFFFF"/>
                </a:solidFill>
                <a:latin typeface="Consolas"/>
              </a:rPr>
              <a:t>Extract</a:t>
            </a:r>
          </a:p>
        </p:txBody>
      </p:sp>
      <p:sp>
        <p:nvSpPr>
          <p:cNvPr id="45" name="Chevron 9049">
            <a:extLst>
              <a:ext uri="{FF2B5EF4-FFF2-40B4-BE49-F238E27FC236}">
                <a16:creationId xmlns:a16="http://schemas.microsoft.com/office/drawing/2014/main" id="{00D58F0E-90E8-4830-02F9-154287D9D315}"/>
              </a:ext>
            </a:extLst>
          </p:cNvPr>
          <p:cNvSpPr/>
          <p:nvPr/>
        </p:nvSpPr>
        <p:spPr>
          <a:xfrm>
            <a:off x="7342631" y="5623560"/>
            <a:ext cx="1188720" cy="329184"/>
          </a:xfrm>
          <a:prstGeom prst="chevron">
            <a:avLst/>
          </a:prstGeom>
          <a:solidFill>
            <a:srgbClr val="BF9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083D68F-0001-2B4F-4E54-53164755B6A1}"/>
              </a:ext>
            </a:extLst>
          </p:cNvPr>
          <p:cNvSpPr txBox="1"/>
          <p:nvPr/>
        </p:nvSpPr>
        <p:spPr>
          <a:xfrm>
            <a:off x="7456931" y="5687568"/>
            <a:ext cx="960120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onsolas"/>
              </a:rPr>
              <a:t>Dedup</a:t>
            </a:r>
          </a:p>
        </p:txBody>
      </p:sp>
      <p:sp>
        <p:nvSpPr>
          <p:cNvPr id="47" name="Chevron 9051">
            <a:extLst>
              <a:ext uri="{FF2B5EF4-FFF2-40B4-BE49-F238E27FC236}">
                <a16:creationId xmlns:a16="http://schemas.microsoft.com/office/drawing/2014/main" id="{A184E0E5-F0C9-D612-CA8D-94300002469D}"/>
              </a:ext>
            </a:extLst>
          </p:cNvPr>
          <p:cNvSpPr/>
          <p:nvPr/>
        </p:nvSpPr>
        <p:spPr>
          <a:xfrm>
            <a:off x="8567928" y="5623560"/>
            <a:ext cx="1188720" cy="329184"/>
          </a:xfrm>
          <a:prstGeom prst="chevron">
            <a:avLst/>
          </a:prstGeom>
          <a:solidFill>
            <a:srgbClr val="BF9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D9F238B-A242-864D-00AA-BA492505ECB4}"/>
              </a:ext>
            </a:extLst>
          </p:cNvPr>
          <p:cNvSpPr txBox="1"/>
          <p:nvPr/>
        </p:nvSpPr>
        <p:spPr>
          <a:xfrm>
            <a:off x="8682228" y="5687568"/>
            <a:ext cx="960120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es-ES_tradnl" sz="1300" b="1" dirty="0">
                <a:solidFill>
                  <a:srgbClr val="FFFFFF"/>
                </a:solidFill>
                <a:latin typeface="Consolas"/>
              </a:rPr>
              <a:t> </a:t>
            </a:r>
            <a:r>
              <a:rPr sz="1300" b="1" dirty="0">
                <a:solidFill>
                  <a:srgbClr val="FFFFFF"/>
                </a:solidFill>
                <a:latin typeface="Consolas"/>
              </a:rPr>
              <a:t>Geocode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CE01727-90AA-DE87-BC85-7CFC41F834ED}"/>
              </a:ext>
            </a:extLst>
          </p:cNvPr>
          <p:cNvSpPr txBox="1"/>
          <p:nvPr/>
        </p:nvSpPr>
        <p:spPr>
          <a:xfrm>
            <a:off x="6748272" y="5998463"/>
            <a:ext cx="747384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400" b="1" dirty="0">
                <a:solidFill>
                  <a:srgbClr val="BF9000"/>
                </a:solidFill>
                <a:latin typeface="Calibri"/>
              </a:rPr>
              <a:t>VENTAJAS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69E45A1-5558-819C-2B76-4D40242B255E}"/>
              </a:ext>
            </a:extLst>
          </p:cNvPr>
          <p:cNvSpPr txBox="1"/>
          <p:nvPr/>
        </p:nvSpPr>
        <p:spPr>
          <a:xfrm>
            <a:off x="6748272" y="6272783"/>
            <a:ext cx="4828032" cy="2000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4F814F"/>
                </a:solidFill>
                <a:latin typeface="Calibri"/>
              </a:rPr>
              <a:t>✓  </a:t>
            </a:r>
            <a:r>
              <a:rPr sz="1300">
                <a:solidFill>
                  <a:srgbClr val="404040"/>
                </a:solidFill>
                <a:latin typeface="Calibri"/>
              </a:rPr>
              <a:t>Cobertura casi total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7F3420A-1F5B-0DA9-FF98-A1BA8AE78576}"/>
              </a:ext>
            </a:extLst>
          </p:cNvPr>
          <p:cNvSpPr txBox="1"/>
          <p:nvPr/>
        </p:nvSpPr>
        <p:spPr>
          <a:xfrm>
            <a:off x="6748272" y="6565391"/>
            <a:ext cx="4828032" cy="2000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 dirty="0">
                <a:solidFill>
                  <a:srgbClr val="4F814F"/>
                </a:solidFill>
                <a:latin typeface="Calibri"/>
              </a:rPr>
              <a:t>✓  </a:t>
            </a:r>
            <a:r>
              <a:rPr sz="1300" dirty="0">
                <a:solidFill>
                  <a:srgbClr val="404040"/>
                </a:solidFill>
                <a:latin typeface="Calibri"/>
              </a:rPr>
              <a:t>Score documental alto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B863C9D-C132-640D-C9AE-75DF804919EC}"/>
              </a:ext>
            </a:extLst>
          </p:cNvPr>
          <p:cNvSpPr txBox="1"/>
          <p:nvPr/>
        </p:nvSpPr>
        <p:spPr>
          <a:xfrm>
            <a:off x="6748272" y="6857999"/>
            <a:ext cx="4828032" cy="2000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4F814F"/>
                </a:solidFill>
                <a:latin typeface="Calibri"/>
              </a:rPr>
              <a:t>✓  </a:t>
            </a:r>
            <a:r>
              <a:rPr sz="1300">
                <a:solidFill>
                  <a:srgbClr val="404040"/>
                </a:solidFill>
                <a:latin typeface="Calibri"/>
              </a:rPr>
              <a:t>Trazabilidad por mención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DB8F83BF-5A59-9819-1509-DC833A54832A}"/>
              </a:ext>
            </a:extLst>
          </p:cNvPr>
          <p:cNvSpPr/>
          <p:nvPr/>
        </p:nvSpPr>
        <p:spPr>
          <a:xfrm>
            <a:off x="6748272" y="7626093"/>
            <a:ext cx="4828032" cy="4572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54" name="Rounded Rectangle 9058">
            <a:extLst>
              <a:ext uri="{FF2B5EF4-FFF2-40B4-BE49-F238E27FC236}">
                <a16:creationId xmlns:a16="http://schemas.microsoft.com/office/drawing/2014/main" id="{650974E4-53BE-8D4B-4678-F74944EF14E9}"/>
              </a:ext>
            </a:extLst>
          </p:cNvPr>
          <p:cNvSpPr/>
          <p:nvPr/>
        </p:nvSpPr>
        <p:spPr>
          <a:xfrm>
            <a:off x="9774936" y="7424927"/>
            <a:ext cx="1371600" cy="201168"/>
          </a:xfrm>
          <a:prstGeom prst="roundRect">
            <a:avLst>
              <a:gd name="adj" fmla="val 50000"/>
            </a:avLst>
          </a:prstGeom>
          <a:solidFill>
            <a:srgbClr val="BF9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88A6544-54E0-8522-7725-BC3ED6490C45}"/>
              </a:ext>
            </a:extLst>
          </p:cNvPr>
          <p:cNvSpPr txBox="1"/>
          <p:nvPr/>
        </p:nvSpPr>
        <p:spPr>
          <a:xfrm>
            <a:off x="9774936" y="7448567"/>
            <a:ext cx="1371600" cy="15388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300" b="1" dirty="0">
                <a:solidFill>
                  <a:srgbClr val="FFFFFF"/>
                </a:solidFill>
                <a:latin typeface="Calibri"/>
              </a:rPr>
              <a:t>PRECISIÓN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D3F1CAE-366B-D46A-2757-211F1567A697}"/>
              </a:ext>
            </a:extLst>
          </p:cNvPr>
          <p:cNvSpPr txBox="1"/>
          <p:nvPr/>
        </p:nvSpPr>
        <p:spPr>
          <a:xfrm>
            <a:off x="6748272" y="7717536"/>
            <a:ext cx="666657" cy="2000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595959"/>
                </a:solidFill>
                <a:latin typeface="Calibri"/>
              </a:rPr>
              <a:t>LATENCIA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273BF73-86F7-A6F2-C24A-F79E222D4C54}"/>
              </a:ext>
            </a:extLst>
          </p:cNvPr>
          <p:cNvSpPr txBox="1"/>
          <p:nvPr/>
        </p:nvSpPr>
        <p:spPr>
          <a:xfrm>
            <a:off x="6748272" y="7964423"/>
            <a:ext cx="210312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2000" b="1">
                <a:solidFill>
                  <a:srgbClr val="1F3864"/>
                </a:solidFill>
                <a:latin typeface="Calibri"/>
              </a:rPr>
              <a:t>~60 s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A20ECBC-0926-3CE0-4157-B7C0FCDB081F}"/>
              </a:ext>
            </a:extLst>
          </p:cNvPr>
          <p:cNvSpPr txBox="1"/>
          <p:nvPr/>
        </p:nvSpPr>
        <p:spPr>
          <a:xfrm>
            <a:off x="6748272" y="8311893"/>
            <a:ext cx="2728311" cy="16927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 dirty="0">
                <a:solidFill>
                  <a:srgbClr val="595959"/>
                </a:solidFill>
                <a:latin typeface="Calibri"/>
              </a:rPr>
              <a:t>MEJOR CASO  </a:t>
            </a:r>
            <a:r>
              <a:rPr sz="1300" b="1" dirty="0">
                <a:solidFill>
                  <a:srgbClr val="1F3864"/>
                </a:solidFill>
                <a:latin typeface="Calibri"/>
              </a:rPr>
              <a:t>Memoria </a:t>
            </a:r>
            <a:r>
              <a:rPr sz="1300" b="1" dirty="0" err="1">
                <a:solidFill>
                  <a:srgbClr val="1F3864"/>
                </a:solidFill>
                <a:latin typeface="Calibri"/>
              </a:rPr>
              <a:t>anual</a:t>
            </a:r>
            <a:r>
              <a:rPr sz="1300" b="1" dirty="0">
                <a:solidFill>
                  <a:srgbClr val="1F3864"/>
                </a:solidFill>
                <a:latin typeface="Calibri"/>
              </a:rPr>
              <a:t> o </a:t>
            </a:r>
            <a:r>
              <a:rPr sz="1300" b="1" dirty="0" err="1">
                <a:solidFill>
                  <a:srgbClr val="1F3864"/>
                </a:solidFill>
                <a:latin typeface="Calibri"/>
              </a:rPr>
              <a:t>listado</a:t>
            </a:r>
            <a:r>
              <a:rPr sz="1300" b="1" dirty="0">
                <a:solidFill>
                  <a:srgbClr val="1F3864"/>
                </a:solidFill>
                <a:latin typeface="Calibri"/>
              </a:rPr>
              <a:t> </a:t>
            </a:r>
            <a:r>
              <a:rPr sz="1300" b="1" dirty="0" err="1">
                <a:solidFill>
                  <a:srgbClr val="1F3864"/>
                </a:solidFill>
                <a:latin typeface="Calibri"/>
              </a:rPr>
              <a:t>interno</a:t>
            </a:r>
            <a:endParaRPr sz="1100" b="1" dirty="0">
              <a:solidFill>
                <a:srgbClr val="1F3864"/>
              </a:solidFill>
              <a:latin typeface="Calibri"/>
            </a:endParaRPr>
          </a:p>
        </p:txBody>
      </p:sp>
      <p:sp>
        <p:nvSpPr>
          <p:cNvPr id="59" name="Trapezoid 58">
            <a:extLst>
              <a:ext uri="{FF2B5EF4-FFF2-40B4-BE49-F238E27FC236}">
                <a16:creationId xmlns:a16="http://schemas.microsoft.com/office/drawing/2014/main" id="{3EDEE79D-2B28-026E-CCD2-EF7824FF778E}"/>
              </a:ext>
            </a:extLst>
          </p:cNvPr>
          <p:cNvSpPr/>
          <p:nvPr/>
        </p:nvSpPr>
        <p:spPr>
          <a:xfrm rot="10800000">
            <a:off x="12152376" y="3017520"/>
            <a:ext cx="5413248" cy="868680"/>
          </a:xfrm>
          <a:prstGeom prst="trapezoid">
            <a:avLst>
              <a:gd name="adj" fmla="val 20000"/>
            </a:avLst>
          </a:prstGeom>
          <a:solidFill>
            <a:srgbClr val="14284D"/>
          </a:solidFill>
          <a:ln>
            <a:noFill/>
          </a:ln>
          <a:effectLst>
            <a:outerShdw blurRad="101600" dist="25400" dir="54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C1DCA2C0-D4D3-E55D-0950-1A6DF8EFEB38}"/>
              </a:ext>
            </a:extLst>
          </p:cNvPr>
          <p:cNvSpPr/>
          <p:nvPr/>
        </p:nvSpPr>
        <p:spPr>
          <a:xfrm>
            <a:off x="12769595" y="3165346"/>
            <a:ext cx="502920" cy="5029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ounded Rectangle 9065">
            <a:extLst>
              <a:ext uri="{FF2B5EF4-FFF2-40B4-BE49-F238E27FC236}">
                <a16:creationId xmlns:a16="http://schemas.microsoft.com/office/drawing/2014/main" id="{B77BF733-4F68-EAFB-CB71-C57D002D3CA6}"/>
              </a:ext>
            </a:extLst>
          </p:cNvPr>
          <p:cNvSpPr/>
          <p:nvPr/>
        </p:nvSpPr>
        <p:spPr>
          <a:xfrm>
            <a:off x="12883895" y="3343656"/>
            <a:ext cx="274320" cy="201168"/>
          </a:xfrm>
          <a:prstGeom prst="roundRect">
            <a:avLst>
              <a:gd name="adj" fmla="val 30000"/>
            </a:avLst>
          </a:prstGeom>
          <a:solidFill>
            <a:srgbClr val="142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135CD361-F96D-B0E4-229B-072AA1C0542B}"/>
              </a:ext>
            </a:extLst>
          </p:cNvPr>
          <p:cNvSpPr/>
          <p:nvPr/>
        </p:nvSpPr>
        <p:spPr>
          <a:xfrm>
            <a:off x="12938759" y="3398520"/>
            <a:ext cx="45720" cy="457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58988C47-20B1-F041-6FC8-035B94D4ED14}"/>
              </a:ext>
            </a:extLst>
          </p:cNvPr>
          <p:cNvSpPr/>
          <p:nvPr/>
        </p:nvSpPr>
        <p:spPr>
          <a:xfrm>
            <a:off x="13057631" y="3398520"/>
            <a:ext cx="45720" cy="457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60" name="Rectangle 8959">
            <a:extLst>
              <a:ext uri="{FF2B5EF4-FFF2-40B4-BE49-F238E27FC236}">
                <a16:creationId xmlns:a16="http://schemas.microsoft.com/office/drawing/2014/main" id="{1A44413F-516D-1BA4-1DCE-17E53212F792}"/>
              </a:ext>
            </a:extLst>
          </p:cNvPr>
          <p:cNvSpPr/>
          <p:nvPr/>
        </p:nvSpPr>
        <p:spPr>
          <a:xfrm>
            <a:off x="13013740" y="3270504"/>
            <a:ext cx="14630" cy="73152"/>
          </a:xfrm>
          <a:prstGeom prst="rect">
            <a:avLst/>
          </a:prstGeom>
          <a:solidFill>
            <a:srgbClr val="142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61" name="Oval 8960">
            <a:extLst>
              <a:ext uri="{FF2B5EF4-FFF2-40B4-BE49-F238E27FC236}">
                <a16:creationId xmlns:a16="http://schemas.microsoft.com/office/drawing/2014/main" id="{9A3E8F33-F3F6-0D73-7E8B-20DCB0E7BB75}"/>
              </a:ext>
            </a:extLst>
          </p:cNvPr>
          <p:cNvSpPr/>
          <p:nvPr/>
        </p:nvSpPr>
        <p:spPr>
          <a:xfrm>
            <a:off x="12989051" y="3233928"/>
            <a:ext cx="64008" cy="64008"/>
          </a:xfrm>
          <a:prstGeom prst="ellipse">
            <a:avLst/>
          </a:prstGeom>
          <a:solidFill>
            <a:srgbClr val="142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62" name="TextBox 8961">
            <a:extLst>
              <a:ext uri="{FF2B5EF4-FFF2-40B4-BE49-F238E27FC236}">
                <a16:creationId xmlns:a16="http://schemas.microsoft.com/office/drawing/2014/main" id="{8F50E23C-A088-47DD-9910-C5B0F760CB77}"/>
              </a:ext>
            </a:extLst>
          </p:cNvPr>
          <p:cNvSpPr txBox="1"/>
          <p:nvPr/>
        </p:nvSpPr>
        <p:spPr>
          <a:xfrm>
            <a:off x="13386815" y="3160776"/>
            <a:ext cx="3995928" cy="5029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300" b="1" dirty="0">
                <a:solidFill>
                  <a:srgbClr val="FFFFFF"/>
                </a:solidFill>
                <a:latin typeface="Calibri"/>
              </a:rPr>
              <a:t>MODO 03</a:t>
            </a:r>
          </a:p>
          <a:p>
            <a:r>
              <a:rPr sz="1800" b="1" dirty="0" err="1">
                <a:solidFill>
                  <a:srgbClr val="FFFFFF"/>
                </a:solidFill>
                <a:latin typeface="Calibri"/>
              </a:rPr>
              <a:t>Agente</a:t>
            </a:r>
            <a:r>
              <a:rPr sz="1800" b="1" dirty="0">
                <a:solidFill>
                  <a:srgbClr val="FFFFFF"/>
                </a:solidFill>
                <a:latin typeface="Calibri"/>
              </a:rPr>
              <a:t> IA</a:t>
            </a:r>
          </a:p>
        </p:txBody>
      </p:sp>
      <p:sp>
        <p:nvSpPr>
          <p:cNvPr id="8963" name="Rounded Rectangle 9071">
            <a:extLst>
              <a:ext uri="{FF2B5EF4-FFF2-40B4-BE49-F238E27FC236}">
                <a16:creationId xmlns:a16="http://schemas.microsoft.com/office/drawing/2014/main" id="{4A93FB87-B1D3-61FB-CE18-D2DEA69B45C0}"/>
              </a:ext>
            </a:extLst>
          </p:cNvPr>
          <p:cNvSpPr/>
          <p:nvPr/>
        </p:nvSpPr>
        <p:spPr>
          <a:xfrm>
            <a:off x="12152376" y="3877053"/>
            <a:ext cx="5413248" cy="47548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>
            <a:outerShdw blurRad="76200" dist="12700" dir="5400000" algn="t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64" name="TextBox 8963">
            <a:extLst>
              <a:ext uri="{FF2B5EF4-FFF2-40B4-BE49-F238E27FC236}">
                <a16:creationId xmlns:a16="http://schemas.microsoft.com/office/drawing/2014/main" id="{9E8CD081-5FFD-86B3-15FC-4DEC2A0683A2}"/>
              </a:ext>
            </a:extLst>
          </p:cNvPr>
          <p:cNvSpPr txBox="1"/>
          <p:nvPr/>
        </p:nvSpPr>
        <p:spPr>
          <a:xfrm>
            <a:off x="12444984" y="4105655"/>
            <a:ext cx="4828032" cy="6001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dirty="0">
                <a:solidFill>
                  <a:srgbClr val="404040"/>
                </a:solidFill>
                <a:latin typeface="Calibri"/>
              </a:rPr>
              <a:t>El </a:t>
            </a:r>
            <a:r>
              <a:rPr sz="1300" dirty="0" err="1">
                <a:solidFill>
                  <a:srgbClr val="404040"/>
                </a:solidFill>
                <a:latin typeface="Calibri"/>
              </a:rPr>
              <a:t>usuario</a:t>
            </a:r>
            <a:r>
              <a:rPr sz="1300" dirty="0">
                <a:solidFill>
                  <a:srgbClr val="404040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404040"/>
                </a:solidFill>
                <a:latin typeface="Calibri"/>
              </a:rPr>
              <a:t>activa</a:t>
            </a:r>
            <a:r>
              <a:rPr sz="1300" dirty="0">
                <a:solidFill>
                  <a:srgbClr val="404040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404040"/>
                </a:solidFill>
                <a:latin typeface="Calibri"/>
              </a:rPr>
              <a:t>el</a:t>
            </a:r>
            <a:r>
              <a:rPr sz="1300" dirty="0">
                <a:solidFill>
                  <a:srgbClr val="404040"/>
                </a:solidFill>
                <a:latin typeface="Calibri"/>
              </a:rPr>
              <a:t> toggle de </a:t>
            </a:r>
            <a:r>
              <a:rPr sz="1300" dirty="0" err="1">
                <a:solidFill>
                  <a:srgbClr val="404040"/>
                </a:solidFill>
                <a:latin typeface="Calibri"/>
              </a:rPr>
              <a:t>agente</a:t>
            </a:r>
            <a:r>
              <a:rPr sz="1300" dirty="0">
                <a:solidFill>
                  <a:srgbClr val="404040"/>
                </a:solidFill>
                <a:latin typeface="Calibri"/>
              </a:rPr>
              <a:t> y </a:t>
            </a:r>
            <a:r>
              <a:rPr sz="1300" dirty="0" err="1">
                <a:solidFill>
                  <a:srgbClr val="404040"/>
                </a:solidFill>
                <a:latin typeface="Calibri"/>
              </a:rPr>
              <a:t>teclea</a:t>
            </a:r>
            <a:r>
              <a:rPr sz="1300" dirty="0">
                <a:solidFill>
                  <a:srgbClr val="404040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404040"/>
                </a:solidFill>
                <a:latin typeface="Calibri"/>
              </a:rPr>
              <a:t>el</a:t>
            </a:r>
            <a:r>
              <a:rPr sz="1300" dirty="0">
                <a:solidFill>
                  <a:srgbClr val="404040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404040"/>
                </a:solidFill>
                <a:latin typeface="Calibri"/>
              </a:rPr>
              <a:t>nombre</a:t>
            </a:r>
            <a:r>
              <a:rPr sz="1300" dirty="0">
                <a:solidFill>
                  <a:srgbClr val="404040"/>
                </a:solidFill>
                <a:latin typeface="Calibri"/>
              </a:rPr>
              <a:t>. Un </a:t>
            </a:r>
            <a:r>
              <a:rPr sz="1300" dirty="0" err="1">
                <a:solidFill>
                  <a:srgbClr val="404040"/>
                </a:solidFill>
                <a:latin typeface="Calibri"/>
              </a:rPr>
              <a:t>agente</a:t>
            </a:r>
            <a:r>
              <a:rPr sz="1300" dirty="0">
                <a:solidFill>
                  <a:srgbClr val="404040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404040"/>
                </a:solidFill>
                <a:latin typeface="Calibri"/>
              </a:rPr>
              <a:t>CrewAI</a:t>
            </a:r>
            <a:r>
              <a:rPr sz="1300" dirty="0">
                <a:solidFill>
                  <a:srgbClr val="404040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404040"/>
                </a:solidFill>
                <a:latin typeface="Calibri"/>
              </a:rPr>
              <a:t>navega</a:t>
            </a:r>
            <a:r>
              <a:rPr sz="1300" dirty="0">
                <a:solidFill>
                  <a:srgbClr val="404040"/>
                </a:solidFill>
                <a:latin typeface="Calibri"/>
              </a:rPr>
              <a:t> la web, </a:t>
            </a:r>
            <a:r>
              <a:rPr sz="1300" dirty="0" err="1">
                <a:solidFill>
                  <a:srgbClr val="404040"/>
                </a:solidFill>
                <a:latin typeface="Calibri"/>
              </a:rPr>
              <a:t>descarga</a:t>
            </a:r>
            <a:r>
              <a:rPr sz="1300" dirty="0">
                <a:solidFill>
                  <a:srgbClr val="404040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404040"/>
                </a:solidFill>
                <a:latin typeface="Calibri"/>
              </a:rPr>
              <a:t>documentos</a:t>
            </a:r>
            <a:r>
              <a:rPr sz="1300" dirty="0">
                <a:solidFill>
                  <a:srgbClr val="404040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404040"/>
                </a:solidFill>
                <a:latin typeface="Calibri"/>
              </a:rPr>
              <a:t>candidatos</a:t>
            </a:r>
            <a:r>
              <a:rPr sz="1300" dirty="0">
                <a:solidFill>
                  <a:srgbClr val="404040"/>
                </a:solidFill>
                <a:latin typeface="Calibri"/>
              </a:rPr>
              <a:t>, </a:t>
            </a:r>
            <a:r>
              <a:rPr sz="1300" dirty="0" err="1">
                <a:solidFill>
                  <a:srgbClr val="404040"/>
                </a:solidFill>
                <a:latin typeface="Calibri"/>
              </a:rPr>
              <a:t>los</a:t>
            </a:r>
            <a:r>
              <a:rPr sz="1300" dirty="0">
                <a:solidFill>
                  <a:srgbClr val="404040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404040"/>
                </a:solidFill>
                <a:latin typeface="Calibri"/>
              </a:rPr>
              <a:t>valida</a:t>
            </a:r>
            <a:r>
              <a:rPr sz="1300" dirty="0">
                <a:solidFill>
                  <a:srgbClr val="404040"/>
                </a:solidFill>
                <a:latin typeface="Calibri"/>
              </a:rPr>
              <a:t> y </a:t>
            </a:r>
            <a:r>
              <a:rPr sz="1300" dirty="0" err="1">
                <a:solidFill>
                  <a:srgbClr val="404040"/>
                </a:solidFill>
                <a:latin typeface="Calibri"/>
              </a:rPr>
              <a:t>los</a:t>
            </a:r>
            <a:r>
              <a:rPr sz="1300" dirty="0">
                <a:solidFill>
                  <a:srgbClr val="404040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404040"/>
                </a:solidFill>
                <a:latin typeface="Calibri"/>
              </a:rPr>
              <a:t>procesa</a:t>
            </a:r>
            <a:r>
              <a:rPr sz="1300" dirty="0">
                <a:solidFill>
                  <a:srgbClr val="404040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404040"/>
                </a:solidFill>
                <a:latin typeface="Calibri"/>
              </a:rPr>
              <a:t>en</a:t>
            </a:r>
            <a:r>
              <a:rPr sz="1300" dirty="0">
                <a:solidFill>
                  <a:srgbClr val="404040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404040"/>
                </a:solidFill>
                <a:latin typeface="Calibri"/>
              </a:rPr>
              <a:t>el</a:t>
            </a:r>
            <a:r>
              <a:rPr sz="1300" dirty="0">
                <a:solidFill>
                  <a:srgbClr val="404040"/>
                </a:solidFill>
                <a:latin typeface="Calibri"/>
              </a:rPr>
              <a:t> pipeline </a:t>
            </a:r>
            <a:r>
              <a:rPr sz="1300" dirty="0" err="1">
                <a:solidFill>
                  <a:srgbClr val="404040"/>
                </a:solidFill>
                <a:latin typeface="Calibri"/>
              </a:rPr>
              <a:t>documento</a:t>
            </a:r>
            <a:r>
              <a:rPr sz="1300" dirty="0">
                <a:solidFill>
                  <a:srgbClr val="404040"/>
                </a:solidFill>
                <a:latin typeface="Calibri"/>
              </a:rPr>
              <a:t>.</a:t>
            </a:r>
          </a:p>
        </p:txBody>
      </p:sp>
      <p:sp>
        <p:nvSpPr>
          <p:cNvPr id="8965" name="TextBox 8964">
            <a:extLst>
              <a:ext uri="{FF2B5EF4-FFF2-40B4-BE49-F238E27FC236}">
                <a16:creationId xmlns:a16="http://schemas.microsoft.com/office/drawing/2014/main" id="{B26C1AAE-1B49-0F4E-8D82-17929B838CF9}"/>
              </a:ext>
            </a:extLst>
          </p:cNvPr>
          <p:cNvSpPr txBox="1"/>
          <p:nvPr/>
        </p:nvSpPr>
        <p:spPr>
          <a:xfrm>
            <a:off x="12444984" y="5032756"/>
            <a:ext cx="448071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400" b="1" dirty="0">
                <a:solidFill>
                  <a:srgbClr val="BF9000"/>
                </a:solidFill>
                <a:latin typeface="Calibri"/>
              </a:rPr>
              <a:t>FLUJO</a:t>
            </a:r>
          </a:p>
        </p:txBody>
      </p:sp>
      <p:sp>
        <p:nvSpPr>
          <p:cNvPr id="8966" name="Chevron 9074">
            <a:extLst>
              <a:ext uri="{FF2B5EF4-FFF2-40B4-BE49-F238E27FC236}">
                <a16:creationId xmlns:a16="http://schemas.microsoft.com/office/drawing/2014/main" id="{E82EF073-3058-52AE-5634-D3217509605F}"/>
              </a:ext>
            </a:extLst>
          </p:cNvPr>
          <p:cNvSpPr/>
          <p:nvPr/>
        </p:nvSpPr>
        <p:spPr>
          <a:xfrm>
            <a:off x="13039344" y="5166360"/>
            <a:ext cx="1188720" cy="329184"/>
          </a:xfrm>
          <a:prstGeom prst="chevron">
            <a:avLst/>
          </a:prstGeom>
          <a:solidFill>
            <a:srgbClr val="142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8967" name="TextBox 8966">
            <a:extLst>
              <a:ext uri="{FF2B5EF4-FFF2-40B4-BE49-F238E27FC236}">
                <a16:creationId xmlns:a16="http://schemas.microsoft.com/office/drawing/2014/main" id="{3302CCEB-97E5-5C2F-8CD7-B25F173BD9F7}"/>
              </a:ext>
            </a:extLst>
          </p:cNvPr>
          <p:cNvSpPr txBox="1"/>
          <p:nvPr/>
        </p:nvSpPr>
        <p:spPr>
          <a:xfrm>
            <a:off x="13153644" y="5230368"/>
            <a:ext cx="960120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onsolas"/>
              </a:rPr>
              <a:t>Search</a:t>
            </a:r>
          </a:p>
        </p:txBody>
      </p:sp>
      <p:sp>
        <p:nvSpPr>
          <p:cNvPr id="8968" name="Chevron 9076">
            <a:extLst>
              <a:ext uri="{FF2B5EF4-FFF2-40B4-BE49-F238E27FC236}">
                <a16:creationId xmlns:a16="http://schemas.microsoft.com/office/drawing/2014/main" id="{C6C69342-8CE0-C22C-C145-6FC421D820E2}"/>
              </a:ext>
            </a:extLst>
          </p:cNvPr>
          <p:cNvSpPr/>
          <p:nvPr/>
        </p:nvSpPr>
        <p:spPr>
          <a:xfrm>
            <a:off x="14264640" y="5166360"/>
            <a:ext cx="1188720" cy="329184"/>
          </a:xfrm>
          <a:prstGeom prst="chevron">
            <a:avLst/>
          </a:prstGeom>
          <a:solidFill>
            <a:srgbClr val="142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8969" name="TextBox 8968">
            <a:extLst>
              <a:ext uri="{FF2B5EF4-FFF2-40B4-BE49-F238E27FC236}">
                <a16:creationId xmlns:a16="http://schemas.microsoft.com/office/drawing/2014/main" id="{0351D36F-FF1C-750F-2C15-8ADBE14DE2B4}"/>
              </a:ext>
            </a:extLst>
          </p:cNvPr>
          <p:cNvSpPr txBox="1"/>
          <p:nvPr/>
        </p:nvSpPr>
        <p:spPr>
          <a:xfrm>
            <a:off x="14378940" y="5230368"/>
            <a:ext cx="960120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onsolas"/>
              </a:rPr>
              <a:t>Fetch</a:t>
            </a:r>
          </a:p>
        </p:txBody>
      </p:sp>
      <p:sp>
        <p:nvSpPr>
          <p:cNvPr id="8970" name="Chevron 9078">
            <a:extLst>
              <a:ext uri="{FF2B5EF4-FFF2-40B4-BE49-F238E27FC236}">
                <a16:creationId xmlns:a16="http://schemas.microsoft.com/office/drawing/2014/main" id="{99F14BA5-8A00-EE3E-3715-D22C6F5027B4}"/>
              </a:ext>
            </a:extLst>
          </p:cNvPr>
          <p:cNvSpPr/>
          <p:nvPr/>
        </p:nvSpPr>
        <p:spPr>
          <a:xfrm>
            <a:off x="15489936" y="5166360"/>
            <a:ext cx="1188720" cy="329184"/>
          </a:xfrm>
          <a:prstGeom prst="chevron">
            <a:avLst/>
          </a:prstGeom>
          <a:solidFill>
            <a:srgbClr val="142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8971" name="TextBox 8970">
            <a:extLst>
              <a:ext uri="{FF2B5EF4-FFF2-40B4-BE49-F238E27FC236}">
                <a16:creationId xmlns:a16="http://schemas.microsoft.com/office/drawing/2014/main" id="{914A7BF9-AFE7-60AD-1D20-5882FE7637FD}"/>
              </a:ext>
            </a:extLst>
          </p:cNvPr>
          <p:cNvSpPr txBox="1"/>
          <p:nvPr/>
        </p:nvSpPr>
        <p:spPr>
          <a:xfrm>
            <a:off x="15604236" y="5230368"/>
            <a:ext cx="960120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onsolas"/>
              </a:rPr>
              <a:t>Review</a:t>
            </a:r>
          </a:p>
        </p:txBody>
      </p:sp>
      <p:sp>
        <p:nvSpPr>
          <p:cNvPr id="8972" name="Chevron 9080">
            <a:extLst>
              <a:ext uri="{FF2B5EF4-FFF2-40B4-BE49-F238E27FC236}">
                <a16:creationId xmlns:a16="http://schemas.microsoft.com/office/drawing/2014/main" id="{1B6979E6-1ACA-2D0B-84CB-B7C1612AFA6C}"/>
              </a:ext>
            </a:extLst>
          </p:cNvPr>
          <p:cNvSpPr/>
          <p:nvPr/>
        </p:nvSpPr>
        <p:spPr>
          <a:xfrm>
            <a:off x="13651992" y="5623560"/>
            <a:ext cx="1188720" cy="329184"/>
          </a:xfrm>
          <a:prstGeom prst="chevron">
            <a:avLst/>
          </a:prstGeom>
          <a:solidFill>
            <a:srgbClr val="142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8973" name="TextBox 8972">
            <a:extLst>
              <a:ext uri="{FF2B5EF4-FFF2-40B4-BE49-F238E27FC236}">
                <a16:creationId xmlns:a16="http://schemas.microsoft.com/office/drawing/2014/main" id="{D549A5F1-D0B9-748C-8171-280ED0ED264A}"/>
              </a:ext>
            </a:extLst>
          </p:cNvPr>
          <p:cNvSpPr txBox="1"/>
          <p:nvPr/>
        </p:nvSpPr>
        <p:spPr>
          <a:xfrm>
            <a:off x="13766292" y="5687568"/>
            <a:ext cx="960120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es-ES_tradnl" sz="1300" b="1" dirty="0">
                <a:solidFill>
                  <a:srgbClr val="FFFFFF"/>
                </a:solidFill>
                <a:latin typeface="Consolas"/>
              </a:rPr>
              <a:t> </a:t>
            </a:r>
            <a:r>
              <a:rPr sz="1300" b="1" dirty="0">
                <a:solidFill>
                  <a:srgbClr val="FFFFFF"/>
                </a:solidFill>
                <a:latin typeface="Consolas"/>
              </a:rPr>
              <a:t>Validate</a:t>
            </a:r>
          </a:p>
        </p:txBody>
      </p:sp>
      <p:sp>
        <p:nvSpPr>
          <p:cNvPr id="8974" name="Chevron 9082">
            <a:extLst>
              <a:ext uri="{FF2B5EF4-FFF2-40B4-BE49-F238E27FC236}">
                <a16:creationId xmlns:a16="http://schemas.microsoft.com/office/drawing/2014/main" id="{749E5B59-12E0-ECA2-E1BC-46AA13A5C3F6}"/>
              </a:ext>
            </a:extLst>
          </p:cNvPr>
          <p:cNvSpPr/>
          <p:nvPr/>
        </p:nvSpPr>
        <p:spPr>
          <a:xfrm>
            <a:off x="14877288" y="5623560"/>
            <a:ext cx="1188720" cy="329184"/>
          </a:xfrm>
          <a:prstGeom prst="chevron">
            <a:avLst/>
          </a:prstGeom>
          <a:solidFill>
            <a:srgbClr val="142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8975" name="TextBox 8974">
            <a:extLst>
              <a:ext uri="{FF2B5EF4-FFF2-40B4-BE49-F238E27FC236}">
                <a16:creationId xmlns:a16="http://schemas.microsoft.com/office/drawing/2014/main" id="{DBCA278A-64FC-940F-C43A-7B8F9F534C34}"/>
              </a:ext>
            </a:extLst>
          </p:cNvPr>
          <p:cNvSpPr txBox="1"/>
          <p:nvPr/>
        </p:nvSpPr>
        <p:spPr>
          <a:xfrm>
            <a:off x="14991588" y="5687568"/>
            <a:ext cx="960120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onsolas"/>
              </a:rPr>
              <a:t>Run</a:t>
            </a:r>
          </a:p>
        </p:txBody>
      </p:sp>
      <p:sp>
        <p:nvSpPr>
          <p:cNvPr id="8976" name="TextBox 8975">
            <a:extLst>
              <a:ext uri="{FF2B5EF4-FFF2-40B4-BE49-F238E27FC236}">
                <a16:creationId xmlns:a16="http://schemas.microsoft.com/office/drawing/2014/main" id="{F9A0D60D-9C09-CDA1-1C9E-DFCE79935C63}"/>
              </a:ext>
            </a:extLst>
          </p:cNvPr>
          <p:cNvSpPr txBox="1"/>
          <p:nvPr/>
        </p:nvSpPr>
        <p:spPr>
          <a:xfrm>
            <a:off x="12444984" y="5998463"/>
            <a:ext cx="747384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400" b="1">
                <a:solidFill>
                  <a:srgbClr val="BF9000"/>
                </a:solidFill>
                <a:latin typeface="Calibri"/>
              </a:rPr>
              <a:t>VENTAJAS</a:t>
            </a:r>
          </a:p>
        </p:txBody>
      </p:sp>
      <p:sp>
        <p:nvSpPr>
          <p:cNvPr id="8977" name="TextBox 8976">
            <a:extLst>
              <a:ext uri="{FF2B5EF4-FFF2-40B4-BE49-F238E27FC236}">
                <a16:creationId xmlns:a16="http://schemas.microsoft.com/office/drawing/2014/main" id="{6F403AA8-9361-8209-8AD4-1EC9860321FA}"/>
              </a:ext>
            </a:extLst>
          </p:cNvPr>
          <p:cNvSpPr txBox="1"/>
          <p:nvPr/>
        </p:nvSpPr>
        <p:spPr>
          <a:xfrm>
            <a:off x="12444984" y="6272783"/>
            <a:ext cx="4828032" cy="2000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4F814F"/>
                </a:solidFill>
                <a:latin typeface="Calibri"/>
              </a:rPr>
              <a:t>✓  </a:t>
            </a:r>
            <a:r>
              <a:rPr sz="1300">
                <a:solidFill>
                  <a:srgbClr val="404040"/>
                </a:solidFill>
                <a:latin typeface="Calibri"/>
              </a:rPr>
              <a:t>Recupera empresas opacas</a:t>
            </a:r>
          </a:p>
        </p:txBody>
      </p:sp>
      <p:sp>
        <p:nvSpPr>
          <p:cNvPr id="8978" name="TextBox 8977">
            <a:extLst>
              <a:ext uri="{FF2B5EF4-FFF2-40B4-BE49-F238E27FC236}">
                <a16:creationId xmlns:a16="http://schemas.microsoft.com/office/drawing/2014/main" id="{3CAAA868-8B01-0302-87AE-C861F66E97B1}"/>
              </a:ext>
            </a:extLst>
          </p:cNvPr>
          <p:cNvSpPr txBox="1"/>
          <p:nvPr/>
        </p:nvSpPr>
        <p:spPr>
          <a:xfrm>
            <a:off x="12444984" y="6565391"/>
            <a:ext cx="4828032" cy="2000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4F814F"/>
                </a:solidFill>
                <a:latin typeface="Calibri"/>
              </a:rPr>
              <a:t>✓  </a:t>
            </a:r>
            <a:r>
              <a:rPr sz="1300">
                <a:solidFill>
                  <a:srgbClr val="404040"/>
                </a:solidFill>
                <a:latin typeface="Calibri"/>
              </a:rPr>
              <a:t>Validación humana en bucle</a:t>
            </a:r>
          </a:p>
        </p:txBody>
      </p:sp>
      <p:sp>
        <p:nvSpPr>
          <p:cNvPr id="8979" name="TextBox 8978">
            <a:extLst>
              <a:ext uri="{FF2B5EF4-FFF2-40B4-BE49-F238E27FC236}">
                <a16:creationId xmlns:a16="http://schemas.microsoft.com/office/drawing/2014/main" id="{FE13F78C-3BD9-A8AC-8545-E05057F10805}"/>
              </a:ext>
            </a:extLst>
          </p:cNvPr>
          <p:cNvSpPr txBox="1"/>
          <p:nvPr/>
        </p:nvSpPr>
        <p:spPr>
          <a:xfrm>
            <a:off x="12444984" y="6857999"/>
            <a:ext cx="4828032" cy="2000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4F814F"/>
                </a:solidFill>
                <a:latin typeface="Calibri"/>
              </a:rPr>
              <a:t>✓  </a:t>
            </a:r>
            <a:r>
              <a:rPr sz="1300">
                <a:solidFill>
                  <a:srgbClr val="404040"/>
                </a:solidFill>
                <a:latin typeface="Calibri"/>
              </a:rPr>
              <a:t>Combina web + documento</a:t>
            </a:r>
          </a:p>
        </p:txBody>
      </p:sp>
      <p:sp>
        <p:nvSpPr>
          <p:cNvPr id="8980" name="Rectangle 8979">
            <a:extLst>
              <a:ext uri="{FF2B5EF4-FFF2-40B4-BE49-F238E27FC236}">
                <a16:creationId xmlns:a16="http://schemas.microsoft.com/office/drawing/2014/main" id="{65365384-F7F8-69D3-557D-0FE80BEB6336}"/>
              </a:ext>
            </a:extLst>
          </p:cNvPr>
          <p:cNvSpPr/>
          <p:nvPr/>
        </p:nvSpPr>
        <p:spPr>
          <a:xfrm>
            <a:off x="12444984" y="7626093"/>
            <a:ext cx="4828032" cy="4572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8981" name="Rounded Rectangle 9089">
            <a:extLst>
              <a:ext uri="{FF2B5EF4-FFF2-40B4-BE49-F238E27FC236}">
                <a16:creationId xmlns:a16="http://schemas.microsoft.com/office/drawing/2014/main" id="{FD62CD12-8BAA-2EB4-5840-AB1F00A29D9D}"/>
              </a:ext>
            </a:extLst>
          </p:cNvPr>
          <p:cNvSpPr/>
          <p:nvPr/>
        </p:nvSpPr>
        <p:spPr>
          <a:xfrm>
            <a:off x="15544800" y="7424927"/>
            <a:ext cx="1371600" cy="201168"/>
          </a:xfrm>
          <a:prstGeom prst="roundRect">
            <a:avLst>
              <a:gd name="adj" fmla="val 50000"/>
            </a:avLst>
          </a:prstGeom>
          <a:solidFill>
            <a:srgbClr val="142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8982" name="TextBox 8981">
            <a:extLst>
              <a:ext uri="{FF2B5EF4-FFF2-40B4-BE49-F238E27FC236}">
                <a16:creationId xmlns:a16="http://schemas.microsoft.com/office/drawing/2014/main" id="{F48E262F-44E2-31F9-719D-18CC0F9A8B9A}"/>
              </a:ext>
            </a:extLst>
          </p:cNvPr>
          <p:cNvSpPr txBox="1"/>
          <p:nvPr/>
        </p:nvSpPr>
        <p:spPr>
          <a:xfrm>
            <a:off x="15544800" y="7448567"/>
            <a:ext cx="1371600" cy="15388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AUTONOMÍA</a:t>
            </a:r>
          </a:p>
        </p:txBody>
      </p:sp>
      <p:sp>
        <p:nvSpPr>
          <p:cNvPr id="8983" name="TextBox 8982">
            <a:extLst>
              <a:ext uri="{FF2B5EF4-FFF2-40B4-BE49-F238E27FC236}">
                <a16:creationId xmlns:a16="http://schemas.microsoft.com/office/drawing/2014/main" id="{DB9C5C02-C868-0822-633E-84E6448CE624}"/>
              </a:ext>
            </a:extLst>
          </p:cNvPr>
          <p:cNvSpPr txBox="1"/>
          <p:nvPr/>
        </p:nvSpPr>
        <p:spPr>
          <a:xfrm>
            <a:off x="12444984" y="7717536"/>
            <a:ext cx="666657" cy="2000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595959"/>
                </a:solidFill>
                <a:latin typeface="Calibri"/>
              </a:rPr>
              <a:t>LATENCIA</a:t>
            </a:r>
          </a:p>
        </p:txBody>
      </p:sp>
      <p:sp>
        <p:nvSpPr>
          <p:cNvPr id="8984" name="TextBox 8983">
            <a:extLst>
              <a:ext uri="{FF2B5EF4-FFF2-40B4-BE49-F238E27FC236}">
                <a16:creationId xmlns:a16="http://schemas.microsoft.com/office/drawing/2014/main" id="{3382EE4B-9864-558D-7176-F3C7FEB91392}"/>
              </a:ext>
            </a:extLst>
          </p:cNvPr>
          <p:cNvSpPr txBox="1"/>
          <p:nvPr/>
        </p:nvSpPr>
        <p:spPr>
          <a:xfrm>
            <a:off x="12444984" y="7964423"/>
            <a:ext cx="210312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2000" b="1" dirty="0">
                <a:solidFill>
                  <a:srgbClr val="14284D"/>
                </a:solidFill>
                <a:latin typeface="Calibri"/>
              </a:rPr>
              <a:t>~3 min</a:t>
            </a:r>
          </a:p>
        </p:txBody>
      </p:sp>
      <p:sp>
        <p:nvSpPr>
          <p:cNvPr id="8985" name="TextBox 8984">
            <a:extLst>
              <a:ext uri="{FF2B5EF4-FFF2-40B4-BE49-F238E27FC236}">
                <a16:creationId xmlns:a16="http://schemas.microsoft.com/office/drawing/2014/main" id="{B3C6058F-D76F-1B61-4EF8-4F6D20F67A50}"/>
              </a:ext>
            </a:extLst>
          </p:cNvPr>
          <p:cNvSpPr txBox="1"/>
          <p:nvPr/>
        </p:nvSpPr>
        <p:spPr>
          <a:xfrm>
            <a:off x="12444984" y="8311893"/>
            <a:ext cx="2665794" cy="16927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 dirty="0">
                <a:solidFill>
                  <a:srgbClr val="595959"/>
                </a:solidFill>
                <a:latin typeface="Calibri"/>
              </a:rPr>
              <a:t>MEJOR CASO  </a:t>
            </a:r>
            <a:r>
              <a:rPr sz="1300" b="1" dirty="0">
                <a:solidFill>
                  <a:srgbClr val="1F3864"/>
                </a:solidFill>
                <a:latin typeface="Calibri"/>
              </a:rPr>
              <a:t>Empresa sin </a:t>
            </a:r>
            <a:r>
              <a:rPr sz="1300" b="1" dirty="0" err="1">
                <a:solidFill>
                  <a:srgbClr val="1F3864"/>
                </a:solidFill>
                <a:latin typeface="Calibri"/>
              </a:rPr>
              <a:t>presencia</a:t>
            </a:r>
            <a:r>
              <a:rPr sz="1300" b="1" dirty="0">
                <a:solidFill>
                  <a:srgbClr val="1F3864"/>
                </a:solidFill>
                <a:latin typeface="Calibri"/>
              </a:rPr>
              <a:t> </a:t>
            </a:r>
            <a:r>
              <a:rPr sz="1300" b="1" dirty="0" err="1">
                <a:solidFill>
                  <a:srgbClr val="1F3864"/>
                </a:solidFill>
                <a:latin typeface="Calibri"/>
              </a:rPr>
              <a:t>en</a:t>
            </a:r>
            <a:r>
              <a:rPr sz="1300" b="1" dirty="0">
                <a:solidFill>
                  <a:srgbClr val="1F3864"/>
                </a:solidFill>
                <a:latin typeface="Calibri"/>
              </a:rPr>
              <a:t> Maps</a:t>
            </a:r>
          </a:p>
        </p:txBody>
      </p:sp>
      <p:sp>
        <p:nvSpPr>
          <p:cNvPr id="8986" name="Chevron 9019">
            <a:extLst>
              <a:ext uri="{FF2B5EF4-FFF2-40B4-BE49-F238E27FC236}">
                <a16:creationId xmlns:a16="http://schemas.microsoft.com/office/drawing/2014/main" id="{D463C658-955F-DFA0-191D-892300830661}"/>
              </a:ext>
            </a:extLst>
          </p:cNvPr>
          <p:cNvSpPr/>
          <p:nvPr/>
        </p:nvSpPr>
        <p:spPr>
          <a:xfrm>
            <a:off x="9793224" y="5623560"/>
            <a:ext cx="1188720" cy="329184"/>
          </a:xfrm>
          <a:prstGeom prst="chevron">
            <a:avLst/>
          </a:prstGeom>
          <a:solidFill>
            <a:srgbClr val="BF9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8987" name="TextBox 8986">
            <a:extLst>
              <a:ext uri="{FF2B5EF4-FFF2-40B4-BE49-F238E27FC236}">
                <a16:creationId xmlns:a16="http://schemas.microsoft.com/office/drawing/2014/main" id="{934C7BE0-62E9-4827-CA83-95A55ABF16B5}"/>
              </a:ext>
            </a:extLst>
          </p:cNvPr>
          <p:cNvSpPr txBox="1"/>
          <p:nvPr/>
        </p:nvSpPr>
        <p:spPr>
          <a:xfrm>
            <a:off x="9907524" y="5687568"/>
            <a:ext cx="960120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300" b="1" dirty="0">
                <a:solidFill>
                  <a:srgbClr val="FFFFFF"/>
                </a:solidFill>
                <a:latin typeface="Consolas"/>
              </a:rPr>
              <a:t>Score</a:t>
            </a:r>
          </a:p>
        </p:txBody>
      </p:sp>
    </p:spTree>
    <p:extLst>
      <p:ext uri="{BB962C8B-B14F-4D97-AF65-F5344CB8AC3E}">
        <p14:creationId xmlns:p14="http://schemas.microsoft.com/office/powerpoint/2010/main" val="38710928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00" name="MS Header Group"/>
          <p:cNvGrpSpPr/>
          <p:nvPr/>
        </p:nvGrpSpPr>
        <p:grpSpPr>
          <a:xfrm>
            <a:off x="282819" y="579094"/>
            <a:ext cx="13786134" cy="1057874"/>
            <a:chOff x="92172" y="275827"/>
            <a:chExt cx="9190756" cy="705249"/>
          </a:xfrm>
        </p:grpSpPr>
        <p:sp>
          <p:nvSpPr>
            <p:cNvPr id="9001" name="MS Title Box"/>
            <p:cNvSpPr>
              <a:spLocks noChangeArrowheads="1"/>
            </p:cNvSpPr>
            <p:nvPr/>
          </p:nvSpPr>
          <p:spPr bwMode="gray">
            <a:xfrm>
              <a:off x="776292" y="404814"/>
              <a:ext cx="8506636" cy="576262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37160" tIns="68580" rIns="137160" bIns="68580" anchor="ctr"/>
            <a:lstStyle/>
            <a:p>
              <a:pPr>
                <a:lnSpc>
                  <a:spcPts val="3150"/>
                </a:lnSpc>
              </a:pPr>
              <a:r>
                <a:rPr lang="es-ES_tradnl" sz="3000" b="1" dirty="0">
                  <a:solidFill>
                    <a:srgbClr val="002569"/>
                  </a:solidFill>
                  <a:latin typeface="Arial"/>
                </a:rPr>
                <a:t>La solución</a:t>
              </a:r>
            </a:p>
            <a:p>
              <a:r>
                <a:rPr lang="es-ES_tradnl" sz="2700" dirty="0">
                  <a:solidFill>
                    <a:srgbClr val="E0D399">
                      <a:lumMod val="75000"/>
                    </a:srgbClr>
                  </a:solidFill>
                  <a:latin typeface="Arial"/>
                </a:rPr>
                <a:t>Doce categorías de activo y un score auditable 0-100</a:t>
              </a:r>
            </a:p>
          </p:txBody>
        </p:sp>
        <p:sp>
          <p:nvSpPr>
            <p:cNvPr id="9002" name="MS Number"/>
            <p:cNvSpPr>
              <a:spLocks noChangeArrowheads="1"/>
            </p:cNvSpPr>
            <p:nvPr/>
          </p:nvSpPr>
          <p:spPr bwMode="gray">
            <a:xfrm>
              <a:off x="92172" y="275827"/>
              <a:ext cx="477819" cy="70014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148523" tIns="74261" rIns="148523" bIns="74261">
              <a:spAutoFit/>
            </a:bodyPr>
            <a:lstStyle/>
            <a:p>
              <a:pPr algn="ctr"/>
              <a:r>
                <a:rPr lang="es-ES_tradnl" sz="5850" b="1" kern="0" dirty="0">
                  <a:solidFill>
                    <a:srgbClr val="002569"/>
                  </a:solidFill>
                  <a:latin typeface="Arial"/>
                </a:rPr>
                <a:t>2</a:t>
              </a:r>
            </a:p>
          </p:txBody>
        </p:sp>
        <p:cxnSp>
          <p:nvCxnSpPr>
            <p:cNvPr id="9003" name="MS Header Bar"/>
            <p:cNvCxnSpPr/>
            <p:nvPr/>
          </p:nvCxnSpPr>
          <p:spPr>
            <a:xfrm>
              <a:off x="570525" y="404814"/>
              <a:ext cx="0" cy="526647"/>
            </a:xfrm>
            <a:prstGeom prst="line">
              <a:avLst/>
            </a:prstGeom>
            <a:ln>
              <a:solidFill>
                <a:schemeClr val="tx2"/>
              </a:solidFill>
            </a:ln>
          </p:spPr>
        </p:cxnSp>
      </p:grpSp>
      <p:sp>
        <p:nvSpPr>
          <p:cNvPr id="9004" name="TextBox 9003"/>
          <p:cNvSpPr txBox="1"/>
          <p:nvPr/>
        </p:nvSpPr>
        <p:spPr>
          <a:xfrm>
            <a:off x="758952" y="2048256"/>
            <a:ext cx="16770096" cy="8412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s-ES_tradnl" sz="1300" b="1" dirty="0">
                <a:solidFill>
                  <a:srgbClr val="1F3864"/>
                </a:solidFill>
                <a:latin typeface="Calibri"/>
              </a:rPr>
              <a:t>Taxonomía jerárquica.</a:t>
            </a:r>
            <a:r>
              <a:rPr lang="es-ES_tradnl" sz="1300" dirty="0">
                <a:solidFill>
                  <a:srgbClr val="4D4D4D"/>
                </a:solidFill>
                <a:latin typeface="Calibri"/>
              </a:rPr>
              <a:t> Cinco super-categorías que se desglosan en doce sub-categorías específicas. Cada activo recibe un score de confianza auditable 0-100 mapeado al </a:t>
            </a:r>
            <a:r>
              <a:rPr lang="es-ES_tradnl" sz="1300" dirty="0" err="1">
                <a:solidFill>
                  <a:srgbClr val="4D4D4D"/>
                </a:solidFill>
                <a:latin typeface="Calibri"/>
              </a:rPr>
              <a:t>tier</a:t>
            </a:r>
            <a:r>
              <a:rPr lang="es-ES_tradnl" sz="1300" dirty="0">
                <a:solidFill>
                  <a:srgbClr val="4D4D4D"/>
                </a:solidFill>
                <a:latin typeface="Calibri"/>
              </a:rPr>
              <a:t> semántico LOW / MEDIUM / HIGH.</a:t>
            </a:r>
          </a:p>
        </p:txBody>
      </p:sp>
      <p:sp>
        <p:nvSpPr>
          <p:cNvPr id="9005" name="TextBox 9004"/>
          <p:cNvSpPr txBox="1"/>
          <p:nvPr/>
        </p:nvSpPr>
        <p:spPr>
          <a:xfrm>
            <a:off x="758952" y="2941320"/>
            <a:ext cx="4134593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lang="es-ES_tradnl" sz="1300" b="1" dirty="0">
                <a:solidFill>
                  <a:srgbClr val="BF9000"/>
                </a:solidFill>
                <a:latin typeface="Calibri"/>
              </a:rPr>
              <a:t>TAXONOMÍA · 5 SUPER → 12 SUB-CATEGORÍAS</a:t>
            </a:r>
          </a:p>
        </p:txBody>
      </p:sp>
      <p:sp>
        <p:nvSpPr>
          <p:cNvPr id="9054" name="Rounded Rectangle 9053"/>
          <p:cNvSpPr/>
          <p:nvPr/>
        </p:nvSpPr>
        <p:spPr>
          <a:xfrm>
            <a:off x="758952" y="5340096"/>
            <a:ext cx="10515600" cy="3246120"/>
          </a:xfrm>
          <a:prstGeom prst="roundRect">
            <a:avLst>
              <a:gd name="adj" fmla="val 3000"/>
            </a:avLst>
          </a:prstGeom>
          <a:solidFill>
            <a:srgbClr val="F7F7F9"/>
          </a:solidFill>
          <a:ln w="6350">
            <a:solidFill>
              <a:srgbClr val="D9D9D9"/>
            </a:solidFill>
          </a:ln>
          <a:effectLst>
            <a:outerShdw blurRad="101600" dist="25400" dir="54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9055" name="TextBox 9054"/>
          <p:cNvSpPr txBox="1"/>
          <p:nvPr/>
        </p:nvSpPr>
        <p:spPr>
          <a:xfrm>
            <a:off x="1033271" y="5522976"/>
            <a:ext cx="4629216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lang="es-ES_tradnl" sz="1300" b="1" dirty="0">
                <a:solidFill>
                  <a:srgbClr val="BF9000"/>
                </a:solidFill>
                <a:latin typeface="Calibri"/>
              </a:rPr>
              <a:t>PROCESO DE CLASIFICACIÓN  ·  </a:t>
            </a:r>
            <a:r>
              <a:rPr lang="es-ES_tradnl" sz="1300" b="1" dirty="0">
                <a:solidFill>
                  <a:srgbClr val="1F3864"/>
                </a:solidFill>
                <a:latin typeface="Calibri"/>
              </a:rPr>
              <a:t>Cómo el LLM asigna cada activo</a:t>
            </a:r>
            <a:endParaRPr lang="es-ES_tradnl" sz="1400" b="1" dirty="0">
              <a:solidFill>
                <a:srgbClr val="1F3864"/>
              </a:solidFill>
              <a:latin typeface="Calibri"/>
            </a:endParaRPr>
          </a:p>
        </p:txBody>
      </p:sp>
      <p:sp>
        <p:nvSpPr>
          <p:cNvPr id="9056" name="Rounded Rectangle 9055"/>
          <p:cNvSpPr/>
          <p:nvPr/>
        </p:nvSpPr>
        <p:spPr>
          <a:xfrm>
            <a:off x="1033271" y="5888736"/>
            <a:ext cx="2286000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F3864"/>
            </a:solidFill>
          </a:ln>
          <a:effectLst>
            <a:outerShdw blurRad="50800" dist="12700" dir="5400000" algn="tl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9057" name="TextBox 9056"/>
          <p:cNvSpPr txBox="1"/>
          <p:nvPr/>
        </p:nvSpPr>
        <p:spPr>
          <a:xfrm>
            <a:off x="1124712" y="5980175"/>
            <a:ext cx="21031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lang="es-ES_tradnl" sz="1500" b="1" dirty="0">
                <a:solidFill>
                  <a:srgbClr val="1F3864"/>
                </a:solidFill>
                <a:latin typeface="Calibri"/>
              </a:rPr>
              <a:t>ACTIVO</a:t>
            </a:r>
          </a:p>
        </p:txBody>
      </p:sp>
      <p:sp>
        <p:nvSpPr>
          <p:cNvPr id="9058" name="TextBox 9057"/>
          <p:cNvSpPr txBox="1"/>
          <p:nvPr/>
        </p:nvSpPr>
        <p:spPr>
          <a:xfrm>
            <a:off x="1119630" y="6300216"/>
            <a:ext cx="2167127" cy="4001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s-ES_tradnl" sz="1300" dirty="0" err="1">
                <a:solidFill>
                  <a:srgbClr val="404040"/>
                </a:solidFill>
                <a:latin typeface="Calibri"/>
              </a:rPr>
              <a:t>name</a:t>
            </a:r>
            <a:r>
              <a:rPr lang="es-ES_tradnl" sz="1300" dirty="0">
                <a:solidFill>
                  <a:srgbClr val="404040"/>
                </a:solidFill>
                <a:latin typeface="Calibri"/>
              </a:rPr>
              <a:t> + </a:t>
            </a:r>
            <a:r>
              <a:rPr lang="es-ES_tradnl" sz="1300" dirty="0" err="1">
                <a:solidFill>
                  <a:srgbClr val="404040"/>
                </a:solidFill>
                <a:latin typeface="Calibri"/>
              </a:rPr>
              <a:t>raw_name</a:t>
            </a:r>
            <a:r>
              <a:rPr lang="es-ES_tradnl" sz="1300" dirty="0">
                <a:solidFill>
                  <a:srgbClr val="404040"/>
                </a:solidFill>
                <a:latin typeface="Calibri"/>
              </a:rPr>
              <a:t> + dirección + tipo Google Places</a:t>
            </a:r>
          </a:p>
        </p:txBody>
      </p:sp>
      <p:sp>
        <p:nvSpPr>
          <p:cNvPr id="9059" name="Right Arrow 9058"/>
          <p:cNvSpPr/>
          <p:nvPr/>
        </p:nvSpPr>
        <p:spPr>
          <a:xfrm>
            <a:off x="3337560" y="6231636"/>
            <a:ext cx="237744" cy="182880"/>
          </a:xfrm>
          <a:prstGeom prst="rightArrow">
            <a:avLst/>
          </a:prstGeom>
          <a:solidFill>
            <a:srgbClr val="BF9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1300" dirty="0"/>
          </a:p>
        </p:txBody>
      </p:sp>
      <p:sp>
        <p:nvSpPr>
          <p:cNvPr id="9060" name="Rounded Rectangle 9059"/>
          <p:cNvSpPr/>
          <p:nvPr/>
        </p:nvSpPr>
        <p:spPr>
          <a:xfrm>
            <a:off x="3593591" y="5888736"/>
            <a:ext cx="2286000" cy="868680"/>
          </a:xfrm>
          <a:prstGeom prst="roundRect">
            <a:avLst>
              <a:gd name="adj" fmla="val 10000"/>
            </a:avLst>
          </a:prstGeom>
          <a:solidFill>
            <a:srgbClr val="1F3864"/>
          </a:solidFill>
          <a:ln>
            <a:noFill/>
          </a:ln>
          <a:effectLst>
            <a:outerShdw blurRad="50800" dist="12700" dir="5400000" algn="tl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9061" name="TextBox 9060"/>
          <p:cNvSpPr txBox="1"/>
          <p:nvPr/>
        </p:nvSpPr>
        <p:spPr>
          <a:xfrm>
            <a:off x="3685031" y="5980175"/>
            <a:ext cx="21031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lang="es-ES_tradnl" sz="1500" b="1" dirty="0">
                <a:solidFill>
                  <a:srgbClr val="FFFFFF"/>
                </a:solidFill>
                <a:latin typeface="Calibri"/>
              </a:rPr>
              <a:t>PROMPT</a:t>
            </a:r>
          </a:p>
        </p:txBody>
      </p:sp>
      <p:sp>
        <p:nvSpPr>
          <p:cNvPr id="9062" name="TextBox 9061"/>
          <p:cNvSpPr txBox="1"/>
          <p:nvPr/>
        </p:nvSpPr>
        <p:spPr>
          <a:xfrm>
            <a:off x="3730752" y="6300216"/>
            <a:ext cx="20116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s-ES_tradnl" sz="1300" dirty="0">
                <a:solidFill>
                  <a:srgbClr val="FFFFFF"/>
                </a:solidFill>
                <a:latin typeface="Calibri"/>
              </a:rPr>
              <a:t>Estructurado vía  Azure con </a:t>
            </a:r>
            <a:r>
              <a:rPr lang="es-ES_tradnl" sz="1300" dirty="0" err="1">
                <a:solidFill>
                  <a:srgbClr val="FFFFFF"/>
                </a:solidFill>
                <a:latin typeface="Calibri"/>
              </a:rPr>
              <a:t>schema</a:t>
            </a:r>
            <a:r>
              <a:rPr lang="es-ES_tradnl" sz="1300" dirty="0">
                <a:solidFill>
                  <a:srgbClr val="FFFFFF"/>
                </a:solidFill>
                <a:latin typeface="Calibri"/>
              </a:rPr>
              <a:t> explícito</a:t>
            </a:r>
          </a:p>
        </p:txBody>
      </p:sp>
      <p:sp>
        <p:nvSpPr>
          <p:cNvPr id="9063" name="Right Arrow 9062"/>
          <p:cNvSpPr/>
          <p:nvPr/>
        </p:nvSpPr>
        <p:spPr>
          <a:xfrm>
            <a:off x="5897879" y="6231636"/>
            <a:ext cx="237744" cy="182880"/>
          </a:xfrm>
          <a:prstGeom prst="rightArrow">
            <a:avLst/>
          </a:prstGeom>
          <a:solidFill>
            <a:srgbClr val="BF9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1300" dirty="0"/>
          </a:p>
        </p:txBody>
      </p:sp>
      <p:sp>
        <p:nvSpPr>
          <p:cNvPr id="9064" name="Rounded Rectangle 9063"/>
          <p:cNvSpPr/>
          <p:nvPr/>
        </p:nvSpPr>
        <p:spPr>
          <a:xfrm>
            <a:off x="6153912" y="5888736"/>
            <a:ext cx="2286000" cy="868680"/>
          </a:xfrm>
          <a:prstGeom prst="roundRect">
            <a:avLst>
              <a:gd name="adj" fmla="val 10000"/>
            </a:avLst>
          </a:prstGeom>
          <a:solidFill>
            <a:srgbClr val="BF9000"/>
          </a:solidFill>
          <a:ln>
            <a:noFill/>
          </a:ln>
          <a:effectLst>
            <a:outerShdw blurRad="50800" dist="12700" dir="5400000" algn="tl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9065" name="TextBox 9064"/>
          <p:cNvSpPr txBox="1"/>
          <p:nvPr/>
        </p:nvSpPr>
        <p:spPr>
          <a:xfrm>
            <a:off x="6245351" y="5980175"/>
            <a:ext cx="21031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lang="es-ES_tradnl" sz="1500" b="1" dirty="0">
                <a:solidFill>
                  <a:srgbClr val="FFFFFF"/>
                </a:solidFill>
                <a:latin typeface="Calibri"/>
              </a:rPr>
              <a:t>JSON</a:t>
            </a:r>
          </a:p>
        </p:txBody>
      </p:sp>
      <p:sp>
        <p:nvSpPr>
          <p:cNvPr id="9066" name="TextBox 9065"/>
          <p:cNvSpPr txBox="1"/>
          <p:nvPr/>
        </p:nvSpPr>
        <p:spPr>
          <a:xfrm>
            <a:off x="6291072" y="6300216"/>
            <a:ext cx="20116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s-ES_tradnl" sz="1300" dirty="0">
                <a:solidFill>
                  <a:srgbClr val="FFFFFF"/>
                </a:solidFill>
                <a:latin typeface="Calibri"/>
              </a:rPr>
              <a:t>Devuelve {</a:t>
            </a:r>
            <a:r>
              <a:rPr lang="es-ES_tradnl" sz="1300" dirty="0" err="1">
                <a:solidFill>
                  <a:srgbClr val="FFFFFF"/>
                </a:solidFill>
                <a:latin typeface="Calibri"/>
              </a:rPr>
              <a:t>category</a:t>
            </a:r>
            <a:r>
              <a:rPr lang="es-ES_tradnl" sz="1300" dirty="0">
                <a:solidFill>
                  <a:srgbClr val="FFFFFF"/>
                </a:solidFill>
                <a:latin typeface="Calibri"/>
              </a:rPr>
              <a:t>, </a:t>
            </a:r>
            <a:r>
              <a:rPr lang="es-ES_tradnl" sz="1300" dirty="0" err="1">
                <a:solidFill>
                  <a:srgbClr val="FFFFFF"/>
                </a:solidFill>
                <a:latin typeface="Calibri"/>
              </a:rPr>
              <a:t>subcategory</a:t>
            </a:r>
            <a:r>
              <a:rPr lang="es-ES_tradnl" sz="1300" dirty="0">
                <a:solidFill>
                  <a:srgbClr val="FFFFFF"/>
                </a:solidFill>
                <a:latin typeface="Calibri"/>
              </a:rPr>
              <a:t>, </a:t>
            </a:r>
            <a:r>
              <a:rPr lang="es-ES_tradnl" sz="1300" dirty="0" err="1">
                <a:solidFill>
                  <a:srgbClr val="FFFFFF"/>
                </a:solidFill>
                <a:latin typeface="Calibri"/>
              </a:rPr>
              <a:t>confidence</a:t>
            </a:r>
            <a:r>
              <a:rPr lang="es-ES_tradnl" sz="1300" dirty="0">
                <a:solidFill>
                  <a:srgbClr val="FFFFFF"/>
                </a:solidFill>
                <a:latin typeface="Calibri"/>
              </a:rPr>
              <a:t>}</a:t>
            </a:r>
          </a:p>
        </p:txBody>
      </p:sp>
      <p:sp>
        <p:nvSpPr>
          <p:cNvPr id="9067" name="Right Arrow 9066"/>
          <p:cNvSpPr/>
          <p:nvPr/>
        </p:nvSpPr>
        <p:spPr>
          <a:xfrm>
            <a:off x="8458200" y="6231636"/>
            <a:ext cx="237744" cy="182880"/>
          </a:xfrm>
          <a:prstGeom prst="rightArrow">
            <a:avLst/>
          </a:prstGeom>
          <a:solidFill>
            <a:srgbClr val="BF9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1300" dirty="0"/>
          </a:p>
        </p:txBody>
      </p:sp>
      <p:sp>
        <p:nvSpPr>
          <p:cNvPr id="9068" name="Rounded Rectangle 9067"/>
          <p:cNvSpPr/>
          <p:nvPr/>
        </p:nvSpPr>
        <p:spPr>
          <a:xfrm>
            <a:off x="8714231" y="5888736"/>
            <a:ext cx="2286000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F3864"/>
            </a:solidFill>
          </a:ln>
          <a:effectLst>
            <a:outerShdw blurRad="50800" dist="12700" dir="5400000" algn="tl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9069" name="TextBox 9068"/>
          <p:cNvSpPr txBox="1"/>
          <p:nvPr/>
        </p:nvSpPr>
        <p:spPr>
          <a:xfrm>
            <a:off x="8805671" y="5980175"/>
            <a:ext cx="21031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lang="es-ES_tradnl" sz="1500" b="1" dirty="0">
                <a:solidFill>
                  <a:srgbClr val="1F3864"/>
                </a:solidFill>
                <a:latin typeface="Calibri"/>
              </a:rPr>
              <a:t>ENUM</a:t>
            </a:r>
          </a:p>
        </p:txBody>
      </p:sp>
      <p:sp>
        <p:nvSpPr>
          <p:cNvPr id="9070" name="TextBox 9069"/>
          <p:cNvSpPr txBox="1"/>
          <p:nvPr/>
        </p:nvSpPr>
        <p:spPr>
          <a:xfrm>
            <a:off x="8851391" y="6300216"/>
            <a:ext cx="20116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s-ES_tradnl" sz="1300" dirty="0">
                <a:solidFill>
                  <a:srgbClr val="404040"/>
                </a:solidFill>
                <a:latin typeface="Calibri"/>
              </a:rPr>
              <a:t>12 categorías cerradas — </a:t>
            </a:r>
            <a:r>
              <a:rPr lang="es-ES_tradnl" sz="1300" dirty="0" err="1">
                <a:solidFill>
                  <a:srgbClr val="404040"/>
                </a:solidFill>
                <a:latin typeface="Calibri"/>
              </a:rPr>
              <a:t>fallback</a:t>
            </a:r>
            <a:r>
              <a:rPr lang="es-ES_tradnl" sz="1300" dirty="0">
                <a:solidFill>
                  <a:srgbClr val="404040"/>
                </a:solidFill>
                <a:latin typeface="Calibri"/>
              </a:rPr>
              <a:t> a OTHER</a:t>
            </a:r>
          </a:p>
        </p:txBody>
      </p:sp>
      <p:sp>
        <p:nvSpPr>
          <p:cNvPr id="9071" name="Rounded Rectangle 9070"/>
          <p:cNvSpPr/>
          <p:nvPr/>
        </p:nvSpPr>
        <p:spPr>
          <a:xfrm>
            <a:off x="1033271" y="6986016"/>
            <a:ext cx="3200400" cy="1417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>
            <a:outerShdw blurRad="50800" dist="12700" dir="5400000" algn="tl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1300" dirty="0"/>
          </a:p>
        </p:txBody>
      </p:sp>
      <p:sp>
        <p:nvSpPr>
          <p:cNvPr id="9072" name="TextBox 9071"/>
          <p:cNvSpPr txBox="1"/>
          <p:nvPr/>
        </p:nvSpPr>
        <p:spPr>
          <a:xfrm>
            <a:off x="1197863" y="7095744"/>
            <a:ext cx="388311" cy="2000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lang="es-ES_tradnl" sz="1300" b="1" dirty="0">
                <a:solidFill>
                  <a:srgbClr val="BF9000"/>
                </a:solidFill>
                <a:latin typeface="Calibri"/>
              </a:rPr>
              <a:t>EJ. 01</a:t>
            </a:r>
          </a:p>
        </p:txBody>
      </p:sp>
      <p:sp>
        <p:nvSpPr>
          <p:cNvPr id="9073" name="TextBox 9072"/>
          <p:cNvSpPr txBox="1"/>
          <p:nvPr/>
        </p:nvSpPr>
        <p:spPr>
          <a:xfrm>
            <a:off x="1197863" y="7315199"/>
            <a:ext cx="2871216" cy="2000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s-ES_tradnl" sz="1300" b="1" dirty="0">
                <a:solidFill>
                  <a:srgbClr val="1F3864"/>
                </a:solidFill>
                <a:latin typeface="Calibri"/>
              </a:rPr>
              <a:t>Inditex Arteixo</a:t>
            </a:r>
          </a:p>
        </p:txBody>
      </p:sp>
      <p:sp>
        <p:nvSpPr>
          <p:cNvPr id="9074" name="TextBox 9073"/>
          <p:cNvSpPr txBox="1"/>
          <p:nvPr/>
        </p:nvSpPr>
        <p:spPr>
          <a:xfrm>
            <a:off x="1197863" y="7580375"/>
            <a:ext cx="1378583" cy="2000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lang="es-ES_tradnl" sz="1300" b="1" dirty="0">
                <a:solidFill>
                  <a:srgbClr val="BF9000"/>
                </a:solidFill>
                <a:latin typeface="Calibri"/>
              </a:rPr>
              <a:t>→  HQ — Sede / HQ</a:t>
            </a:r>
          </a:p>
        </p:txBody>
      </p:sp>
      <p:sp>
        <p:nvSpPr>
          <p:cNvPr id="9075" name="TextBox 9074"/>
          <p:cNvSpPr txBox="1"/>
          <p:nvPr/>
        </p:nvSpPr>
        <p:spPr>
          <a:xfrm>
            <a:off x="1197863" y="7808975"/>
            <a:ext cx="2871216" cy="4001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s-ES_tradnl" sz="1300" i="1" dirty="0">
                <a:solidFill>
                  <a:srgbClr val="404040"/>
                </a:solidFill>
                <a:latin typeface="Calibri"/>
              </a:rPr>
              <a:t>Centro corporativo del grupo, oficina principal con todos los servicios.</a:t>
            </a:r>
          </a:p>
        </p:txBody>
      </p:sp>
      <p:sp>
        <p:nvSpPr>
          <p:cNvPr id="9076" name="Rounded Rectangle 9075"/>
          <p:cNvSpPr/>
          <p:nvPr/>
        </p:nvSpPr>
        <p:spPr>
          <a:xfrm>
            <a:off x="4416552" y="6986016"/>
            <a:ext cx="3200400" cy="1417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>
            <a:outerShdw blurRad="50800" dist="12700" dir="5400000" algn="tl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1300" dirty="0"/>
          </a:p>
        </p:txBody>
      </p:sp>
      <p:sp>
        <p:nvSpPr>
          <p:cNvPr id="9077" name="TextBox 9076"/>
          <p:cNvSpPr txBox="1"/>
          <p:nvPr/>
        </p:nvSpPr>
        <p:spPr>
          <a:xfrm>
            <a:off x="4581144" y="7095744"/>
            <a:ext cx="388311" cy="2000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lang="es-ES_tradnl" sz="1300" b="1" dirty="0">
                <a:solidFill>
                  <a:srgbClr val="BF9000"/>
                </a:solidFill>
                <a:latin typeface="Calibri"/>
              </a:rPr>
              <a:t>EJ. 02</a:t>
            </a:r>
          </a:p>
        </p:txBody>
      </p:sp>
      <p:sp>
        <p:nvSpPr>
          <p:cNvPr id="9078" name="TextBox 9077"/>
          <p:cNvSpPr txBox="1"/>
          <p:nvPr/>
        </p:nvSpPr>
        <p:spPr>
          <a:xfrm>
            <a:off x="4581144" y="7315199"/>
            <a:ext cx="2871216" cy="2000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s-ES_tradnl" sz="1300" b="1" dirty="0">
                <a:solidFill>
                  <a:srgbClr val="1F3864"/>
                </a:solidFill>
                <a:latin typeface="Calibri"/>
              </a:rPr>
              <a:t>Tempe Inditex Elche</a:t>
            </a:r>
          </a:p>
        </p:txBody>
      </p:sp>
      <p:sp>
        <p:nvSpPr>
          <p:cNvPr id="9079" name="TextBox 9078"/>
          <p:cNvSpPr txBox="1"/>
          <p:nvPr/>
        </p:nvSpPr>
        <p:spPr>
          <a:xfrm>
            <a:off x="4581144" y="7580375"/>
            <a:ext cx="1708160" cy="2000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lang="es-ES_tradnl" sz="1300" b="1" dirty="0">
                <a:solidFill>
                  <a:srgbClr val="BF9000"/>
                </a:solidFill>
                <a:latin typeface="Calibri"/>
              </a:rPr>
              <a:t>→  FB — Fábrica / Planta</a:t>
            </a:r>
          </a:p>
        </p:txBody>
      </p:sp>
      <p:sp>
        <p:nvSpPr>
          <p:cNvPr id="9080" name="TextBox 9079"/>
          <p:cNvSpPr txBox="1"/>
          <p:nvPr/>
        </p:nvSpPr>
        <p:spPr>
          <a:xfrm>
            <a:off x="4581144" y="7808975"/>
            <a:ext cx="2871216" cy="4001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s-ES_tradnl" sz="1300" i="1" dirty="0">
                <a:solidFill>
                  <a:srgbClr val="404040"/>
                </a:solidFill>
                <a:latin typeface="Calibri"/>
              </a:rPr>
              <a:t>Planta de producción de calzado, identificable por descripción manufactura.</a:t>
            </a:r>
          </a:p>
        </p:txBody>
      </p:sp>
      <p:sp>
        <p:nvSpPr>
          <p:cNvPr id="9081" name="Rounded Rectangle 9080"/>
          <p:cNvSpPr/>
          <p:nvPr/>
        </p:nvSpPr>
        <p:spPr>
          <a:xfrm>
            <a:off x="7799832" y="6986016"/>
            <a:ext cx="3200400" cy="1417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>
            <a:outerShdw blurRad="50800" dist="12700" dir="5400000" algn="tl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1300" dirty="0"/>
          </a:p>
        </p:txBody>
      </p:sp>
      <p:sp>
        <p:nvSpPr>
          <p:cNvPr id="9082" name="TextBox 9081"/>
          <p:cNvSpPr txBox="1"/>
          <p:nvPr/>
        </p:nvSpPr>
        <p:spPr>
          <a:xfrm>
            <a:off x="7964424" y="7095744"/>
            <a:ext cx="388311" cy="2000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lang="es-ES_tradnl" sz="1300" b="1" dirty="0">
                <a:solidFill>
                  <a:srgbClr val="BF9000"/>
                </a:solidFill>
                <a:latin typeface="Calibri"/>
              </a:rPr>
              <a:t>EJ. 03</a:t>
            </a:r>
          </a:p>
        </p:txBody>
      </p:sp>
      <p:sp>
        <p:nvSpPr>
          <p:cNvPr id="9083" name="TextBox 9082"/>
          <p:cNvSpPr txBox="1"/>
          <p:nvPr/>
        </p:nvSpPr>
        <p:spPr>
          <a:xfrm>
            <a:off x="7964424" y="7315199"/>
            <a:ext cx="2871216" cy="2000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s-ES_tradnl" sz="1300" b="1" dirty="0">
                <a:solidFill>
                  <a:srgbClr val="1F3864"/>
                </a:solidFill>
                <a:latin typeface="Calibri"/>
              </a:rPr>
              <a:t>Plataforma Logística Zaragoza</a:t>
            </a:r>
          </a:p>
        </p:txBody>
      </p:sp>
      <p:sp>
        <p:nvSpPr>
          <p:cNvPr id="9084" name="TextBox 9083"/>
          <p:cNvSpPr txBox="1"/>
          <p:nvPr/>
        </p:nvSpPr>
        <p:spPr>
          <a:xfrm>
            <a:off x="7964424" y="7580375"/>
            <a:ext cx="1691297" cy="2000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lang="es-ES_tradnl" sz="1300" b="1" dirty="0">
                <a:solidFill>
                  <a:srgbClr val="BF9000"/>
                </a:solidFill>
                <a:latin typeface="Calibri"/>
              </a:rPr>
              <a:t>→  CL — Centro logístico</a:t>
            </a:r>
          </a:p>
        </p:txBody>
      </p:sp>
      <p:sp>
        <p:nvSpPr>
          <p:cNvPr id="9085" name="TextBox 9084"/>
          <p:cNvSpPr txBox="1"/>
          <p:nvPr/>
        </p:nvSpPr>
        <p:spPr>
          <a:xfrm>
            <a:off x="7964424" y="7808975"/>
            <a:ext cx="2871216" cy="4001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s-ES_tradnl" sz="1300" i="1" dirty="0">
                <a:solidFill>
                  <a:srgbClr val="404040"/>
                </a:solidFill>
                <a:latin typeface="Calibri"/>
              </a:rPr>
              <a:t>Hub de distribución mayorista con tipo Google Places "</a:t>
            </a:r>
            <a:r>
              <a:rPr lang="es-ES_tradnl" sz="1300" i="1" dirty="0" err="1">
                <a:solidFill>
                  <a:srgbClr val="404040"/>
                </a:solidFill>
                <a:latin typeface="Calibri"/>
              </a:rPr>
              <a:t>warehouse</a:t>
            </a:r>
            <a:r>
              <a:rPr lang="es-ES_tradnl" sz="1300" i="1" dirty="0">
                <a:solidFill>
                  <a:srgbClr val="404040"/>
                </a:solidFill>
                <a:latin typeface="Calibri"/>
              </a:rPr>
              <a:t>".</a:t>
            </a:r>
          </a:p>
        </p:txBody>
      </p:sp>
      <p:sp>
        <p:nvSpPr>
          <p:cNvPr id="9086" name="TextBox 9085"/>
          <p:cNvSpPr txBox="1"/>
          <p:nvPr/>
        </p:nvSpPr>
        <p:spPr>
          <a:xfrm>
            <a:off x="11612880" y="2979420"/>
            <a:ext cx="2920928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lang="es-ES_tradnl" sz="1400" b="1" dirty="0">
                <a:solidFill>
                  <a:srgbClr val="BF9000"/>
                </a:solidFill>
                <a:latin typeface="Calibri"/>
              </a:rPr>
              <a:t>SCORE 0-100 · TRES TIERS SEMÁNTICOS</a:t>
            </a:r>
          </a:p>
        </p:txBody>
      </p:sp>
      <p:sp>
        <p:nvSpPr>
          <p:cNvPr id="9087" name="Rounded Rectangle 9086"/>
          <p:cNvSpPr/>
          <p:nvPr/>
        </p:nvSpPr>
        <p:spPr>
          <a:xfrm>
            <a:off x="11612880" y="3191256"/>
            <a:ext cx="5916168" cy="1280160"/>
          </a:xfrm>
          <a:prstGeom prst="roundRect">
            <a:avLst>
              <a:gd name="adj" fmla="val 4000"/>
            </a:avLst>
          </a:prstGeom>
          <a:solidFill>
            <a:srgbClr val="4F814F"/>
          </a:solidFill>
          <a:ln>
            <a:noFill/>
          </a:ln>
          <a:effectLst>
            <a:outerShdw blurRad="76200" dist="12700" dir="5400000" algn="t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9088" name="TextBox 9087"/>
          <p:cNvSpPr txBox="1"/>
          <p:nvPr/>
        </p:nvSpPr>
        <p:spPr>
          <a:xfrm>
            <a:off x="11887200" y="3374135"/>
            <a:ext cx="5367528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lang="es-ES_tradnl" sz="2000" b="1" dirty="0">
                <a:solidFill>
                  <a:srgbClr val="FFFFFF"/>
                </a:solidFill>
                <a:latin typeface="Calibri"/>
              </a:rPr>
              <a:t>HIGH</a:t>
            </a:r>
            <a:r>
              <a:rPr lang="es-ES_tradnl" sz="1300" dirty="0">
                <a:solidFill>
                  <a:srgbClr val="FFFFFF"/>
                </a:solidFill>
                <a:latin typeface="Calibri"/>
              </a:rPr>
              <a:t>   65 - 100</a:t>
            </a:r>
          </a:p>
        </p:txBody>
      </p:sp>
      <p:sp>
        <p:nvSpPr>
          <p:cNvPr id="9089" name="TextBox 9088"/>
          <p:cNvSpPr txBox="1"/>
          <p:nvPr/>
        </p:nvSpPr>
        <p:spPr>
          <a:xfrm>
            <a:off x="11887200" y="3831336"/>
            <a:ext cx="5367528" cy="2000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s-ES_tradnl" sz="1300" dirty="0">
                <a:solidFill>
                  <a:srgbClr val="FFFFFF"/>
                </a:solidFill>
                <a:latin typeface="Calibri"/>
              </a:rPr>
              <a:t>Evidencia suficiente y consistente. Aparece en el </a:t>
            </a:r>
            <a:r>
              <a:rPr lang="es-ES_tradnl" sz="1300" dirty="0" err="1">
                <a:solidFill>
                  <a:srgbClr val="FFFFFF"/>
                </a:solidFill>
                <a:latin typeface="Calibri"/>
              </a:rPr>
              <a:t>dashboard</a:t>
            </a:r>
            <a:r>
              <a:rPr lang="es-ES_tradnl" sz="1300" dirty="0">
                <a:solidFill>
                  <a:srgbClr val="FFFFFF"/>
                </a:solidFill>
                <a:latin typeface="Calibri"/>
              </a:rPr>
              <a:t> sin </a:t>
            </a:r>
            <a:r>
              <a:rPr lang="es-ES_tradnl" sz="1300" dirty="0" err="1">
                <a:solidFill>
                  <a:srgbClr val="FFFFFF"/>
                </a:solidFill>
                <a:latin typeface="Calibri"/>
              </a:rPr>
              <a:t>disclaimer</a:t>
            </a:r>
            <a:r>
              <a:rPr lang="es-ES_tradnl" sz="1300" dirty="0">
                <a:solidFill>
                  <a:srgbClr val="FFFFFF"/>
                </a:solidFill>
                <a:latin typeface="Calibri"/>
              </a:rPr>
              <a:t>.</a:t>
            </a:r>
          </a:p>
        </p:txBody>
      </p:sp>
      <p:sp>
        <p:nvSpPr>
          <p:cNvPr id="9090" name="Rounded Rectangle 9089"/>
          <p:cNvSpPr/>
          <p:nvPr/>
        </p:nvSpPr>
        <p:spPr>
          <a:xfrm>
            <a:off x="11612880" y="4636008"/>
            <a:ext cx="5916168" cy="1280160"/>
          </a:xfrm>
          <a:prstGeom prst="roundRect">
            <a:avLst>
              <a:gd name="adj" fmla="val 4000"/>
            </a:avLst>
          </a:prstGeom>
          <a:solidFill>
            <a:srgbClr val="BF9000"/>
          </a:solidFill>
          <a:ln>
            <a:noFill/>
          </a:ln>
          <a:effectLst>
            <a:outerShdw blurRad="76200" dist="12700" dir="5400000" algn="t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9091" name="TextBox 9090"/>
          <p:cNvSpPr txBox="1"/>
          <p:nvPr/>
        </p:nvSpPr>
        <p:spPr>
          <a:xfrm>
            <a:off x="11887200" y="4818888"/>
            <a:ext cx="5367528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lang="es-ES_tradnl" sz="2000" b="1" dirty="0">
                <a:solidFill>
                  <a:srgbClr val="FFFFFF"/>
                </a:solidFill>
                <a:latin typeface="Calibri"/>
              </a:rPr>
              <a:t>MEDIUM</a:t>
            </a:r>
            <a:r>
              <a:rPr lang="es-ES_tradnl" sz="1300" dirty="0">
                <a:solidFill>
                  <a:srgbClr val="FFFFFF"/>
                </a:solidFill>
                <a:latin typeface="Calibri"/>
              </a:rPr>
              <a:t>   35 - 64</a:t>
            </a:r>
          </a:p>
        </p:txBody>
      </p:sp>
      <p:sp>
        <p:nvSpPr>
          <p:cNvPr id="9092" name="TextBox 9091"/>
          <p:cNvSpPr txBox="1"/>
          <p:nvPr/>
        </p:nvSpPr>
        <p:spPr>
          <a:xfrm>
            <a:off x="11887200" y="5276088"/>
            <a:ext cx="5367528" cy="2000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s-ES_tradnl" sz="1300" dirty="0">
                <a:solidFill>
                  <a:srgbClr val="FFFFFF"/>
                </a:solidFill>
                <a:latin typeface="Calibri"/>
              </a:rPr>
              <a:t>Evidencia parcial o conflictiva. Útil para análisis con revisión humana.</a:t>
            </a:r>
          </a:p>
        </p:txBody>
      </p:sp>
      <p:sp>
        <p:nvSpPr>
          <p:cNvPr id="9093" name="Rounded Rectangle 9092"/>
          <p:cNvSpPr/>
          <p:nvPr/>
        </p:nvSpPr>
        <p:spPr>
          <a:xfrm>
            <a:off x="11612880" y="6080760"/>
            <a:ext cx="5916168" cy="1280160"/>
          </a:xfrm>
          <a:prstGeom prst="roundRect">
            <a:avLst>
              <a:gd name="adj" fmla="val 4000"/>
            </a:avLst>
          </a:prstGeom>
          <a:solidFill>
            <a:srgbClr val="C0504D"/>
          </a:solidFill>
          <a:ln>
            <a:noFill/>
          </a:ln>
          <a:effectLst>
            <a:outerShdw blurRad="76200" dist="12700" dir="5400000" algn="t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9094" name="TextBox 9093"/>
          <p:cNvSpPr txBox="1"/>
          <p:nvPr/>
        </p:nvSpPr>
        <p:spPr>
          <a:xfrm>
            <a:off x="11887200" y="6263640"/>
            <a:ext cx="5367528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lang="es-ES_tradnl" sz="2000" b="1" dirty="0">
                <a:solidFill>
                  <a:srgbClr val="FFFFFF"/>
                </a:solidFill>
                <a:latin typeface="Calibri"/>
              </a:rPr>
              <a:t>LOW</a:t>
            </a:r>
            <a:r>
              <a:rPr lang="es-ES_tradnl" sz="1300" dirty="0">
                <a:solidFill>
                  <a:srgbClr val="FFFFFF"/>
                </a:solidFill>
                <a:latin typeface="Calibri"/>
              </a:rPr>
              <a:t>   0 - 34</a:t>
            </a:r>
          </a:p>
        </p:txBody>
      </p:sp>
      <p:sp>
        <p:nvSpPr>
          <p:cNvPr id="9095" name="TextBox 9094"/>
          <p:cNvSpPr txBox="1"/>
          <p:nvPr/>
        </p:nvSpPr>
        <p:spPr>
          <a:xfrm>
            <a:off x="11887200" y="6720840"/>
            <a:ext cx="5367528" cy="2000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s-ES_tradnl" sz="1300" dirty="0">
                <a:solidFill>
                  <a:srgbClr val="FFFFFF"/>
                </a:solidFill>
                <a:latin typeface="Calibri"/>
              </a:rPr>
              <a:t>Evidencia escasa o contradictoria. Filtrado por defecto en el </a:t>
            </a:r>
            <a:r>
              <a:rPr lang="es-ES_tradnl" sz="1300" dirty="0" err="1">
                <a:solidFill>
                  <a:srgbClr val="FFFFFF"/>
                </a:solidFill>
                <a:latin typeface="Calibri"/>
              </a:rPr>
              <a:t>dashboard</a:t>
            </a:r>
            <a:r>
              <a:rPr lang="es-ES_tradnl" sz="1300" dirty="0">
                <a:solidFill>
                  <a:srgbClr val="FFFFFF"/>
                </a:solidFill>
                <a:latin typeface="Calibri"/>
              </a:rPr>
              <a:t>.</a:t>
            </a:r>
          </a:p>
        </p:txBody>
      </p:sp>
      <p:sp>
        <p:nvSpPr>
          <p:cNvPr id="9096" name="Rounded Rectangle 9095"/>
          <p:cNvSpPr/>
          <p:nvPr/>
        </p:nvSpPr>
        <p:spPr>
          <a:xfrm>
            <a:off x="11612880" y="7434071"/>
            <a:ext cx="5916168" cy="1152143"/>
          </a:xfrm>
          <a:prstGeom prst="roundRect">
            <a:avLst>
              <a:gd name="adj" fmla="val 4000"/>
            </a:avLst>
          </a:prstGeom>
          <a:solidFill>
            <a:srgbClr val="F7F7F9"/>
          </a:solidFill>
          <a:ln w="6350">
            <a:solidFill>
              <a:srgbClr val="BF9000"/>
            </a:solidFill>
          </a:ln>
          <a:effectLst>
            <a:outerShdw blurRad="76200" dist="12700" dir="5400000" algn="t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9097" name="TextBox 9096"/>
          <p:cNvSpPr txBox="1"/>
          <p:nvPr/>
        </p:nvSpPr>
        <p:spPr>
          <a:xfrm>
            <a:off x="11841480" y="7616950"/>
            <a:ext cx="5458968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lang="es-ES_tradnl" sz="1300" b="1" dirty="0">
                <a:solidFill>
                  <a:srgbClr val="BF9000"/>
                </a:solidFill>
                <a:latin typeface="Calibri"/>
              </a:rPr>
              <a:t>SUAVIZADO BETA</a:t>
            </a:r>
          </a:p>
        </p:txBody>
      </p:sp>
      <p:sp>
        <p:nvSpPr>
          <p:cNvPr id="9098" name="TextBox 9097"/>
          <p:cNvSpPr txBox="1"/>
          <p:nvPr/>
        </p:nvSpPr>
        <p:spPr>
          <a:xfrm>
            <a:off x="11841480" y="7891271"/>
            <a:ext cx="5458968" cy="6001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s-ES_tradnl" sz="1300" dirty="0">
                <a:solidFill>
                  <a:srgbClr val="404040"/>
                </a:solidFill>
                <a:latin typeface="Calibri"/>
              </a:rPr>
              <a:t>Cuando las señales son pocas o frágiles, el score crudo tiende a colapsar a extremos artificiales (0% o 100%). Aplicamos un suavizado conjugado con prior Beta(α, β) para regularizar hacia la media poblacional.</a:t>
            </a:r>
          </a:p>
        </p:txBody>
      </p:sp>
      <p:sp>
        <p:nvSpPr>
          <p:cNvPr id="9099" name="Rounded Rectangle 9098"/>
          <p:cNvSpPr/>
          <p:nvPr/>
        </p:nvSpPr>
        <p:spPr>
          <a:xfrm>
            <a:off x="758952" y="3246120"/>
            <a:ext cx="2029967" cy="2057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1565C0"/>
            </a:solidFill>
          </a:ln>
          <a:effectLst>
            <a:outerShdw blurRad="76200" dist="12700" dir="5400000" algn="tl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9100" name="Rectangle 9099"/>
          <p:cNvSpPr/>
          <p:nvPr/>
        </p:nvSpPr>
        <p:spPr>
          <a:xfrm>
            <a:off x="758952" y="3246120"/>
            <a:ext cx="2029967" cy="4572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9101" name="Rounded Rectangle 9100"/>
          <p:cNvSpPr/>
          <p:nvPr/>
        </p:nvSpPr>
        <p:spPr>
          <a:xfrm>
            <a:off x="850392" y="3337560"/>
            <a:ext cx="50292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9102" name="TextBox 9101"/>
          <p:cNvSpPr txBox="1"/>
          <p:nvPr/>
        </p:nvSpPr>
        <p:spPr>
          <a:xfrm>
            <a:off x="850392" y="3374136"/>
            <a:ext cx="5029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s-ES_tradnl" sz="1100" b="1" i="0" dirty="0">
                <a:solidFill>
                  <a:srgbClr val="1565C0"/>
                </a:solidFill>
                <a:latin typeface="Calibri"/>
              </a:rPr>
              <a:t>CORP</a:t>
            </a:r>
          </a:p>
        </p:txBody>
      </p:sp>
      <p:sp>
        <p:nvSpPr>
          <p:cNvPr id="9103" name="TextBox 9102"/>
          <p:cNvSpPr txBox="1"/>
          <p:nvPr/>
        </p:nvSpPr>
        <p:spPr>
          <a:xfrm>
            <a:off x="1444752" y="3364991"/>
            <a:ext cx="1252727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s-ES_tradnl" sz="1300" b="1" i="0" dirty="0">
                <a:solidFill>
                  <a:srgbClr val="FFFFFF"/>
                </a:solidFill>
                <a:latin typeface="Calibri"/>
              </a:rPr>
              <a:t>Corporativo</a:t>
            </a:r>
          </a:p>
        </p:txBody>
      </p:sp>
      <p:sp>
        <p:nvSpPr>
          <p:cNvPr id="9104" name="Oval 9103"/>
          <p:cNvSpPr/>
          <p:nvPr/>
        </p:nvSpPr>
        <p:spPr>
          <a:xfrm>
            <a:off x="896112" y="3886200"/>
            <a:ext cx="329184" cy="329184"/>
          </a:xfrm>
          <a:prstGeom prst="ellipse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9105" name="TextBox 9104"/>
          <p:cNvSpPr txBox="1"/>
          <p:nvPr/>
        </p:nvSpPr>
        <p:spPr>
          <a:xfrm>
            <a:off x="854964" y="3941063"/>
            <a:ext cx="41148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lang="es-ES_tradnl" sz="1300" b="1" i="0" dirty="0">
                <a:solidFill>
                  <a:srgbClr val="FFFFFF"/>
                </a:solidFill>
                <a:latin typeface="Calibri"/>
              </a:rPr>
              <a:t>HQ</a:t>
            </a:r>
          </a:p>
        </p:txBody>
      </p:sp>
      <p:sp>
        <p:nvSpPr>
          <p:cNvPr id="9106" name="TextBox 9105"/>
          <p:cNvSpPr txBox="1"/>
          <p:nvPr/>
        </p:nvSpPr>
        <p:spPr>
          <a:xfrm>
            <a:off x="1316736" y="3931920"/>
            <a:ext cx="1380743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s-ES_tradnl" sz="1300" b="0" i="0" dirty="0">
                <a:solidFill>
                  <a:srgbClr val="4D4D4D"/>
                </a:solidFill>
                <a:latin typeface="Calibri"/>
              </a:rPr>
              <a:t>Sede Central</a:t>
            </a:r>
          </a:p>
        </p:txBody>
      </p:sp>
      <p:sp>
        <p:nvSpPr>
          <p:cNvPr id="9107" name="Oval 9106"/>
          <p:cNvSpPr/>
          <p:nvPr/>
        </p:nvSpPr>
        <p:spPr>
          <a:xfrm>
            <a:off x="896112" y="4297680"/>
            <a:ext cx="329184" cy="329184"/>
          </a:xfrm>
          <a:prstGeom prst="ellipse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9108" name="TextBox 9107"/>
          <p:cNvSpPr txBox="1"/>
          <p:nvPr/>
        </p:nvSpPr>
        <p:spPr>
          <a:xfrm>
            <a:off x="854964" y="4352544"/>
            <a:ext cx="41148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lang="es-ES_tradnl" sz="1300" b="1" i="0" dirty="0">
                <a:solidFill>
                  <a:srgbClr val="FFFFFF"/>
                </a:solidFill>
                <a:latin typeface="Calibri"/>
              </a:rPr>
              <a:t>OFF</a:t>
            </a:r>
          </a:p>
        </p:txBody>
      </p:sp>
      <p:sp>
        <p:nvSpPr>
          <p:cNvPr id="9109" name="TextBox 9108"/>
          <p:cNvSpPr txBox="1"/>
          <p:nvPr/>
        </p:nvSpPr>
        <p:spPr>
          <a:xfrm>
            <a:off x="1316736" y="4343400"/>
            <a:ext cx="1380743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s-ES_tradnl" sz="1300" b="0" i="0" dirty="0">
                <a:solidFill>
                  <a:srgbClr val="4D4D4D"/>
                </a:solidFill>
                <a:latin typeface="Calibri"/>
              </a:rPr>
              <a:t>Oficina Regional</a:t>
            </a:r>
          </a:p>
        </p:txBody>
      </p:sp>
      <p:sp>
        <p:nvSpPr>
          <p:cNvPr id="9110" name="Oval 9109"/>
          <p:cNvSpPr/>
          <p:nvPr/>
        </p:nvSpPr>
        <p:spPr>
          <a:xfrm>
            <a:off x="896112" y="4709160"/>
            <a:ext cx="329184" cy="329184"/>
          </a:xfrm>
          <a:prstGeom prst="ellipse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9111" name="TextBox 9110"/>
          <p:cNvSpPr txBox="1"/>
          <p:nvPr/>
        </p:nvSpPr>
        <p:spPr>
          <a:xfrm>
            <a:off x="854964" y="4764024"/>
            <a:ext cx="41148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lang="es-ES_tradnl" sz="1300" b="1" i="0" dirty="0">
                <a:solidFill>
                  <a:srgbClr val="FFFFFF"/>
                </a:solidFill>
                <a:latin typeface="Calibri"/>
              </a:rPr>
              <a:t>TEC</a:t>
            </a:r>
          </a:p>
        </p:txBody>
      </p:sp>
      <p:sp>
        <p:nvSpPr>
          <p:cNvPr id="9112" name="TextBox 9111"/>
          <p:cNvSpPr txBox="1"/>
          <p:nvPr/>
        </p:nvSpPr>
        <p:spPr>
          <a:xfrm>
            <a:off x="1316736" y="4754880"/>
            <a:ext cx="1380743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s-ES_tradnl" sz="1300" b="0" i="0" dirty="0">
                <a:solidFill>
                  <a:srgbClr val="4D4D4D"/>
                </a:solidFill>
                <a:latin typeface="Calibri"/>
              </a:rPr>
              <a:t>Centro Tecnológico</a:t>
            </a:r>
          </a:p>
        </p:txBody>
      </p:sp>
      <p:sp>
        <p:nvSpPr>
          <p:cNvPr id="9113" name="Rounded Rectangle 9112"/>
          <p:cNvSpPr/>
          <p:nvPr/>
        </p:nvSpPr>
        <p:spPr>
          <a:xfrm>
            <a:off x="2880360" y="3246120"/>
            <a:ext cx="2029967" cy="2057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65100"/>
            </a:solidFill>
          </a:ln>
          <a:effectLst>
            <a:outerShdw blurRad="76200" dist="12700" dir="5400000" algn="tl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9114" name="Rectangle 9113"/>
          <p:cNvSpPr/>
          <p:nvPr/>
        </p:nvSpPr>
        <p:spPr>
          <a:xfrm>
            <a:off x="2880360" y="3246120"/>
            <a:ext cx="2029967" cy="45720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9115" name="Rounded Rectangle 9114"/>
          <p:cNvSpPr/>
          <p:nvPr/>
        </p:nvSpPr>
        <p:spPr>
          <a:xfrm>
            <a:off x="2971800" y="3337560"/>
            <a:ext cx="50292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9116" name="TextBox 9115"/>
          <p:cNvSpPr txBox="1"/>
          <p:nvPr/>
        </p:nvSpPr>
        <p:spPr>
          <a:xfrm>
            <a:off x="2971800" y="3374136"/>
            <a:ext cx="5029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s-ES_tradnl" sz="1100" b="1" i="0" dirty="0">
                <a:solidFill>
                  <a:srgbClr val="E65100"/>
                </a:solidFill>
                <a:latin typeface="Calibri"/>
              </a:rPr>
              <a:t>OPS</a:t>
            </a:r>
          </a:p>
        </p:txBody>
      </p:sp>
      <p:sp>
        <p:nvSpPr>
          <p:cNvPr id="9117" name="TextBox 9116"/>
          <p:cNvSpPr txBox="1"/>
          <p:nvPr/>
        </p:nvSpPr>
        <p:spPr>
          <a:xfrm>
            <a:off x="3566160" y="3364991"/>
            <a:ext cx="1252727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s-ES_tradnl" sz="1300" b="1" i="0" dirty="0">
                <a:solidFill>
                  <a:srgbClr val="FFFFFF"/>
                </a:solidFill>
                <a:latin typeface="Calibri"/>
              </a:rPr>
              <a:t>Operaciones</a:t>
            </a:r>
          </a:p>
        </p:txBody>
      </p:sp>
      <p:sp>
        <p:nvSpPr>
          <p:cNvPr id="9118" name="Oval 9117"/>
          <p:cNvSpPr/>
          <p:nvPr/>
        </p:nvSpPr>
        <p:spPr>
          <a:xfrm>
            <a:off x="3017520" y="3886200"/>
            <a:ext cx="329184" cy="329184"/>
          </a:xfrm>
          <a:prstGeom prst="ellipse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9119" name="TextBox 9118"/>
          <p:cNvSpPr txBox="1"/>
          <p:nvPr/>
        </p:nvSpPr>
        <p:spPr>
          <a:xfrm>
            <a:off x="2976372" y="3941063"/>
            <a:ext cx="41148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lang="es-ES_tradnl" sz="1300" b="1" i="0" dirty="0">
                <a:solidFill>
                  <a:srgbClr val="FFFFFF"/>
                </a:solidFill>
                <a:latin typeface="Calibri"/>
              </a:rPr>
              <a:t>FAB</a:t>
            </a:r>
          </a:p>
        </p:txBody>
      </p:sp>
      <p:sp>
        <p:nvSpPr>
          <p:cNvPr id="9120" name="TextBox 9119"/>
          <p:cNvSpPr txBox="1"/>
          <p:nvPr/>
        </p:nvSpPr>
        <p:spPr>
          <a:xfrm>
            <a:off x="3438144" y="3931920"/>
            <a:ext cx="1380743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s-ES_tradnl" sz="1300" b="0" i="0" dirty="0">
                <a:solidFill>
                  <a:srgbClr val="4D4D4D"/>
                </a:solidFill>
                <a:latin typeface="Calibri"/>
              </a:rPr>
              <a:t>Fábrica / Planta</a:t>
            </a:r>
          </a:p>
        </p:txBody>
      </p:sp>
      <p:sp>
        <p:nvSpPr>
          <p:cNvPr id="9121" name="Oval 9120"/>
          <p:cNvSpPr/>
          <p:nvPr/>
        </p:nvSpPr>
        <p:spPr>
          <a:xfrm>
            <a:off x="3017520" y="4297680"/>
            <a:ext cx="329184" cy="329184"/>
          </a:xfrm>
          <a:prstGeom prst="ellipse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9122" name="TextBox 9121"/>
          <p:cNvSpPr txBox="1"/>
          <p:nvPr/>
        </p:nvSpPr>
        <p:spPr>
          <a:xfrm>
            <a:off x="2976372" y="4352544"/>
            <a:ext cx="41148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lang="es-ES_tradnl" sz="1300" b="1" i="0" dirty="0">
                <a:solidFill>
                  <a:srgbClr val="FFFFFF"/>
                </a:solidFill>
                <a:latin typeface="Calibri"/>
              </a:rPr>
              <a:t>LOG</a:t>
            </a:r>
          </a:p>
        </p:txBody>
      </p:sp>
      <p:sp>
        <p:nvSpPr>
          <p:cNvPr id="9123" name="TextBox 9122"/>
          <p:cNvSpPr txBox="1"/>
          <p:nvPr/>
        </p:nvSpPr>
        <p:spPr>
          <a:xfrm>
            <a:off x="3438144" y="4343400"/>
            <a:ext cx="1380743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s-ES_tradnl" sz="1300" b="0" i="0" dirty="0">
                <a:solidFill>
                  <a:srgbClr val="4D4D4D"/>
                </a:solidFill>
                <a:latin typeface="Calibri"/>
              </a:rPr>
              <a:t>Centro Logístico</a:t>
            </a:r>
          </a:p>
        </p:txBody>
      </p:sp>
      <p:sp>
        <p:nvSpPr>
          <p:cNvPr id="9124" name="Oval 9123"/>
          <p:cNvSpPr/>
          <p:nvPr/>
        </p:nvSpPr>
        <p:spPr>
          <a:xfrm>
            <a:off x="3017520" y="4709160"/>
            <a:ext cx="329184" cy="329184"/>
          </a:xfrm>
          <a:prstGeom prst="ellipse">
            <a:avLst/>
          </a:prstGeom>
          <a:solidFill>
            <a:srgbClr val="3369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9125" name="TextBox 9124"/>
          <p:cNvSpPr txBox="1"/>
          <p:nvPr/>
        </p:nvSpPr>
        <p:spPr>
          <a:xfrm>
            <a:off x="2976372" y="4764024"/>
            <a:ext cx="41148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lang="es-ES_tradnl" sz="1300" b="1" i="0" dirty="0">
                <a:solidFill>
                  <a:srgbClr val="FFFFFF"/>
                </a:solidFill>
                <a:latin typeface="Calibri"/>
              </a:rPr>
              <a:t>AGR</a:t>
            </a:r>
          </a:p>
        </p:txBody>
      </p:sp>
      <p:sp>
        <p:nvSpPr>
          <p:cNvPr id="9126" name="TextBox 9125"/>
          <p:cNvSpPr txBox="1"/>
          <p:nvPr/>
        </p:nvSpPr>
        <p:spPr>
          <a:xfrm>
            <a:off x="3438144" y="4754880"/>
            <a:ext cx="1380743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s-ES_tradnl" sz="1300" b="0" i="0" dirty="0">
                <a:solidFill>
                  <a:srgbClr val="4D4D4D"/>
                </a:solidFill>
                <a:latin typeface="Calibri"/>
              </a:rPr>
              <a:t>Explotación Agrícola</a:t>
            </a:r>
          </a:p>
        </p:txBody>
      </p:sp>
      <p:sp>
        <p:nvSpPr>
          <p:cNvPr id="9127" name="Rounded Rectangle 9126"/>
          <p:cNvSpPr/>
          <p:nvPr/>
        </p:nvSpPr>
        <p:spPr>
          <a:xfrm>
            <a:off x="5001768" y="3246120"/>
            <a:ext cx="2029967" cy="2057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2E7D32"/>
            </a:solidFill>
          </a:ln>
          <a:effectLst>
            <a:outerShdw blurRad="76200" dist="12700" dir="5400000" algn="tl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9128" name="Rectangle 9127"/>
          <p:cNvSpPr/>
          <p:nvPr/>
        </p:nvSpPr>
        <p:spPr>
          <a:xfrm>
            <a:off x="5001768" y="3246120"/>
            <a:ext cx="2029967" cy="4572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9129" name="Rounded Rectangle 9128"/>
          <p:cNvSpPr/>
          <p:nvPr/>
        </p:nvSpPr>
        <p:spPr>
          <a:xfrm>
            <a:off x="5093207" y="3337560"/>
            <a:ext cx="50292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9130" name="TextBox 9129"/>
          <p:cNvSpPr txBox="1"/>
          <p:nvPr/>
        </p:nvSpPr>
        <p:spPr>
          <a:xfrm>
            <a:off x="5093207" y="3374136"/>
            <a:ext cx="5029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s-ES_tradnl" sz="1100" b="1" i="0" dirty="0">
                <a:solidFill>
                  <a:srgbClr val="2E7D32"/>
                </a:solidFill>
                <a:latin typeface="Calibri"/>
              </a:rPr>
              <a:t>COM</a:t>
            </a:r>
          </a:p>
        </p:txBody>
      </p:sp>
      <p:sp>
        <p:nvSpPr>
          <p:cNvPr id="9131" name="TextBox 9130"/>
          <p:cNvSpPr txBox="1"/>
          <p:nvPr/>
        </p:nvSpPr>
        <p:spPr>
          <a:xfrm>
            <a:off x="5916167" y="3288791"/>
            <a:ext cx="1284733" cy="4001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s-ES_tradnl" sz="1300" b="1" i="0" dirty="0">
                <a:solidFill>
                  <a:srgbClr val="FFFFFF"/>
                </a:solidFill>
                <a:latin typeface="Calibri"/>
              </a:rPr>
              <a:t>Comercial / Servicios</a:t>
            </a:r>
          </a:p>
        </p:txBody>
      </p:sp>
      <p:sp>
        <p:nvSpPr>
          <p:cNvPr id="9132" name="Oval 9131"/>
          <p:cNvSpPr/>
          <p:nvPr/>
        </p:nvSpPr>
        <p:spPr>
          <a:xfrm>
            <a:off x="5138928" y="3886200"/>
            <a:ext cx="329184" cy="329184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9133" name="TextBox 9132"/>
          <p:cNvSpPr txBox="1"/>
          <p:nvPr/>
        </p:nvSpPr>
        <p:spPr>
          <a:xfrm>
            <a:off x="5097780" y="3941063"/>
            <a:ext cx="41148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lang="es-ES_tradnl" sz="1300" b="1" i="0" dirty="0">
                <a:solidFill>
                  <a:srgbClr val="FFFFFF"/>
                </a:solidFill>
                <a:latin typeface="Calibri"/>
              </a:rPr>
              <a:t>COM</a:t>
            </a:r>
          </a:p>
        </p:txBody>
      </p:sp>
      <p:sp>
        <p:nvSpPr>
          <p:cNvPr id="9134" name="TextBox 9133"/>
          <p:cNvSpPr txBox="1"/>
          <p:nvPr/>
        </p:nvSpPr>
        <p:spPr>
          <a:xfrm>
            <a:off x="5559552" y="3931920"/>
            <a:ext cx="1380743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s-ES_tradnl" sz="1300" b="0" i="0" dirty="0">
                <a:solidFill>
                  <a:srgbClr val="4D4D4D"/>
                </a:solidFill>
                <a:latin typeface="Calibri"/>
              </a:rPr>
              <a:t>Punto de Venta</a:t>
            </a:r>
          </a:p>
        </p:txBody>
      </p:sp>
      <p:sp>
        <p:nvSpPr>
          <p:cNvPr id="9135" name="Oval 9134"/>
          <p:cNvSpPr/>
          <p:nvPr/>
        </p:nvSpPr>
        <p:spPr>
          <a:xfrm>
            <a:off x="5138928" y="4297680"/>
            <a:ext cx="329184" cy="329184"/>
          </a:xfrm>
          <a:prstGeom prst="ellipse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9136" name="TextBox 9135"/>
          <p:cNvSpPr txBox="1"/>
          <p:nvPr/>
        </p:nvSpPr>
        <p:spPr>
          <a:xfrm>
            <a:off x="5097780" y="4352544"/>
            <a:ext cx="41148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lang="es-ES_tradnl" sz="1300" b="1" i="0" dirty="0">
                <a:solidFill>
                  <a:srgbClr val="FFFFFF"/>
                </a:solidFill>
                <a:latin typeface="Calibri"/>
              </a:rPr>
              <a:t>HOT</a:t>
            </a:r>
          </a:p>
        </p:txBody>
      </p:sp>
      <p:sp>
        <p:nvSpPr>
          <p:cNvPr id="9137" name="TextBox 9136"/>
          <p:cNvSpPr txBox="1"/>
          <p:nvPr/>
        </p:nvSpPr>
        <p:spPr>
          <a:xfrm>
            <a:off x="5559552" y="4343400"/>
            <a:ext cx="1380743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s-ES_tradnl" sz="1300" b="0" i="0" dirty="0">
                <a:solidFill>
                  <a:srgbClr val="4D4D4D"/>
                </a:solidFill>
                <a:latin typeface="Calibri"/>
              </a:rPr>
              <a:t>Activo Hotelero</a:t>
            </a:r>
          </a:p>
        </p:txBody>
      </p:sp>
      <p:sp>
        <p:nvSpPr>
          <p:cNvPr id="9138" name="Oval 9137"/>
          <p:cNvSpPr/>
          <p:nvPr/>
        </p:nvSpPr>
        <p:spPr>
          <a:xfrm>
            <a:off x="5138928" y="4709160"/>
            <a:ext cx="329184" cy="329184"/>
          </a:xfrm>
          <a:prstGeom prst="ellipse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9139" name="TextBox 9138"/>
          <p:cNvSpPr txBox="1"/>
          <p:nvPr/>
        </p:nvSpPr>
        <p:spPr>
          <a:xfrm>
            <a:off x="5097780" y="4764024"/>
            <a:ext cx="41148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lang="es-ES_tradnl" sz="1300" b="1" i="0" dirty="0">
                <a:solidFill>
                  <a:srgbClr val="FFFFFF"/>
                </a:solidFill>
                <a:latin typeface="Calibri"/>
              </a:rPr>
              <a:t>SAN</a:t>
            </a:r>
          </a:p>
        </p:txBody>
      </p:sp>
      <p:sp>
        <p:nvSpPr>
          <p:cNvPr id="9140" name="TextBox 9139"/>
          <p:cNvSpPr txBox="1"/>
          <p:nvPr/>
        </p:nvSpPr>
        <p:spPr>
          <a:xfrm>
            <a:off x="5559552" y="4754880"/>
            <a:ext cx="1380743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s-ES_tradnl" sz="1300" b="0" i="0" dirty="0">
                <a:solidFill>
                  <a:srgbClr val="4D4D4D"/>
                </a:solidFill>
                <a:latin typeface="Calibri"/>
              </a:rPr>
              <a:t>Centro Sanitario</a:t>
            </a:r>
          </a:p>
        </p:txBody>
      </p:sp>
      <p:sp>
        <p:nvSpPr>
          <p:cNvPr id="9141" name="Rounded Rectangle 9140"/>
          <p:cNvSpPr/>
          <p:nvPr/>
        </p:nvSpPr>
        <p:spPr>
          <a:xfrm>
            <a:off x="7123175" y="3246120"/>
            <a:ext cx="2029967" cy="2057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546E7A"/>
            </a:solidFill>
          </a:ln>
          <a:effectLst>
            <a:outerShdw blurRad="76200" dist="12700" dir="5400000" algn="tl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9142" name="Rectangle 9141"/>
          <p:cNvSpPr/>
          <p:nvPr/>
        </p:nvSpPr>
        <p:spPr>
          <a:xfrm>
            <a:off x="7123175" y="3246120"/>
            <a:ext cx="2029967" cy="457200"/>
          </a:xfrm>
          <a:prstGeom prst="rect">
            <a:avLst/>
          </a:prstGeom>
          <a:solidFill>
            <a:srgbClr val="546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9143" name="Rounded Rectangle 9142"/>
          <p:cNvSpPr/>
          <p:nvPr/>
        </p:nvSpPr>
        <p:spPr>
          <a:xfrm>
            <a:off x="7214615" y="3337560"/>
            <a:ext cx="50292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9144" name="TextBox 9143"/>
          <p:cNvSpPr txBox="1"/>
          <p:nvPr/>
        </p:nvSpPr>
        <p:spPr>
          <a:xfrm>
            <a:off x="7214615" y="3374136"/>
            <a:ext cx="5029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s-ES_tradnl" sz="1100" b="1" i="0" dirty="0">
                <a:solidFill>
                  <a:srgbClr val="546E7A"/>
                </a:solidFill>
                <a:latin typeface="Calibri"/>
              </a:rPr>
              <a:t>INFRA</a:t>
            </a:r>
          </a:p>
        </p:txBody>
      </p:sp>
      <p:sp>
        <p:nvSpPr>
          <p:cNvPr id="9145" name="TextBox 9144"/>
          <p:cNvSpPr txBox="1"/>
          <p:nvPr/>
        </p:nvSpPr>
        <p:spPr>
          <a:xfrm>
            <a:off x="7808975" y="3364991"/>
            <a:ext cx="1252727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s-ES_tradnl" sz="1300" b="1" i="0" dirty="0">
                <a:solidFill>
                  <a:srgbClr val="FFFFFF"/>
                </a:solidFill>
                <a:latin typeface="Calibri"/>
              </a:rPr>
              <a:t>Infraestructura</a:t>
            </a:r>
          </a:p>
        </p:txBody>
      </p:sp>
      <p:sp>
        <p:nvSpPr>
          <p:cNvPr id="9146" name="Oval 9145"/>
          <p:cNvSpPr/>
          <p:nvPr/>
        </p:nvSpPr>
        <p:spPr>
          <a:xfrm>
            <a:off x="7260336" y="3886200"/>
            <a:ext cx="329184" cy="329184"/>
          </a:xfrm>
          <a:prstGeom prst="ellipse">
            <a:avLst/>
          </a:prstGeom>
          <a:solidFill>
            <a:srgbClr val="FDD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9147" name="TextBox 9146"/>
          <p:cNvSpPr txBox="1"/>
          <p:nvPr/>
        </p:nvSpPr>
        <p:spPr>
          <a:xfrm>
            <a:off x="7219188" y="3941063"/>
            <a:ext cx="41148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lang="es-ES_tradnl" sz="1300" b="1" i="0" dirty="0">
                <a:solidFill>
                  <a:srgbClr val="FFFFFF"/>
                </a:solidFill>
                <a:latin typeface="Calibri"/>
              </a:rPr>
              <a:t>ENE</a:t>
            </a:r>
          </a:p>
        </p:txBody>
      </p:sp>
      <p:sp>
        <p:nvSpPr>
          <p:cNvPr id="9148" name="TextBox 9147"/>
          <p:cNvSpPr txBox="1"/>
          <p:nvPr/>
        </p:nvSpPr>
        <p:spPr>
          <a:xfrm>
            <a:off x="7680959" y="3931920"/>
            <a:ext cx="138074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s-ES_tradnl" sz="1300" b="0" i="0" dirty="0">
                <a:solidFill>
                  <a:srgbClr val="4D4D4D"/>
                </a:solidFill>
                <a:latin typeface="Calibri"/>
              </a:rPr>
              <a:t>Inst. Energética</a:t>
            </a:r>
          </a:p>
        </p:txBody>
      </p:sp>
      <p:sp>
        <p:nvSpPr>
          <p:cNvPr id="9149" name="Oval 9148"/>
          <p:cNvSpPr/>
          <p:nvPr/>
        </p:nvSpPr>
        <p:spPr>
          <a:xfrm>
            <a:off x="7260336" y="4297680"/>
            <a:ext cx="329184" cy="329184"/>
          </a:xfrm>
          <a:prstGeom prst="ellipse">
            <a:avLst/>
          </a:prstGeom>
          <a:solidFill>
            <a:srgbClr val="607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9150" name="TextBox 9149"/>
          <p:cNvSpPr txBox="1"/>
          <p:nvPr/>
        </p:nvSpPr>
        <p:spPr>
          <a:xfrm>
            <a:off x="7219188" y="4352544"/>
            <a:ext cx="41148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lang="es-ES_tradnl" sz="1300" b="1" i="0" dirty="0">
                <a:solidFill>
                  <a:srgbClr val="FFFFFF"/>
                </a:solidFill>
                <a:latin typeface="Calibri"/>
              </a:rPr>
              <a:t>TRA</a:t>
            </a:r>
          </a:p>
        </p:txBody>
      </p:sp>
      <p:sp>
        <p:nvSpPr>
          <p:cNvPr id="9151" name="TextBox 9150"/>
          <p:cNvSpPr txBox="1"/>
          <p:nvPr/>
        </p:nvSpPr>
        <p:spPr>
          <a:xfrm>
            <a:off x="7680959" y="4343400"/>
            <a:ext cx="138074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s-ES_tradnl" sz="1300" b="0" i="0" dirty="0">
                <a:solidFill>
                  <a:srgbClr val="4D4D4D"/>
                </a:solidFill>
                <a:latin typeface="Calibri"/>
              </a:rPr>
              <a:t>Infra. Transporte</a:t>
            </a:r>
          </a:p>
        </p:txBody>
      </p:sp>
      <p:sp>
        <p:nvSpPr>
          <p:cNvPr id="9152" name="Rounded Rectangle 9151"/>
          <p:cNvSpPr/>
          <p:nvPr/>
        </p:nvSpPr>
        <p:spPr>
          <a:xfrm>
            <a:off x="9244584" y="3246120"/>
            <a:ext cx="2029967" cy="2057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757575"/>
            </a:solidFill>
          </a:ln>
          <a:effectLst>
            <a:outerShdw blurRad="76200" dist="12700" dir="5400000" algn="tl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9153" name="Rectangle 9152"/>
          <p:cNvSpPr/>
          <p:nvPr/>
        </p:nvSpPr>
        <p:spPr>
          <a:xfrm>
            <a:off x="9244584" y="3246120"/>
            <a:ext cx="2029967" cy="457200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9154" name="Rounded Rectangle 9153"/>
          <p:cNvSpPr/>
          <p:nvPr/>
        </p:nvSpPr>
        <p:spPr>
          <a:xfrm>
            <a:off x="9336024" y="3337560"/>
            <a:ext cx="50292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9155" name="TextBox 9154"/>
          <p:cNvSpPr txBox="1"/>
          <p:nvPr/>
        </p:nvSpPr>
        <p:spPr>
          <a:xfrm>
            <a:off x="9336024" y="3374136"/>
            <a:ext cx="5029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s-ES_tradnl" sz="1100" b="1" i="0" dirty="0">
                <a:solidFill>
                  <a:srgbClr val="757575"/>
                </a:solidFill>
                <a:latin typeface="Calibri"/>
              </a:rPr>
              <a:t>OTR</a:t>
            </a:r>
          </a:p>
        </p:txBody>
      </p:sp>
      <p:sp>
        <p:nvSpPr>
          <p:cNvPr id="9156" name="TextBox 9155"/>
          <p:cNvSpPr txBox="1"/>
          <p:nvPr/>
        </p:nvSpPr>
        <p:spPr>
          <a:xfrm>
            <a:off x="9930384" y="3364991"/>
            <a:ext cx="1252727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s-ES_tradnl" sz="1300" b="1" i="0" dirty="0">
                <a:solidFill>
                  <a:srgbClr val="FFFFFF"/>
                </a:solidFill>
                <a:latin typeface="Calibri"/>
              </a:rPr>
              <a:t>Otro</a:t>
            </a:r>
          </a:p>
        </p:txBody>
      </p:sp>
      <p:sp>
        <p:nvSpPr>
          <p:cNvPr id="9157" name="Oval 9156"/>
          <p:cNvSpPr/>
          <p:nvPr/>
        </p:nvSpPr>
        <p:spPr>
          <a:xfrm>
            <a:off x="9381744" y="3886200"/>
            <a:ext cx="329184" cy="329184"/>
          </a:xfrm>
          <a:prstGeom prst="ellipse">
            <a:avLst/>
          </a:prstGeom>
          <a:solidFill>
            <a:srgbClr val="9E9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9158" name="TextBox 9157"/>
          <p:cNvSpPr txBox="1"/>
          <p:nvPr/>
        </p:nvSpPr>
        <p:spPr>
          <a:xfrm>
            <a:off x="9340596" y="3941063"/>
            <a:ext cx="41148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lang="es-ES_tradnl" sz="1300" b="1" i="0" dirty="0">
                <a:solidFill>
                  <a:srgbClr val="FFFFFF"/>
                </a:solidFill>
                <a:latin typeface="Calibri"/>
              </a:rPr>
              <a:t>OTR</a:t>
            </a:r>
          </a:p>
        </p:txBody>
      </p:sp>
      <p:sp>
        <p:nvSpPr>
          <p:cNvPr id="9159" name="TextBox 9158"/>
          <p:cNvSpPr txBox="1"/>
          <p:nvPr/>
        </p:nvSpPr>
        <p:spPr>
          <a:xfrm>
            <a:off x="9802367" y="3931920"/>
            <a:ext cx="138074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s-ES_tradnl" sz="1300" b="0" i="0" dirty="0">
                <a:solidFill>
                  <a:srgbClr val="4D4D4D"/>
                </a:solidFill>
                <a:latin typeface="Calibri"/>
              </a:rPr>
              <a:t>Otro</a:t>
            </a:r>
          </a:p>
        </p:txBody>
      </p:sp>
    </p:spTree>
    <p:extLst>
      <p:ext uri="{BB962C8B-B14F-4D97-AF65-F5344CB8AC3E}">
        <p14:creationId xmlns:p14="http://schemas.microsoft.com/office/powerpoint/2010/main" val="31686710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00" name="MS Header Group"/>
          <p:cNvGrpSpPr/>
          <p:nvPr/>
        </p:nvGrpSpPr>
        <p:grpSpPr>
          <a:xfrm>
            <a:off x="282819" y="579094"/>
            <a:ext cx="13786134" cy="1057874"/>
            <a:chOff x="92172" y="275827"/>
            <a:chExt cx="9190756" cy="705249"/>
          </a:xfrm>
        </p:grpSpPr>
        <p:sp>
          <p:nvSpPr>
            <p:cNvPr id="9001" name="MS Title Box"/>
            <p:cNvSpPr>
              <a:spLocks noChangeArrowheads="1"/>
            </p:cNvSpPr>
            <p:nvPr/>
          </p:nvSpPr>
          <p:spPr bwMode="gray">
            <a:xfrm>
              <a:off x="776292" y="404814"/>
              <a:ext cx="8506636" cy="576262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37160" tIns="68580" rIns="137160" bIns="68580" anchor="ctr"/>
            <a:lstStyle/>
            <a:p>
              <a:pPr>
                <a:lnSpc>
                  <a:spcPts val="3150"/>
                </a:lnSpc>
              </a:pPr>
              <a:r>
                <a:rPr lang="es-ES" sz="3000" b="1">
                  <a:solidFill>
                    <a:srgbClr val="002569"/>
                  </a:solidFill>
                  <a:latin typeface="Arial"/>
                </a:rPr>
                <a:t>La solución</a:t>
              </a:r>
            </a:p>
            <a:p>
              <a:r>
                <a:rPr lang="es-ES" sz="2700">
                  <a:solidFill>
                    <a:srgbClr val="E0D399">
                      <a:lumMod val="75000"/>
                    </a:srgbClr>
                  </a:solidFill>
                  <a:latin typeface="Arial"/>
                </a:rPr>
                <a:t>Once señales auditables, ancladas en evidencia real</a:t>
              </a:r>
            </a:p>
          </p:txBody>
        </p:sp>
        <p:sp>
          <p:nvSpPr>
            <p:cNvPr id="9002" name="MS Number"/>
            <p:cNvSpPr>
              <a:spLocks noChangeArrowheads="1"/>
            </p:cNvSpPr>
            <p:nvPr/>
          </p:nvSpPr>
          <p:spPr bwMode="gray">
            <a:xfrm>
              <a:off x="92172" y="275827"/>
              <a:ext cx="477819" cy="70014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148523" tIns="74261" rIns="148523" bIns="74261">
              <a:spAutoFit/>
            </a:bodyPr>
            <a:lstStyle/>
            <a:p>
              <a:pPr algn="ctr"/>
              <a:r>
                <a:rPr lang="es-ES" sz="5850" b="1" kern="0">
                  <a:solidFill>
                    <a:srgbClr val="002569"/>
                  </a:solidFill>
                  <a:latin typeface="Arial"/>
                </a:rPr>
                <a:t>2</a:t>
              </a:r>
            </a:p>
          </p:txBody>
        </p:sp>
        <p:cxnSp>
          <p:nvCxnSpPr>
            <p:cNvPr id="9003" name="MS Header Bar"/>
            <p:cNvCxnSpPr/>
            <p:nvPr/>
          </p:nvCxnSpPr>
          <p:spPr>
            <a:xfrm>
              <a:off x="570525" y="404814"/>
              <a:ext cx="0" cy="526647"/>
            </a:xfrm>
            <a:prstGeom prst="line">
              <a:avLst/>
            </a:prstGeom>
            <a:ln>
              <a:solidFill>
                <a:schemeClr val="tx2"/>
              </a:solidFill>
            </a:ln>
          </p:spPr>
        </p:cxnSp>
      </p:grpSp>
      <p:sp>
        <p:nvSpPr>
          <p:cNvPr id="9004" name="TextBox 9003"/>
          <p:cNvSpPr txBox="1"/>
          <p:nvPr/>
        </p:nvSpPr>
        <p:spPr>
          <a:xfrm>
            <a:off x="758952" y="2048256"/>
            <a:ext cx="16770096" cy="8412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800" b="1" dirty="0">
                <a:solidFill>
                  <a:srgbClr val="1F3864"/>
                </a:solidFill>
                <a:latin typeface="Calibri"/>
              </a:rPr>
              <a:t>Score de confianza · 11 </a:t>
            </a:r>
            <a:r>
              <a:rPr sz="1800" b="1" dirty="0" err="1">
                <a:solidFill>
                  <a:srgbClr val="1F3864"/>
                </a:solidFill>
                <a:latin typeface="Calibri"/>
              </a:rPr>
              <a:t>señales</a:t>
            </a:r>
            <a:r>
              <a:rPr sz="1800" b="1" dirty="0">
                <a:solidFill>
                  <a:srgbClr val="1F3864"/>
                </a:solidFill>
                <a:latin typeface="Calibri"/>
              </a:rPr>
              <a:t> </a:t>
            </a:r>
            <a:r>
              <a:rPr sz="1800" b="1" dirty="0" err="1">
                <a:solidFill>
                  <a:srgbClr val="1F3864"/>
                </a:solidFill>
                <a:latin typeface="Calibri"/>
              </a:rPr>
              <a:t>en</a:t>
            </a:r>
            <a:r>
              <a:rPr sz="1800" b="1" dirty="0">
                <a:solidFill>
                  <a:srgbClr val="1F3864"/>
                </a:solidFill>
                <a:latin typeface="Calibri"/>
              </a:rPr>
              <a:t> 2 pipelines.</a:t>
            </a:r>
            <a:r>
              <a:rPr sz="1800" dirty="0">
                <a:solidFill>
                  <a:srgbClr val="404040"/>
                </a:solidFill>
                <a:latin typeface="Calibri"/>
              </a:rPr>
              <a:t> Cada </a:t>
            </a:r>
            <a:r>
              <a:rPr sz="1800" dirty="0" err="1">
                <a:solidFill>
                  <a:srgbClr val="404040"/>
                </a:solidFill>
                <a:latin typeface="Calibri"/>
              </a:rPr>
              <a:t>activo</a:t>
            </a:r>
            <a:r>
              <a:rPr sz="1800" dirty="0">
                <a:solidFill>
                  <a:srgbClr val="404040"/>
                </a:solidFill>
                <a:latin typeface="Calibri"/>
              </a:rPr>
              <a:t> </a:t>
            </a:r>
            <a:r>
              <a:rPr sz="1800" dirty="0" err="1">
                <a:solidFill>
                  <a:srgbClr val="404040"/>
                </a:solidFill>
                <a:latin typeface="Calibri"/>
              </a:rPr>
              <a:t>combina</a:t>
            </a:r>
            <a:r>
              <a:rPr sz="1800" dirty="0">
                <a:solidFill>
                  <a:srgbClr val="404040"/>
                </a:solidFill>
                <a:latin typeface="Calibri"/>
              </a:rPr>
              <a:t> </a:t>
            </a:r>
            <a:r>
              <a:rPr sz="1800" dirty="0" err="1">
                <a:solidFill>
                  <a:srgbClr val="404040"/>
                </a:solidFill>
                <a:latin typeface="Calibri"/>
              </a:rPr>
              <a:t>señales</a:t>
            </a:r>
            <a:r>
              <a:rPr sz="1800" dirty="0">
                <a:solidFill>
                  <a:srgbClr val="404040"/>
                </a:solidFill>
                <a:latin typeface="Calibri"/>
              </a:rPr>
              <a:t> del pipeline </a:t>
            </a:r>
            <a:r>
              <a:rPr sz="1800" dirty="0" err="1">
                <a:solidFill>
                  <a:srgbClr val="404040"/>
                </a:solidFill>
                <a:latin typeface="Calibri"/>
              </a:rPr>
              <a:t>correspondiente</a:t>
            </a:r>
            <a:r>
              <a:rPr sz="1800" dirty="0">
                <a:solidFill>
                  <a:srgbClr val="404040"/>
                </a:solidFill>
                <a:latin typeface="Calibri"/>
              </a:rPr>
              <a:t>; </a:t>
            </a:r>
            <a:r>
              <a:rPr sz="1800" dirty="0" err="1">
                <a:solidFill>
                  <a:srgbClr val="404040"/>
                </a:solidFill>
                <a:latin typeface="Calibri"/>
              </a:rPr>
              <a:t>el</a:t>
            </a:r>
            <a:r>
              <a:rPr sz="1800" dirty="0">
                <a:solidFill>
                  <a:srgbClr val="404040"/>
                </a:solidFill>
                <a:latin typeface="Calibri"/>
              </a:rPr>
              <a:t> </a:t>
            </a:r>
            <a:r>
              <a:rPr sz="1800" dirty="0" err="1">
                <a:solidFill>
                  <a:srgbClr val="404040"/>
                </a:solidFill>
                <a:latin typeface="Calibri"/>
              </a:rPr>
              <a:t>usuario</a:t>
            </a:r>
            <a:r>
              <a:rPr sz="1800" dirty="0">
                <a:solidFill>
                  <a:srgbClr val="404040"/>
                </a:solidFill>
                <a:latin typeface="Calibri"/>
              </a:rPr>
              <a:t> </a:t>
            </a:r>
            <a:r>
              <a:rPr sz="1800" dirty="0" err="1">
                <a:solidFill>
                  <a:srgbClr val="404040"/>
                </a:solidFill>
                <a:latin typeface="Calibri"/>
              </a:rPr>
              <a:t>puede</a:t>
            </a:r>
            <a:r>
              <a:rPr sz="1800" dirty="0">
                <a:solidFill>
                  <a:srgbClr val="404040"/>
                </a:solidFill>
                <a:latin typeface="Calibri"/>
              </a:rPr>
              <a:t> </a:t>
            </a:r>
            <a:r>
              <a:rPr sz="1800" dirty="0" err="1">
                <a:solidFill>
                  <a:srgbClr val="404040"/>
                </a:solidFill>
                <a:latin typeface="Calibri"/>
              </a:rPr>
              <a:t>abrir</a:t>
            </a:r>
            <a:r>
              <a:rPr sz="1800" dirty="0">
                <a:solidFill>
                  <a:srgbClr val="404040"/>
                </a:solidFill>
                <a:latin typeface="Calibri"/>
              </a:rPr>
              <a:t> un dialog con la </a:t>
            </a:r>
            <a:r>
              <a:rPr sz="1800" dirty="0" err="1">
                <a:solidFill>
                  <a:srgbClr val="404040"/>
                </a:solidFill>
                <a:latin typeface="Calibri"/>
              </a:rPr>
              <a:t>descomposición</a:t>
            </a:r>
            <a:r>
              <a:rPr sz="1800" dirty="0">
                <a:solidFill>
                  <a:srgbClr val="404040"/>
                </a:solidFill>
                <a:latin typeface="Calibri"/>
              </a:rPr>
              <a:t> completa para </a:t>
            </a:r>
            <a:r>
              <a:rPr sz="1800" dirty="0" err="1">
                <a:solidFill>
                  <a:srgbClr val="404040"/>
                </a:solidFill>
                <a:latin typeface="Calibri"/>
              </a:rPr>
              <a:t>auditoría</a:t>
            </a:r>
            <a:r>
              <a:rPr sz="1800" dirty="0">
                <a:solidFill>
                  <a:srgbClr val="404040"/>
                </a:solidFill>
                <a:latin typeface="Calibri"/>
              </a:rPr>
              <a:t> reproducible.</a:t>
            </a:r>
          </a:p>
        </p:txBody>
      </p:sp>
      <p:sp>
        <p:nvSpPr>
          <p:cNvPr id="9005" name="Rounded Rectangle 9004"/>
          <p:cNvSpPr/>
          <p:nvPr/>
        </p:nvSpPr>
        <p:spPr>
          <a:xfrm>
            <a:off x="758952" y="2916935"/>
            <a:ext cx="7498079" cy="4846320"/>
          </a:xfrm>
          <a:prstGeom prst="roundRect">
            <a:avLst>
              <a:gd name="adj" fmla="val 3000"/>
            </a:avLst>
          </a:prstGeom>
          <a:solidFill>
            <a:srgbClr val="E9EEF7"/>
          </a:solidFill>
          <a:ln w="12700">
            <a:solidFill>
              <a:srgbClr val="1F3864"/>
            </a:solidFill>
          </a:ln>
          <a:effectLst>
            <a:outerShdw blurRad="127000" dist="38100" dir="5400000" algn="tl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06" name="Rectangle 9005"/>
          <p:cNvSpPr/>
          <p:nvPr/>
        </p:nvSpPr>
        <p:spPr>
          <a:xfrm>
            <a:off x="758952" y="2916935"/>
            <a:ext cx="7498079" cy="6400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07" name="TextBox 9006"/>
          <p:cNvSpPr txBox="1"/>
          <p:nvPr/>
        </p:nvSpPr>
        <p:spPr>
          <a:xfrm>
            <a:off x="1033271" y="3026663"/>
            <a:ext cx="694944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BF9000"/>
                </a:solidFill>
                <a:latin typeface="Calibri"/>
              </a:rPr>
              <a:t>PIPELINE MAPS</a:t>
            </a:r>
            <a:r>
              <a:rPr sz="1300">
                <a:solidFill>
                  <a:srgbClr val="FFFFFF"/>
                </a:solidFill>
                <a:latin typeface="Calibri"/>
              </a:rPr>
              <a:t>   6 señales · INPUT = nombre de empresa</a:t>
            </a:r>
          </a:p>
        </p:txBody>
      </p:sp>
      <p:sp>
        <p:nvSpPr>
          <p:cNvPr id="9008" name="TextBox 9007"/>
          <p:cNvSpPr txBox="1"/>
          <p:nvPr/>
        </p:nvSpPr>
        <p:spPr>
          <a:xfrm>
            <a:off x="1033271" y="3739896"/>
            <a:ext cx="237744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 dirty="0" err="1">
                <a:solidFill>
                  <a:srgbClr val="1F3864"/>
                </a:solidFill>
                <a:latin typeface="Consolas"/>
              </a:rPr>
              <a:t>name_match</a:t>
            </a:r>
            <a:endParaRPr sz="1200" b="1" dirty="0">
              <a:solidFill>
                <a:srgbClr val="1F3864"/>
              </a:solidFill>
              <a:latin typeface="Consolas"/>
            </a:endParaRPr>
          </a:p>
        </p:txBody>
      </p:sp>
      <p:sp>
        <p:nvSpPr>
          <p:cNvPr id="9009" name="Rounded Rectangle 9008"/>
          <p:cNvSpPr/>
          <p:nvPr/>
        </p:nvSpPr>
        <p:spPr>
          <a:xfrm>
            <a:off x="3502152" y="3785615"/>
            <a:ext cx="2377440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10" name="Rounded Rectangle 9009"/>
          <p:cNvSpPr/>
          <p:nvPr/>
        </p:nvSpPr>
        <p:spPr>
          <a:xfrm>
            <a:off x="3502152" y="3785615"/>
            <a:ext cx="713232" cy="182880"/>
          </a:xfrm>
          <a:prstGeom prst="roundRect">
            <a:avLst>
              <a:gd name="adj" fmla="val 50000"/>
            </a:avLst>
          </a:prstGeom>
          <a:solidFill>
            <a:srgbClr val="BF9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11" name="TextBox 9010"/>
          <p:cNvSpPr txBox="1"/>
          <p:nvPr/>
        </p:nvSpPr>
        <p:spPr>
          <a:xfrm>
            <a:off x="5971032" y="3739896"/>
            <a:ext cx="77724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500" b="1">
                <a:solidFill>
                  <a:srgbClr val="BF9000"/>
                </a:solidFill>
                <a:latin typeface="Calibri"/>
              </a:rPr>
              <a:t>30%</a:t>
            </a:r>
          </a:p>
        </p:txBody>
      </p:sp>
      <p:sp>
        <p:nvSpPr>
          <p:cNvPr id="9012" name="TextBox 9011"/>
          <p:cNvSpPr txBox="1"/>
          <p:nvPr/>
        </p:nvSpPr>
        <p:spPr>
          <a:xfrm>
            <a:off x="1033271" y="4032503"/>
            <a:ext cx="69494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dirty="0" err="1">
                <a:solidFill>
                  <a:srgbClr val="404040"/>
                </a:solidFill>
                <a:latin typeface="Calibri"/>
              </a:rPr>
              <a:t>Coincidencia</a:t>
            </a:r>
            <a:r>
              <a:rPr sz="1000" dirty="0">
                <a:solidFill>
                  <a:srgbClr val="404040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404040"/>
                </a:solidFill>
                <a:latin typeface="Calibri"/>
              </a:rPr>
              <a:t>léxica</a:t>
            </a:r>
            <a:r>
              <a:rPr sz="1300" dirty="0">
                <a:solidFill>
                  <a:srgbClr val="404040"/>
                </a:solidFill>
                <a:latin typeface="Calibri"/>
              </a:rPr>
              <a:t> con </a:t>
            </a:r>
            <a:r>
              <a:rPr sz="1300" dirty="0" err="1">
                <a:solidFill>
                  <a:srgbClr val="404040"/>
                </a:solidFill>
                <a:latin typeface="Calibri"/>
              </a:rPr>
              <a:t>el</a:t>
            </a:r>
            <a:r>
              <a:rPr sz="1000" dirty="0">
                <a:solidFill>
                  <a:srgbClr val="404040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404040"/>
                </a:solidFill>
                <a:latin typeface="Calibri"/>
              </a:rPr>
              <a:t>nombre</a:t>
            </a:r>
            <a:r>
              <a:rPr sz="1300" dirty="0">
                <a:solidFill>
                  <a:srgbClr val="404040"/>
                </a:solidFill>
                <a:latin typeface="Calibri"/>
              </a:rPr>
              <a:t> del </a:t>
            </a:r>
            <a:r>
              <a:rPr sz="1300" dirty="0" err="1">
                <a:solidFill>
                  <a:srgbClr val="404040"/>
                </a:solidFill>
                <a:latin typeface="Calibri"/>
              </a:rPr>
              <a:t>lugar</a:t>
            </a:r>
            <a:r>
              <a:rPr sz="1300" dirty="0">
                <a:solidFill>
                  <a:srgbClr val="404040"/>
                </a:solidFill>
                <a:latin typeface="Calibri"/>
              </a:rPr>
              <a:t> Google Places</a:t>
            </a:r>
          </a:p>
        </p:txBody>
      </p:sp>
      <p:sp>
        <p:nvSpPr>
          <p:cNvPr id="9013" name="TextBox 9012"/>
          <p:cNvSpPr txBox="1"/>
          <p:nvPr/>
        </p:nvSpPr>
        <p:spPr>
          <a:xfrm>
            <a:off x="1033271" y="4361688"/>
            <a:ext cx="237744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1F3864"/>
                </a:solidFill>
                <a:latin typeface="Consolas"/>
              </a:rPr>
              <a:t>type_match</a:t>
            </a:r>
          </a:p>
        </p:txBody>
      </p:sp>
      <p:sp>
        <p:nvSpPr>
          <p:cNvPr id="9014" name="Rounded Rectangle 9013"/>
          <p:cNvSpPr/>
          <p:nvPr/>
        </p:nvSpPr>
        <p:spPr>
          <a:xfrm>
            <a:off x="3502152" y="4407407"/>
            <a:ext cx="2377440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15" name="Rounded Rectangle 9014"/>
          <p:cNvSpPr/>
          <p:nvPr/>
        </p:nvSpPr>
        <p:spPr>
          <a:xfrm>
            <a:off x="3502152" y="4407407"/>
            <a:ext cx="475488" cy="182880"/>
          </a:xfrm>
          <a:prstGeom prst="roundRect">
            <a:avLst>
              <a:gd name="adj" fmla="val 50000"/>
            </a:avLst>
          </a:prstGeom>
          <a:solidFill>
            <a:srgbClr val="BF9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16" name="TextBox 9015"/>
          <p:cNvSpPr txBox="1"/>
          <p:nvPr/>
        </p:nvSpPr>
        <p:spPr>
          <a:xfrm>
            <a:off x="5971032" y="4361688"/>
            <a:ext cx="77724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500" b="1">
                <a:solidFill>
                  <a:srgbClr val="BF9000"/>
                </a:solidFill>
                <a:latin typeface="Calibri"/>
              </a:rPr>
              <a:t>20%</a:t>
            </a:r>
          </a:p>
        </p:txBody>
      </p:sp>
      <p:sp>
        <p:nvSpPr>
          <p:cNvPr id="9017" name="TextBox 9016"/>
          <p:cNvSpPr txBox="1"/>
          <p:nvPr/>
        </p:nvSpPr>
        <p:spPr>
          <a:xfrm>
            <a:off x="1033271" y="4654296"/>
            <a:ext cx="69494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>
                <a:solidFill>
                  <a:srgbClr val="404040"/>
                </a:solidFill>
                <a:latin typeface="Calibri"/>
              </a:rPr>
              <a:t>Compatibilidad del tipo Google Places con la categoría</a:t>
            </a:r>
          </a:p>
        </p:txBody>
      </p:sp>
      <p:sp>
        <p:nvSpPr>
          <p:cNvPr id="9018" name="TextBox 9017"/>
          <p:cNvSpPr txBox="1"/>
          <p:nvPr/>
        </p:nvSpPr>
        <p:spPr>
          <a:xfrm>
            <a:off x="1033271" y="4983480"/>
            <a:ext cx="237744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1F3864"/>
                </a:solidFill>
                <a:latin typeface="Consolas"/>
              </a:rPr>
              <a:t>address_corporate</a:t>
            </a:r>
          </a:p>
        </p:txBody>
      </p:sp>
      <p:sp>
        <p:nvSpPr>
          <p:cNvPr id="9019" name="Rounded Rectangle 9018"/>
          <p:cNvSpPr/>
          <p:nvPr/>
        </p:nvSpPr>
        <p:spPr>
          <a:xfrm>
            <a:off x="3502152" y="5029200"/>
            <a:ext cx="2377440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20" name="Rounded Rectangle 9019"/>
          <p:cNvSpPr/>
          <p:nvPr/>
        </p:nvSpPr>
        <p:spPr>
          <a:xfrm>
            <a:off x="3502152" y="5029200"/>
            <a:ext cx="356616" cy="182880"/>
          </a:xfrm>
          <a:prstGeom prst="roundRect">
            <a:avLst>
              <a:gd name="adj" fmla="val 50000"/>
            </a:avLst>
          </a:prstGeom>
          <a:solidFill>
            <a:srgbClr val="BF9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21" name="TextBox 9020"/>
          <p:cNvSpPr txBox="1"/>
          <p:nvPr/>
        </p:nvSpPr>
        <p:spPr>
          <a:xfrm>
            <a:off x="5971032" y="4983480"/>
            <a:ext cx="77724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500" b="1">
                <a:solidFill>
                  <a:srgbClr val="BF9000"/>
                </a:solidFill>
                <a:latin typeface="Calibri"/>
              </a:rPr>
              <a:t>15%</a:t>
            </a:r>
          </a:p>
        </p:txBody>
      </p:sp>
      <p:sp>
        <p:nvSpPr>
          <p:cNvPr id="9022" name="TextBox 9021"/>
          <p:cNvSpPr txBox="1"/>
          <p:nvPr/>
        </p:nvSpPr>
        <p:spPr>
          <a:xfrm>
            <a:off x="1033271" y="5276088"/>
            <a:ext cx="69494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>
                <a:solidFill>
                  <a:srgbClr val="404040"/>
                </a:solidFill>
                <a:latin typeface="Calibri"/>
              </a:rPr>
              <a:t>Heurística baseline (valor neutro 0.5; pendiente de implementación específica)</a:t>
            </a:r>
          </a:p>
        </p:txBody>
      </p:sp>
      <p:sp>
        <p:nvSpPr>
          <p:cNvPr id="9023" name="TextBox 9022"/>
          <p:cNvSpPr txBox="1"/>
          <p:nvPr/>
        </p:nvSpPr>
        <p:spPr>
          <a:xfrm>
            <a:off x="1033271" y="5605272"/>
            <a:ext cx="237744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1F3864"/>
                </a:solidFill>
                <a:latin typeface="Consolas"/>
              </a:rPr>
              <a:t>website_match</a:t>
            </a:r>
          </a:p>
        </p:txBody>
      </p:sp>
      <p:sp>
        <p:nvSpPr>
          <p:cNvPr id="9024" name="Rounded Rectangle 9023"/>
          <p:cNvSpPr/>
          <p:nvPr/>
        </p:nvSpPr>
        <p:spPr>
          <a:xfrm>
            <a:off x="3502152" y="5650992"/>
            <a:ext cx="2377440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25" name="Rounded Rectangle 9024"/>
          <p:cNvSpPr/>
          <p:nvPr/>
        </p:nvSpPr>
        <p:spPr>
          <a:xfrm>
            <a:off x="3502152" y="5650992"/>
            <a:ext cx="356616" cy="182880"/>
          </a:xfrm>
          <a:prstGeom prst="roundRect">
            <a:avLst>
              <a:gd name="adj" fmla="val 50000"/>
            </a:avLst>
          </a:prstGeom>
          <a:solidFill>
            <a:srgbClr val="BF9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26" name="TextBox 9025"/>
          <p:cNvSpPr txBox="1"/>
          <p:nvPr/>
        </p:nvSpPr>
        <p:spPr>
          <a:xfrm>
            <a:off x="5971032" y="5605272"/>
            <a:ext cx="77724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500" b="1">
                <a:solidFill>
                  <a:srgbClr val="BF9000"/>
                </a:solidFill>
                <a:latin typeface="Calibri"/>
              </a:rPr>
              <a:t>15%</a:t>
            </a:r>
          </a:p>
        </p:txBody>
      </p:sp>
      <p:sp>
        <p:nvSpPr>
          <p:cNvPr id="9027" name="TextBox 9026"/>
          <p:cNvSpPr txBox="1"/>
          <p:nvPr/>
        </p:nvSpPr>
        <p:spPr>
          <a:xfrm>
            <a:off x="1033271" y="5897880"/>
            <a:ext cx="69494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>
                <a:solidFill>
                  <a:srgbClr val="404040"/>
                </a:solidFill>
                <a:latin typeface="Calibri"/>
              </a:rPr>
              <a:t>Dominio web declarado coincide con dominio empresarial</a:t>
            </a:r>
          </a:p>
        </p:txBody>
      </p:sp>
      <p:sp>
        <p:nvSpPr>
          <p:cNvPr id="9028" name="TextBox 9027"/>
          <p:cNvSpPr txBox="1"/>
          <p:nvPr/>
        </p:nvSpPr>
        <p:spPr>
          <a:xfrm>
            <a:off x="1033271" y="6227064"/>
            <a:ext cx="237744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1F3864"/>
                </a:solidFill>
                <a:latin typeface="Consolas"/>
              </a:rPr>
              <a:t>reviews_b2b</a:t>
            </a:r>
          </a:p>
        </p:txBody>
      </p:sp>
      <p:sp>
        <p:nvSpPr>
          <p:cNvPr id="9029" name="Rounded Rectangle 9028"/>
          <p:cNvSpPr/>
          <p:nvPr/>
        </p:nvSpPr>
        <p:spPr>
          <a:xfrm>
            <a:off x="3502152" y="6272784"/>
            <a:ext cx="2377440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30" name="Rounded Rectangle 9029"/>
          <p:cNvSpPr/>
          <p:nvPr/>
        </p:nvSpPr>
        <p:spPr>
          <a:xfrm>
            <a:off x="3502152" y="6272784"/>
            <a:ext cx="237744" cy="182880"/>
          </a:xfrm>
          <a:prstGeom prst="roundRect">
            <a:avLst>
              <a:gd name="adj" fmla="val 50000"/>
            </a:avLst>
          </a:prstGeom>
          <a:solidFill>
            <a:srgbClr val="BF9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31" name="TextBox 9030"/>
          <p:cNvSpPr txBox="1"/>
          <p:nvPr/>
        </p:nvSpPr>
        <p:spPr>
          <a:xfrm>
            <a:off x="5971032" y="6227064"/>
            <a:ext cx="77724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500" b="1">
                <a:solidFill>
                  <a:srgbClr val="BF9000"/>
                </a:solidFill>
                <a:latin typeface="Calibri"/>
              </a:rPr>
              <a:t>10%</a:t>
            </a:r>
          </a:p>
        </p:txBody>
      </p:sp>
      <p:sp>
        <p:nvSpPr>
          <p:cNvPr id="9032" name="TextBox 9031"/>
          <p:cNvSpPr txBox="1"/>
          <p:nvPr/>
        </p:nvSpPr>
        <p:spPr>
          <a:xfrm>
            <a:off x="1033271" y="6519672"/>
            <a:ext cx="69494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>
                <a:solidFill>
                  <a:srgbClr val="404040"/>
                </a:solidFill>
                <a:latin typeface="Calibri"/>
              </a:rPr>
              <a:t>Volumen de reseñas en Google Places (&gt;100 → 0.8, &gt;20 → 0.5, resto → 0.3)</a:t>
            </a:r>
          </a:p>
        </p:txBody>
      </p:sp>
      <p:sp>
        <p:nvSpPr>
          <p:cNvPr id="9033" name="TextBox 9032"/>
          <p:cNvSpPr txBox="1"/>
          <p:nvPr/>
        </p:nvSpPr>
        <p:spPr>
          <a:xfrm>
            <a:off x="1033271" y="6848856"/>
            <a:ext cx="237744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1F3864"/>
                </a:solidFill>
                <a:latin typeface="Consolas"/>
              </a:rPr>
              <a:t>llm_confidence</a:t>
            </a:r>
          </a:p>
        </p:txBody>
      </p:sp>
      <p:sp>
        <p:nvSpPr>
          <p:cNvPr id="9034" name="Rounded Rectangle 9033"/>
          <p:cNvSpPr/>
          <p:nvPr/>
        </p:nvSpPr>
        <p:spPr>
          <a:xfrm>
            <a:off x="3502152" y="6894576"/>
            <a:ext cx="2377440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35" name="Rounded Rectangle 9034"/>
          <p:cNvSpPr/>
          <p:nvPr/>
        </p:nvSpPr>
        <p:spPr>
          <a:xfrm>
            <a:off x="3502152" y="6894576"/>
            <a:ext cx="237744" cy="182880"/>
          </a:xfrm>
          <a:prstGeom prst="roundRect">
            <a:avLst>
              <a:gd name="adj" fmla="val 50000"/>
            </a:avLst>
          </a:prstGeom>
          <a:solidFill>
            <a:srgbClr val="BF9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36" name="TextBox 9035"/>
          <p:cNvSpPr txBox="1"/>
          <p:nvPr/>
        </p:nvSpPr>
        <p:spPr>
          <a:xfrm>
            <a:off x="5971032" y="6848856"/>
            <a:ext cx="77724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500" b="1">
                <a:solidFill>
                  <a:srgbClr val="BF9000"/>
                </a:solidFill>
                <a:latin typeface="Calibri"/>
              </a:rPr>
              <a:t>10%</a:t>
            </a:r>
          </a:p>
        </p:txBody>
      </p:sp>
      <p:sp>
        <p:nvSpPr>
          <p:cNvPr id="9037" name="TextBox 9036"/>
          <p:cNvSpPr txBox="1"/>
          <p:nvPr/>
        </p:nvSpPr>
        <p:spPr>
          <a:xfrm>
            <a:off x="1033271" y="7141464"/>
            <a:ext cx="69494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>
                <a:solidFill>
                  <a:srgbClr val="404040"/>
                </a:solidFill>
                <a:latin typeface="Calibri"/>
              </a:rPr>
              <a:t>Confianza autorreportada por el LLM al clasificar</a:t>
            </a:r>
          </a:p>
        </p:txBody>
      </p:sp>
      <p:sp>
        <p:nvSpPr>
          <p:cNvPr id="9038" name="Rounded Rectangle 9037"/>
          <p:cNvSpPr/>
          <p:nvPr/>
        </p:nvSpPr>
        <p:spPr>
          <a:xfrm>
            <a:off x="10058400" y="2916935"/>
            <a:ext cx="7470648" cy="4846320"/>
          </a:xfrm>
          <a:prstGeom prst="roundRect">
            <a:avLst>
              <a:gd name="adj" fmla="val 3000"/>
            </a:avLst>
          </a:prstGeom>
          <a:solidFill>
            <a:srgbClr val="FAF1D9"/>
          </a:solidFill>
          <a:ln w="12700">
            <a:solidFill>
              <a:srgbClr val="BF9000"/>
            </a:solidFill>
          </a:ln>
          <a:effectLst>
            <a:outerShdw blurRad="127000" dist="38100" dir="5400000" algn="tl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39" name="Rectangle 9038"/>
          <p:cNvSpPr/>
          <p:nvPr/>
        </p:nvSpPr>
        <p:spPr>
          <a:xfrm>
            <a:off x="10058400" y="2916935"/>
            <a:ext cx="7470648" cy="640080"/>
          </a:xfrm>
          <a:prstGeom prst="rect">
            <a:avLst/>
          </a:prstGeom>
          <a:solidFill>
            <a:srgbClr val="BF9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40" name="TextBox 9039"/>
          <p:cNvSpPr txBox="1"/>
          <p:nvPr/>
        </p:nvSpPr>
        <p:spPr>
          <a:xfrm>
            <a:off x="10332720" y="3026663"/>
            <a:ext cx="6922008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1F3864"/>
                </a:solidFill>
                <a:latin typeface="Calibri"/>
              </a:rPr>
              <a:t>PIPELINE DOCUMENTO</a:t>
            </a:r>
            <a:r>
              <a:rPr sz="1300">
                <a:solidFill>
                  <a:srgbClr val="FFFFFF"/>
                </a:solidFill>
                <a:latin typeface="Calibri"/>
              </a:rPr>
              <a:t>   5 señales · INPUT = PDF / DOCX / Excel</a:t>
            </a:r>
          </a:p>
        </p:txBody>
      </p:sp>
      <p:sp>
        <p:nvSpPr>
          <p:cNvPr id="9041" name="TextBox 9040"/>
          <p:cNvSpPr txBox="1"/>
          <p:nvPr/>
        </p:nvSpPr>
        <p:spPr>
          <a:xfrm>
            <a:off x="10332720" y="3739896"/>
            <a:ext cx="256032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 dirty="0" err="1">
                <a:solidFill>
                  <a:srgbClr val="1F3864"/>
                </a:solidFill>
                <a:latin typeface="Consolas"/>
              </a:rPr>
              <a:t>evidence_strength</a:t>
            </a:r>
            <a:endParaRPr sz="1200" b="1" dirty="0">
              <a:solidFill>
                <a:srgbClr val="1F3864"/>
              </a:solidFill>
              <a:latin typeface="Consolas"/>
            </a:endParaRPr>
          </a:p>
        </p:txBody>
      </p:sp>
      <p:sp>
        <p:nvSpPr>
          <p:cNvPr id="9042" name="Rounded Rectangle 9041"/>
          <p:cNvSpPr/>
          <p:nvPr/>
        </p:nvSpPr>
        <p:spPr>
          <a:xfrm>
            <a:off x="12984480" y="3785615"/>
            <a:ext cx="2194560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43" name="Rounded Rectangle 9042"/>
          <p:cNvSpPr/>
          <p:nvPr/>
        </p:nvSpPr>
        <p:spPr>
          <a:xfrm>
            <a:off x="12984480" y="3785615"/>
            <a:ext cx="658368" cy="182880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44" name="TextBox 9043"/>
          <p:cNvSpPr txBox="1"/>
          <p:nvPr/>
        </p:nvSpPr>
        <p:spPr>
          <a:xfrm>
            <a:off x="15270480" y="3739896"/>
            <a:ext cx="77724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500" b="1">
                <a:solidFill>
                  <a:srgbClr val="1F3864"/>
                </a:solidFill>
                <a:latin typeface="Calibri"/>
              </a:rPr>
              <a:t>30%</a:t>
            </a:r>
          </a:p>
        </p:txBody>
      </p:sp>
      <p:sp>
        <p:nvSpPr>
          <p:cNvPr id="9045" name="TextBox 9044"/>
          <p:cNvSpPr txBox="1"/>
          <p:nvPr/>
        </p:nvSpPr>
        <p:spPr>
          <a:xfrm>
            <a:off x="10332720" y="4032503"/>
            <a:ext cx="692200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>
                <a:solidFill>
                  <a:srgbClr val="404040"/>
                </a:solidFill>
                <a:latin typeface="Calibri"/>
              </a:rPr>
              <a:t>Número de menciones del activo en el documento. 1.0 con ≥3</a:t>
            </a:r>
          </a:p>
        </p:txBody>
      </p:sp>
      <p:sp>
        <p:nvSpPr>
          <p:cNvPr id="9046" name="TextBox 9045"/>
          <p:cNvSpPr txBox="1"/>
          <p:nvPr/>
        </p:nvSpPr>
        <p:spPr>
          <a:xfrm>
            <a:off x="10332720" y="4489703"/>
            <a:ext cx="256032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 dirty="0" err="1">
                <a:solidFill>
                  <a:srgbClr val="1F3864"/>
                </a:solidFill>
                <a:latin typeface="Consolas"/>
              </a:rPr>
              <a:t>address_specificity</a:t>
            </a:r>
            <a:endParaRPr sz="1200" b="1" dirty="0">
              <a:solidFill>
                <a:srgbClr val="1F3864"/>
              </a:solidFill>
              <a:latin typeface="Consolas"/>
            </a:endParaRPr>
          </a:p>
        </p:txBody>
      </p:sp>
      <p:sp>
        <p:nvSpPr>
          <p:cNvPr id="9047" name="Rounded Rectangle 9046"/>
          <p:cNvSpPr/>
          <p:nvPr/>
        </p:nvSpPr>
        <p:spPr>
          <a:xfrm>
            <a:off x="12984480" y="4535424"/>
            <a:ext cx="2194560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48" name="Rounded Rectangle 9047"/>
          <p:cNvSpPr/>
          <p:nvPr/>
        </p:nvSpPr>
        <p:spPr>
          <a:xfrm>
            <a:off x="12984480" y="4535424"/>
            <a:ext cx="438912" cy="182880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49" name="TextBox 9048"/>
          <p:cNvSpPr txBox="1"/>
          <p:nvPr/>
        </p:nvSpPr>
        <p:spPr>
          <a:xfrm>
            <a:off x="15270480" y="4489703"/>
            <a:ext cx="77724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500" b="1">
                <a:solidFill>
                  <a:srgbClr val="1F3864"/>
                </a:solidFill>
                <a:latin typeface="Calibri"/>
              </a:rPr>
              <a:t>20%</a:t>
            </a:r>
          </a:p>
        </p:txBody>
      </p:sp>
      <p:sp>
        <p:nvSpPr>
          <p:cNvPr id="9050" name="TextBox 9049"/>
          <p:cNvSpPr txBox="1"/>
          <p:nvPr/>
        </p:nvSpPr>
        <p:spPr>
          <a:xfrm>
            <a:off x="10332720" y="4782312"/>
            <a:ext cx="692200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>
                <a:solidFill>
                  <a:srgbClr val="404040"/>
                </a:solidFill>
                <a:latin typeface="Calibri"/>
              </a:rPr>
              <a:t>Granularidad de la dirección extraída. Base 0.4; suma 0.2 si ciudad</a:t>
            </a:r>
          </a:p>
        </p:txBody>
      </p:sp>
      <p:sp>
        <p:nvSpPr>
          <p:cNvPr id="9051" name="TextBox 9050"/>
          <p:cNvSpPr txBox="1"/>
          <p:nvPr/>
        </p:nvSpPr>
        <p:spPr>
          <a:xfrm>
            <a:off x="10332720" y="5239512"/>
            <a:ext cx="256032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1F3864"/>
                </a:solidFill>
                <a:latin typeface="Consolas"/>
              </a:rPr>
              <a:t>coordinate_source</a:t>
            </a:r>
          </a:p>
        </p:txBody>
      </p:sp>
      <p:sp>
        <p:nvSpPr>
          <p:cNvPr id="9052" name="Rounded Rectangle 9051"/>
          <p:cNvSpPr/>
          <p:nvPr/>
        </p:nvSpPr>
        <p:spPr>
          <a:xfrm>
            <a:off x="12984480" y="5285232"/>
            <a:ext cx="2194560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53" name="Rounded Rectangle 9052"/>
          <p:cNvSpPr/>
          <p:nvPr/>
        </p:nvSpPr>
        <p:spPr>
          <a:xfrm>
            <a:off x="12984480" y="5285232"/>
            <a:ext cx="438912" cy="182880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54" name="TextBox 9053"/>
          <p:cNvSpPr txBox="1"/>
          <p:nvPr/>
        </p:nvSpPr>
        <p:spPr>
          <a:xfrm>
            <a:off x="15270480" y="5239512"/>
            <a:ext cx="77724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500" b="1">
                <a:solidFill>
                  <a:srgbClr val="1F3864"/>
                </a:solidFill>
                <a:latin typeface="Calibri"/>
              </a:rPr>
              <a:t>20%</a:t>
            </a:r>
          </a:p>
        </p:txBody>
      </p:sp>
      <p:sp>
        <p:nvSpPr>
          <p:cNvPr id="9055" name="TextBox 9054"/>
          <p:cNvSpPr txBox="1"/>
          <p:nvPr/>
        </p:nvSpPr>
        <p:spPr>
          <a:xfrm>
            <a:off x="10332720" y="5532120"/>
            <a:ext cx="692200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>
                <a:solidFill>
                  <a:srgbClr val="404040"/>
                </a:solidFill>
                <a:latin typeface="Calibri"/>
              </a:rPr>
              <a:t>Procedencia de coordenadas. 1.0 si reportadas en el documento</a:t>
            </a:r>
          </a:p>
        </p:txBody>
      </p:sp>
      <p:sp>
        <p:nvSpPr>
          <p:cNvPr id="9056" name="TextBox 9055"/>
          <p:cNvSpPr txBox="1"/>
          <p:nvPr/>
        </p:nvSpPr>
        <p:spPr>
          <a:xfrm>
            <a:off x="10332720" y="5989320"/>
            <a:ext cx="256032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 dirty="0" err="1">
                <a:solidFill>
                  <a:srgbClr val="1F3864"/>
                </a:solidFill>
                <a:latin typeface="Consolas"/>
              </a:rPr>
              <a:t>name_quality</a:t>
            </a:r>
            <a:endParaRPr sz="1200" b="1" dirty="0">
              <a:solidFill>
                <a:srgbClr val="1F3864"/>
              </a:solidFill>
              <a:latin typeface="Consolas"/>
            </a:endParaRPr>
          </a:p>
        </p:txBody>
      </p:sp>
      <p:sp>
        <p:nvSpPr>
          <p:cNvPr id="9057" name="Rounded Rectangle 9056"/>
          <p:cNvSpPr/>
          <p:nvPr/>
        </p:nvSpPr>
        <p:spPr>
          <a:xfrm>
            <a:off x="12984480" y="6035040"/>
            <a:ext cx="2194560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58" name="Rounded Rectangle 9057"/>
          <p:cNvSpPr/>
          <p:nvPr/>
        </p:nvSpPr>
        <p:spPr>
          <a:xfrm>
            <a:off x="12984480" y="6035040"/>
            <a:ext cx="329184" cy="182880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59" name="TextBox 9058"/>
          <p:cNvSpPr txBox="1"/>
          <p:nvPr/>
        </p:nvSpPr>
        <p:spPr>
          <a:xfrm>
            <a:off x="15270480" y="5989320"/>
            <a:ext cx="77724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500" b="1">
                <a:solidFill>
                  <a:srgbClr val="1F3864"/>
                </a:solidFill>
                <a:latin typeface="Calibri"/>
              </a:rPr>
              <a:t>15%</a:t>
            </a:r>
          </a:p>
        </p:txBody>
      </p:sp>
      <p:sp>
        <p:nvSpPr>
          <p:cNvPr id="9060" name="TextBox 9059"/>
          <p:cNvSpPr txBox="1"/>
          <p:nvPr/>
        </p:nvSpPr>
        <p:spPr>
          <a:xfrm>
            <a:off x="10332720" y="6281928"/>
            <a:ext cx="692200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dirty="0">
                <a:solidFill>
                  <a:srgbClr val="404040"/>
                </a:solidFill>
                <a:latin typeface="Calibri"/>
              </a:rPr>
              <a:t>Calidad </a:t>
            </a:r>
            <a:r>
              <a:rPr sz="1300" dirty="0" err="1">
                <a:solidFill>
                  <a:srgbClr val="404040"/>
                </a:solidFill>
                <a:latin typeface="Calibri"/>
              </a:rPr>
              <a:t>léxica</a:t>
            </a:r>
            <a:r>
              <a:rPr sz="1300" dirty="0">
                <a:solidFill>
                  <a:srgbClr val="404040"/>
                </a:solidFill>
                <a:latin typeface="Calibri"/>
              </a:rPr>
              <a:t> del </a:t>
            </a:r>
            <a:r>
              <a:rPr sz="1300" dirty="0" err="1">
                <a:solidFill>
                  <a:srgbClr val="404040"/>
                </a:solidFill>
                <a:latin typeface="Calibri"/>
              </a:rPr>
              <a:t>nombre</a:t>
            </a:r>
            <a:r>
              <a:rPr sz="1300" dirty="0">
                <a:solidFill>
                  <a:srgbClr val="404040"/>
                </a:solidFill>
                <a:latin typeface="Calibri"/>
              </a:rPr>
              <a:t>. </a:t>
            </a:r>
            <a:r>
              <a:rPr sz="1300" dirty="0" err="1">
                <a:solidFill>
                  <a:srgbClr val="404040"/>
                </a:solidFill>
                <a:latin typeface="Calibri"/>
              </a:rPr>
              <a:t>Penaliza</a:t>
            </a:r>
            <a:r>
              <a:rPr sz="1000" dirty="0">
                <a:solidFill>
                  <a:srgbClr val="404040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404040"/>
                </a:solidFill>
                <a:latin typeface="Calibri"/>
              </a:rPr>
              <a:t>nombres</a:t>
            </a:r>
            <a:r>
              <a:rPr sz="1300" dirty="0">
                <a:solidFill>
                  <a:srgbClr val="404040"/>
                </a:solidFill>
                <a:latin typeface="Calibri"/>
              </a:rPr>
              <a:t> &lt;4 </a:t>
            </a:r>
            <a:r>
              <a:rPr sz="1300" dirty="0" err="1">
                <a:solidFill>
                  <a:srgbClr val="404040"/>
                </a:solidFill>
                <a:latin typeface="Calibri"/>
              </a:rPr>
              <a:t>caracteres</a:t>
            </a:r>
            <a:endParaRPr sz="1000" dirty="0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9061" name="TextBox 9060"/>
          <p:cNvSpPr txBox="1"/>
          <p:nvPr/>
        </p:nvSpPr>
        <p:spPr>
          <a:xfrm>
            <a:off x="10332720" y="6739128"/>
            <a:ext cx="256032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1F3864"/>
                </a:solidFill>
                <a:latin typeface="Consolas"/>
              </a:rPr>
              <a:t>llm_confidence</a:t>
            </a:r>
          </a:p>
        </p:txBody>
      </p:sp>
      <p:sp>
        <p:nvSpPr>
          <p:cNvPr id="9062" name="Rounded Rectangle 9061"/>
          <p:cNvSpPr/>
          <p:nvPr/>
        </p:nvSpPr>
        <p:spPr>
          <a:xfrm>
            <a:off x="12984480" y="6784848"/>
            <a:ext cx="2194560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63" name="Rounded Rectangle 9062"/>
          <p:cNvSpPr/>
          <p:nvPr/>
        </p:nvSpPr>
        <p:spPr>
          <a:xfrm>
            <a:off x="12984480" y="6784848"/>
            <a:ext cx="329184" cy="182880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64" name="TextBox 9063"/>
          <p:cNvSpPr txBox="1"/>
          <p:nvPr/>
        </p:nvSpPr>
        <p:spPr>
          <a:xfrm>
            <a:off x="15270480" y="6739128"/>
            <a:ext cx="77724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500" b="1">
                <a:solidFill>
                  <a:srgbClr val="1F3864"/>
                </a:solidFill>
                <a:latin typeface="Calibri"/>
              </a:rPr>
              <a:t>15%</a:t>
            </a:r>
          </a:p>
        </p:txBody>
      </p:sp>
      <p:sp>
        <p:nvSpPr>
          <p:cNvPr id="9065" name="TextBox 9064"/>
          <p:cNvSpPr txBox="1"/>
          <p:nvPr/>
        </p:nvSpPr>
        <p:spPr>
          <a:xfrm>
            <a:off x="10332720" y="7031736"/>
            <a:ext cx="692200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>
                <a:solidFill>
                  <a:srgbClr val="404040"/>
                </a:solidFill>
                <a:latin typeface="Calibri"/>
              </a:rPr>
              <a:t>Confianza autorreportada por el LLM en la extracción</a:t>
            </a:r>
          </a:p>
        </p:txBody>
      </p:sp>
      <p:sp>
        <p:nvSpPr>
          <p:cNvPr id="9066" name="Oval 9065"/>
          <p:cNvSpPr/>
          <p:nvPr/>
        </p:nvSpPr>
        <p:spPr>
          <a:xfrm>
            <a:off x="8458200" y="4928616"/>
            <a:ext cx="1371600" cy="1371600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127000" dist="38100" dir="5400000" algn="tl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67" name="TextBox 9066"/>
          <p:cNvSpPr txBox="1"/>
          <p:nvPr/>
        </p:nvSpPr>
        <p:spPr>
          <a:xfrm>
            <a:off x="8321040" y="5294376"/>
            <a:ext cx="164592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ACTIVO</a:t>
            </a:r>
          </a:p>
        </p:txBody>
      </p:sp>
      <p:sp>
        <p:nvSpPr>
          <p:cNvPr id="9068" name="TextBox 9067"/>
          <p:cNvSpPr txBox="1"/>
          <p:nvPr/>
        </p:nvSpPr>
        <p:spPr>
          <a:xfrm>
            <a:off x="8321040" y="5705856"/>
            <a:ext cx="164592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SCORE</a:t>
            </a:r>
          </a:p>
        </p:txBody>
      </p:sp>
      <p:sp>
        <p:nvSpPr>
          <p:cNvPr id="9069" name="TextBox 9068"/>
          <p:cNvSpPr txBox="1"/>
          <p:nvPr/>
        </p:nvSpPr>
        <p:spPr>
          <a:xfrm>
            <a:off x="8321040" y="5888736"/>
            <a:ext cx="164592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300" b="1">
                <a:solidFill>
                  <a:srgbClr val="BF9000"/>
                </a:solidFill>
                <a:latin typeface="Calibri"/>
              </a:rPr>
              <a:t>0-100</a:t>
            </a:r>
          </a:p>
        </p:txBody>
      </p:sp>
      <p:sp>
        <p:nvSpPr>
          <p:cNvPr id="9070" name="Right Arrow 9069"/>
          <p:cNvSpPr/>
          <p:nvPr/>
        </p:nvSpPr>
        <p:spPr>
          <a:xfrm>
            <a:off x="8321040" y="5431536"/>
            <a:ext cx="457200" cy="365760"/>
          </a:xfrm>
          <a:prstGeom prst="rightArrow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71" name="Left Arrow 9070"/>
          <p:cNvSpPr/>
          <p:nvPr/>
        </p:nvSpPr>
        <p:spPr>
          <a:xfrm>
            <a:off x="9509760" y="5431536"/>
            <a:ext cx="457200" cy="365760"/>
          </a:xfrm>
          <a:prstGeom prst="leftArrow">
            <a:avLst/>
          </a:prstGeom>
          <a:solidFill>
            <a:srgbClr val="BF9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72" name="Rounded Rectangle 9071"/>
          <p:cNvSpPr/>
          <p:nvPr/>
        </p:nvSpPr>
        <p:spPr>
          <a:xfrm>
            <a:off x="758952" y="7991854"/>
            <a:ext cx="16770096" cy="548640"/>
          </a:xfrm>
          <a:prstGeom prst="roundRect">
            <a:avLst>
              <a:gd name="adj" fmla="val 20000"/>
            </a:avLst>
          </a:prstGeom>
          <a:solidFill>
            <a:srgbClr val="1F3864"/>
          </a:solidFill>
          <a:ln>
            <a:noFill/>
          </a:ln>
          <a:effectLst>
            <a:outerShdw blurRad="101600" dist="25400" dir="5400000" algn="tl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73" name="TextBox 9072"/>
          <p:cNvSpPr txBox="1"/>
          <p:nvPr/>
        </p:nvSpPr>
        <p:spPr>
          <a:xfrm>
            <a:off x="1033271" y="8037575"/>
            <a:ext cx="1828800" cy="4572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2800" b="1">
                <a:solidFill>
                  <a:srgbClr val="BF9000"/>
                </a:solidFill>
                <a:latin typeface="Calibri"/>
              </a:rPr>
              <a:t>11</a:t>
            </a:r>
          </a:p>
        </p:txBody>
      </p:sp>
      <p:sp>
        <p:nvSpPr>
          <p:cNvPr id="9074" name="TextBox 9073"/>
          <p:cNvSpPr txBox="1"/>
          <p:nvPr/>
        </p:nvSpPr>
        <p:spPr>
          <a:xfrm>
            <a:off x="2953512" y="8156445"/>
            <a:ext cx="1997964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Calibri"/>
              </a:rPr>
              <a:t>SEÑALES TOTALES</a:t>
            </a:r>
          </a:p>
        </p:txBody>
      </p:sp>
      <p:sp>
        <p:nvSpPr>
          <p:cNvPr id="9075" name="Rectangle 9074"/>
          <p:cNvSpPr/>
          <p:nvPr/>
        </p:nvSpPr>
        <p:spPr>
          <a:xfrm>
            <a:off x="4946904" y="8083293"/>
            <a:ext cx="9144" cy="36575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76" name="TextBox 9075"/>
          <p:cNvSpPr txBox="1"/>
          <p:nvPr/>
        </p:nvSpPr>
        <p:spPr>
          <a:xfrm>
            <a:off x="5225796" y="8037575"/>
            <a:ext cx="1828800" cy="4572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2800" b="1">
                <a:solidFill>
                  <a:srgbClr val="BF9000"/>
                </a:solidFill>
                <a:latin typeface="Calibri"/>
              </a:rPr>
              <a:t>2</a:t>
            </a:r>
          </a:p>
        </p:txBody>
      </p:sp>
      <p:sp>
        <p:nvSpPr>
          <p:cNvPr id="9077" name="TextBox 9076"/>
          <p:cNvSpPr txBox="1"/>
          <p:nvPr/>
        </p:nvSpPr>
        <p:spPr>
          <a:xfrm>
            <a:off x="7146036" y="8156445"/>
            <a:ext cx="1997964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300" b="1" dirty="0">
                <a:solidFill>
                  <a:srgbClr val="FFFFFF"/>
                </a:solidFill>
                <a:latin typeface="Calibri"/>
              </a:rPr>
              <a:t>PIPELINES INDEPENDIENTES</a:t>
            </a:r>
          </a:p>
        </p:txBody>
      </p:sp>
      <p:sp>
        <p:nvSpPr>
          <p:cNvPr id="9078" name="Rectangle 9077"/>
          <p:cNvSpPr/>
          <p:nvPr/>
        </p:nvSpPr>
        <p:spPr>
          <a:xfrm>
            <a:off x="9139428" y="8083293"/>
            <a:ext cx="9144" cy="36575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79" name="TextBox 9078"/>
          <p:cNvSpPr txBox="1"/>
          <p:nvPr/>
        </p:nvSpPr>
        <p:spPr>
          <a:xfrm>
            <a:off x="9418320" y="8037575"/>
            <a:ext cx="1828800" cy="4572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2800" b="1">
                <a:solidFill>
                  <a:srgbClr val="BF9000"/>
                </a:solidFill>
                <a:latin typeface="Calibri"/>
              </a:rPr>
              <a:t>0-100</a:t>
            </a:r>
          </a:p>
        </p:txBody>
      </p:sp>
      <p:sp>
        <p:nvSpPr>
          <p:cNvPr id="9080" name="TextBox 9079"/>
          <p:cNvSpPr txBox="1"/>
          <p:nvPr/>
        </p:nvSpPr>
        <p:spPr>
          <a:xfrm>
            <a:off x="11338560" y="8156445"/>
            <a:ext cx="1997964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Calibri"/>
              </a:rPr>
              <a:t>SCORE FINAL POR ACTIVO</a:t>
            </a:r>
          </a:p>
        </p:txBody>
      </p:sp>
      <p:sp>
        <p:nvSpPr>
          <p:cNvPr id="9081" name="Rectangle 9080"/>
          <p:cNvSpPr/>
          <p:nvPr/>
        </p:nvSpPr>
        <p:spPr>
          <a:xfrm>
            <a:off x="13331952" y="8083293"/>
            <a:ext cx="9144" cy="36575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82" name="TextBox 9081"/>
          <p:cNvSpPr txBox="1"/>
          <p:nvPr/>
        </p:nvSpPr>
        <p:spPr>
          <a:xfrm>
            <a:off x="13610844" y="8037575"/>
            <a:ext cx="1828800" cy="4572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2800" b="1">
                <a:solidFill>
                  <a:srgbClr val="BF9000"/>
                </a:solidFill>
                <a:latin typeface="Calibri"/>
              </a:rPr>
              <a:t>β</a:t>
            </a:r>
          </a:p>
        </p:txBody>
      </p:sp>
      <p:sp>
        <p:nvSpPr>
          <p:cNvPr id="9083" name="TextBox 9082"/>
          <p:cNvSpPr txBox="1"/>
          <p:nvPr/>
        </p:nvSpPr>
        <p:spPr>
          <a:xfrm>
            <a:off x="15531084" y="8156445"/>
            <a:ext cx="1997964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Calibri"/>
              </a:rPr>
              <a:t>SUAVIZADO BETA</a:t>
            </a:r>
          </a:p>
        </p:txBody>
      </p:sp>
      <p:sp>
        <p:nvSpPr>
          <p:cNvPr id="9084" name="Rounded Rectangle 9083"/>
          <p:cNvSpPr/>
          <p:nvPr/>
        </p:nvSpPr>
        <p:spPr>
          <a:xfrm>
            <a:off x="758952" y="8631936"/>
            <a:ext cx="16770096" cy="292608"/>
          </a:xfrm>
          <a:prstGeom prst="roundRect">
            <a:avLst>
              <a:gd name="adj" fmla="val 20000"/>
            </a:avLst>
          </a:prstGeom>
          <a:solidFill>
            <a:srgbClr val="F7F7F9"/>
          </a:solidFill>
          <a:ln w="6350">
            <a:solidFill>
              <a:srgbClr val="BF9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85" name="TextBox 9084"/>
          <p:cNvSpPr txBox="1"/>
          <p:nvPr/>
        </p:nvSpPr>
        <p:spPr>
          <a:xfrm>
            <a:off x="960120" y="8677655"/>
            <a:ext cx="164592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1F3864"/>
                </a:solidFill>
                <a:latin typeface="Calibri"/>
              </a:rPr>
              <a:t>Cálculo final. </a:t>
            </a:r>
            <a:r>
              <a:rPr sz="1300">
                <a:solidFill>
                  <a:srgbClr val="404040"/>
                </a:solidFill>
                <a:latin typeface="Calibri"/>
              </a:rPr>
              <a:t>Para cada activo, raw = Σ(peso × valor_señal). El raw se suaviza con Beta y produce el score 0-100, mapeado al tier HIGH/MEDIUM/LOW. El usuario puede abrir un dialog con la descomposición completa por activo.</a:t>
            </a:r>
          </a:p>
        </p:txBody>
      </p:sp>
    </p:spTree>
    <p:extLst>
      <p:ext uri="{BB962C8B-B14F-4D97-AF65-F5344CB8AC3E}">
        <p14:creationId xmlns:p14="http://schemas.microsoft.com/office/powerpoint/2010/main" val="4921245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00" name="MS Header Group"/>
          <p:cNvGrpSpPr/>
          <p:nvPr/>
        </p:nvGrpSpPr>
        <p:grpSpPr>
          <a:xfrm>
            <a:off x="282819" y="579094"/>
            <a:ext cx="13786134" cy="1057874"/>
            <a:chOff x="92172" y="275827"/>
            <a:chExt cx="9190756" cy="705249"/>
          </a:xfrm>
        </p:grpSpPr>
        <p:sp>
          <p:nvSpPr>
            <p:cNvPr id="9001" name="MS Title Box"/>
            <p:cNvSpPr>
              <a:spLocks noChangeArrowheads="1"/>
            </p:cNvSpPr>
            <p:nvPr/>
          </p:nvSpPr>
          <p:spPr bwMode="gray">
            <a:xfrm>
              <a:off x="776292" y="404814"/>
              <a:ext cx="8506636" cy="576262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37160" tIns="68580" rIns="137160" bIns="68580" anchor="ctr"/>
            <a:lstStyle/>
            <a:p>
              <a:pPr>
                <a:lnSpc>
                  <a:spcPts val="3150"/>
                </a:lnSpc>
              </a:pPr>
              <a:r>
                <a:rPr lang="es-ES" sz="3000" b="1">
                  <a:solidFill>
                    <a:srgbClr val="002569"/>
                  </a:solidFill>
                  <a:latin typeface="Arial"/>
                </a:rPr>
                <a:t>La solución</a:t>
              </a:r>
            </a:p>
            <a:p>
              <a:r>
                <a:rPr lang="es-ES" sz="2700">
                  <a:solidFill>
                    <a:srgbClr val="E0D399">
                      <a:lumMod val="75000"/>
                    </a:srgbClr>
                  </a:solidFill>
                  <a:latin typeface="Arial"/>
                </a:rPr>
                <a:t>Cuatro pasos del usuario hasta el resultado</a:t>
              </a:r>
            </a:p>
          </p:txBody>
        </p:sp>
        <p:sp>
          <p:nvSpPr>
            <p:cNvPr id="9002" name="MS Number"/>
            <p:cNvSpPr>
              <a:spLocks noChangeArrowheads="1"/>
            </p:cNvSpPr>
            <p:nvPr/>
          </p:nvSpPr>
          <p:spPr bwMode="gray">
            <a:xfrm>
              <a:off x="92172" y="275827"/>
              <a:ext cx="477819" cy="70014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148523" tIns="74261" rIns="148523" bIns="74261">
              <a:spAutoFit/>
            </a:bodyPr>
            <a:lstStyle/>
            <a:p>
              <a:pPr algn="ctr"/>
              <a:r>
                <a:rPr lang="es-ES" sz="5850" b="1" kern="0">
                  <a:solidFill>
                    <a:srgbClr val="002569"/>
                  </a:solidFill>
                  <a:latin typeface="Arial"/>
                </a:rPr>
                <a:t>2</a:t>
              </a:r>
            </a:p>
          </p:txBody>
        </p:sp>
        <p:cxnSp>
          <p:nvCxnSpPr>
            <p:cNvPr id="9003" name="MS Header Bar"/>
            <p:cNvCxnSpPr/>
            <p:nvPr/>
          </p:nvCxnSpPr>
          <p:spPr>
            <a:xfrm>
              <a:off x="570525" y="404814"/>
              <a:ext cx="0" cy="526647"/>
            </a:xfrm>
            <a:prstGeom prst="line">
              <a:avLst/>
            </a:prstGeom>
            <a:ln>
              <a:solidFill>
                <a:schemeClr val="tx2"/>
              </a:solidFill>
            </a:ln>
          </p:spPr>
        </p:cxnSp>
      </p:grpSp>
      <p:sp>
        <p:nvSpPr>
          <p:cNvPr id="9004" name="TextBox 9003"/>
          <p:cNvSpPr txBox="1"/>
          <p:nvPr/>
        </p:nvSpPr>
        <p:spPr>
          <a:xfrm>
            <a:off x="758952" y="2048256"/>
            <a:ext cx="16770096" cy="8412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800" b="1" dirty="0">
                <a:solidFill>
                  <a:srgbClr val="1F3864"/>
                </a:solidFill>
                <a:latin typeface="Calibri"/>
              </a:rPr>
              <a:t>Cuatro pasos del </a:t>
            </a:r>
            <a:r>
              <a:rPr sz="1800" b="1" dirty="0" err="1">
                <a:solidFill>
                  <a:srgbClr val="1F3864"/>
                </a:solidFill>
                <a:latin typeface="Calibri"/>
              </a:rPr>
              <a:t>usuario</a:t>
            </a:r>
            <a:r>
              <a:rPr sz="1800" b="1" dirty="0">
                <a:solidFill>
                  <a:srgbClr val="1F3864"/>
                </a:solidFill>
                <a:latin typeface="Calibri"/>
              </a:rPr>
              <a:t> hasta </a:t>
            </a:r>
            <a:r>
              <a:rPr sz="1800" b="1" dirty="0" err="1">
                <a:solidFill>
                  <a:srgbClr val="1F3864"/>
                </a:solidFill>
                <a:latin typeface="Calibri"/>
              </a:rPr>
              <a:t>el</a:t>
            </a:r>
            <a:r>
              <a:rPr sz="1800" b="1" dirty="0">
                <a:solidFill>
                  <a:srgbClr val="1F3864"/>
                </a:solidFill>
                <a:latin typeface="Calibri"/>
              </a:rPr>
              <a:t> </a:t>
            </a:r>
            <a:r>
              <a:rPr sz="1800" b="1" dirty="0" err="1">
                <a:solidFill>
                  <a:srgbClr val="1F3864"/>
                </a:solidFill>
                <a:latin typeface="Calibri"/>
              </a:rPr>
              <a:t>resultado</a:t>
            </a:r>
            <a:r>
              <a:rPr sz="1800" b="1" dirty="0">
                <a:solidFill>
                  <a:srgbClr val="1F3864"/>
                </a:solidFill>
                <a:latin typeface="Calibri"/>
              </a:rPr>
              <a:t>.</a:t>
            </a:r>
            <a:r>
              <a:rPr sz="1800" dirty="0">
                <a:solidFill>
                  <a:srgbClr val="404040"/>
                </a:solidFill>
                <a:latin typeface="Calibri"/>
              </a:rPr>
              <a:t> </a:t>
            </a:r>
            <a:r>
              <a:rPr sz="1800" dirty="0" err="1">
                <a:solidFill>
                  <a:srgbClr val="404040"/>
                </a:solidFill>
                <a:latin typeface="Calibri"/>
              </a:rPr>
              <a:t>el</a:t>
            </a:r>
            <a:r>
              <a:rPr sz="1800" dirty="0">
                <a:solidFill>
                  <a:srgbClr val="404040"/>
                </a:solidFill>
                <a:latin typeface="Calibri"/>
              </a:rPr>
              <a:t> </a:t>
            </a:r>
            <a:r>
              <a:rPr sz="1800" dirty="0" err="1">
                <a:solidFill>
                  <a:srgbClr val="404040"/>
                </a:solidFill>
                <a:latin typeface="Calibri"/>
              </a:rPr>
              <a:t>analista</a:t>
            </a:r>
            <a:r>
              <a:rPr sz="1800" dirty="0">
                <a:solidFill>
                  <a:srgbClr val="404040"/>
                </a:solidFill>
                <a:latin typeface="Calibri"/>
              </a:rPr>
              <a:t> </a:t>
            </a:r>
            <a:r>
              <a:rPr sz="1800" dirty="0" err="1">
                <a:solidFill>
                  <a:srgbClr val="404040"/>
                </a:solidFill>
                <a:latin typeface="Calibri"/>
              </a:rPr>
              <a:t>selecciona</a:t>
            </a:r>
            <a:r>
              <a:rPr sz="1800" dirty="0">
                <a:solidFill>
                  <a:srgbClr val="404040"/>
                </a:solidFill>
                <a:latin typeface="Calibri"/>
              </a:rPr>
              <a:t> </a:t>
            </a:r>
            <a:r>
              <a:rPr sz="1800" dirty="0" err="1">
                <a:solidFill>
                  <a:srgbClr val="404040"/>
                </a:solidFill>
                <a:latin typeface="Calibri"/>
              </a:rPr>
              <a:t>el</a:t>
            </a:r>
            <a:r>
              <a:rPr sz="1800" dirty="0">
                <a:solidFill>
                  <a:srgbClr val="404040"/>
                </a:solidFill>
                <a:latin typeface="Calibri"/>
              </a:rPr>
              <a:t> modo, introduce </a:t>
            </a:r>
            <a:r>
              <a:rPr sz="1800" dirty="0" err="1">
                <a:solidFill>
                  <a:srgbClr val="404040"/>
                </a:solidFill>
                <a:latin typeface="Calibri"/>
              </a:rPr>
              <a:t>el</a:t>
            </a:r>
            <a:r>
              <a:rPr sz="1800" dirty="0">
                <a:solidFill>
                  <a:srgbClr val="404040"/>
                </a:solidFill>
                <a:latin typeface="Calibri"/>
              </a:rPr>
              <a:t> input, </a:t>
            </a:r>
            <a:r>
              <a:rPr sz="1800" dirty="0" err="1">
                <a:solidFill>
                  <a:srgbClr val="404040"/>
                </a:solidFill>
                <a:latin typeface="Calibri"/>
              </a:rPr>
              <a:t>observa</a:t>
            </a:r>
            <a:r>
              <a:rPr sz="1800" dirty="0">
                <a:solidFill>
                  <a:srgbClr val="404040"/>
                </a:solidFill>
                <a:latin typeface="Calibri"/>
              </a:rPr>
              <a:t> </a:t>
            </a:r>
            <a:r>
              <a:rPr sz="1800" dirty="0" err="1">
                <a:solidFill>
                  <a:srgbClr val="404040"/>
                </a:solidFill>
                <a:latin typeface="Calibri"/>
              </a:rPr>
              <a:t>el</a:t>
            </a:r>
            <a:r>
              <a:rPr sz="1800" dirty="0">
                <a:solidFill>
                  <a:srgbClr val="404040"/>
                </a:solidFill>
                <a:latin typeface="Calibri"/>
              </a:rPr>
              <a:t> streaming SSE </a:t>
            </a:r>
            <a:r>
              <a:rPr sz="1800" dirty="0" err="1">
                <a:solidFill>
                  <a:srgbClr val="404040"/>
                </a:solidFill>
                <a:latin typeface="Calibri"/>
              </a:rPr>
              <a:t>en</a:t>
            </a:r>
            <a:r>
              <a:rPr sz="1800" dirty="0">
                <a:solidFill>
                  <a:srgbClr val="404040"/>
                </a:solidFill>
                <a:latin typeface="Calibri"/>
              </a:rPr>
              <a:t> </a:t>
            </a:r>
            <a:r>
              <a:rPr sz="1800" dirty="0" err="1">
                <a:solidFill>
                  <a:srgbClr val="404040"/>
                </a:solidFill>
                <a:latin typeface="Calibri"/>
              </a:rPr>
              <a:t>tiempo</a:t>
            </a:r>
            <a:r>
              <a:rPr sz="1800" dirty="0">
                <a:solidFill>
                  <a:srgbClr val="404040"/>
                </a:solidFill>
                <a:latin typeface="Calibri"/>
              </a:rPr>
              <a:t> real y </a:t>
            </a:r>
            <a:r>
              <a:rPr sz="1800" dirty="0" err="1">
                <a:solidFill>
                  <a:srgbClr val="404040"/>
                </a:solidFill>
                <a:latin typeface="Calibri"/>
              </a:rPr>
              <a:t>obtiene</a:t>
            </a:r>
            <a:r>
              <a:rPr sz="1800" dirty="0">
                <a:solidFill>
                  <a:srgbClr val="404040"/>
                </a:solidFill>
                <a:latin typeface="Calibri"/>
              </a:rPr>
              <a:t> </a:t>
            </a:r>
            <a:r>
              <a:rPr sz="1800" dirty="0" err="1">
                <a:solidFill>
                  <a:srgbClr val="404040"/>
                </a:solidFill>
                <a:latin typeface="Calibri"/>
              </a:rPr>
              <a:t>el</a:t>
            </a:r>
            <a:r>
              <a:rPr sz="1800" dirty="0">
                <a:solidFill>
                  <a:srgbClr val="404040"/>
                </a:solidFill>
                <a:latin typeface="Calibri"/>
              </a:rPr>
              <a:t> dashboard </a:t>
            </a:r>
            <a:r>
              <a:rPr sz="1800" dirty="0" err="1">
                <a:solidFill>
                  <a:srgbClr val="404040"/>
                </a:solidFill>
                <a:latin typeface="Calibri"/>
              </a:rPr>
              <a:t>cartográfico</a:t>
            </a:r>
            <a:r>
              <a:rPr sz="1800" dirty="0">
                <a:solidFill>
                  <a:srgbClr val="404040"/>
                </a:solidFill>
                <a:latin typeface="Calibri"/>
              </a:rPr>
              <a:t> </a:t>
            </a:r>
            <a:r>
              <a:rPr sz="1800" dirty="0" err="1">
                <a:solidFill>
                  <a:srgbClr val="404040"/>
                </a:solidFill>
                <a:latin typeface="Calibri"/>
              </a:rPr>
              <a:t>interactivo</a:t>
            </a:r>
            <a:r>
              <a:rPr sz="1800" dirty="0">
                <a:solidFill>
                  <a:srgbClr val="404040"/>
                </a:solidFill>
                <a:latin typeface="Calibri"/>
              </a:rPr>
              <a:t> con </a:t>
            </a:r>
            <a:r>
              <a:rPr sz="1800" dirty="0" err="1">
                <a:solidFill>
                  <a:srgbClr val="404040"/>
                </a:solidFill>
                <a:latin typeface="Calibri"/>
              </a:rPr>
              <a:t>los</a:t>
            </a:r>
            <a:r>
              <a:rPr sz="1800" dirty="0">
                <a:solidFill>
                  <a:srgbClr val="404040"/>
                </a:solidFill>
                <a:latin typeface="Calibri"/>
              </a:rPr>
              <a:t> </a:t>
            </a:r>
            <a:r>
              <a:rPr sz="1800" dirty="0" err="1">
                <a:solidFill>
                  <a:srgbClr val="404040"/>
                </a:solidFill>
                <a:latin typeface="Calibri"/>
              </a:rPr>
              <a:t>activos</a:t>
            </a:r>
            <a:r>
              <a:rPr sz="1800" dirty="0">
                <a:solidFill>
                  <a:srgbClr val="404040"/>
                </a:solidFill>
                <a:latin typeface="Calibri"/>
              </a:rPr>
              <a:t> </a:t>
            </a:r>
            <a:r>
              <a:rPr sz="1800" dirty="0" err="1">
                <a:solidFill>
                  <a:srgbClr val="404040"/>
                </a:solidFill>
                <a:latin typeface="Calibri"/>
              </a:rPr>
              <a:t>puntuados</a:t>
            </a:r>
            <a:r>
              <a:rPr sz="1800" dirty="0">
                <a:solidFill>
                  <a:srgbClr val="404040"/>
                </a:solidFill>
                <a:latin typeface="Calibri"/>
              </a:rPr>
              <a:t>.</a:t>
            </a:r>
          </a:p>
        </p:txBody>
      </p:sp>
      <p:sp>
        <p:nvSpPr>
          <p:cNvPr id="9005" name="Hexagon 9004"/>
          <p:cNvSpPr/>
          <p:nvPr/>
        </p:nvSpPr>
        <p:spPr>
          <a:xfrm>
            <a:off x="2055114" y="2916935"/>
            <a:ext cx="1097280" cy="1097280"/>
          </a:xfrm>
          <a:prstGeom prst="hexagon">
            <a:avLst/>
          </a:prstGeom>
          <a:solidFill>
            <a:srgbClr val="BF9000"/>
          </a:solidFill>
          <a:ln>
            <a:noFill/>
          </a:ln>
          <a:effectLst>
            <a:outerShdw blurRad="76200" dist="12700" dir="54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06" name="Chevron 9005"/>
          <p:cNvSpPr/>
          <p:nvPr/>
        </p:nvSpPr>
        <p:spPr>
          <a:xfrm>
            <a:off x="3060953" y="2990088"/>
            <a:ext cx="502920" cy="950976"/>
          </a:xfrm>
          <a:prstGeom prst="chevron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07" name="Oval 9006"/>
          <p:cNvSpPr/>
          <p:nvPr/>
        </p:nvSpPr>
        <p:spPr>
          <a:xfrm>
            <a:off x="2320290" y="3182111"/>
            <a:ext cx="566928" cy="5669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08" name="Left Arrow 9007"/>
          <p:cNvSpPr/>
          <p:nvPr/>
        </p:nvSpPr>
        <p:spPr>
          <a:xfrm rot="18900000">
            <a:off x="2457450" y="3401567"/>
            <a:ext cx="292608" cy="128016"/>
          </a:xfrm>
          <a:prstGeom prst="leftArrow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09" name="TextBox 9008"/>
          <p:cNvSpPr txBox="1"/>
          <p:nvPr/>
        </p:nvSpPr>
        <p:spPr>
          <a:xfrm>
            <a:off x="941832" y="4197096"/>
            <a:ext cx="3826763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300" b="1">
                <a:solidFill>
                  <a:srgbClr val="BF9000"/>
                </a:solidFill>
                <a:latin typeface="Calibri"/>
              </a:rPr>
              <a:t>PASO 01</a:t>
            </a:r>
          </a:p>
        </p:txBody>
      </p:sp>
      <p:sp>
        <p:nvSpPr>
          <p:cNvPr id="9010" name="TextBox 9009"/>
          <p:cNvSpPr txBox="1"/>
          <p:nvPr/>
        </p:nvSpPr>
        <p:spPr>
          <a:xfrm>
            <a:off x="941832" y="4471416"/>
            <a:ext cx="3826763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1">
                <a:solidFill>
                  <a:srgbClr val="1F3864"/>
                </a:solidFill>
                <a:latin typeface="Calibri"/>
              </a:rPr>
              <a:t>Selección de modo</a:t>
            </a:r>
          </a:p>
        </p:txBody>
      </p:sp>
      <p:sp>
        <p:nvSpPr>
          <p:cNvPr id="9011" name="Rounded Rectangle 9010"/>
          <p:cNvSpPr/>
          <p:nvPr/>
        </p:nvSpPr>
        <p:spPr>
          <a:xfrm>
            <a:off x="850392" y="4928616"/>
            <a:ext cx="4009644" cy="3657600"/>
          </a:xfrm>
          <a:prstGeom prst="roundRect">
            <a:avLst>
              <a:gd name="adj" fmla="val 4000"/>
            </a:avLst>
          </a:prstGeom>
          <a:solidFill>
            <a:srgbClr val="F7F7F9"/>
          </a:solidFill>
          <a:ln w="9525">
            <a:solidFill>
              <a:srgbClr val="BF9000"/>
            </a:solidFill>
          </a:ln>
          <a:effectLst>
            <a:outerShdw blurRad="76200" dist="12700" dir="5400000" algn="t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12" name="TextBox 9011"/>
          <p:cNvSpPr txBox="1"/>
          <p:nvPr/>
        </p:nvSpPr>
        <p:spPr>
          <a:xfrm>
            <a:off x="1033271" y="5157216"/>
            <a:ext cx="3643884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dirty="0">
                <a:solidFill>
                  <a:srgbClr val="404040"/>
                </a:solidFill>
                <a:latin typeface="Calibri"/>
              </a:rPr>
              <a:t>La </a:t>
            </a:r>
            <a:r>
              <a:rPr sz="1300" dirty="0" err="1">
                <a:solidFill>
                  <a:srgbClr val="404040"/>
                </a:solidFill>
                <a:latin typeface="Calibri"/>
              </a:rPr>
              <a:t>pantalla</a:t>
            </a:r>
            <a:r>
              <a:rPr sz="1300" dirty="0">
                <a:solidFill>
                  <a:srgbClr val="404040"/>
                </a:solidFill>
                <a:latin typeface="Calibri"/>
              </a:rPr>
              <a:t> de </a:t>
            </a:r>
            <a:r>
              <a:rPr sz="1300" dirty="0" err="1">
                <a:solidFill>
                  <a:srgbClr val="404040"/>
                </a:solidFill>
                <a:latin typeface="Calibri"/>
              </a:rPr>
              <a:t>arranque</a:t>
            </a:r>
            <a:r>
              <a:rPr sz="1300" dirty="0">
                <a:solidFill>
                  <a:srgbClr val="404040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404040"/>
                </a:solidFill>
                <a:latin typeface="Calibri"/>
              </a:rPr>
              <a:t>ofrece</a:t>
            </a:r>
            <a:r>
              <a:rPr sz="1300" dirty="0">
                <a:solidFill>
                  <a:srgbClr val="404040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404040"/>
                </a:solidFill>
                <a:latin typeface="Calibri"/>
              </a:rPr>
              <a:t>una</a:t>
            </a:r>
            <a:r>
              <a:rPr sz="1300" dirty="0">
                <a:solidFill>
                  <a:srgbClr val="404040"/>
                </a:solidFill>
                <a:latin typeface="Calibri"/>
              </a:rPr>
              <a:t> sola search bar con </a:t>
            </a:r>
            <a:r>
              <a:rPr sz="1300" dirty="0" err="1">
                <a:solidFill>
                  <a:srgbClr val="404040"/>
                </a:solidFill>
                <a:latin typeface="Calibri"/>
              </a:rPr>
              <a:t>tres</a:t>
            </a:r>
            <a:r>
              <a:rPr sz="1300" dirty="0">
                <a:solidFill>
                  <a:srgbClr val="404040"/>
                </a:solidFill>
                <a:latin typeface="Calibri"/>
              </a:rPr>
              <a:t> affordances: </a:t>
            </a:r>
            <a:r>
              <a:rPr sz="1300" dirty="0" err="1">
                <a:solidFill>
                  <a:srgbClr val="404040"/>
                </a:solidFill>
                <a:latin typeface="Calibri"/>
              </a:rPr>
              <a:t>el</a:t>
            </a:r>
            <a:r>
              <a:rPr sz="1300" dirty="0">
                <a:solidFill>
                  <a:srgbClr val="404040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404040"/>
                </a:solidFill>
                <a:latin typeface="Calibri"/>
              </a:rPr>
              <a:t>botón</a:t>
            </a:r>
            <a:r>
              <a:rPr sz="1300" dirty="0">
                <a:solidFill>
                  <a:srgbClr val="404040"/>
                </a:solidFill>
                <a:latin typeface="Calibri"/>
              </a:rPr>
              <a:t> para </a:t>
            </a:r>
            <a:r>
              <a:rPr sz="1300" dirty="0" err="1">
                <a:solidFill>
                  <a:srgbClr val="404040"/>
                </a:solidFill>
                <a:latin typeface="Calibri"/>
              </a:rPr>
              <a:t>adjuntar</a:t>
            </a:r>
            <a:r>
              <a:rPr sz="1300" dirty="0">
                <a:solidFill>
                  <a:srgbClr val="404040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404040"/>
                </a:solidFill>
                <a:latin typeface="Calibri"/>
              </a:rPr>
              <a:t>documento</a:t>
            </a:r>
            <a:r>
              <a:rPr sz="1300" dirty="0">
                <a:solidFill>
                  <a:srgbClr val="404040"/>
                </a:solidFill>
                <a:latin typeface="Calibri"/>
              </a:rPr>
              <a:t>, </a:t>
            </a:r>
            <a:r>
              <a:rPr sz="1300" dirty="0" err="1">
                <a:solidFill>
                  <a:srgbClr val="404040"/>
                </a:solidFill>
                <a:latin typeface="Calibri"/>
              </a:rPr>
              <a:t>el</a:t>
            </a:r>
            <a:r>
              <a:rPr sz="1300" dirty="0">
                <a:solidFill>
                  <a:srgbClr val="404040"/>
                </a:solidFill>
                <a:latin typeface="Calibri"/>
              </a:rPr>
              <a:t> toggle de </a:t>
            </a:r>
            <a:r>
              <a:rPr sz="1300" dirty="0" err="1">
                <a:solidFill>
                  <a:srgbClr val="404040"/>
                </a:solidFill>
                <a:latin typeface="Calibri"/>
              </a:rPr>
              <a:t>agente</a:t>
            </a:r>
            <a:r>
              <a:rPr sz="1300" dirty="0">
                <a:solidFill>
                  <a:srgbClr val="404040"/>
                </a:solidFill>
                <a:latin typeface="Calibri"/>
              </a:rPr>
              <a:t> (</a:t>
            </a:r>
            <a:r>
              <a:rPr sz="1300" dirty="0" err="1">
                <a:solidFill>
                  <a:srgbClr val="404040"/>
                </a:solidFill>
                <a:latin typeface="Calibri"/>
              </a:rPr>
              <a:t>icono</a:t>
            </a:r>
            <a:r>
              <a:rPr sz="1300" dirty="0">
                <a:solidFill>
                  <a:srgbClr val="404040"/>
                </a:solidFill>
                <a:latin typeface="Calibri"/>
              </a:rPr>
              <a:t> robot) y </a:t>
            </a:r>
            <a:r>
              <a:rPr sz="1300" dirty="0" err="1">
                <a:solidFill>
                  <a:srgbClr val="404040"/>
                </a:solidFill>
                <a:latin typeface="Calibri"/>
              </a:rPr>
              <a:t>el</a:t>
            </a:r>
            <a:r>
              <a:rPr sz="1300" dirty="0">
                <a:solidFill>
                  <a:srgbClr val="404040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404040"/>
                </a:solidFill>
                <a:latin typeface="Calibri"/>
              </a:rPr>
              <a:t>botón</a:t>
            </a:r>
            <a:r>
              <a:rPr sz="1300" dirty="0">
                <a:solidFill>
                  <a:srgbClr val="404040"/>
                </a:solidFill>
                <a:latin typeface="Calibri"/>
              </a:rPr>
              <a:t> de </a:t>
            </a:r>
            <a:r>
              <a:rPr sz="1300" dirty="0" err="1">
                <a:solidFill>
                  <a:srgbClr val="404040"/>
                </a:solidFill>
                <a:latin typeface="Calibri"/>
              </a:rPr>
              <a:t>envío</a:t>
            </a:r>
            <a:r>
              <a:rPr sz="1300" dirty="0">
                <a:solidFill>
                  <a:srgbClr val="404040"/>
                </a:solidFill>
                <a:latin typeface="Calibri"/>
              </a:rPr>
              <a:t>.</a:t>
            </a:r>
          </a:p>
        </p:txBody>
      </p:sp>
      <p:sp>
        <p:nvSpPr>
          <p:cNvPr id="9013" name="TextBox 9012"/>
          <p:cNvSpPr txBox="1"/>
          <p:nvPr/>
        </p:nvSpPr>
        <p:spPr>
          <a:xfrm>
            <a:off x="1033271" y="6437376"/>
            <a:ext cx="3643884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BF9000"/>
                </a:solidFill>
                <a:latin typeface="Calibri"/>
              </a:rPr>
              <a:t>ACCIONES</a:t>
            </a:r>
          </a:p>
        </p:txBody>
      </p:sp>
      <p:sp>
        <p:nvSpPr>
          <p:cNvPr id="9014" name="TextBox 9013"/>
          <p:cNvSpPr txBox="1"/>
          <p:nvPr/>
        </p:nvSpPr>
        <p:spPr>
          <a:xfrm>
            <a:off x="1033271" y="6711696"/>
            <a:ext cx="364388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1F3864"/>
                </a:solidFill>
                <a:latin typeface="Calibri"/>
              </a:rPr>
              <a:t>•  </a:t>
            </a:r>
            <a:r>
              <a:rPr sz="1300">
                <a:solidFill>
                  <a:srgbClr val="404040"/>
                </a:solidFill>
                <a:latin typeface="Calibri"/>
              </a:rPr>
              <a:t>Search bar central</a:t>
            </a:r>
          </a:p>
        </p:txBody>
      </p:sp>
      <p:sp>
        <p:nvSpPr>
          <p:cNvPr id="9015" name="TextBox 9014"/>
          <p:cNvSpPr txBox="1"/>
          <p:nvPr/>
        </p:nvSpPr>
        <p:spPr>
          <a:xfrm>
            <a:off x="1033271" y="7004303"/>
            <a:ext cx="364388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1F3864"/>
                </a:solidFill>
                <a:latin typeface="Calibri"/>
              </a:rPr>
              <a:t>•  </a:t>
            </a:r>
            <a:r>
              <a:rPr sz="1300">
                <a:solidFill>
                  <a:srgbClr val="404040"/>
                </a:solidFill>
                <a:latin typeface="Calibri"/>
              </a:rPr>
              <a:t>Toggle de agente IA</a:t>
            </a:r>
          </a:p>
        </p:txBody>
      </p:sp>
      <p:sp>
        <p:nvSpPr>
          <p:cNvPr id="9016" name="TextBox 9015"/>
          <p:cNvSpPr txBox="1"/>
          <p:nvPr/>
        </p:nvSpPr>
        <p:spPr>
          <a:xfrm>
            <a:off x="1033271" y="7296912"/>
            <a:ext cx="364388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1F3864"/>
                </a:solidFill>
                <a:latin typeface="Calibri"/>
              </a:rPr>
              <a:t>•  </a:t>
            </a:r>
            <a:r>
              <a:rPr sz="1300">
                <a:solidFill>
                  <a:srgbClr val="404040"/>
                </a:solidFill>
                <a:latin typeface="Calibri"/>
              </a:rPr>
              <a:t>Botón adjuntar archivo</a:t>
            </a:r>
          </a:p>
        </p:txBody>
      </p:sp>
      <p:sp>
        <p:nvSpPr>
          <p:cNvPr id="9017" name="Rectangle 9016"/>
          <p:cNvSpPr/>
          <p:nvPr/>
        </p:nvSpPr>
        <p:spPr>
          <a:xfrm>
            <a:off x="1033271" y="7854693"/>
            <a:ext cx="3643884" cy="4572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18" name="TextBox 9017"/>
          <p:cNvSpPr txBox="1"/>
          <p:nvPr/>
        </p:nvSpPr>
        <p:spPr>
          <a:xfrm>
            <a:off x="1033271" y="7946133"/>
            <a:ext cx="3643884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595959"/>
                </a:solidFill>
                <a:latin typeface="Calibri"/>
              </a:rPr>
              <a:t>INPUT</a:t>
            </a:r>
          </a:p>
        </p:txBody>
      </p:sp>
      <p:sp>
        <p:nvSpPr>
          <p:cNvPr id="9019" name="TextBox 9018"/>
          <p:cNvSpPr txBox="1"/>
          <p:nvPr/>
        </p:nvSpPr>
        <p:spPr>
          <a:xfrm>
            <a:off x="1033271" y="8174733"/>
            <a:ext cx="364388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1F3864"/>
                </a:solidFill>
                <a:latin typeface="Consolas"/>
              </a:rPr>
              <a:t>NINGUNO</a:t>
            </a:r>
          </a:p>
        </p:txBody>
      </p:sp>
      <p:sp>
        <p:nvSpPr>
          <p:cNvPr id="9020" name="Hexagon 9019"/>
          <p:cNvSpPr/>
          <p:nvPr/>
        </p:nvSpPr>
        <p:spPr>
          <a:xfrm>
            <a:off x="6247638" y="2916935"/>
            <a:ext cx="1097280" cy="1097280"/>
          </a:xfrm>
          <a:prstGeom prst="hexagon">
            <a:avLst/>
          </a:prstGeom>
          <a:solidFill>
            <a:srgbClr val="BF9000"/>
          </a:solidFill>
          <a:ln>
            <a:noFill/>
          </a:ln>
          <a:effectLst>
            <a:outerShdw blurRad="76200" dist="12700" dir="54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21" name="Chevron 9020"/>
          <p:cNvSpPr/>
          <p:nvPr/>
        </p:nvSpPr>
        <p:spPr>
          <a:xfrm>
            <a:off x="7253477" y="2990088"/>
            <a:ext cx="502920" cy="950976"/>
          </a:xfrm>
          <a:prstGeom prst="chevron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22" name="Oval 9021"/>
          <p:cNvSpPr/>
          <p:nvPr/>
        </p:nvSpPr>
        <p:spPr>
          <a:xfrm>
            <a:off x="6512814" y="3182111"/>
            <a:ext cx="566928" cy="5669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23" name="Rounded Rectangle 9022"/>
          <p:cNvSpPr/>
          <p:nvPr/>
        </p:nvSpPr>
        <p:spPr>
          <a:xfrm>
            <a:off x="6631686" y="3374135"/>
            <a:ext cx="329184" cy="182880"/>
          </a:xfrm>
          <a:prstGeom prst="roundRect">
            <a:avLst>
              <a:gd name="adj" fmla="val 20000"/>
            </a:avLst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24" name="Oval 9023"/>
          <p:cNvSpPr/>
          <p:nvPr/>
        </p:nvSpPr>
        <p:spPr>
          <a:xfrm>
            <a:off x="6673748" y="3438144"/>
            <a:ext cx="25603" cy="2560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25" name="Oval 9024"/>
          <p:cNvSpPr/>
          <p:nvPr/>
        </p:nvSpPr>
        <p:spPr>
          <a:xfrm>
            <a:off x="6746900" y="3438144"/>
            <a:ext cx="25603" cy="2560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26" name="Oval 9025"/>
          <p:cNvSpPr/>
          <p:nvPr/>
        </p:nvSpPr>
        <p:spPr>
          <a:xfrm>
            <a:off x="6820052" y="3438144"/>
            <a:ext cx="25603" cy="2560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27" name="Oval 9026"/>
          <p:cNvSpPr/>
          <p:nvPr/>
        </p:nvSpPr>
        <p:spPr>
          <a:xfrm>
            <a:off x="6893204" y="3438144"/>
            <a:ext cx="25603" cy="2560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28" name="TextBox 9027"/>
          <p:cNvSpPr txBox="1"/>
          <p:nvPr/>
        </p:nvSpPr>
        <p:spPr>
          <a:xfrm>
            <a:off x="5134356" y="4197096"/>
            <a:ext cx="3826763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300" b="1">
                <a:solidFill>
                  <a:srgbClr val="BF9000"/>
                </a:solidFill>
                <a:latin typeface="Calibri"/>
              </a:rPr>
              <a:t>PASO 02</a:t>
            </a:r>
          </a:p>
        </p:txBody>
      </p:sp>
      <p:sp>
        <p:nvSpPr>
          <p:cNvPr id="9029" name="TextBox 9028"/>
          <p:cNvSpPr txBox="1"/>
          <p:nvPr/>
        </p:nvSpPr>
        <p:spPr>
          <a:xfrm>
            <a:off x="5134356" y="4471416"/>
            <a:ext cx="3826763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1">
                <a:solidFill>
                  <a:srgbClr val="1F3864"/>
                </a:solidFill>
                <a:latin typeface="Calibri"/>
              </a:rPr>
              <a:t>Introducción del input</a:t>
            </a:r>
          </a:p>
        </p:txBody>
      </p:sp>
      <p:sp>
        <p:nvSpPr>
          <p:cNvPr id="9030" name="Rounded Rectangle 9029"/>
          <p:cNvSpPr/>
          <p:nvPr/>
        </p:nvSpPr>
        <p:spPr>
          <a:xfrm>
            <a:off x="5042916" y="4928616"/>
            <a:ext cx="4009644" cy="3657600"/>
          </a:xfrm>
          <a:prstGeom prst="roundRect">
            <a:avLst>
              <a:gd name="adj" fmla="val 4000"/>
            </a:avLst>
          </a:prstGeom>
          <a:solidFill>
            <a:srgbClr val="F7F7F9"/>
          </a:solidFill>
          <a:ln w="9525">
            <a:solidFill>
              <a:srgbClr val="BF9000"/>
            </a:solidFill>
          </a:ln>
          <a:effectLst>
            <a:outerShdw blurRad="76200" dist="12700" dir="5400000" algn="t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31" name="TextBox 9030"/>
          <p:cNvSpPr txBox="1"/>
          <p:nvPr/>
        </p:nvSpPr>
        <p:spPr>
          <a:xfrm>
            <a:off x="5225796" y="5157216"/>
            <a:ext cx="3643884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dirty="0">
                <a:solidFill>
                  <a:srgbClr val="404040"/>
                </a:solidFill>
                <a:latin typeface="Calibri"/>
              </a:rPr>
              <a:t>El modo se </a:t>
            </a:r>
            <a:r>
              <a:rPr sz="1300" dirty="0" err="1">
                <a:solidFill>
                  <a:srgbClr val="404040"/>
                </a:solidFill>
                <a:latin typeface="Calibri"/>
              </a:rPr>
              <a:t>infiere</a:t>
            </a:r>
            <a:r>
              <a:rPr sz="1300" dirty="0">
                <a:solidFill>
                  <a:srgbClr val="404040"/>
                </a:solidFill>
                <a:latin typeface="Calibri"/>
              </a:rPr>
              <a:t> del input — no hay un selector </a:t>
            </a:r>
            <a:r>
              <a:rPr sz="1300" dirty="0" err="1">
                <a:solidFill>
                  <a:srgbClr val="404040"/>
                </a:solidFill>
                <a:latin typeface="Calibri"/>
              </a:rPr>
              <a:t>explícito</a:t>
            </a:r>
            <a:r>
              <a:rPr sz="1300" dirty="0">
                <a:solidFill>
                  <a:srgbClr val="404040"/>
                </a:solidFill>
                <a:latin typeface="Calibri"/>
              </a:rPr>
              <a:t> de pipeline. La UI se </a:t>
            </a:r>
            <a:r>
              <a:rPr sz="1300" dirty="0" err="1">
                <a:solidFill>
                  <a:srgbClr val="404040"/>
                </a:solidFill>
                <a:latin typeface="Calibri"/>
              </a:rPr>
              <a:t>adapta</a:t>
            </a:r>
            <a:r>
              <a:rPr sz="1300" dirty="0">
                <a:solidFill>
                  <a:srgbClr val="404040"/>
                </a:solidFill>
                <a:latin typeface="Calibri"/>
              </a:rPr>
              <a:t> sin pasos </a:t>
            </a:r>
            <a:r>
              <a:rPr sz="1300" dirty="0" err="1">
                <a:solidFill>
                  <a:srgbClr val="404040"/>
                </a:solidFill>
                <a:latin typeface="Calibri"/>
              </a:rPr>
              <a:t>intermedios</a:t>
            </a:r>
            <a:r>
              <a:rPr sz="1300" dirty="0">
                <a:solidFill>
                  <a:srgbClr val="404040"/>
                </a:solidFill>
                <a:latin typeface="Calibri"/>
              </a:rPr>
              <a:t> para </a:t>
            </a:r>
            <a:r>
              <a:rPr sz="1300" dirty="0" err="1">
                <a:solidFill>
                  <a:srgbClr val="404040"/>
                </a:solidFill>
                <a:latin typeface="Calibri"/>
              </a:rPr>
              <a:t>reducir</a:t>
            </a:r>
            <a:r>
              <a:rPr sz="1300" dirty="0">
                <a:solidFill>
                  <a:srgbClr val="404040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404040"/>
                </a:solidFill>
                <a:latin typeface="Calibri"/>
              </a:rPr>
              <a:t>fricción</a:t>
            </a:r>
            <a:r>
              <a:rPr sz="1300" dirty="0">
                <a:solidFill>
                  <a:srgbClr val="404040"/>
                </a:solidFill>
                <a:latin typeface="Calibri"/>
              </a:rPr>
              <a:t>.</a:t>
            </a:r>
          </a:p>
        </p:txBody>
      </p:sp>
      <p:sp>
        <p:nvSpPr>
          <p:cNvPr id="9032" name="TextBox 9031"/>
          <p:cNvSpPr txBox="1"/>
          <p:nvPr/>
        </p:nvSpPr>
        <p:spPr>
          <a:xfrm>
            <a:off x="5225796" y="6437376"/>
            <a:ext cx="3643884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BF9000"/>
                </a:solidFill>
                <a:latin typeface="Calibri"/>
              </a:rPr>
              <a:t>ACCIONES</a:t>
            </a:r>
          </a:p>
        </p:txBody>
      </p:sp>
      <p:sp>
        <p:nvSpPr>
          <p:cNvPr id="9033" name="TextBox 9032"/>
          <p:cNvSpPr txBox="1"/>
          <p:nvPr/>
        </p:nvSpPr>
        <p:spPr>
          <a:xfrm>
            <a:off x="5225796" y="6711696"/>
            <a:ext cx="364388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1F3864"/>
                </a:solidFill>
                <a:latin typeface="Calibri"/>
              </a:rPr>
              <a:t>•  </a:t>
            </a:r>
            <a:r>
              <a:rPr sz="1300">
                <a:solidFill>
                  <a:srgbClr val="404040"/>
                </a:solidFill>
                <a:latin typeface="Calibri"/>
              </a:rPr>
              <a:t>Texto libre → Pipeline Maps</a:t>
            </a:r>
          </a:p>
        </p:txBody>
      </p:sp>
      <p:sp>
        <p:nvSpPr>
          <p:cNvPr id="9034" name="TextBox 9033"/>
          <p:cNvSpPr txBox="1"/>
          <p:nvPr/>
        </p:nvSpPr>
        <p:spPr>
          <a:xfrm>
            <a:off x="5225796" y="7004303"/>
            <a:ext cx="364388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1F3864"/>
                </a:solidFill>
                <a:latin typeface="Calibri"/>
              </a:rPr>
              <a:t>•  </a:t>
            </a:r>
            <a:r>
              <a:rPr sz="1300">
                <a:solidFill>
                  <a:srgbClr val="404040"/>
                </a:solidFill>
                <a:latin typeface="Calibri"/>
              </a:rPr>
              <a:t>Toggle ON → Agente IA</a:t>
            </a:r>
          </a:p>
        </p:txBody>
      </p:sp>
      <p:sp>
        <p:nvSpPr>
          <p:cNvPr id="9035" name="TextBox 9034"/>
          <p:cNvSpPr txBox="1"/>
          <p:nvPr/>
        </p:nvSpPr>
        <p:spPr>
          <a:xfrm>
            <a:off x="5225796" y="7296912"/>
            <a:ext cx="364388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1F3864"/>
                </a:solidFill>
                <a:latin typeface="Calibri"/>
              </a:rPr>
              <a:t>•  </a:t>
            </a:r>
            <a:r>
              <a:rPr sz="1300">
                <a:solidFill>
                  <a:srgbClr val="404040"/>
                </a:solidFill>
                <a:latin typeface="Calibri"/>
              </a:rPr>
              <a:t>Documento → Pipeline Doc.</a:t>
            </a:r>
          </a:p>
        </p:txBody>
      </p:sp>
      <p:sp>
        <p:nvSpPr>
          <p:cNvPr id="9036" name="Rectangle 9035"/>
          <p:cNvSpPr/>
          <p:nvPr/>
        </p:nvSpPr>
        <p:spPr>
          <a:xfrm>
            <a:off x="5225796" y="7854693"/>
            <a:ext cx="3643884" cy="4572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37" name="TextBox 9036"/>
          <p:cNvSpPr txBox="1"/>
          <p:nvPr/>
        </p:nvSpPr>
        <p:spPr>
          <a:xfrm>
            <a:off x="5225796" y="7946133"/>
            <a:ext cx="3643884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595959"/>
                </a:solidFill>
                <a:latin typeface="Calibri"/>
              </a:rPr>
              <a:t>EVENTO SSE</a:t>
            </a:r>
          </a:p>
        </p:txBody>
      </p:sp>
      <p:sp>
        <p:nvSpPr>
          <p:cNvPr id="9038" name="TextBox 9037"/>
          <p:cNvSpPr txBox="1"/>
          <p:nvPr/>
        </p:nvSpPr>
        <p:spPr>
          <a:xfrm>
            <a:off x="5225796" y="8174733"/>
            <a:ext cx="364388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1F3864"/>
                </a:solidFill>
                <a:latin typeface="Consolas"/>
              </a:rPr>
              <a:t>job_started</a:t>
            </a:r>
          </a:p>
        </p:txBody>
      </p:sp>
      <p:sp>
        <p:nvSpPr>
          <p:cNvPr id="9039" name="Hexagon 9038"/>
          <p:cNvSpPr/>
          <p:nvPr/>
        </p:nvSpPr>
        <p:spPr>
          <a:xfrm>
            <a:off x="10440162" y="2916935"/>
            <a:ext cx="1097280" cy="1097280"/>
          </a:xfrm>
          <a:prstGeom prst="hexagon">
            <a:avLst/>
          </a:prstGeom>
          <a:solidFill>
            <a:srgbClr val="BF9000"/>
          </a:solidFill>
          <a:ln>
            <a:noFill/>
          </a:ln>
          <a:effectLst>
            <a:outerShdw blurRad="76200" dist="12700" dir="54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40" name="Chevron 9039"/>
          <p:cNvSpPr/>
          <p:nvPr/>
        </p:nvSpPr>
        <p:spPr>
          <a:xfrm>
            <a:off x="11446002" y="2990088"/>
            <a:ext cx="502920" cy="950976"/>
          </a:xfrm>
          <a:prstGeom prst="chevron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41" name="Oval 9040"/>
          <p:cNvSpPr/>
          <p:nvPr/>
        </p:nvSpPr>
        <p:spPr>
          <a:xfrm>
            <a:off x="10705338" y="3182111"/>
            <a:ext cx="566928" cy="5669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42" name="Rectangle 9041"/>
          <p:cNvSpPr/>
          <p:nvPr/>
        </p:nvSpPr>
        <p:spPr>
          <a:xfrm>
            <a:off x="10853470" y="3410711"/>
            <a:ext cx="32918" cy="10972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43" name="Rectangle 9042"/>
          <p:cNvSpPr/>
          <p:nvPr/>
        </p:nvSpPr>
        <p:spPr>
          <a:xfrm>
            <a:off x="10926622" y="3374135"/>
            <a:ext cx="32918" cy="1828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44" name="Rectangle 9043"/>
          <p:cNvSpPr/>
          <p:nvPr/>
        </p:nvSpPr>
        <p:spPr>
          <a:xfrm>
            <a:off x="10999774" y="3396994"/>
            <a:ext cx="32918" cy="1371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45" name="Rectangle 9044"/>
          <p:cNvSpPr/>
          <p:nvPr/>
        </p:nvSpPr>
        <p:spPr>
          <a:xfrm>
            <a:off x="11072926" y="3364991"/>
            <a:ext cx="32918" cy="20116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46" name="TextBox 9045"/>
          <p:cNvSpPr txBox="1"/>
          <p:nvPr/>
        </p:nvSpPr>
        <p:spPr>
          <a:xfrm>
            <a:off x="9326880" y="4197096"/>
            <a:ext cx="3826763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300" b="1">
                <a:solidFill>
                  <a:srgbClr val="BF9000"/>
                </a:solidFill>
                <a:latin typeface="Calibri"/>
              </a:rPr>
              <a:t>PASO 03</a:t>
            </a:r>
          </a:p>
        </p:txBody>
      </p:sp>
      <p:sp>
        <p:nvSpPr>
          <p:cNvPr id="9047" name="TextBox 9046"/>
          <p:cNvSpPr txBox="1"/>
          <p:nvPr/>
        </p:nvSpPr>
        <p:spPr>
          <a:xfrm>
            <a:off x="9326880" y="4471416"/>
            <a:ext cx="3826763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1">
                <a:solidFill>
                  <a:srgbClr val="1F3864"/>
                </a:solidFill>
                <a:latin typeface="Calibri"/>
              </a:rPr>
              <a:t>Streaming SSE</a:t>
            </a:r>
          </a:p>
        </p:txBody>
      </p:sp>
      <p:sp>
        <p:nvSpPr>
          <p:cNvPr id="9048" name="Rounded Rectangle 9047"/>
          <p:cNvSpPr/>
          <p:nvPr/>
        </p:nvSpPr>
        <p:spPr>
          <a:xfrm>
            <a:off x="9235440" y="4928616"/>
            <a:ext cx="4009644" cy="3657600"/>
          </a:xfrm>
          <a:prstGeom prst="roundRect">
            <a:avLst>
              <a:gd name="adj" fmla="val 4000"/>
            </a:avLst>
          </a:prstGeom>
          <a:solidFill>
            <a:srgbClr val="F7F7F9"/>
          </a:solidFill>
          <a:ln w="9525">
            <a:solidFill>
              <a:srgbClr val="BF9000"/>
            </a:solidFill>
          </a:ln>
          <a:effectLst>
            <a:outerShdw blurRad="76200" dist="12700" dir="5400000" algn="t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49" name="TextBox 9048"/>
          <p:cNvSpPr txBox="1"/>
          <p:nvPr/>
        </p:nvSpPr>
        <p:spPr>
          <a:xfrm>
            <a:off x="9418320" y="5157216"/>
            <a:ext cx="3643884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>
                <a:solidFill>
                  <a:srgbClr val="404040"/>
                </a:solidFill>
                <a:latin typeface="Calibri"/>
              </a:rPr>
              <a:t>Cada paso del pipeline actualiza el componente en tiempo real. El porcentaje global se calcula como progresión sobre los 5 nodos del flujo.</a:t>
            </a:r>
          </a:p>
        </p:txBody>
      </p:sp>
      <p:sp>
        <p:nvSpPr>
          <p:cNvPr id="9050" name="TextBox 9049"/>
          <p:cNvSpPr txBox="1"/>
          <p:nvPr/>
        </p:nvSpPr>
        <p:spPr>
          <a:xfrm>
            <a:off x="9418320" y="6437376"/>
            <a:ext cx="3643884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BF9000"/>
                </a:solidFill>
                <a:latin typeface="Calibri"/>
              </a:rPr>
              <a:t>ACCIONES</a:t>
            </a:r>
          </a:p>
        </p:txBody>
      </p:sp>
      <p:sp>
        <p:nvSpPr>
          <p:cNvPr id="9051" name="TextBox 9050"/>
          <p:cNvSpPr txBox="1"/>
          <p:nvPr/>
        </p:nvSpPr>
        <p:spPr>
          <a:xfrm>
            <a:off x="9418320" y="6711696"/>
            <a:ext cx="364388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1F3864"/>
                </a:solidFill>
                <a:latin typeface="Calibri"/>
              </a:rPr>
              <a:t>•  </a:t>
            </a:r>
            <a:r>
              <a:rPr sz="1300">
                <a:solidFill>
                  <a:srgbClr val="404040"/>
                </a:solidFill>
                <a:latin typeface="Calibri"/>
              </a:rPr>
              <a:t>Empresa identificada</a:t>
            </a:r>
          </a:p>
        </p:txBody>
      </p:sp>
      <p:sp>
        <p:nvSpPr>
          <p:cNvPr id="9052" name="TextBox 9051"/>
          <p:cNvSpPr txBox="1"/>
          <p:nvPr/>
        </p:nvSpPr>
        <p:spPr>
          <a:xfrm>
            <a:off x="9418320" y="7004303"/>
            <a:ext cx="364388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1F3864"/>
                </a:solidFill>
                <a:latin typeface="Calibri"/>
              </a:rPr>
              <a:t>•  </a:t>
            </a:r>
            <a:r>
              <a:rPr sz="1300">
                <a:solidFill>
                  <a:srgbClr val="404040"/>
                </a:solidFill>
                <a:latin typeface="Calibri"/>
              </a:rPr>
              <a:t>Búsqueda completada</a:t>
            </a:r>
          </a:p>
        </p:txBody>
      </p:sp>
      <p:sp>
        <p:nvSpPr>
          <p:cNvPr id="9053" name="TextBox 9052"/>
          <p:cNvSpPr txBox="1"/>
          <p:nvPr/>
        </p:nvSpPr>
        <p:spPr>
          <a:xfrm>
            <a:off x="9418320" y="7296912"/>
            <a:ext cx="364388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1F3864"/>
                </a:solidFill>
                <a:latin typeface="Calibri"/>
              </a:rPr>
              <a:t>•  </a:t>
            </a:r>
            <a:r>
              <a:rPr sz="1300">
                <a:solidFill>
                  <a:srgbClr val="404040"/>
                </a:solidFill>
                <a:latin typeface="Calibri"/>
              </a:rPr>
              <a:t>Score calculado</a:t>
            </a:r>
          </a:p>
        </p:txBody>
      </p:sp>
      <p:sp>
        <p:nvSpPr>
          <p:cNvPr id="9054" name="Rectangle 9053"/>
          <p:cNvSpPr/>
          <p:nvPr/>
        </p:nvSpPr>
        <p:spPr>
          <a:xfrm>
            <a:off x="9418320" y="7854693"/>
            <a:ext cx="3643884" cy="4572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55" name="TextBox 9054"/>
          <p:cNvSpPr txBox="1"/>
          <p:nvPr/>
        </p:nvSpPr>
        <p:spPr>
          <a:xfrm>
            <a:off x="9418320" y="7946133"/>
            <a:ext cx="3643884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595959"/>
                </a:solidFill>
                <a:latin typeface="Calibri"/>
              </a:rPr>
              <a:t>EVENTO SSE</a:t>
            </a:r>
          </a:p>
        </p:txBody>
      </p:sp>
      <p:sp>
        <p:nvSpPr>
          <p:cNvPr id="9056" name="TextBox 9055"/>
          <p:cNvSpPr txBox="1"/>
          <p:nvPr/>
        </p:nvSpPr>
        <p:spPr>
          <a:xfrm>
            <a:off x="9418320" y="8174733"/>
            <a:ext cx="364388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1F3864"/>
                </a:solidFill>
                <a:latin typeface="Consolas"/>
              </a:rPr>
              <a:t>step_start / step_complete</a:t>
            </a:r>
          </a:p>
        </p:txBody>
      </p:sp>
      <p:sp>
        <p:nvSpPr>
          <p:cNvPr id="9057" name="Hexagon 9056"/>
          <p:cNvSpPr/>
          <p:nvPr/>
        </p:nvSpPr>
        <p:spPr>
          <a:xfrm>
            <a:off x="14632685" y="2916935"/>
            <a:ext cx="1097280" cy="1097280"/>
          </a:xfrm>
          <a:prstGeom prst="hexagon">
            <a:avLst/>
          </a:prstGeom>
          <a:solidFill>
            <a:srgbClr val="BF9000"/>
          </a:solidFill>
          <a:ln>
            <a:noFill/>
          </a:ln>
          <a:effectLst>
            <a:outerShdw blurRad="76200" dist="12700" dir="54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58" name="Chevron 9057"/>
          <p:cNvSpPr/>
          <p:nvPr/>
        </p:nvSpPr>
        <p:spPr>
          <a:xfrm>
            <a:off x="15638525" y="2990088"/>
            <a:ext cx="502920" cy="950976"/>
          </a:xfrm>
          <a:prstGeom prst="chevron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59" name="Oval 9058"/>
          <p:cNvSpPr/>
          <p:nvPr/>
        </p:nvSpPr>
        <p:spPr>
          <a:xfrm>
            <a:off x="14897862" y="3182111"/>
            <a:ext cx="566928" cy="5669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60" name="Oval 9059"/>
          <p:cNvSpPr/>
          <p:nvPr/>
        </p:nvSpPr>
        <p:spPr>
          <a:xfrm>
            <a:off x="15103601" y="3319272"/>
            <a:ext cx="155448" cy="155448"/>
          </a:xfrm>
          <a:prstGeom prst="ellipse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61" name="Isosceles Triangle 9060"/>
          <p:cNvSpPr/>
          <p:nvPr/>
        </p:nvSpPr>
        <p:spPr>
          <a:xfrm rot="10800000">
            <a:off x="15126462" y="3438144"/>
            <a:ext cx="109728" cy="146304"/>
          </a:xfrm>
          <a:prstGeom prst="triangle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62" name="Oval 9061"/>
          <p:cNvSpPr/>
          <p:nvPr/>
        </p:nvSpPr>
        <p:spPr>
          <a:xfrm>
            <a:off x="15158466" y="3369563"/>
            <a:ext cx="45720" cy="457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63" name="TextBox 9062"/>
          <p:cNvSpPr txBox="1"/>
          <p:nvPr/>
        </p:nvSpPr>
        <p:spPr>
          <a:xfrm>
            <a:off x="13519403" y="4197096"/>
            <a:ext cx="3826763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300" b="1">
                <a:solidFill>
                  <a:srgbClr val="BF9000"/>
                </a:solidFill>
                <a:latin typeface="Calibri"/>
              </a:rPr>
              <a:t>PASO 04</a:t>
            </a:r>
          </a:p>
        </p:txBody>
      </p:sp>
      <p:sp>
        <p:nvSpPr>
          <p:cNvPr id="9064" name="TextBox 9063"/>
          <p:cNvSpPr txBox="1"/>
          <p:nvPr/>
        </p:nvSpPr>
        <p:spPr>
          <a:xfrm>
            <a:off x="13519403" y="4471416"/>
            <a:ext cx="3826763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1">
                <a:solidFill>
                  <a:srgbClr val="1F3864"/>
                </a:solidFill>
                <a:latin typeface="Calibri"/>
              </a:rPr>
              <a:t>Mapa interactivo</a:t>
            </a:r>
          </a:p>
        </p:txBody>
      </p:sp>
      <p:sp>
        <p:nvSpPr>
          <p:cNvPr id="9065" name="Rounded Rectangle 9064"/>
          <p:cNvSpPr/>
          <p:nvPr/>
        </p:nvSpPr>
        <p:spPr>
          <a:xfrm>
            <a:off x="13427963" y="4928616"/>
            <a:ext cx="4009644" cy="3657600"/>
          </a:xfrm>
          <a:prstGeom prst="roundRect">
            <a:avLst>
              <a:gd name="adj" fmla="val 4000"/>
            </a:avLst>
          </a:prstGeom>
          <a:solidFill>
            <a:srgbClr val="F7F7F9"/>
          </a:solidFill>
          <a:ln w="9525">
            <a:solidFill>
              <a:srgbClr val="BF9000"/>
            </a:solidFill>
          </a:ln>
          <a:effectLst>
            <a:outerShdw blurRad="76200" dist="12700" dir="5400000" algn="t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66" name="TextBox 9065"/>
          <p:cNvSpPr txBox="1"/>
          <p:nvPr/>
        </p:nvSpPr>
        <p:spPr>
          <a:xfrm>
            <a:off x="13610844" y="5157216"/>
            <a:ext cx="3643884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>
                <a:solidFill>
                  <a:srgbClr val="404040"/>
                </a:solidFill>
                <a:latin typeface="Calibri"/>
              </a:rPr>
              <a:t>Al recibir complete, el frontend transiciona al dashboard cartográfico. Sidebar con activos ordenados, filtros y exportación CSV/Excel.</a:t>
            </a:r>
          </a:p>
        </p:txBody>
      </p:sp>
      <p:sp>
        <p:nvSpPr>
          <p:cNvPr id="9067" name="TextBox 9066"/>
          <p:cNvSpPr txBox="1"/>
          <p:nvPr/>
        </p:nvSpPr>
        <p:spPr>
          <a:xfrm>
            <a:off x="13610844" y="6437376"/>
            <a:ext cx="3643884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BF9000"/>
                </a:solidFill>
                <a:latin typeface="Calibri"/>
              </a:rPr>
              <a:t>ACCIONES</a:t>
            </a:r>
          </a:p>
        </p:txBody>
      </p:sp>
      <p:sp>
        <p:nvSpPr>
          <p:cNvPr id="9068" name="TextBox 9067"/>
          <p:cNvSpPr txBox="1"/>
          <p:nvPr/>
        </p:nvSpPr>
        <p:spPr>
          <a:xfrm>
            <a:off x="13610844" y="6711696"/>
            <a:ext cx="364388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1F3864"/>
                </a:solidFill>
                <a:latin typeface="Calibri"/>
              </a:rPr>
              <a:t>•  </a:t>
            </a:r>
            <a:r>
              <a:rPr sz="1300">
                <a:solidFill>
                  <a:srgbClr val="404040"/>
                </a:solidFill>
                <a:latin typeface="Calibri"/>
              </a:rPr>
              <a:t>Mapa Leaflet con clusters</a:t>
            </a:r>
          </a:p>
        </p:txBody>
      </p:sp>
      <p:sp>
        <p:nvSpPr>
          <p:cNvPr id="9069" name="TextBox 9068"/>
          <p:cNvSpPr txBox="1"/>
          <p:nvPr/>
        </p:nvSpPr>
        <p:spPr>
          <a:xfrm>
            <a:off x="13610844" y="7004303"/>
            <a:ext cx="364388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1F3864"/>
                </a:solidFill>
                <a:latin typeface="Calibri"/>
              </a:rPr>
              <a:t>•  </a:t>
            </a:r>
            <a:r>
              <a:rPr sz="1300">
                <a:solidFill>
                  <a:srgbClr val="404040"/>
                </a:solidFill>
                <a:latin typeface="Calibri"/>
              </a:rPr>
              <a:t>Sidebar filtrable</a:t>
            </a:r>
          </a:p>
        </p:txBody>
      </p:sp>
      <p:sp>
        <p:nvSpPr>
          <p:cNvPr id="9070" name="TextBox 9069"/>
          <p:cNvSpPr txBox="1"/>
          <p:nvPr/>
        </p:nvSpPr>
        <p:spPr>
          <a:xfrm>
            <a:off x="13610844" y="7296912"/>
            <a:ext cx="364388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1F3864"/>
                </a:solidFill>
                <a:latin typeface="Calibri"/>
              </a:rPr>
              <a:t>•  </a:t>
            </a:r>
            <a:r>
              <a:rPr sz="1300">
                <a:solidFill>
                  <a:srgbClr val="404040"/>
                </a:solidFill>
                <a:latin typeface="Calibri"/>
              </a:rPr>
              <a:t>Export CSV/Excel</a:t>
            </a:r>
          </a:p>
        </p:txBody>
      </p:sp>
      <p:sp>
        <p:nvSpPr>
          <p:cNvPr id="9071" name="Rectangle 9070"/>
          <p:cNvSpPr/>
          <p:nvPr/>
        </p:nvSpPr>
        <p:spPr>
          <a:xfrm>
            <a:off x="13610844" y="7854693"/>
            <a:ext cx="3643884" cy="4572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72" name="TextBox 9071"/>
          <p:cNvSpPr txBox="1"/>
          <p:nvPr/>
        </p:nvSpPr>
        <p:spPr>
          <a:xfrm>
            <a:off x="13610844" y="7946133"/>
            <a:ext cx="3643884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595959"/>
                </a:solidFill>
                <a:latin typeface="Calibri"/>
              </a:rPr>
              <a:t>EVENTO SSE</a:t>
            </a:r>
          </a:p>
        </p:txBody>
      </p:sp>
      <p:sp>
        <p:nvSpPr>
          <p:cNvPr id="9073" name="TextBox 9072"/>
          <p:cNvSpPr txBox="1"/>
          <p:nvPr/>
        </p:nvSpPr>
        <p:spPr>
          <a:xfrm>
            <a:off x="13610844" y="8174733"/>
            <a:ext cx="364388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1F3864"/>
                </a:solidFill>
                <a:latin typeface="Consolas"/>
              </a:rPr>
              <a:t>complete</a:t>
            </a:r>
          </a:p>
        </p:txBody>
      </p:sp>
    </p:spTree>
    <p:extLst>
      <p:ext uri="{BB962C8B-B14F-4D97-AF65-F5344CB8AC3E}">
        <p14:creationId xmlns:p14="http://schemas.microsoft.com/office/powerpoint/2010/main" val="9654963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26D4868-8701-1324-CB15-FBA257066D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6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255256"/>
            <a:ext cx="18288000" cy="9729788"/>
          </a:xfrm>
          <a:prstGeom prst="rect">
            <a:avLst/>
          </a:prstGeom>
        </p:spPr>
      </p:pic>
      <p:graphicFrame>
        <p:nvGraphicFramePr>
          <p:cNvPr id="6" name="Object 5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4369" y="3848"/>
          <a:ext cx="3176" cy="31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270" imgH="270" progId="TCLayout.ActiveDocument.1">
                  <p:embed/>
                </p:oleObj>
              </mc:Choice>
              <mc:Fallback>
                <p:oleObj name="think-cell Slide" r:id="rId5" imgW="270" imgH="270" progId="TCLayout.ActiveDocument.1">
                  <p:embed/>
                  <p:pic>
                    <p:nvPicPr>
                      <p:cNvPr id="6" name="Object 5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369" y="3848"/>
                        <a:ext cx="3176" cy="317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" name="TextBox 23">
            <a:extLst>
              <a:ext uri="{FF2B5EF4-FFF2-40B4-BE49-F238E27FC236}">
                <a16:creationId xmlns:a16="http://schemas.microsoft.com/office/drawing/2014/main" id="{25FFD7D5-7622-4CE1-9525-56F18FF62B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1327" y="812469"/>
            <a:ext cx="6823923" cy="901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60895" tIns="80445" rIns="160895" bIns="80445" anchor="t">
            <a:spAutoFit/>
          </a:bodyPr>
          <a:lstStyle>
            <a:defPPr>
              <a:defRPr lang="es-E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defRPr/>
            </a:pPr>
            <a:r>
              <a:rPr lang="es-ES" sz="4800" b="1" noProof="0">
                <a:solidFill>
                  <a:srgbClr val="FFFFFF"/>
                </a:solidFill>
                <a:latin typeface="+mj-lt"/>
                <a:cs typeface="Arial"/>
                <a:sym typeface="Arial"/>
              </a:rPr>
              <a:t>Índice</a:t>
            </a:r>
            <a:endParaRPr lang="es-ES" sz="4800" b="1" noProof="0">
              <a:solidFill>
                <a:srgbClr val="FFFFFF"/>
              </a:solidFill>
              <a:latin typeface="+mj-lt"/>
              <a:cs typeface="Arial"/>
            </a:endParaRPr>
          </a:p>
        </p:txBody>
      </p:sp>
      <p:grpSp>
        <p:nvGrpSpPr>
          <p:cNvPr id="2000" name="IdxGroup0"/>
          <p:cNvGrpSpPr/>
          <p:nvPr/>
        </p:nvGrpSpPr>
        <p:grpSpPr>
          <a:xfrm>
            <a:off x="2047897" y="2536436"/>
            <a:ext cx="8604329" cy="571050"/>
            <a:chOff x="969531" y="947475"/>
            <a:chExt cx="5736219" cy="380700"/>
          </a:xfrm>
        </p:grpSpPr>
        <p:sp>
          <p:nvSpPr>
            <p:cNvPr id="2001" name="IdxNum0"/>
            <p:cNvSpPr txBox="1"/>
            <p:nvPr/>
          </p:nvSpPr>
          <p:spPr>
            <a:xfrm>
              <a:off x="969531" y="947475"/>
              <a:ext cx="564600" cy="38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688" tIns="118688" rIns="118688" bIns="118688" anchor="ctr" anchorCtr="0">
              <a:noAutofit/>
            </a:bodyPr>
            <a:lstStyle/>
            <a:p>
              <a:pPr>
                <a:buClr>
                  <a:srgbClr val="000000"/>
                </a:buClr>
                <a:buSzPts val="1900"/>
              </a:pPr>
              <a:r>
                <a:rPr lang="es-ES" sz="2850" b="1">
                  <a:solidFill>
                    <a:schemeClr val="bg2">
                      <a:lumMod val="60000"/>
                      <a:lumOff val="40000"/>
                    </a:schemeClr>
                  </a:solidFill>
                  <a:latin typeface="+mj-lt"/>
                  <a:ea typeface="Lato Black"/>
                  <a:cs typeface="Lato Black"/>
                  <a:sym typeface="Lato Black"/>
                </a:rPr>
                <a:t>01</a:t>
              </a:r>
            </a:p>
          </p:txBody>
        </p:sp>
        <p:sp>
          <p:nvSpPr>
            <p:cNvPr id="2002" name="IdxTitle0"/>
            <p:cNvSpPr txBox="1"/>
            <p:nvPr/>
          </p:nvSpPr>
          <p:spPr>
            <a:xfrm>
              <a:off x="1708650" y="947475"/>
              <a:ext cx="4997100" cy="38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688" tIns="118688" rIns="118688" bIns="118688" anchor="ctr" anchorCtr="0">
              <a:noAutofit/>
            </a:bodyPr>
            <a:lstStyle/>
            <a:p>
              <a:r>
                <a:rPr lang="es-ES" sz="2400" b="1">
                  <a:solidFill>
                    <a:schemeClr val="bg2">
                      <a:lumMod val="60000"/>
                      <a:lumOff val="40000"/>
                    </a:schemeClr>
                  </a:solidFill>
                  <a:latin typeface="+mj-lt"/>
                  <a:ea typeface="Lato Black"/>
                  <a:cs typeface="Lato Black"/>
                  <a:sym typeface="Lato Black"/>
                </a:rPr>
                <a:t>Contexto y oportunidad</a:t>
              </a:r>
            </a:p>
          </p:txBody>
        </p:sp>
        <p:cxnSp>
          <p:nvCxnSpPr>
            <p:cNvPr id="2003" name="IdxBar0"/>
            <p:cNvCxnSpPr/>
            <p:nvPr/>
          </p:nvCxnSpPr>
          <p:spPr>
            <a:xfrm>
              <a:off x="1515900" y="952425"/>
              <a:ext cx="0" cy="370800"/>
            </a:xfrm>
            <a:prstGeom prst="straightConnector1">
              <a:avLst/>
            </a:prstGeom>
            <a:noFill/>
            <a:ln w="28575" cap="flat" cmpd="sng">
              <a:solidFill>
                <a:schemeClr val="bg2">
                  <a:lumMod val="60000"/>
                  <a:lumOff val="4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010" name="IdxGroup1"/>
          <p:cNvGrpSpPr/>
          <p:nvPr/>
        </p:nvGrpSpPr>
        <p:grpSpPr>
          <a:xfrm>
            <a:off x="2047897" y="3171436"/>
            <a:ext cx="8604329" cy="571050"/>
            <a:chOff x="969531" y="947475"/>
            <a:chExt cx="5736219" cy="380700"/>
          </a:xfrm>
        </p:grpSpPr>
        <p:sp>
          <p:nvSpPr>
            <p:cNvPr id="2011" name="IdxNum1"/>
            <p:cNvSpPr txBox="1"/>
            <p:nvPr/>
          </p:nvSpPr>
          <p:spPr>
            <a:xfrm>
              <a:off x="969531" y="947475"/>
              <a:ext cx="564600" cy="38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688" tIns="118688" rIns="118688" bIns="118688" anchor="ctr" anchorCtr="0">
              <a:noAutofit/>
            </a:bodyPr>
            <a:lstStyle/>
            <a:p>
              <a:pPr>
                <a:buClr>
                  <a:srgbClr val="000000"/>
                </a:buClr>
                <a:buSzPts val="1900"/>
              </a:pPr>
              <a:r>
                <a:rPr lang="es-ES" sz="2850" b="1">
                  <a:solidFill>
                    <a:schemeClr val="bg2">
                      <a:lumMod val="60000"/>
                      <a:lumOff val="40000"/>
                    </a:schemeClr>
                  </a:solidFill>
                  <a:latin typeface="+mj-lt"/>
                  <a:ea typeface="Lato Black"/>
                  <a:cs typeface="Lato Black"/>
                  <a:sym typeface="Lato Black"/>
                </a:rPr>
                <a:t>02</a:t>
              </a:r>
            </a:p>
          </p:txBody>
        </p:sp>
        <p:sp>
          <p:nvSpPr>
            <p:cNvPr id="2012" name="IdxTitle1"/>
            <p:cNvSpPr txBox="1"/>
            <p:nvPr/>
          </p:nvSpPr>
          <p:spPr>
            <a:xfrm>
              <a:off x="1708650" y="947475"/>
              <a:ext cx="4997100" cy="38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688" tIns="118688" rIns="118688" bIns="118688" anchor="ctr" anchorCtr="0">
              <a:noAutofit/>
            </a:bodyPr>
            <a:lstStyle/>
            <a:p>
              <a:r>
                <a:rPr lang="es-ES" sz="2400" b="1">
                  <a:solidFill>
                    <a:schemeClr val="bg2">
                      <a:lumMod val="60000"/>
                      <a:lumOff val="40000"/>
                    </a:schemeClr>
                  </a:solidFill>
                  <a:latin typeface="+mj-lt"/>
                  <a:ea typeface="Lato Black"/>
                  <a:cs typeface="Lato Black"/>
                  <a:sym typeface="Lato Black"/>
                </a:rPr>
                <a:t>La solución</a:t>
              </a:r>
            </a:p>
          </p:txBody>
        </p:sp>
        <p:cxnSp>
          <p:nvCxnSpPr>
            <p:cNvPr id="2013" name="IdxBar1"/>
            <p:cNvCxnSpPr/>
            <p:nvPr/>
          </p:nvCxnSpPr>
          <p:spPr>
            <a:xfrm>
              <a:off x="1515900" y="952425"/>
              <a:ext cx="0" cy="370800"/>
            </a:xfrm>
            <a:prstGeom prst="straightConnector1">
              <a:avLst/>
            </a:prstGeom>
            <a:noFill/>
            <a:ln w="28575" cap="flat" cmpd="sng">
              <a:solidFill>
                <a:schemeClr val="bg2">
                  <a:lumMod val="60000"/>
                  <a:lumOff val="4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020" name="IdxGroup2"/>
          <p:cNvGrpSpPr/>
          <p:nvPr/>
        </p:nvGrpSpPr>
        <p:grpSpPr>
          <a:xfrm>
            <a:off x="2047897" y="3806436"/>
            <a:ext cx="8604329" cy="571050"/>
            <a:chOff x="969531" y="947475"/>
            <a:chExt cx="5736219" cy="380700"/>
          </a:xfrm>
        </p:grpSpPr>
        <p:sp>
          <p:nvSpPr>
            <p:cNvPr id="2021" name="IdxNum2"/>
            <p:cNvSpPr txBox="1"/>
            <p:nvPr/>
          </p:nvSpPr>
          <p:spPr>
            <a:xfrm>
              <a:off x="969531" y="947475"/>
              <a:ext cx="564600" cy="38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688" tIns="118688" rIns="118688" bIns="118688" anchor="ctr" anchorCtr="0">
              <a:noAutofit/>
            </a:bodyPr>
            <a:lstStyle/>
            <a:p>
              <a:pPr>
                <a:buClr>
                  <a:srgbClr val="000000"/>
                </a:buClr>
                <a:buSzPts val="1900"/>
              </a:pPr>
              <a:r>
                <a:rPr lang="es-ES" sz="2850" b="1">
                  <a:solidFill>
                    <a:schemeClr val="bg1"/>
                  </a:solidFill>
                  <a:latin typeface="+mj-lt"/>
                  <a:ea typeface="Lato Black"/>
                  <a:cs typeface="Lato Black"/>
                  <a:sym typeface="Lato Black"/>
                </a:rPr>
                <a:t>03</a:t>
              </a:r>
            </a:p>
          </p:txBody>
        </p:sp>
        <p:sp>
          <p:nvSpPr>
            <p:cNvPr id="2022" name="IdxTitle2"/>
            <p:cNvSpPr txBox="1"/>
            <p:nvPr/>
          </p:nvSpPr>
          <p:spPr>
            <a:xfrm>
              <a:off x="1708650" y="947475"/>
              <a:ext cx="4997100" cy="38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688" tIns="118688" rIns="118688" bIns="118688" anchor="ctr" anchorCtr="0">
              <a:noAutofit/>
            </a:bodyPr>
            <a:lstStyle/>
            <a:p>
              <a:r>
                <a:rPr lang="es-ES" sz="2400" b="1">
                  <a:solidFill>
                    <a:schemeClr val="bg1"/>
                  </a:solidFill>
                  <a:latin typeface="+mj-lt"/>
                  <a:ea typeface="Lato Black"/>
                  <a:cs typeface="Lato Black"/>
                  <a:sym typeface="Lato Black"/>
                </a:rPr>
                <a:t>Arquitectura técnica</a:t>
              </a:r>
            </a:p>
          </p:txBody>
        </p:sp>
        <p:cxnSp>
          <p:nvCxnSpPr>
            <p:cNvPr id="2023" name="IdxBar2"/>
            <p:cNvCxnSpPr/>
            <p:nvPr/>
          </p:nvCxnSpPr>
          <p:spPr>
            <a:xfrm>
              <a:off x="1515900" y="952425"/>
              <a:ext cx="0" cy="370800"/>
            </a:xfrm>
            <a:prstGeom prst="straightConnector1">
              <a:avLst/>
            </a:prstGeom>
            <a:noFill/>
            <a:ln w="28575" cap="flat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030" name="IdxGroup3"/>
          <p:cNvGrpSpPr/>
          <p:nvPr/>
        </p:nvGrpSpPr>
        <p:grpSpPr>
          <a:xfrm>
            <a:off x="2047897" y="4441436"/>
            <a:ext cx="8604329" cy="571050"/>
            <a:chOff x="969531" y="947475"/>
            <a:chExt cx="5736219" cy="380700"/>
          </a:xfrm>
        </p:grpSpPr>
        <p:sp>
          <p:nvSpPr>
            <p:cNvPr id="2031" name="IdxNum3"/>
            <p:cNvSpPr txBox="1"/>
            <p:nvPr/>
          </p:nvSpPr>
          <p:spPr>
            <a:xfrm>
              <a:off x="969531" y="947475"/>
              <a:ext cx="564600" cy="38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688" tIns="118688" rIns="118688" bIns="118688" anchor="ctr" anchorCtr="0">
              <a:noAutofit/>
            </a:bodyPr>
            <a:lstStyle/>
            <a:p>
              <a:pPr>
                <a:buClr>
                  <a:srgbClr val="000000"/>
                </a:buClr>
                <a:buSzPts val="1900"/>
              </a:pPr>
              <a:r>
                <a:rPr lang="es-ES" sz="2850" b="1">
                  <a:solidFill>
                    <a:schemeClr val="bg2">
                      <a:lumMod val="60000"/>
                      <a:lumOff val="40000"/>
                    </a:schemeClr>
                  </a:solidFill>
                  <a:latin typeface="+mj-lt"/>
                  <a:ea typeface="Lato Black"/>
                  <a:cs typeface="Lato Black"/>
                  <a:sym typeface="Lato Black"/>
                </a:rPr>
                <a:t>04</a:t>
              </a:r>
            </a:p>
          </p:txBody>
        </p:sp>
        <p:sp>
          <p:nvSpPr>
            <p:cNvPr id="2032" name="IdxTitle3"/>
            <p:cNvSpPr txBox="1"/>
            <p:nvPr/>
          </p:nvSpPr>
          <p:spPr>
            <a:xfrm>
              <a:off x="1708650" y="947475"/>
              <a:ext cx="4997100" cy="38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688" tIns="118688" rIns="118688" bIns="118688" anchor="ctr" anchorCtr="0">
              <a:noAutofit/>
            </a:bodyPr>
            <a:lstStyle/>
            <a:p>
              <a:r>
                <a:rPr lang="es-ES" sz="2400" b="1">
                  <a:solidFill>
                    <a:schemeClr val="bg2">
                      <a:lumMod val="60000"/>
                      <a:lumOff val="40000"/>
                    </a:schemeClr>
                  </a:solidFill>
                  <a:latin typeface="+mj-lt"/>
                  <a:ea typeface="Lato Black"/>
                  <a:cs typeface="Lato Black"/>
                  <a:sym typeface="Lato Black"/>
                </a:rPr>
                <a:t>Pipelines de análisis</a:t>
              </a:r>
            </a:p>
          </p:txBody>
        </p:sp>
        <p:cxnSp>
          <p:nvCxnSpPr>
            <p:cNvPr id="2033" name="IdxBar3"/>
            <p:cNvCxnSpPr/>
            <p:nvPr/>
          </p:nvCxnSpPr>
          <p:spPr>
            <a:xfrm>
              <a:off x="1515900" y="952425"/>
              <a:ext cx="0" cy="370800"/>
            </a:xfrm>
            <a:prstGeom prst="straightConnector1">
              <a:avLst/>
            </a:prstGeom>
            <a:noFill/>
            <a:ln w="28575" cap="flat" cmpd="sng">
              <a:solidFill>
                <a:schemeClr val="bg2">
                  <a:lumMod val="60000"/>
                  <a:lumOff val="4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040" name="IdxGroup4"/>
          <p:cNvGrpSpPr/>
          <p:nvPr/>
        </p:nvGrpSpPr>
        <p:grpSpPr>
          <a:xfrm>
            <a:off x="2047897" y="5076436"/>
            <a:ext cx="8604329" cy="571050"/>
            <a:chOff x="969531" y="947475"/>
            <a:chExt cx="5736219" cy="380700"/>
          </a:xfrm>
        </p:grpSpPr>
        <p:sp>
          <p:nvSpPr>
            <p:cNvPr id="2041" name="IdxNum4"/>
            <p:cNvSpPr txBox="1"/>
            <p:nvPr/>
          </p:nvSpPr>
          <p:spPr>
            <a:xfrm>
              <a:off x="969531" y="947475"/>
              <a:ext cx="564600" cy="38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688" tIns="118688" rIns="118688" bIns="118688" anchor="ctr" anchorCtr="0">
              <a:noAutofit/>
            </a:bodyPr>
            <a:lstStyle/>
            <a:p>
              <a:pPr>
                <a:buClr>
                  <a:srgbClr val="000000"/>
                </a:buClr>
                <a:buSzPts val="1900"/>
              </a:pPr>
              <a:r>
                <a:rPr lang="es-ES" sz="2850" b="1">
                  <a:solidFill>
                    <a:schemeClr val="bg2">
                      <a:lumMod val="60000"/>
                      <a:lumOff val="40000"/>
                    </a:schemeClr>
                  </a:solidFill>
                  <a:latin typeface="+mj-lt"/>
                  <a:ea typeface="Lato Black"/>
                  <a:cs typeface="Lato Black"/>
                  <a:sym typeface="Lato Black"/>
                </a:rPr>
                <a:t>05</a:t>
              </a:r>
            </a:p>
          </p:txBody>
        </p:sp>
        <p:sp>
          <p:nvSpPr>
            <p:cNvPr id="2042" name="IdxTitle4"/>
            <p:cNvSpPr txBox="1"/>
            <p:nvPr/>
          </p:nvSpPr>
          <p:spPr>
            <a:xfrm>
              <a:off x="1708650" y="947475"/>
              <a:ext cx="4997100" cy="38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688" tIns="118688" rIns="118688" bIns="118688" anchor="ctr" anchorCtr="0">
              <a:noAutofit/>
            </a:bodyPr>
            <a:lstStyle/>
            <a:p>
              <a:r>
                <a:rPr lang="es-ES" sz="2400" b="1">
                  <a:solidFill>
                    <a:schemeClr val="bg2">
                      <a:lumMod val="60000"/>
                      <a:lumOff val="40000"/>
                    </a:schemeClr>
                  </a:solidFill>
                  <a:latin typeface="+mj-lt"/>
                  <a:ea typeface="Lato Black"/>
                  <a:cs typeface="Lato Black"/>
                  <a:sym typeface="Lato Black"/>
                </a:rPr>
                <a:t>Demostración y resultados</a:t>
              </a:r>
            </a:p>
          </p:txBody>
        </p:sp>
        <p:cxnSp>
          <p:nvCxnSpPr>
            <p:cNvPr id="2043" name="IdxBar4"/>
            <p:cNvCxnSpPr/>
            <p:nvPr/>
          </p:nvCxnSpPr>
          <p:spPr>
            <a:xfrm>
              <a:off x="1515900" y="952425"/>
              <a:ext cx="0" cy="370800"/>
            </a:xfrm>
            <a:prstGeom prst="straightConnector1">
              <a:avLst/>
            </a:prstGeom>
            <a:noFill/>
            <a:ln w="28575" cap="flat" cmpd="sng">
              <a:solidFill>
                <a:schemeClr val="bg2">
                  <a:lumMod val="60000"/>
                  <a:lumOff val="4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050" name="IdxGroup5"/>
          <p:cNvGrpSpPr/>
          <p:nvPr/>
        </p:nvGrpSpPr>
        <p:grpSpPr>
          <a:xfrm>
            <a:off x="2047897" y="5711436"/>
            <a:ext cx="8604329" cy="571050"/>
            <a:chOff x="969531" y="947475"/>
            <a:chExt cx="5736219" cy="380700"/>
          </a:xfrm>
        </p:grpSpPr>
        <p:sp>
          <p:nvSpPr>
            <p:cNvPr id="2051" name="IdxNum5"/>
            <p:cNvSpPr txBox="1"/>
            <p:nvPr/>
          </p:nvSpPr>
          <p:spPr>
            <a:xfrm>
              <a:off x="969531" y="947475"/>
              <a:ext cx="564600" cy="38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688" tIns="118688" rIns="118688" bIns="118688" anchor="ctr" anchorCtr="0">
              <a:noAutofit/>
            </a:bodyPr>
            <a:lstStyle/>
            <a:p>
              <a:pPr>
                <a:buClr>
                  <a:srgbClr val="000000"/>
                </a:buClr>
                <a:buSzPts val="1900"/>
              </a:pPr>
              <a:r>
                <a:rPr lang="es-ES" sz="2850" b="1">
                  <a:solidFill>
                    <a:schemeClr val="bg2">
                      <a:lumMod val="60000"/>
                      <a:lumOff val="40000"/>
                    </a:schemeClr>
                  </a:solidFill>
                  <a:latin typeface="+mj-lt"/>
                  <a:ea typeface="Lato Black"/>
                  <a:cs typeface="Lato Black"/>
                  <a:sym typeface="Lato Black"/>
                </a:rPr>
                <a:t>06</a:t>
              </a:r>
            </a:p>
          </p:txBody>
        </p:sp>
        <p:sp>
          <p:nvSpPr>
            <p:cNvPr id="2052" name="IdxTitle5"/>
            <p:cNvSpPr txBox="1"/>
            <p:nvPr/>
          </p:nvSpPr>
          <p:spPr>
            <a:xfrm>
              <a:off x="1708650" y="947475"/>
              <a:ext cx="4997100" cy="38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688" tIns="118688" rIns="118688" bIns="118688" anchor="ctr" anchorCtr="0">
              <a:noAutofit/>
            </a:bodyPr>
            <a:lstStyle/>
            <a:p>
              <a:r>
                <a:rPr lang="es-ES" sz="2400" b="1">
                  <a:solidFill>
                    <a:schemeClr val="bg2">
                      <a:lumMod val="60000"/>
                      <a:lumOff val="40000"/>
                    </a:schemeClr>
                  </a:solidFill>
                  <a:latin typeface="+mj-lt"/>
                  <a:ea typeface="Lato Black"/>
                  <a:cs typeface="Lato Black"/>
                  <a:sym typeface="Lato Black"/>
                </a:rPr>
                <a:t>Benchmarking</a:t>
              </a:r>
            </a:p>
          </p:txBody>
        </p:sp>
        <p:cxnSp>
          <p:nvCxnSpPr>
            <p:cNvPr id="2053" name="IdxBar5"/>
            <p:cNvCxnSpPr/>
            <p:nvPr/>
          </p:nvCxnSpPr>
          <p:spPr>
            <a:xfrm>
              <a:off x="1515900" y="952425"/>
              <a:ext cx="0" cy="370800"/>
            </a:xfrm>
            <a:prstGeom prst="straightConnector1">
              <a:avLst/>
            </a:prstGeom>
            <a:noFill/>
            <a:ln w="28575" cap="flat" cmpd="sng">
              <a:solidFill>
                <a:schemeClr val="bg2">
                  <a:lumMod val="60000"/>
                  <a:lumOff val="4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060" name="IdxGroup6"/>
          <p:cNvGrpSpPr/>
          <p:nvPr/>
        </p:nvGrpSpPr>
        <p:grpSpPr>
          <a:xfrm>
            <a:off x="2047897" y="6346436"/>
            <a:ext cx="8604329" cy="571050"/>
            <a:chOff x="969531" y="947475"/>
            <a:chExt cx="5736219" cy="380700"/>
          </a:xfrm>
        </p:grpSpPr>
        <p:sp>
          <p:nvSpPr>
            <p:cNvPr id="2061" name="IdxNum6"/>
            <p:cNvSpPr txBox="1"/>
            <p:nvPr/>
          </p:nvSpPr>
          <p:spPr>
            <a:xfrm>
              <a:off x="969531" y="947475"/>
              <a:ext cx="564600" cy="38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688" tIns="118688" rIns="118688" bIns="118688" anchor="ctr" anchorCtr="0">
              <a:noAutofit/>
            </a:bodyPr>
            <a:lstStyle/>
            <a:p>
              <a:pPr>
                <a:buClr>
                  <a:srgbClr val="000000"/>
                </a:buClr>
                <a:buSzPts val="1900"/>
              </a:pPr>
              <a:r>
                <a:rPr lang="es-ES" sz="2850" b="1">
                  <a:solidFill>
                    <a:schemeClr val="bg2">
                      <a:lumMod val="60000"/>
                      <a:lumOff val="40000"/>
                    </a:schemeClr>
                  </a:solidFill>
                  <a:latin typeface="+mj-lt"/>
                  <a:ea typeface="Lato Black"/>
                  <a:cs typeface="Lato Black"/>
                  <a:sym typeface="Lato Black"/>
                </a:rPr>
                <a:t>07</a:t>
              </a:r>
            </a:p>
          </p:txBody>
        </p:sp>
        <p:sp>
          <p:nvSpPr>
            <p:cNvPr id="2062" name="IdxTitle6"/>
            <p:cNvSpPr txBox="1"/>
            <p:nvPr/>
          </p:nvSpPr>
          <p:spPr>
            <a:xfrm>
              <a:off x="1708650" y="947475"/>
              <a:ext cx="4997100" cy="38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688" tIns="118688" rIns="118688" bIns="118688" anchor="ctr" anchorCtr="0">
              <a:noAutofit/>
            </a:bodyPr>
            <a:lstStyle/>
            <a:p>
              <a:r>
                <a:rPr lang="es-ES" sz="2400" b="1">
                  <a:solidFill>
                    <a:schemeClr val="bg2">
                      <a:lumMod val="60000"/>
                      <a:lumOff val="40000"/>
                    </a:schemeClr>
                  </a:solidFill>
                  <a:latin typeface="+mj-lt"/>
                  <a:ea typeface="Lato Black"/>
                  <a:cs typeface="Lato Black"/>
                  <a:sym typeface="Lato Black"/>
                </a:rPr>
                <a:t>Propuesta de valor y cierre</a:t>
              </a:r>
            </a:p>
          </p:txBody>
        </p:sp>
        <p:cxnSp>
          <p:nvCxnSpPr>
            <p:cNvPr id="2063" name="IdxBar6"/>
            <p:cNvCxnSpPr/>
            <p:nvPr/>
          </p:nvCxnSpPr>
          <p:spPr>
            <a:xfrm>
              <a:off x="1515900" y="952425"/>
              <a:ext cx="0" cy="370800"/>
            </a:xfrm>
            <a:prstGeom prst="straightConnector1">
              <a:avLst/>
            </a:prstGeom>
            <a:noFill/>
            <a:ln w="28575" cap="flat" cmpd="sng">
              <a:solidFill>
                <a:schemeClr val="bg2">
                  <a:lumMod val="60000"/>
                  <a:lumOff val="4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070" name="IdxGroup7"/>
          <p:cNvGrpSpPr/>
          <p:nvPr/>
        </p:nvGrpSpPr>
        <p:grpSpPr>
          <a:xfrm>
            <a:off x="2047897" y="6981436"/>
            <a:ext cx="8604329" cy="571050"/>
            <a:chOff x="969531" y="947475"/>
            <a:chExt cx="5736219" cy="380700"/>
          </a:xfrm>
        </p:grpSpPr>
        <p:sp>
          <p:nvSpPr>
            <p:cNvPr id="2071" name="IdxNum7"/>
            <p:cNvSpPr txBox="1"/>
            <p:nvPr/>
          </p:nvSpPr>
          <p:spPr>
            <a:xfrm>
              <a:off x="969531" y="947475"/>
              <a:ext cx="564600" cy="38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688" tIns="118688" rIns="118688" bIns="118688" anchor="ctr" anchorCtr="0">
              <a:noAutofit/>
            </a:bodyPr>
            <a:lstStyle/>
            <a:p>
              <a:pPr>
                <a:buClr>
                  <a:srgbClr val="000000"/>
                </a:buClr>
                <a:buSzPts val="1900"/>
              </a:pPr>
              <a:r>
                <a:rPr lang="es-ES" sz="2850" b="1">
                  <a:solidFill>
                    <a:schemeClr val="bg2">
                      <a:lumMod val="60000"/>
                      <a:lumOff val="40000"/>
                    </a:schemeClr>
                  </a:solidFill>
                  <a:latin typeface="+mj-lt"/>
                  <a:ea typeface="Lato Black"/>
                  <a:cs typeface="Lato Black"/>
                  <a:sym typeface="Lato Black"/>
                </a:rPr>
                <a:t>08</a:t>
              </a:r>
            </a:p>
          </p:txBody>
        </p:sp>
        <p:sp>
          <p:nvSpPr>
            <p:cNvPr id="2072" name="IdxTitle7"/>
            <p:cNvSpPr txBox="1"/>
            <p:nvPr/>
          </p:nvSpPr>
          <p:spPr>
            <a:xfrm>
              <a:off x="1708650" y="947475"/>
              <a:ext cx="4997100" cy="38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688" tIns="118688" rIns="118688" bIns="118688" anchor="ctr" anchorCtr="0">
              <a:noAutofit/>
            </a:bodyPr>
            <a:lstStyle/>
            <a:p>
              <a:r>
                <a:rPr lang="es-ES" sz="2400" b="1">
                  <a:solidFill>
                    <a:schemeClr val="bg2">
                      <a:lumMod val="60000"/>
                      <a:lumOff val="40000"/>
                    </a:schemeClr>
                  </a:solidFill>
                  <a:latin typeface="+mj-lt"/>
                  <a:ea typeface="Lato Black"/>
                  <a:cs typeface="Lato Black"/>
                  <a:sym typeface="Lato Black"/>
                </a:rPr>
                <a:t>Bibliografía y anexos</a:t>
              </a:r>
            </a:p>
          </p:txBody>
        </p:sp>
        <p:cxnSp>
          <p:nvCxnSpPr>
            <p:cNvPr id="2073" name="IdxBar7"/>
            <p:cNvCxnSpPr/>
            <p:nvPr/>
          </p:nvCxnSpPr>
          <p:spPr>
            <a:xfrm>
              <a:off x="1515900" y="952425"/>
              <a:ext cx="0" cy="370800"/>
            </a:xfrm>
            <a:prstGeom prst="straightConnector1">
              <a:avLst/>
            </a:prstGeom>
            <a:noFill/>
            <a:ln w="28575" cap="flat" cmpd="sng">
              <a:solidFill>
                <a:schemeClr val="bg2">
                  <a:lumMod val="60000"/>
                  <a:lumOff val="4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</p:spTree>
    <p:extLst>
      <p:ext uri="{BB962C8B-B14F-4D97-AF65-F5344CB8AC3E}">
        <p14:creationId xmlns:p14="http://schemas.microsoft.com/office/powerpoint/2010/main" val="30175254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00" name="MS Header Group"/>
          <p:cNvGrpSpPr/>
          <p:nvPr/>
        </p:nvGrpSpPr>
        <p:grpSpPr>
          <a:xfrm>
            <a:off x="282819" y="579094"/>
            <a:ext cx="13786134" cy="1057874"/>
            <a:chOff x="92172" y="275827"/>
            <a:chExt cx="9190756" cy="705249"/>
          </a:xfrm>
        </p:grpSpPr>
        <p:sp>
          <p:nvSpPr>
            <p:cNvPr id="9001" name="MS Title Box"/>
            <p:cNvSpPr>
              <a:spLocks noChangeArrowheads="1"/>
            </p:cNvSpPr>
            <p:nvPr/>
          </p:nvSpPr>
          <p:spPr bwMode="gray">
            <a:xfrm>
              <a:off x="776292" y="404814"/>
              <a:ext cx="8506636" cy="576262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37160" tIns="68580" rIns="137160" bIns="68580" anchor="ctr"/>
            <a:lstStyle/>
            <a:p>
              <a:pPr>
                <a:lnSpc>
                  <a:spcPts val="3150"/>
                </a:lnSpc>
              </a:pPr>
              <a:r>
                <a:rPr lang="es-ES" sz="3000" b="1">
                  <a:solidFill>
                    <a:srgbClr val="002569"/>
                  </a:solidFill>
                  <a:latin typeface="Arial"/>
                </a:rPr>
                <a:t>Arquitectura técnica</a:t>
              </a:r>
            </a:p>
            <a:p>
              <a:r>
                <a:rPr lang="es-ES" sz="2700">
                  <a:solidFill>
                    <a:srgbClr val="E0D399">
                      <a:lumMod val="75000"/>
                    </a:srgbClr>
                  </a:solidFill>
                  <a:latin typeface="Arial"/>
                </a:rPr>
                <a:t>Cinco capas, una decisión por capa</a:t>
              </a:r>
            </a:p>
          </p:txBody>
        </p:sp>
        <p:sp>
          <p:nvSpPr>
            <p:cNvPr id="9002" name="MS Number"/>
            <p:cNvSpPr>
              <a:spLocks noChangeArrowheads="1"/>
            </p:cNvSpPr>
            <p:nvPr/>
          </p:nvSpPr>
          <p:spPr bwMode="gray">
            <a:xfrm>
              <a:off x="92172" y="275827"/>
              <a:ext cx="477819" cy="70014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148523" tIns="74261" rIns="148523" bIns="74261">
              <a:spAutoFit/>
            </a:bodyPr>
            <a:lstStyle/>
            <a:p>
              <a:pPr algn="ctr"/>
              <a:r>
                <a:rPr lang="es-ES" sz="5850" b="1" kern="0">
                  <a:solidFill>
                    <a:srgbClr val="002569"/>
                  </a:solidFill>
                  <a:latin typeface="Arial"/>
                </a:rPr>
                <a:t>3</a:t>
              </a:r>
            </a:p>
          </p:txBody>
        </p:sp>
        <p:cxnSp>
          <p:nvCxnSpPr>
            <p:cNvPr id="9003" name="MS Header Bar"/>
            <p:cNvCxnSpPr/>
            <p:nvPr/>
          </p:nvCxnSpPr>
          <p:spPr>
            <a:xfrm>
              <a:off x="570525" y="404814"/>
              <a:ext cx="0" cy="526647"/>
            </a:xfrm>
            <a:prstGeom prst="line">
              <a:avLst/>
            </a:prstGeom>
            <a:ln>
              <a:solidFill>
                <a:schemeClr val="tx2"/>
              </a:solidFill>
            </a:ln>
          </p:spPr>
        </p:cxnSp>
      </p:grpSp>
      <p:sp>
        <p:nvSpPr>
          <p:cNvPr id="9004" name="TextBox 9003"/>
          <p:cNvSpPr txBox="1"/>
          <p:nvPr/>
        </p:nvSpPr>
        <p:spPr>
          <a:xfrm>
            <a:off x="758952" y="2048256"/>
            <a:ext cx="16770096" cy="8412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800" b="1" dirty="0">
                <a:solidFill>
                  <a:srgbClr val="1F3864"/>
                </a:solidFill>
                <a:latin typeface="Calibri"/>
              </a:rPr>
              <a:t>Stack </a:t>
            </a:r>
            <a:r>
              <a:rPr sz="1800" b="1" dirty="0" err="1">
                <a:solidFill>
                  <a:srgbClr val="1F3864"/>
                </a:solidFill>
                <a:latin typeface="Calibri"/>
              </a:rPr>
              <a:t>tecnológico</a:t>
            </a:r>
            <a:r>
              <a:rPr sz="1800" b="1" dirty="0">
                <a:solidFill>
                  <a:srgbClr val="1F3864"/>
                </a:solidFill>
                <a:latin typeface="Calibri"/>
              </a:rPr>
              <a:t>.</a:t>
            </a:r>
            <a:r>
              <a:rPr sz="1800" dirty="0">
                <a:solidFill>
                  <a:srgbClr val="404040"/>
                </a:solidFill>
                <a:latin typeface="Calibri"/>
              </a:rPr>
              <a:t> Toda la </a:t>
            </a:r>
            <a:r>
              <a:rPr sz="1800" dirty="0" err="1">
                <a:solidFill>
                  <a:srgbClr val="404040"/>
                </a:solidFill>
                <a:latin typeface="Calibri"/>
              </a:rPr>
              <a:t>plataforma</a:t>
            </a:r>
            <a:r>
              <a:rPr sz="1800" dirty="0">
                <a:solidFill>
                  <a:srgbClr val="404040"/>
                </a:solidFill>
                <a:latin typeface="Calibri"/>
              </a:rPr>
              <a:t> se </a:t>
            </a:r>
            <a:r>
              <a:rPr sz="1800" dirty="0" err="1">
                <a:solidFill>
                  <a:srgbClr val="404040"/>
                </a:solidFill>
                <a:latin typeface="Calibri"/>
              </a:rPr>
              <a:t>compone</a:t>
            </a:r>
            <a:r>
              <a:rPr sz="1800" dirty="0">
                <a:solidFill>
                  <a:srgbClr val="404040"/>
                </a:solidFill>
                <a:latin typeface="Calibri"/>
              </a:rPr>
              <a:t> de </a:t>
            </a:r>
            <a:r>
              <a:rPr sz="1800" dirty="0" err="1">
                <a:solidFill>
                  <a:srgbClr val="404040"/>
                </a:solidFill>
                <a:latin typeface="Calibri"/>
              </a:rPr>
              <a:t>tecnologías</a:t>
            </a:r>
            <a:r>
              <a:rPr sz="1800" dirty="0">
                <a:solidFill>
                  <a:srgbClr val="404040"/>
                </a:solidFill>
                <a:latin typeface="Calibri"/>
              </a:rPr>
              <a:t> open source o </a:t>
            </a:r>
            <a:r>
              <a:rPr sz="1800" dirty="0" err="1">
                <a:solidFill>
                  <a:srgbClr val="404040"/>
                </a:solidFill>
                <a:latin typeface="Calibri"/>
              </a:rPr>
              <a:t>gestionadas</a:t>
            </a:r>
            <a:r>
              <a:rPr sz="1800" dirty="0">
                <a:solidFill>
                  <a:srgbClr val="404040"/>
                </a:solidFill>
                <a:latin typeface="Calibri"/>
              </a:rPr>
              <a:t>, con </a:t>
            </a:r>
            <a:r>
              <a:rPr sz="1800" dirty="0" err="1">
                <a:solidFill>
                  <a:srgbClr val="404040"/>
                </a:solidFill>
                <a:latin typeface="Calibri"/>
              </a:rPr>
              <a:t>versiones</a:t>
            </a:r>
            <a:r>
              <a:rPr sz="1800" dirty="0">
                <a:solidFill>
                  <a:srgbClr val="404040"/>
                </a:solidFill>
                <a:latin typeface="Calibri"/>
              </a:rPr>
              <a:t> </a:t>
            </a:r>
            <a:r>
              <a:rPr sz="1800" dirty="0" err="1">
                <a:solidFill>
                  <a:srgbClr val="404040"/>
                </a:solidFill>
                <a:latin typeface="Calibri"/>
              </a:rPr>
              <a:t>fijadas</a:t>
            </a:r>
            <a:r>
              <a:rPr sz="1800" dirty="0">
                <a:solidFill>
                  <a:srgbClr val="404040"/>
                </a:solidFill>
                <a:latin typeface="Calibri"/>
              </a:rPr>
              <a:t> </a:t>
            </a:r>
            <a:r>
              <a:rPr sz="1800" dirty="0" err="1">
                <a:solidFill>
                  <a:srgbClr val="404040"/>
                </a:solidFill>
                <a:latin typeface="Calibri"/>
              </a:rPr>
              <a:t>en</a:t>
            </a:r>
            <a:r>
              <a:rPr sz="1800" dirty="0">
                <a:solidFill>
                  <a:srgbClr val="404040"/>
                </a:solidFill>
                <a:latin typeface="Calibri"/>
              </a:rPr>
              <a:t> backend/</a:t>
            </a:r>
            <a:r>
              <a:rPr sz="1800" dirty="0" err="1">
                <a:solidFill>
                  <a:srgbClr val="404040"/>
                </a:solidFill>
                <a:latin typeface="Calibri"/>
              </a:rPr>
              <a:t>pyproject.toml</a:t>
            </a:r>
            <a:r>
              <a:rPr sz="1800" dirty="0">
                <a:solidFill>
                  <a:srgbClr val="404040"/>
                </a:solidFill>
                <a:latin typeface="Calibri"/>
              </a:rPr>
              <a:t> y frontend/</a:t>
            </a:r>
            <a:r>
              <a:rPr sz="1800" dirty="0" err="1">
                <a:solidFill>
                  <a:srgbClr val="404040"/>
                </a:solidFill>
                <a:latin typeface="Calibri"/>
              </a:rPr>
              <a:t>package.json</a:t>
            </a:r>
            <a:r>
              <a:rPr sz="1800" dirty="0">
                <a:solidFill>
                  <a:srgbClr val="404040"/>
                </a:solidFill>
                <a:latin typeface="Calibri"/>
              </a:rPr>
              <a:t>. Cada </a:t>
            </a:r>
            <a:r>
              <a:rPr sz="1800" dirty="0" err="1">
                <a:solidFill>
                  <a:srgbClr val="404040"/>
                </a:solidFill>
                <a:latin typeface="Calibri"/>
              </a:rPr>
              <a:t>capa</a:t>
            </a:r>
            <a:r>
              <a:rPr sz="1800" dirty="0">
                <a:solidFill>
                  <a:srgbClr val="404040"/>
                </a:solidFill>
                <a:latin typeface="Calibri"/>
              </a:rPr>
              <a:t> </a:t>
            </a:r>
            <a:r>
              <a:rPr sz="1800" dirty="0" err="1">
                <a:solidFill>
                  <a:srgbClr val="404040"/>
                </a:solidFill>
                <a:latin typeface="Calibri"/>
              </a:rPr>
              <a:t>elige</a:t>
            </a:r>
            <a:r>
              <a:rPr sz="1800" dirty="0">
                <a:solidFill>
                  <a:srgbClr val="404040"/>
                </a:solidFill>
                <a:latin typeface="Calibri"/>
              </a:rPr>
              <a:t> un </a:t>
            </a:r>
            <a:r>
              <a:rPr sz="1800" dirty="0" err="1">
                <a:solidFill>
                  <a:srgbClr val="404040"/>
                </a:solidFill>
                <a:latin typeface="Calibri"/>
              </a:rPr>
              <a:t>componente</a:t>
            </a:r>
            <a:r>
              <a:rPr sz="1800" dirty="0">
                <a:solidFill>
                  <a:srgbClr val="404040"/>
                </a:solidFill>
                <a:latin typeface="Calibri"/>
              </a:rPr>
              <a:t> </a:t>
            </a:r>
            <a:r>
              <a:rPr sz="1800" dirty="0" err="1">
                <a:solidFill>
                  <a:srgbClr val="404040"/>
                </a:solidFill>
                <a:latin typeface="Calibri"/>
              </a:rPr>
              <a:t>por</a:t>
            </a:r>
            <a:r>
              <a:rPr sz="1800" dirty="0">
                <a:solidFill>
                  <a:srgbClr val="404040"/>
                </a:solidFill>
                <a:latin typeface="Calibri"/>
              </a:rPr>
              <a:t> </a:t>
            </a:r>
            <a:r>
              <a:rPr sz="1800" dirty="0" err="1">
                <a:solidFill>
                  <a:srgbClr val="404040"/>
                </a:solidFill>
                <a:latin typeface="Calibri"/>
              </a:rPr>
              <a:t>su</a:t>
            </a:r>
            <a:r>
              <a:rPr sz="1800" dirty="0">
                <a:solidFill>
                  <a:srgbClr val="404040"/>
                </a:solidFill>
                <a:latin typeface="Calibri"/>
              </a:rPr>
              <a:t> </a:t>
            </a:r>
            <a:r>
              <a:rPr sz="1800" dirty="0" err="1">
                <a:solidFill>
                  <a:srgbClr val="404040"/>
                </a:solidFill>
                <a:latin typeface="Calibri"/>
              </a:rPr>
              <a:t>criterio</a:t>
            </a:r>
            <a:r>
              <a:rPr sz="1800" dirty="0">
                <a:solidFill>
                  <a:srgbClr val="404040"/>
                </a:solidFill>
                <a:latin typeface="Calibri"/>
              </a:rPr>
              <a:t> </a:t>
            </a:r>
            <a:r>
              <a:rPr sz="1800" dirty="0" err="1">
                <a:solidFill>
                  <a:srgbClr val="404040"/>
                </a:solidFill>
                <a:latin typeface="Calibri"/>
              </a:rPr>
              <a:t>dominante</a:t>
            </a:r>
            <a:r>
              <a:rPr sz="1800" dirty="0">
                <a:solidFill>
                  <a:srgbClr val="404040"/>
                </a:solidFill>
                <a:latin typeface="Calibri"/>
              </a:rPr>
              <a:t>.</a:t>
            </a:r>
          </a:p>
        </p:txBody>
      </p:sp>
      <p:sp>
        <p:nvSpPr>
          <p:cNvPr id="9005" name="Trapezoid 9004"/>
          <p:cNvSpPr/>
          <p:nvPr/>
        </p:nvSpPr>
        <p:spPr>
          <a:xfrm rot="10800000">
            <a:off x="758952" y="3017520"/>
            <a:ext cx="3262579" cy="1005840"/>
          </a:xfrm>
          <a:prstGeom prst="trapezoid">
            <a:avLst>
              <a:gd name="adj" fmla="val 20000"/>
            </a:avLst>
          </a:prstGeom>
          <a:solidFill>
            <a:srgbClr val="4A90E2"/>
          </a:solidFill>
          <a:ln>
            <a:noFill/>
          </a:ln>
          <a:effectLst>
            <a:outerShdw blurRad="76200" dist="12700" dir="54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06" name="TextBox 9005"/>
          <p:cNvSpPr txBox="1"/>
          <p:nvPr/>
        </p:nvSpPr>
        <p:spPr>
          <a:xfrm>
            <a:off x="941832" y="3199638"/>
            <a:ext cx="2896819" cy="7772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CAPA 01</a:t>
            </a:r>
          </a:p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PRESENTACIÓN</a:t>
            </a:r>
          </a:p>
        </p:txBody>
      </p:sp>
      <p:sp>
        <p:nvSpPr>
          <p:cNvPr id="9007" name="Rounded Rectangle 9006"/>
          <p:cNvSpPr/>
          <p:nvPr/>
        </p:nvSpPr>
        <p:spPr>
          <a:xfrm>
            <a:off x="758952" y="3922776"/>
            <a:ext cx="3262579" cy="5440680"/>
          </a:xfrm>
          <a:prstGeom prst="roundRect">
            <a:avLst>
              <a:gd name="adj" fmla="val 2000"/>
            </a:avLst>
          </a:prstGeom>
          <a:solidFill>
            <a:srgbClr val="E9EFF7"/>
          </a:solidFill>
          <a:ln w="12700">
            <a:solidFill>
              <a:srgbClr val="4A90E2"/>
            </a:solidFill>
          </a:ln>
          <a:effectLst>
            <a:outerShdw blurRad="76200" dist="12700" dir="5400000" algn="t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9008" name="Rounded Rectangle 9007"/>
          <p:cNvSpPr/>
          <p:nvPr/>
        </p:nvSpPr>
        <p:spPr>
          <a:xfrm>
            <a:off x="941832" y="4105655"/>
            <a:ext cx="2896819" cy="292608"/>
          </a:xfrm>
          <a:prstGeom prst="roundRect">
            <a:avLst>
              <a:gd name="adj" fmla="val 50000"/>
            </a:avLst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9009" name="TextBox 9008"/>
          <p:cNvSpPr txBox="1"/>
          <p:nvPr/>
        </p:nvSpPr>
        <p:spPr>
          <a:xfrm>
            <a:off x="1903410" y="4148086"/>
            <a:ext cx="973664" cy="20774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300" b="1" dirty="0">
                <a:solidFill>
                  <a:srgbClr val="FFFFFF"/>
                </a:solidFill>
                <a:latin typeface="Calibri"/>
              </a:rPr>
              <a:t>REACTIVIDAD</a:t>
            </a:r>
          </a:p>
        </p:txBody>
      </p:sp>
      <p:sp>
        <p:nvSpPr>
          <p:cNvPr id="9010" name="TextBox 9009"/>
          <p:cNvSpPr txBox="1"/>
          <p:nvPr/>
        </p:nvSpPr>
        <p:spPr>
          <a:xfrm>
            <a:off x="941832" y="4562856"/>
            <a:ext cx="2896819" cy="86177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dirty="0">
                <a:solidFill>
                  <a:srgbClr val="404040"/>
                </a:solidFill>
                <a:latin typeface="Calibri"/>
              </a:rPr>
              <a:t>SPA </a:t>
            </a:r>
            <a:r>
              <a:rPr sz="1300" dirty="0" err="1">
                <a:solidFill>
                  <a:srgbClr val="404040"/>
                </a:solidFill>
                <a:latin typeface="Calibri"/>
              </a:rPr>
              <a:t>reactiva</a:t>
            </a:r>
            <a:r>
              <a:rPr sz="1300" dirty="0">
                <a:solidFill>
                  <a:srgbClr val="404040"/>
                </a:solidFill>
                <a:latin typeface="Calibri"/>
              </a:rPr>
              <a:t> con Composition API. Mapa con clustering de </a:t>
            </a:r>
            <a:r>
              <a:rPr sz="1300" dirty="0" err="1">
                <a:solidFill>
                  <a:srgbClr val="404040"/>
                </a:solidFill>
                <a:latin typeface="Calibri"/>
              </a:rPr>
              <a:t>marcadores</a:t>
            </a:r>
            <a:r>
              <a:rPr sz="1350" dirty="0">
                <a:solidFill>
                  <a:srgbClr val="404040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404040"/>
                </a:solidFill>
                <a:latin typeface="Calibri"/>
              </a:rPr>
              <a:t>categorizados</a:t>
            </a:r>
            <a:r>
              <a:rPr sz="1300" dirty="0">
                <a:solidFill>
                  <a:srgbClr val="404040"/>
                </a:solidFill>
                <a:latin typeface="Calibri"/>
              </a:rPr>
              <a:t>. Build y dev-server </a:t>
            </a:r>
            <a:r>
              <a:rPr sz="1300" dirty="0" err="1">
                <a:solidFill>
                  <a:srgbClr val="404040"/>
                </a:solidFill>
                <a:latin typeface="Calibri"/>
              </a:rPr>
              <a:t>rápidos</a:t>
            </a:r>
            <a:r>
              <a:rPr sz="1350" dirty="0">
                <a:solidFill>
                  <a:srgbClr val="404040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404040"/>
                </a:solidFill>
                <a:latin typeface="Calibri"/>
              </a:rPr>
              <a:t>vía</a:t>
            </a:r>
            <a:r>
              <a:rPr sz="1300" dirty="0">
                <a:solidFill>
                  <a:srgbClr val="404040"/>
                </a:solidFill>
                <a:latin typeface="Calibri"/>
              </a:rPr>
              <a:t> Bun.</a:t>
            </a:r>
          </a:p>
        </p:txBody>
      </p:sp>
      <p:sp>
        <p:nvSpPr>
          <p:cNvPr id="9011" name="TextBox 9010"/>
          <p:cNvSpPr txBox="1"/>
          <p:nvPr/>
        </p:nvSpPr>
        <p:spPr>
          <a:xfrm>
            <a:off x="941832" y="5934456"/>
            <a:ext cx="439544" cy="20774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BF9000"/>
                </a:solidFill>
                <a:latin typeface="Calibri"/>
              </a:rPr>
              <a:t>STACK</a:t>
            </a:r>
          </a:p>
        </p:txBody>
      </p:sp>
      <p:sp>
        <p:nvSpPr>
          <p:cNvPr id="9012" name="TextBox 9011"/>
          <p:cNvSpPr txBox="1"/>
          <p:nvPr/>
        </p:nvSpPr>
        <p:spPr>
          <a:xfrm>
            <a:off x="941832" y="6181344"/>
            <a:ext cx="2896819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4A90E2"/>
                </a:solidFill>
                <a:latin typeface="Calibri"/>
              </a:rPr>
              <a:t>• </a:t>
            </a:r>
            <a:r>
              <a:rPr sz="1300">
                <a:solidFill>
                  <a:srgbClr val="1F3864"/>
                </a:solidFill>
                <a:latin typeface="Consolas"/>
              </a:rPr>
              <a:t>Vue 3 (^3.4.21)</a:t>
            </a:r>
          </a:p>
        </p:txBody>
      </p:sp>
      <p:sp>
        <p:nvSpPr>
          <p:cNvPr id="9013" name="TextBox 9012"/>
          <p:cNvSpPr txBox="1"/>
          <p:nvPr/>
        </p:nvSpPr>
        <p:spPr>
          <a:xfrm>
            <a:off x="941832" y="6455664"/>
            <a:ext cx="2896819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4A90E2"/>
                </a:solidFill>
                <a:latin typeface="Calibri"/>
              </a:rPr>
              <a:t>• </a:t>
            </a:r>
            <a:r>
              <a:rPr sz="1300">
                <a:solidFill>
                  <a:srgbClr val="1F3864"/>
                </a:solidFill>
                <a:latin typeface="Consolas"/>
              </a:rPr>
              <a:t>Vuetify (^3.5.8)</a:t>
            </a:r>
          </a:p>
        </p:txBody>
      </p:sp>
      <p:sp>
        <p:nvSpPr>
          <p:cNvPr id="9014" name="TextBox 9013"/>
          <p:cNvSpPr txBox="1"/>
          <p:nvPr/>
        </p:nvSpPr>
        <p:spPr>
          <a:xfrm>
            <a:off x="941832" y="6729984"/>
            <a:ext cx="2896819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4A90E2"/>
                </a:solidFill>
                <a:latin typeface="Calibri"/>
              </a:rPr>
              <a:t>• </a:t>
            </a:r>
            <a:r>
              <a:rPr sz="1300">
                <a:solidFill>
                  <a:srgbClr val="1F3864"/>
                </a:solidFill>
                <a:latin typeface="Consolas"/>
              </a:rPr>
              <a:t>Pinia (^2.1.7)</a:t>
            </a:r>
          </a:p>
        </p:txBody>
      </p:sp>
      <p:sp>
        <p:nvSpPr>
          <p:cNvPr id="9015" name="TextBox 9014"/>
          <p:cNvSpPr txBox="1"/>
          <p:nvPr/>
        </p:nvSpPr>
        <p:spPr>
          <a:xfrm>
            <a:off x="941832" y="7004303"/>
            <a:ext cx="2896819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4A90E2"/>
                </a:solidFill>
                <a:latin typeface="Calibri"/>
              </a:rPr>
              <a:t>• </a:t>
            </a:r>
            <a:r>
              <a:rPr sz="1300">
                <a:solidFill>
                  <a:srgbClr val="1F3864"/>
                </a:solidFill>
                <a:latin typeface="Consolas"/>
              </a:rPr>
              <a:t>Leaflet (^1.9.4)</a:t>
            </a:r>
          </a:p>
        </p:txBody>
      </p:sp>
      <p:sp>
        <p:nvSpPr>
          <p:cNvPr id="9016" name="TextBox 9015"/>
          <p:cNvSpPr txBox="1"/>
          <p:nvPr/>
        </p:nvSpPr>
        <p:spPr>
          <a:xfrm>
            <a:off x="941832" y="7278624"/>
            <a:ext cx="2896819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4A90E2"/>
                </a:solidFill>
                <a:latin typeface="Calibri"/>
              </a:rPr>
              <a:t>• </a:t>
            </a:r>
            <a:r>
              <a:rPr sz="1300">
                <a:solidFill>
                  <a:srgbClr val="1F3864"/>
                </a:solidFill>
                <a:latin typeface="Consolas"/>
              </a:rPr>
              <a:t>Vite + Bun (^5.1)</a:t>
            </a:r>
          </a:p>
        </p:txBody>
      </p:sp>
      <p:sp>
        <p:nvSpPr>
          <p:cNvPr id="9017" name="Rectangle 9016"/>
          <p:cNvSpPr/>
          <p:nvPr/>
        </p:nvSpPr>
        <p:spPr>
          <a:xfrm>
            <a:off x="941832" y="8174736"/>
            <a:ext cx="2896819" cy="4572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9018" name="TextBox 9017"/>
          <p:cNvSpPr txBox="1"/>
          <p:nvPr/>
        </p:nvSpPr>
        <p:spPr>
          <a:xfrm>
            <a:off x="941832" y="8266175"/>
            <a:ext cx="1174809" cy="20774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BF9000"/>
                </a:solidFill>
                <a:latin typeface="Calibri"/>
              </a:rPr>
              <a:t>DECISIÓN CLAVE</a:t>
            </a:r>
          </a:p>
        </p:txBody>
      </p:sp>
      <p:sp>
        <p:nvSpPr>
          <p:cNvPr id="9019" name="TextBox 9018"/>
          <p:cNvSpPr txBox="1"/>
          <p:nvPr/>
        </p:nvSpPr>
        <p:spPr>
          <a:xfrm>
            <a:off x="941832" y="8513063"/>
            <a:ext cx="2896819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i="1" dirty="0">
                <a:solidFill>
                  <a:srgbClr val="404040"/>
                </a:solidFill>
                <a:latin typeface="Calibri"/>
              </a:rPr>
              <a:t>Vue 3 </a:t>
            </a:r>
            <a:r>
              <a:rPr sz="1300" i="1" dirty="0" err="1">
                <a:solidFill>
                  <a:srgbClr val="404040"/>
                </a:solidFill>
                <a:latin typeface="Calibri"/>
              </a:rPr>
              <a:t>sobre</a:t>
            </a:r>
            <a:r>
              <a:rPr sz="1300" i="1" dirty="0">
                <a:solidFill>
                  <a:srgbClr val="404040"/>
                </a:solidFill>
                <a:latin typeface="Calibri"/>
              </a:rPr>
              <a:t> React </a:t>
            </a:r>
            <a:r>
              <a:rPr sz="1300" i="1" dirty="0" err="1">
                <a:solidFill>
                  <a:srgbClr val="404040"/>
                </a:solidFill>
                <a:latin typeface="Calibri"/>
              </a:rPr>
              <a:t>por</a:t>
            </a:r>
            <a:r>
              <a:rPr sz="1350" i="1" dirty="0">
                <a:solidFill>
                  <a:srgbClr val="404040"/>
                </a:solidFill>
                <a:latin typeface="Calibri"/>
              </a:rPr>
              <a:t> </a:t>
            </a:r>
            <a:r>
              <a:rPr sz="1300" i="1" dirty="0" err="1">
                <a:solidFill>
                  <a:srgbClr val="404040"/>
                </a:solidFill>
                <a:latin typeface="Calibri"/>
              </a:rPr>
              <a:t>menor</a:t>
            </a:r>
            <a:r>
              <a:rPr sz="1300" i="1" dirty="0">
                <a:solidFill>
                  <a:srgbClr val="404040"/>
                </a:solidFill>
                <a:latin typeface="Calibri"/>
              </a:rPr>
              <a:t> curva de </a:t>
            </a:r>
            <a:r>
              <a:rPr sz="1300" i="1" dirty="0" err="1">
                <a:solidFill>
                  <a:srgbClr val="404040"/>
                </a:solidFill>
                <a:latin typeface="Calibri"/>
              </a:rPr>
              <a:t>aprendizaje</a:t>
            </a:r>
            <a:r>
              <a:rPr lang="es-ES_tradnl" sz="1300" i="1" dirty="0">
                <a:solidFill>
                  <a:srgbClr val="404040"/>
                </a:solidFill>
                <a:latin typeface="Calibri"/>
              </a:rPr>
              <a:t> + ecosistema español.</a:t>
            </a:r>
            <a:endParaRPr sz="1350" i="1" dirty="0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9020" name="Trapezoid 9019"/>
          <p:cNvSpPr/>
          <p:nvPr/>
        </p:nvSpPr>
        <p:spPr>
          <a:xfrm rot="10800000">
            <a:off x="4112971" y="3017520"/>
            <a:ext cx="3262579" cy="1005840"/>
          </a:xfrm>
          <a:prstGeom prst="trapezoid">
            <a:avLst>
              <a:gd name="adj" fmla="val 20000"/>
            </a:avLst>
          </a:prstGeom>
          <a:solidFill>
            <a:srgbClr val="BF9000"/>
          </a:solidFill>
          <a:ln>
            <a:noFill/>
          </a:ln>
          <a:effectLst>
            <a:outerShdw blurRad="76200" dist="12700" dir="54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21" name="TextBox 9020"/>
          <p:cNvSpPr txBox="1"/>
          <p:nvPr/>
        </p:nvSpPr>
        <p:spPr>
          <a:xfrm>
            <a:off x="4295851" y="3199638"/>
            <a:ext cx="2896819" cy="7772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CAPA 02</a:t>
            </a:r>
          </a:p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API</a:t>
            </a:r>
          </a:p>
        </p:txBody>
      </p:sp>
      <p:sp>
        <p:nvSpPr>
          <p:cNvPr id="9022" name="Rounded Rectangle 9021"/>
          <p:cNvSpPr/>
          <p:nvPr/>
        </p:nvSpPr>
        <p:spPr>
          <a:xfrm>
            <a:off x="4112971" y="3922776"/>
            <a:ext cx="3262579" cy="5440680"/>
          </a:xfrm>
          <a:prstGeom prst="roundRect">
            <a:avLst>
              <a:gd name="adj" fmla="val 2000"/>
            </a:avLst>
          </a:prstGeom>
          <a:solidFill>
            <a:srgbClr val="FAF1D9"/>
          </a:solidFill>
          <a:ln w="12700">
            <a:solidFill>
              <a:srgbClr val="BF9000"/>
            </a:solidFill>
          </a:ln>
          <a:effectLst>
            <a:outerShdw blurRad="76200" dist="12700" dir="5400000" algn="t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9023" name="Rounded Rectangle 9022"/>
          <p:cNvSpPr/>
          <p:nvPr/>
        </p:nvSpPr>
        <p:spPr>
          <a:xfrm>
            <a:off x="4295851" y="4105655"/>
            <a:ext cx="2896819" cy="292608"/>
          </a:xfrm>
          <a:prstGeom prst="roundRect">
            <a:avLst>
              <a:gd name="adj" fmla="val 50000"/>
            </a:avLst>
          </a:prstGeom>
          <a:solidFill>
            <a:srgbClr val="BF9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9024" name="TextBox 9023"/>
          <p:cNvSpPr txBox="1"/>
          <p:nvPr/>
        </p:nvSpPr>
        <p:spPr>
          <a:xfrm>
            <a:off x="5210141" y="4148086"/>
            <a:ext cx="1068241" cy="20774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ASYNC NATIVO</a:t>
            </a:r>
          </a:p>
        </p:txBody>
      </p:sp>
      <p:sp>
        <p:nvSpPr>
          <p:cNvPr id="9025" name="TextBox 9024"/>
          <p:cNvSpPr txBox="1"/>
          <p:nvPr/>
        </p:nvSpPr>
        <p:spPr>
          <a:xfrm>
            <a:off x="4295851" y="4562856"/>
            <a:ext cx="2896819" cy="6463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>
                <a:solidFill>
                  <a:srgbClr val="404040"/>
                </a:solidFill>
                <a:latin typeface="Calibri"/>
              </a:rPr>
              <a:t>Async nativo sin bloqueo, OpenAPI automático, tipado estricto. ASGI con Uvicorn. ORM async con asyncpg.</a:t>
            </a:r>
          </a:p>
        </p:txBody>
      </p:sp>
      <p:sp>
        <p:nvSpPr>
          <p:cNvPr id="9026" name="TextBox 9025"/>
          <p:cNvSpPr txBox="1"/>
          <p:nvPr/>
        </p:nvSpPr>
        <p:spPr>
          <a:xfrm>
            <a:off x="4295851" y="5934456"/>
            <a:ext cx="439544" cy="20774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BF9000"/>
                </a:solidFill>
                <a:latin typeface="Calibri"/>
              </a:rPr>
              <a:t>STACK</a:t>
            </a:r>
          </a:p>
        </p:txBody>
      </p:sp>
      <p:sp>
        <p:nvSpPr>
          <p:cNvPr id="9027" name="TextBox 9026"/>
          <p:cNvSpPr txBox="1"/>
          <p:nvPr/>
        </p:nvSpPr>
        <p:spPr>
          <a:xfrm>
            <a:off x="4295851" y="6181344"/>
            <a:ext cx="2896819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BF9000"/>
                </a:solidFill>
                <a:latin typeface="Calibri"/>
              </a:rPr>
              <a:t>• </a:t>
            </a:r>
            <a:r>
              <a:rPr sz="1300">
                <a:solidFill>
                  <a:srgbClr val="1F3864"/>
                </a:solidFill>
                <a:latin typeface="Consolas"/>
              </a:rPr>
              <a:t>FastAPI (≥0.111)</a:t>
            </a:r>
          </a:p>
        </p:txBody>
      </p:sp>
      <p:sp>
        <p:nvSpPr>
          <p:cNvPr id="9028" name="TextBox 9027"/>
          <p:cNvSpPr txBox="1"/>
          <p:nvPr/>
        </p:nvSpPr>
        <p:spPr>
          <a:xfrm>
            <a:off x="4295851" y="6455664"/>
            <a:ext cx="2896819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BF9000"/>
                </a:solidFill>
                <a:latin typeface="Calibri"/>
              </a:rPr>
              <a:t>• </a:t>
            </a:r>
            <a:r>
              <a:rPr sz="1300">
                <a:solidFill>
                  <a:srgbClr val="1F3864"/>
                </a:solidFill>
                <a:latin typeface="Consolas"/>
              </a:rPr>
              <a:t>Uvicorn (≥0.30)</a:t>
            </a:r>
          </a:p>
        </p:txBody>
      </p:sp>
      <p:sp>
        <p:nvSpPr>
          <p:cNvPr id="9029" name="TextBox 9028"/>
          <p:cNvSpPr txBox="1"/>
          <p:nvPr/>
        </p:nvSpPr>
        <p:spPr>
          <a:xfrm>
            <a:off x="4295851" y="6729984"/>
            <a:ext cx="2896819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BF9000"/>
                </a:solidFill>
                <a:latin typeface="Calibri"/>
              </a:rPr>
              <a:t>• </a:t>
            </a:r>
            <a:r>
              <a:rPr sz="1300">
                <a:solidFill>
                  <a:srgbClr val="1F3864"/>
                </a:solidFill>
                <a:latin typeface="Consolas"/>
              </a:rPr>
              <a:t>Pydantic (≥2.8)</a:t>
            </a:r>
          </a:p>
        </p:txBody>
      </p:sp>
      <p:sp>
        <p:nvSpPr>
          <p:cNvPr id="9030" name="TextBox 9029"/>
          <p:cNvSpPr txBox="1"/>
          <p:nvPr/>
        </p:nvSpPr>
        <p:spPr>
          <a:xfrm>
            <a:off x="4295851" y="7004303"/>
            <a:ext cx="2896819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BF9000"/>
                </a:solidFill>
                <a:latin typeface="Calibri"/>
              </a:rPr>
              <a:t>• </a:t>
            </a:r>
            <a:r>
              <a:rPr sz="1300">
                <a:solidFill>
                  <a:srgbClr val="1F3864"/>
                </a:solidFill>
                <a:latin typeface="Consolas"/>
              </a:rPr>
              <a:t>SQLAlchemy async</a:t>
            </a:r>
          </a:p>
        </p:txBody>
      </p:sp>
      <p:sp>
        <p:nvSpPr>
          <p:cNvPr id="9031" name="TextBox 9030"/>
          <p:cNvSpPr txBox="1"/>
          <p:nvPr/>
        </p:nvSpPr>
        <p:spPr>
          <a:xfrm>
            <a:off x="4295851" y="7278624"/>
            <a:ext cx="2896819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BF9000"/>
                </a:solidFill>
                <a:latin typeface="Calibri"/>
              </a:rPr>
              <a:t>• </a:t>
            </a:r>
            <a:r>
              <a:rPr sz="1300">
                <a:solidFill>
                  <a:srgbClr val="1F3864"/>
                </a:solidFill>
                <a:latin typeface="Consolas"/>
              </a:rPr>
              <a:t>sse-starlette (≥2.0)</a:t>
            </a:r>
          </a:p>
        </p:txBody>
      </p:sp>
      <p:sp>
        <p:nvSpPr>
          <p:cNvPr id="9032" name="Rectangle 9031"/>
          <p:cNvSpPr/>
          <p:nvPr/>
        </p:nvSpPr>
        <p:spPr>
          <a:xfrm>
            <a:off x="4295851" y="8174736"/>
            <a:ext cx="2896819" cy="4572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9033" name="TextBox 9032"/>
          <p:cNvSpPr txBox="1"/>
          <p:nvPr/>
        </p:nvSpPr>
        <p:spPr>
          <a:xfrm>
            <a:off x="4295851" y="8266175"/>
            <a:ext cx="1174809" cy="20774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BF9000"/>
                </a:solidFill>
                <a:latin typeface="Calibri"/>
              </a:rPr>
              <a:t>DECISIÓN CLAVE</a:t>
            </a:r>
          </a:p>
        </p:txBody>
      </p:sp>
      <p:sp>
        <p:nvSpPr>
          <p:cNvPr id="9034" name="TextBox 9033"/>
          <p:cNvSpPr txBox="1"/>
          <p:nvPr/>
        </p:nvSpPr>
        <p:spPr>
          <a:xfrm>
            <a:off x="4295851" y="8513063"/>
            <a:ext cx="2896819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i="1" dirty="0" err="1">
                <a:solidFill>
                  <a:srgbClr val="404040"/>
                </a:solidFill>
                <a:latin typeface="Calibri"/>
              </a:rPr>
              <a:t>FastAPI</a:t>
            </a:r>
            <a:r>
              <a:rPr sz="1350" i="1" dirty="0">
                <a:solidFill>
                  <a:srgbClr val="404040"/>
                </a:solidFill>
                <a:latin typeface="Calibri"/>
              </a:rPr>
              <a:t> </a:t>
            </a:r>
            <a:r>
              <a:rPr sz="1300" i="1" dirty="0" err="1">
                <a:solidFill>
                  <a:srgbClr val="404040"/>
                </a:solidFill>
                <a:latin typeface="Calibri"/>
              </a:rPr>
              <a:t>sobre</a:t>
            </a:r>
            <a:r>
              <a:rPr sz="1300" i="1" dirty="0">
                <a:solidFill>
                  <a:srgbClr val="404040"/>
                </a:solidFill>
                <a:latin typeface="Calibri"/>
              </a:rPr>
              <a:t> Flask/Django </a:t>
            </a:r>
            <a:r>
              <a:rPr sz="1300" i="1" dirty="0" err="1">
                <a:solidFill>
                  <a:srgbClr val="404040"/>
                </a:solidFill>
                <a:latin typeface="Calibri"/>
              </a:rPr>
              <a:t>por</a:t>
            </a:r>
            <a:r>
              <a:rPr sz="1300" i="1" dirty="0">
                <a:solidFill>
                  <a:srgbClr val="404040"/>
                </a:solidFill>
                <a:latin typeface="Calibri"/>
              </a:rPr>
              <a:t> async-firs</a:t>
            </a:r>
            <a:r>
              <a:rPr lang="es-ES_tradnl" sz="1300" i="1" dirty="0">
                <a:solidFill>
                  <a:srgbClr val="404040"/>
                </a:solidFill>
                <a:latin typeface="Calibri"/>
              </a:rPr>
              <a:t>t.</a:t>
            </a:r>
            <a:endParaRPr sz="1350" i="1" dirty="0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9035" name="Trapezoid 9034"/>
          <p:cNvSpPr/>
          <p:nvPr/>
        </p:nvSpPr>
        <p:spPr>
          <a:xfrm rot="10800000">
            <a:off x="7466990" y="3017520"/>
            <a:ext cx="3262579" cy="1005840"/>
          </a:xfrm>
          <a:prstGeom prst="trapezoid">
            <a:avLst>
              <a:gd name="adj" fmla="val 20000"/>
            </a:avLst>
          </a:prstGeom>
          <a:solidFill>
            <a:srgbClr val="1F3864"/>
          </a:solidFill>
          <a:ln>
            <a:noFill/>
          </a:ln>
          <a:effectLst>
            <a:outerShdw blurRad="76200" dist="12700" dir="54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36" name="TextBox 9035"/>
          <p:cNvSpPr txBox="1"/>
          <p:nvPr/>
        </p:nvSpPr>
        <p:spPr>
          <a:xfrm>
            <a:off x="7649870" y="3199638"/>
            <a:ext cx="2896819" cy="7772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300" b="1" dirty="0">
                <a:solidFill>
                  <a:srgbClr val="FFFFFF"/>
                </a:solidFill>
                <a:latin typeface="Calibri"/>
              </a:rPr>
              <a:t>CAPA 03</a:t>
            </a:r>
          </a:p>
          <a:p>
            <a:pPr algn="ctr"/>
            <a:r>
              <a:rPr sz="1500" b="1" dirty="0">
                <a:solidFill>
                  <a:srgbClr val="FFFFFF"/>
                </a:solidFill>
                <a:latin typeface="Calibri"/>
              </a:rPr>
              <a:t>INTELIGENCIA</a:t>
            </a:r>
          </a:p>
        </p:txBody>
      </p:sp>
      <p:sp>
        <p:nvSpPr>
          <p:cNvPr id="9037" name="Rounded Rectangle 9036"/>
          <p:cNvSpPr/>
          <p:nvPr/>
        </p:nvSpPr>
        <p:spPr>
          <a:xfrm>
            <a:off x="7466990" y="3922776"/>
            <a:ext cx="3262579" cy="5440680"/>
          </a:xfrm>
          <a:prstGeom prst="roundRect">
            <a:avLst>
              <a:gd name="adj" fmla="val 2000"/>
            </a:avLst>
          </a:prstGeom>
          <a:solidFill>
            <a:srgbClr val="E9EEF7"/>
          </a:solidFill>
          <a:ln w="12700">
            <a:solidFill>
              <a:srgbClr val="1F3864"/>
            </a:solidFill>
          </a:ln>
          <a:effectLst>
            <a:outerShdw blurRad="76200" dist="12700" dir="5400000" algn="t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9038" name="Rounded Rectangle 9037"/>
          <p:cNvSpPr/>
          <p:nvPr/>
        </p:nvSpPr>
        <p:spPr>
          <a:xfrm>
            <a:off x="7649870" y="4105655"/>
            <a:ext cx="2896819" cy="292608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9039" name="TextBox 9038"/>
          <p:cNvSpPr txBox="1"/>
          <p:nvPr/>
        </p:nvSpPr>
        <p:spPr>
          <a:xfrm>
            <a:off x="8394401" y="4148086"/>
            <a:ext cx="1407758" cy="20774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300" b="1" dirty="0">
                <a:solidFill>
                  <a:srgbClr val="FFFFFF"/>
                </a:solidFill>
                <a:latin typeface="Calibri"/>
              </a:rPr>
              <a:t>MULTI-PROVEEDOR</a:t>
            </a:r>
          </a:p>
        </p:txBody>
      </p:sp>
      <p:sp>
        <p:nvSpPr>
          <p:cNvPr id="9040" name="TextBox 9039"/>
          <p:cNvSpPr txBox="1"/>
          <p:nvPr/>
        </p:nvSpPr>
        <p:spPr>
          <a:xfrm>
            <a:off x="7649870" y="4562856"/>
            <a:ext cx="2896819" cy="103874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dirty="0">
                <a:solidFill>
                  <a:srgbClr val="404040"/>
                </a:solidFill>
                <a:latin typeface="Calibri"/>
              </a:rPr>
              <a:t>Capa de </a:t>
            </a:r>
            <a:r>
              <a:rPr sz="1300" dirty="0" err="1">
                <a:solidFill>
                  <a:srgbClr val="404040"/>
                </a:solidFill>
                <a:latin typeface="Calibri"/>
              </a:rPr>
              <a:t>abstracción</a:t>
            </a:r>
            <a:r>
              <a:rPr sz="1300" dirty="0">
                <a:solidFill>
                  <a:srgbClr val="404040"/>
                </a:solidFill>
                <a:latin typeface="Calibri"/>
              </a:rPr>
              <a:t> multi-</a:t>
            </a:r>
            <a:r>
              <a:rPr sz="1300" dirty="0" err="1">
                <a:solidFill>
                  <a:srgbClr val="404040"/>
                </a:solidFill>
                <a:latin typeface="Calibri"/>
              </a:rPr>
              <a:t>proveedor</a:t>
            </a:r>
            <a:r>
              <a:rPr lang="es-ES_tradnl" sz="1350" dirty="0">
                <a:solidFill>
                  <a:srgbClr val="404040"/>
                </a:solidFill>
                <a:latin typeface="Calibri"/>
              </a:rPr>
              <a:t> </a:t>
            </a:r>
            <a:r>
              <a:rPr lang="es-ES_tradnl" sz="1300" dirty="0" err="1">
                <a:solidFill>
                  <a:srgbClr val="404040"/>
                </a:solidFill>
                <a:latin typeface="Calibri"/>
              </a:rPr>
              <a:t>via</a:t>
            </a:r>
            <a:r>
              <a:rPr lang="es-ES_tradnl" sz="1350" dirty="0">
                <a:solidFill>
                  <a:srgbClr val="404040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404040"/>
                </a:solidFill>
                <a:latin typeface="Calibri"/>
              </a:rPr>
              <a:t>LiteLLM</a:t>
            </a:r>
            <a:r>
              <a:rPr lang="es-ES_tradnl" sz="1300" dirty="0">
                <a:solidFill>
                  <a:srgbClr val="404040"/>
                </a:solidFill>
                <a:latin typeface="Calibri"/>
              </a:rPr>
              <a:t>, sin cambios de código para configurar otros proveedores</a:t>
            </a:r>
            <a:r>
              <a:rPr sz="1300" dirty="0">
                <a:solidFill>
                  <a:srgbClr val="404040"/>
                </a:solidFill>
                <a:latin typeface="Calibri"/>
              </a:rPr>
              <a:t>. </a:t>
            </a:r>
            <a:r>
              <a:rPr sz="1300" dirty="0" err="1">
                <a:solidFill>
                  <a:srgbClr val="404040"/>
                </a:solidFill>
                <a:latin typeface="Calibri"/>
              </a:rPr>
              <a:t>Orquestación</a:t>
            </a:r>
            <a:r>
              <a:rPr sz="1300" dirty="0">
                <a:solidFill>
                  <a:srgbClr val="404040"/>
                </a:solidFill>
                <a:latin typeface="Calibri"/>
              </a:rPr>
              <a:t> del </a:t>
            </a:r>
            <a:r>
              <a:rPr sz="1300" dirty="0" err="1">
                <a:solidFill>
                  <a:srgbClr val="404040"/>
                </a:solidFill>
                <a:latin typeface="Calibri"/>
              </a:rPr>
              <a:t>agente</a:t>
            </a:r>
            <a:r>
              <a:rPr sz="1350" dirty="0">
                <a:solidFill>
                  <a:srgbClr val="404040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404040"/>
                </a:solidFill>
                <a:latin typeface="Calibri"/>
              </a:rPr>
              <a:t>autónomo</a:t>
            </a:r>
            <a:r>
              <a:rPr sz="1300" dirty="0">
                <a:solidFill>
                  <a:srgbClr val="404040"/>
                </a:solidFill>
                <a:latin typeface="Calibri"/>
              </a:rPr>
              <a:t>. Parser PDF/DOCX/PPTX.</a:t>
            </a:r>
          </a:p>
        </p:txBody>
      </p:sp>
      <p:sp>
        <p:nvSpPr>
          <p:cNvPr id="9041" name="TextBox 9040"/>
          <p:cNvSpPr txBox="1"/>
          <p:nvPr/>
        </p:nvSpPr>
        <p:spPr>
          <a:xfrm>
            <a:off x="7649870" y="5934456"/>
            <a:ext cx="439544" cy="20774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BF9000"/>
                </a:solidFill>
                <a:latin typeface="Calibri"/>
              </a:rPr>
              <a:t>STACK</a:t>
            </a:r>
          </a:p>
        </p:txBody>
      </p:sp>
      <p:sp>
        <p:nvSpPr>
          <p:cNvPr id="9042" name="TextBox 9041"/>
          <p:cNvSpPr txBox="1"/>
          <p:nvPr/>
        </p:nvSpPr>
        <p:spPr>
          <a:xfrm>
            <a:off x="7649870" y="6181344"/>
            <a:ext cx="2896819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 dirty="0">
                <a:solidFill>
                  <a:srgbClr val="1F3864"/>
                </a:solidFill>
                <a:latin typeface="Calibri"/>
              </a:rPr>
              <a:t>• </a:t>
            </a:r>
            <a:r>
              <a:rPr sz="1300" dirty="0" err="1">
                <a:solidFill>
                  <a:srgbClr val="1F3864"/>
                </a:solidFill>
                <a:latin typeface="Consolas"/>
              </a:rPr>
              <a:t>LiteLLM</a:t>
            </a:r>
            <a:r>
              <a:rPr sz="1300" dirty="0">
                <a:solidFill>
                  <a:srgbClr val="1F3864"/>
                </a:solidFill>
                <a:latin typeface="Consolas"/>
              </a:rPr>
              <a:t> (≥1.46)</a:t>
            </a:r>
          </a:p>
        </p:txBody>
      </p:sp>
      <p:sp>
        <p:nvSpPr>
          <p:cNvPr id="9043" name="TextBox 9042"/>
          <p:cNvSpPr txBox="1"/>
          <p:nvPr/>
        </p:nvSpPr>
        <p:spPr>
          <a:xfrm>
            <a:off x="7649870" y="6455664"/>
            <a:ext cx="2896819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s-ES_tradnl" sz="1300" b="1" dirty="0">
                <a:solidFill>
                  <a:srgbClr val="1F3864"/>
                </a:solidFill>
                <a:latin typeface="Calibri"/>
              </a:rPr>
              <a:t>•</a:t>
            </a:r>
            <a:r>
              <a:rPr lang="es-ES_tradnl" sz="1300" dirty="0">
                <a:solidFill>
                  <a:srgbClr val="1F3864"/>
                </a:solidFill>
                <a:latin typeface="Calibri"/>
              </a:rPr>
              <a:t> Azure </a:t>
            </a:r>
            <a:r>
              <a:rPr lang="es-ES_tradnl" sz="1300" dirty="0" err="1">
                <a:solidFill>
                  <a:srgbClr val="1F3864"/>
                </a:solidFill>
                <a:latin typeface="Calibri"/>
              </a:rPr>
              <a:t>OpenAI</a:t>
            </a:r>
            <a:r>
              <a:rPr lang="es-ES_tradnl" sz="1300" dirty="0">
                <a:solidFill>
                  <a:srgbClr val="1F3864"/>
                </a:solidFill>
                <a:latin typeface="Calibri"/>
              </a:rPr>
              <a:t> (gpt-4o)</a:t>
            </a:r>
            <a:endParaRPr sz="1350" dirty="0">
              <a:solidFill>
                <a:srgbClr val="1F3864"/>
              </a:solidFill>
              <a:latin typeface="Consolas"/>
            </a:endParaRPr>
          </a:p>
        </p:txBody>
      </p:sp>
      <p:sp>
        <p:nvSpPr>
          <p:cNvPr id="9044" name="TextBox 9043"/>
          <p:cNvSpPr txBox="1"/>
          <p:nvPr/>
        </p:nvSpPr>
        <p:spPr>
          <a:xfrm>
            <a:off x="7649870" y="6729984"/>
            <a:ext cx="2896819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 dirty="0">
                <a:solidFill>
                  <a:srgbClr val="1F3864"/>
                </a:solidFill>
                <a:latin typeface="Calibri"/>
              </a:rPr>
              <a:t>• </a:t>
            </a:r>
            <a:r>
              <a:rPr sz="1300" dirty="0" err="1">
                <a:solidFill>
                  <a:srgbClr val="1F3864"/>
                </a:solidFill>
                <a:latin typeface="Consolas"/>
              </a:rPr>
              <a:t>CrewAI</a:t>
            </a:r>
            <a:r>
              <a:rPr sz="1300" dirty="0">
                <a:solidFill>
                  <a:srgbClr val="1F3864"/>
                </a:solidFill>
                <a:latin typeface="Consolas"/>
              </a:rPr>
              <a:t> (≥0.80)</a:t>
            </a:r>
          </a:p>
        </p:txBody>
      </p:sp>
      <p:sp>
        <p:nvSpPr>
          <p:cNvPr id="9045" name="TextBox 9044"/>
          <p:cNvSpPr txBox="1"/>
          <p:nvPr/>
        </p:nvSpPr>
        <p:spPr>
          <a:xfrm>
            <a:off x="7649870" y="7004303"/>
            <a:ext cx="2896819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1F3864"/>
                </a:solidFill>
                <a:latin typeface="Calibri"/>
              </a:rPr>
              <a:t>• </a:t>
            </a:r>
            <a:r>
              <a:rPr sz="1300">
                <a:solidFill>
                  <a:srgbClr val="1F3864"/>
                </a:solidFill>
                <a:latin typeface="Consolas"/>
              </a:rPr>
              <a:t>DuckDuckGo MCP</a:t>
            </a:r>
          </a:p>
        </p:txBody>
      </p:sp>
      <p:sp>
        <p:nvSpPr>
          <p:cNvPr id="9046" name="TextBox 9045"/>
          <p:cNvSpPr txBox="1"/>
          <p:nvPr/>
        </p:nvSpPr>
        <p:spPr>
          <a:xfrm>
            <a:off x="7649870" y="7278624"/>
            <a:ext cx="2896819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1F3864"/>
                </a:solidFill>
                <a:latin typeface="Calibri"/>
              </a:rPr>
              <a:t>• </a:t>
            </a:r>
            <a:r>
              <a:rPr sz="1300">
                <a:solidFill>
                  <a:srgbClr val="1F3864"/>
                </a:solidFill>
                <a:latin typeface="Consolas"/>
              </a:rPr>
              <a:t>Docling (≥2.0)</a:t>
            </a:r>
          </a:p>
        </p:txBody>
      </p:sp>
      <p:sp>
        <p:nvSpPr>
          <p:cNvPr id="9047" name="Rectangle 9046"/>
          <p:cNvSpPr/>
          <p:nvPr/>
        </p:nvSpPr>
        <p:spPr>
          <a:xfrm>
            <a:off x="7649870" y="8174736"/>
            <a:ext cx="2896819" cy="4572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9048" name="TextBox 9047"/>
          <p:cNvSpPr txBox="1"/>
          <p:nvPr/>
        </p:nvSpPr>
        <p:spPr>
          <a:xfrm>
            <a:off x="7649870" y="8266175"/>
            <a:ext cx="1174809" cy="20774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BF9000"/>
                </a:solidFill>
                <a:latin typeface="Calibri"/>
              </a:rPr>
              <a:t>DECISIÓN CLAVE</a:t>
            </a:r>
          </a:p>
        </p:txBody>
      </p:sp>
      <p:sp>
        <p:nvSpPr>
          <p:cNvPr id="9049" name="TextBox 9048"/>
          <p:cNvSpPr txBox="1"/>
          <p:nvPr/>
        </p:nvSpPr>
        <p:spPr>
          <a:xfrm>
            <a:off x="7649870" y="8513063"/>
            <a:ext cx="2896819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i="1">
                <a:solidFill>
                  <a:srgbClr val="404040"/>
                </a:solidFill>
                <a:latin typeface="Calibri"/>
              </a:rPr>
              <a:t>LiteLLM como fachada para cambiar de proveedor LLM sin tocar código.</a:t>
            </a:r>
          </a:p>
        </p:txBody>
      </p:sp>
      <p:sp>
        <p:nvSpPr>
          <p:cNvPr id="9050" name="Trapezoid 9049"/>
          <p:cNvSpPr/>
          <p:nvPr/>
        </p:nvSpPr>
        <p:spPr>
          <a:xfrm rot="10800000">
            <a:off x="10821009" y="3017520"/>
            <a:ext cx="3262579" cy="1005840"/>
          </a:xfrm>
          <a:prstGeom prst="trapezoid">
            <a:avLst>
              <a:gd name="adj" fmla="val 20000"/>
            </a:avLst>
          </a:prstGeom>
          <a:solidFill>
            <a:srgbClr val="4F814F"/>
          </a:solidFill>
          <a:ln>
            <a:noFill/>
          </a:ln>
          <a:effectLst>
            <a:outerShdw blurRad="76200" dist="12700" dir="54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51" name="TextBox 9050"/>
          <p:cNvSpPr txBox="1"/>
          <p:nvPr/>
        </p:nvSpPr>
        <p:spPr>
          <a:xfrm>
            <a:off x="11003889" y="3199638"/>
            <a:ext cx="2896819" cy="7772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CAPA 04</a:t>
            </a:r>
          </a:p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PERSISTENCIA</a:t>
            </a:r>
          </a:p>
        </p:txBody>
      </p:sp>
      <p:sp>
        <p:nvSpPr>
          <p:cNvPr id="9052" name="Rounded Rectangle 9051"/>
          <p:cNvSpPr/>
          <p:nvPr/>
        </p:nvSpPr>
        <p:spPr>
          <a:xfrm>
            <a:off x="10821009" y="3922776"/>
            <a:ext cx="3262579" cy="5440680"/>
          </a:xfrm>
          <a:prstGeom prst="roundRect">
            <a:avLst>
              <a:gd name="adj" fmla="val 2000"/>
            </a:avLst>
          </a:prstGeom>
          <a:solidFill>
            <a:srgbClr val="E6EFE6"/>
          </a:solidFill>
          <a:ln w="12700">
            <a:solidFill>
              <a:srgbClr val="4F814F"/>
            </a:solidFill>
          </a:ln>
          <a:effectLst>
            <a:outerShdw blurRad="76200" dist="12700" dir="5400000" algn="t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9053" name="Rounded Rectangle 9052"/>
          <p:cNvSpPr/>
          <p:nvPr/>
        </p:nvSpPr>
        <p:spPr>
          <a:xfrm>
            <a:off x="11003889" y="4105655"/>
            <a:ext cx="2896819" cy="292608"/>
          </a:xfrm>
          <a:prstGeom prst="roundRect">
            <a:avLst>
              <a:gd name="adj" fmla="val 50000"/>
            </a:avLst>
          </a:prstGeom>
          <a:solidFill>
            <a:srgbClr val="4F81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9054" name="TextBox 9053"/>
          <p:cNvSpPr txBox="1"/>
          <p:nvPr/>
        </p:nvSpPr>
        <p:spPr>
          <a:xfrm>
            <a:off x="11948573" y="4148086"/>
            <a:ext cx="1007456" cy="20774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300" b="1" dirty="0">
                <a:solidFill>
                  <a:srgbClr val="FFFFFF"/>
                </a:solidFill>
                <a:latin typeface="Calibri"/>
              </a:rPr>
              <a:t>DURABILIDAD</a:t>
            </a:r>
          </a:p>
        </p:txBody>
      </p:sp>
      <p:sp>
        <p:nvSpPr>
          <p:cNvPr id="9055" name="TextBox 9054"/>
          <p:cNvSpPr txBox="1"/>
          <p:nvPr/>
        </p:nvSpPr>
        <p:spPr>
          <a:xfrm>
            <a:off x="11003889" y="4562856"/>
            <a:ext cx="2896819" cy="6232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>
                <a:solidFill>
                  <a:srgbClr val="404040"/>
                </a:solidFill>
                <a:latin typeface="Calibri"/>
              </a:rPr>
              <a:t>Histórico durable de activos y empresas. Caché por empresa TTL 86 400s. Fuente principal de POIs. Cliente HTTP async.</a:t>
            </a:r>
          </a:p>
        </p:txBody>
      </p:sp>
      <p:sp>
        <p:nvSpPr>
          <p:cNvPr id="9056" name="TextBox 9055"/>
          <p:cNvSpPr txBox="1"/>
          <p:nvPr/>
        </p:nvSpPr>
        <p:spPr>
          <a:xfrm>
            <a:off x="11003889" y="5934456"/>
            <a:ext cx="439544" cy="20774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BF9000"/>
                </a:solidFill>
                <a:latin typeface="Calibri"/>
              </a:rPr>
              <a:t>STACK</a:t>
            </a:r>
          </a:p>
        </p:txBody>
      </p:sp>
      <p:sp>
        <p:nvSpPr>
          <p:cNvPr id="9057" name="TextBox 9056"/>
          <p:cNvSpPr txBox="1"/>
          <p:nvPr/>
        </p:nvSpPr>
        <p:spPr>
          <a:xfrm>
            <a:off x="11003889" y="6181344"/>
            <a:ext cx="2896819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4F814F"/>
                </a:solidFill>
                <a:latin typeface="Calibri"/>
              </a:rPr>
              <a:t>• </a:t>
            </a:r>
            <a:r>
              <a:rPr sz="1300">
                <a:solidFill>
                  <a:srgbClr val="1F3864"/>
                </a:solidFill>
                <a:latin typeface="Consolas"/>
              </a:rPr>
              <a:t>PostgreSQL 16-alpine</a:t>
            </a:r>
          </a:p>
        </p:txBody>
      </p:sp>
      <p:sp>
        <p:nvSpPr>
          <p:cNvPr id="9058" name="TextBox 9057"/>
          <p:cNvSpPr txBox="1"/>
          <p:nvPr/>
        </p:nvSpPr>
        <p:spPr>
          <a:xfrm>
            <a:off x="11003889" y="6455664"/>
            <a:ext cx="2896819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4F814F"/>
                </a:solidFill>
                <a:latin typeface="Calibri"/>
              </a:rPr>
              <a:t>• </a:t>
            </a:r>
            <a:r>
              <a:rPr sz="1300">
                <a:solidFill>
                  <a:srgbClr val="1F3864"/>
                </a:solidFill>
                <a:latin typeface="Consolas"/>
              </a:rPr>
              <a:t>Redis 7-alpine</a:t>
            </a:r>
          </a:p>
        </p:txBody>
      </p:sp>
      <p:sp>
        <p:nvSpPr>
          <p:cNvPr id="9059" name="TextBox 9058"/>
          <p:cNvSpPr txBox="1"/>
          <p:nvPr/>
        </p:nvSpPr>
        <p:spPr>
          <a:xfrm>
            <a:off x="11003889" y="6729984"/>
            <a:ext cx="2896819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4F814F"/>
                </a:solidFill>
                <a:latin typeface="Calibri"/>
              </a:rPr>
              <a:t>• </a:t>
            </a:r>
            <a:r>
              <a:rPr sz="1300">
                <a:solidFill>
                  <a:srgbClr val="1F3864"/>
                </a:solidFill>
                <a:latin typeface="Consolas"/>
              </a:rPr>
              <a:t>Google Maps API</a:t>
            </a:r>
          </a:p>
        </p:txBody>
      </p:sp>
      <p:sp>
        <p:nvSpPr>
          <p:cNvPr id="9060" name="TextBox 9059"/>
          <p:cNvSpPr txBox="1"/>
          <p:nvPr/>
        </p:nvSpPr>
        <p:spPr>
          <a:xfrm>
            <a:off x="11003889" y="7004303"/>
            <a:ext cx="2896819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4F814F"/>
                </a:solidFill>
                <a:latin typeface="Calibri"/>
              </a:rPr>
              <a:t>• </a:t>
            </a:r>
            <a:r>
              <a:rPr sz="1300">
                <a:solidFill>
                  <a:srgbClr val="1F3864"/>
                </a:solidFill>
                <a:latin typeface="Consolas"/>
              </a:rPr>
              <a:t>httpx (≥0.27)</a:t>
            </a:r>
          </a:p>
        </p:txBody>
      </p:sp>
      <p:sp>
        <p:nvSpPr>
          <p:cNvPr id="9061" name="Rectangle 9060"/>
          <p:cNvSpPr/>
          <p:nvPr/>
        </p:nvSpPr>
        <p:spPr>
          <a:xfrm>
            <a:off x="11003889" y="8174736"/>
            <a:ext cx="2896819" cy="4572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9062" name="TextBox 9061"/>
          <p:cNvSpPr txBox="1"/>
          <p:nvPr/>
        </p:nvSpPr>
        <p:spPr>
          <a:xfrm>
            <a:off x="11003889" y="8266175"/>
            <a:ext cx="1174809" cy="20774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BF9000"/>
                </a:solidFill>
                <a:latin typeface="Calibri"/>
              </a:rPr>
              <a:t>DECISIÓN CLAVE</a:t>
            </a:r>
          </a:p>
        </p:txBody>
      </p:sp>
      <p:sp>
        <p:nvSpPr>
          <p:cNvPr id="9063" name="TextBox 9062"/>
          <p:cNvSpPr txBox="1"/>
          <p:nvPr/>
        </p:nvSpPr>
        <p:spPr>
          <a:xfrm>
            <a:off x="11003889" y="8513063"/>
            <a:ext cx="2896819" cy="6463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i="1">
                <a:solidFill>
                  <a:srgbClr val="404040"/>
                </a:solidFill>
                <a:latin typeface="Calibri"/>
              </a:rPr>
              <a:t>PostgreSQL sobre MongoDB por integridad referencial + índices espaciales.</a:t>
            </a:r>
          </a:p>
        </p:txBody>
      </p:sp>
      <p:sp>
        <p:nvSpPr>
          <p:cNvPr id="9064" name="Trapezoid 9063"/>
          <p:cNvSpPr/>
          <p:nvPr/>
        </p:nvSpPr>
        <p:spPr>
          <a:xfrm rot="10800000">
            <a:off x="14175028" y="3017520"/>
            <a:ext cx="3262579" cy="1005840"/>
          </a:xfrm>
          <a:prstGeom prst="trapezoid">
            <a:avLst>
              <a:gd name="adj" fmla="val 20000"/>
            </a:avLst>
          </a:prstGeom>
          <a:solidFill>
            <a:srgbClr val="595959"/>
          </a:solidFill>
          <a:ln>
            <a:noFill/>
          </a:ln>
          <a:effectLst>
            <a:outerShdw blurRad="76200" dist="12700" dir="54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65" name="TextBox 9064"/>
          <p:cNvSpPr txBox="1"/>
          <p:nvPr/>
        </p:nvSpPr>
        <p:spPr>
          <a:xfrm>
            <a:off x="14357908" y="3199638"/>
            <a:ext cx="2896819" cy="7772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CAPA 05</a:t>
            </a:r>
          </a:p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DESPLIEGUE</a:t>
            </a:r>
          </a:p>
        </p:txBody>
      </p:sp>
      <p:sp>
        <p:nvSpPr>
          <p:cNvPr id="9066" name="Rounded Rectangle 9065"/>
          <p:cNvSpPr/>
          <p:nvPr/>
        </p:nvSpPr>
        <p:spPr>
          <a:xfrm>
            <a:off x="14175028" y="3922776"/>
            <a:ext cx="3262579" cy="5440680"/>
          </a:xfrm>
          <a:prstGeom prst="roundRect">
            <a:avLst>
              <a:gd name="adj" fmla="val 2000"/>
            </a:avLst>
          </a:prstGeom>
          <a:solidFill>
            <a:srgbClr val="E9E9E9"/>
          </a:solidFill>
          <a:ln w="12700">
            <a:solidFill>
              <a:srgbClr val="595959"/>
            </a:solidFill>
          </a:ln>
          <a:effectLst>
            <a:outerShdw blurRad="76200" dist="12700" dir="5400000" algn="t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9067" name="Rounded Rectangle 9066"/>
          <p:cNvSpPr/>
          <p:nvPr/>
        </p:nvSpPr>
        <p:spPr>
          <a:xfrm>
            <a:off x="14357908" y="4105655"/>
            <a:ext cx="2896819" cy="292608"/>
          </a:xfrm>
          <a:prstGeom prst="roundRect">
            <a:avLst>
              <a:gd name="adj" fmla="val 50000"/>
            </a:avLst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9068" name="TextBox 9067"/>
          <p:cNvSpPr txBox="1"/>
          <p:nvPr/>
        </p:nvSpPr>
        <p:spPr>
          <a:xfrm>
            <a:off x="15091026" y="4148086"/>
            <a:ext cx="1430584" cy="20774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300" b="1" dirty="0">
                <a:solidFill>
                  <a:srgbClr val="FFFFFF"/>
                </a:solidFill>
                <a:latin typeface="Calibri"/>
              </a:rPr>
              <a:t>REPRODUCIBILIDAD</a:t>
            </a:r>
          </a:p>
        </p:txBody>
      </p:sp>
      <p:sp>
        <p:nvSpPr>
          <p:cNvPr id="9069" name="TextBox 9068"/>
          <p:cNvSpPr txBox="1"/>
          <p:nvPr/>
        </p:nvSpPr>
        <p:spPr>
          <a:xfrm>
            <a:off x="14357908" y="4562856"/>
            <a:ext cx="2896819" cy="83099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>
                <a:solidFill>
                  <a:srgbClr val="404040"/>
                </a:solidFill>
                <a:latin typeface="Calibri"/>
              </a:rPr>
              <a:t>4 servicios, 1 orden de arranque (docker compose up). Sirve la SPA buildada estática. Package manager Python rápido. Build de imágenes Docker en CI.</a:t>
            </a:r>
          </a:p>
        </p:txBody>
      </p:sp>
      <p:sp>
        <p:nvSpPr>
          <p:cNvPr id="9070" name="TextBox 9069"/>
          <p:cNvSpPr txBox="1"/>
          <p:nvPr/>
        </p:nvSpPr>
        <p:spPr>
          <a:xfrm>
            <a:off x="14357908" y="5934456"/>
            <a:ext cx="439544" cy="20774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BF9000"/>
                </a:solidFill>
                <a:latin typeface="Calibri"/>
              </a:rPr>
              <a:t>STACK</a:t>
            </a:r>
          </a:p>
        </p:txBody>
      </p:sp>
      <p:sp>
        <p:nvSpPr>
          <p:cNvPr id="9071" name="TextBox 9070"/>
          <p:cNvSpPr txBox="1"/>
          <p:nvPr/>
        </p:nvSpPr>
        <p:spPr>
          <a:xfrm>
            <a:off x="14357908" y="6181344"/>
            <a:ext cx="2896819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595959"/>
                </a:solidFill>
                <a:latin typeface="Calibri"/>
              </a:rPr>
              <a:t>• </a:t>
            </a:r>
            <a:r>
              <a:rPr sz="1300">
                <a:solidFill>
                  <a:srgbClr val="1F3864"/>
                </a:solidFill>
                <a:latin typeface="Consolas"/>
              </a:rPr>
              <a:t>Docker Compose (v2)</a:t>
            </a:r>
          </a:p>
        </p:txBody>
      </p:sp>
      <p:sp>
        <p:nvSpPr>
          <p:cNvPr id="9072" name="TextBox 9071"/>
          <p:cNvSpPr txBox="1"/>
          <p:nvPr/>
        </p:nvSpPr>
        <p:spPr>
          <a:xfrm>
            <a:off x="14357908" y="6455664"/>
            <a:ext cx="2896819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595959"/>
                </a:solidFill>
                <a:latin typeface="Calibri"/>
              </a:rPr>
              <a:t>• </a:t>
            </a:r>
            <a:r>
              <a:rPr sz="1300">
                <a:solidFill>
                  <a:srgbClr val="1F3864"/>
                </a:solidFill>
                <a:latin typeface="Consolas"/>
              </a:rPr>
              <a:t>Nginx (alpine)</a:t>
            </a:r>
          </a:p>
        </p:txBody>
      </p:sp>
      <p:sp>
        <p:nvSpPr>
          <p:cNvPr id="9073" name="TextBox 9072"/>
          <p:cNvSpPr txBox="1"/>
          <p:nvPr/>
        </p:nvSpPr>
        <p:spPr>
          <a:xfrm>
            <a:off x="14357908" y="6729984"/>
            <a:ext cx="2896819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595959"/>
                </a:solidFill>
                <a:latin typeface="Calibri"/>
              </a:rPr>
              <a:t>• </a:t>
            </a:r>
            <a:r>
              <a:rPr sz="1300">
                <a:solidFill>
                  <a:srgbClr val="1F3864"/>
                </a:solidFill>
                <a:latin typeface="Consolas"/>
              </a:rPr>
              <a:t>uv (latest)</a:t>
            </a:r>
          </a:p>
        </p:txBody>
      </p:sp>
      <p:sp>
        <p:nvSpPr>
          <p:cNvPr id="9075" name="Rectangle 9074"/>
          <p:cNvSpPr/>
          <p:nvPr/>
        </p:nvSpPr>
        <p:spPr>
          <a:xfrm>
            <a:off x="14357908" y="8174736"/>
            <a:ext cx="2896819" cy="4572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9076" name="TextBox 9075"/>
          <p:cNvSpPr txBox="1"/>
          <p:nvPr/>
        </p:nvSpPr>
        <p:spPr>
          <a:xfrm>
            <a:off x="14357908" y="8266175"/>
            <a:ext cx="1174809" cy="20774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BF9000"/>
                </a:solidFill>
                <a:latin typeface="Calibri"/>
              </a:rPr>
              <a:t>DECISIÓN CLAVE</a:t>
            </a:r>
          </a:p>
        </p:txBody>
      </p:sp>
      <p:sp>
        <p:nvSpPr>
          <p:cNvPr id="9077" name="TextBox 9076"/>
          <p:cNvSpPr txBox="1"/>
          <p:nvPr/>
        </p:nvSpPr>
        <p:spPr>
          <a:xfrm>
            <a:off x="14357908" y="8513063"/>
            <a:ext cx="2896819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i="1">
                <a:solidFill>
                  <a:srgbClr val="404040"/>
                </a:solidFill>
                <a:latin typeface="Calibri"/>
              </a:rPr>
              <a:t>Compose sobre Kubernetes por simplicidad + suficiente para el alcance.</a:t>
            </a:r>
          </a:p>
        </p:txBody>
      </p:sp>
    </p:spTree>
    <p:extLst>
      <p:ext uri="{BB962C8B-B14F-4D97-AF65-F5344CB8AC3E}">
        <p14:creationId xmlns:p14="http://schemas.microsoft.com/office/powerpoint/2010/main" val="3251345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00" name="MS Header Group"/>
          <p:cNvGrpSpPr/>
          <p:nvPr/>
        </p:nvGrpSpPr>
        <p:grpSpPr>
          <a:xfrm>
            <a:off x="282819" y="579094"/>
            <a:ext cx="13786134" cy="1057874"/>
            <a:chOff x="92172" y="275827"/>
            <a:chExt cx="9190756" cy="705249"/>
          </a:xfrm>
        </p:grpSpPr>
        <p:sp>
          <p:nvSpPr>
            <p:cNvPr id="9001" name="MS Title Box"/>
            <p:cNvSpPr>
              <a:spLocks noChangeArrowheads="1"/>
            </p:cNvSpPr>
            <p:nvPr/>
          </p:nvSpPr>
          <p:spPr bwMode="gray">
            <a:xfrm>
              <a:off x="776292" y="404814"/>
              <a:ext cx="8506636" cy="576262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37160" tIns="68580" rIns="137160" bIns="68580" anchor="ctr"/>
            <a:lstStyle/>
            <a:p>
              <a:pPr>
                <a:lnSpc>
                  <a:spcPts val="3150"/>
                </a:lnSpc>
              </a:pPr>
              <a:r>
                <a:rPr lang="es-ES" sz="3000" b="1">
                  <a:solidFill>
                    <a:srgbClr val="002569"/>
                  </a:solidFill>
                  <a:latin typeface="Arial"/>
                </a:rPr>
                <a:t>Arquitectura técnica</a:t>
              </a:r>
            </a:p>
            <a:p>
              <a:r>
                <a:rPr lang="es-ES" sz="2700">
                  <a:solidFill>
                    <a:srgbClr val="E0D399">
                      <a:lumMod val="75000"/>
                    </a:srgbClr>
                  </a:solidFill>
                  <a:latin typeface="Arial"/>
                </a:rPr>
                <a:t>Cuatro servicios, dos entidades, una orden de arranque</a:t>
              </a:r>
            </a:p>
          </p:txBody>
        </p:sp>
        <p:sp>
          <p:nvSpPr>
            <p:cNvPr id="9002" name="MS Number"/>
            <p:cNvSpPr>
              <a:spLocks noChangeArrowheads="1"/>
            </p:cNvSpPr>
            <p:nvPr/>
          </p:nvSpPr>
          <p:spPr bwMode="gray">
            <a:xfrm>
              <a:off x="92172" y="275827"/>
              <a:ext cx="477819" cy="70014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148523" tIns="74261" rIns="148523" bIns="74261">
              <a:spAutoFit/>
            </a:bodyPr>
            <a:lstStyle/>
            <a:p>
              <a:pPr algn="ctr"/>
              <a:r>
                <a:rPr lang="es-ES" sz="5850" b="1" kern="0">
                  <a:solidFill>
                    <a:srgbClr val="002569"/>
                  </a:solidFill>
                  <a:latin typeface="Arial"/>
                </a:rPr>
                <a:t>3</a:t>
              </a:r>
            </a:p>
          </p:txBody>
        </p:sp>
        <p:cxnSp>
          <p:nvCxnSpPr>
            <p:cNvPr id="9003" name="MS Header Bar"/>
            <p:cNvCxnSpPr/>
            <p:nvPr/>
          </p:nvCxnSpPr>
          <p:spPr>
            <a:xfrm>
              <a:off x="570525" y="404814"/>
              <a:ext cx="0" cy="526647"/>
            </a:xfrm>
            <a:prstGeom prst="line">
              <a:avLst/>
            </a:prstGeom>
            <a:ln>
              <a:solidFill>
                <a:schemeClr val="tx2"/>
              </a:solidFill>
            </a:ln>
          </p:spPr>
        </p:cxnSp>
      </p:grpSp>
      <p:sp>
        <p:nvSpPr>
          <p:cNvPr id="9004" name="TextBox 9003"/>
          <p:cNvSpPr txBox="1"/>
          <p:nvPr/>
        </p:nvSpPr>
        <p:spPr>
          <a:xfrm>
            <a:off x="758952" y="2048256"/>
            <a:ext cx="16770096" cy="8412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algn="ctr">
              <a:defRPr sz="1500" b="1">
                <a:solidFill>
                  <a:srgbClr val="1F3864"/>
                </a:solidFill>
                <a:latin typeface="Calibri"/>
              </a:defRPr>
            </a:lvl1pPr>
          </a:lstStyle>
          <a:p>
            <a:r>
              <a:rPr sz="1800" err="1"/>
              <a:t>Despliegue</a:t>
            </a:r>
            <a:r>
              <a:rPr sz="1800"/>
              <a:t> + </a:t>
            </a:r>
            <a:r>
              <a:rPr sz="1800" err="1"/>
              <a:t>datos</a:t>
            </a:r>
            <a:r>
              <a:rPr sz="1800"/>
              <a:t>. docker-compose </a:t>
            </a:r>
            <a:r>
              <a:rPr sz="1800" err="1"/>
              <a:t>levanta</a:t>
            </a:r>
            <a:r>
              <a:rPr sz="1800"/>
              <a:t> cuatro </a:t>
            </a:r>
            <a:r>
              <a:rPr sz="1800" err="1"/>
              <a:t>servicios</a:t>
            </a:r>
            <a:r>
              <a:rPr sz="1800"/>
              <a:t> </a:t>
            </a:r>
            <a:r>
              <a:rPr sz="1800" err="1"/>
              <a:t>que</a:t>
            </a:r>
            <a:r>
              <a:rPr sz="1800"/>
              <a:t> se </a:t>
            </a:r>
            <a:r>
              <a:rPr sz="1800" err="1"/>
              <a:t>comunican</a:t>
            </a:r>
            <a:r>
              <a:rPr sz="1800"/>
              <a:t> con un </a:t>
            </a:r>
            <a:r>
              <a:rPr sz="1800" err="1"/>
              <a:t>único</a:t>
            </a:r>
            <a:r>
              <a:rPr sz="1800"/>
              <a:t> </a:t>
            </a:r>
            <a:r>
              <a:rPr sz="1800" err="1"/>
              <a:t>puerto</a:t>
            </a:r>
            <a:r>
              <a:rPr sz="1800"/>
              <a:t> </a:t>
            </a:r>
            <a:r>
              <a:rPr sz="1800" err="1"/>
              <a:t>público</a:t>
            </a:r>
            <a:r>
              <a:rPr sz="1800"/>
              <a:t> (3000); </a:t>
            </a:r>
            <a:r>
              <a:rPr sz="1800" err="1"/>
              <a:t>el</a:t>
            </a:r>
            <a:r>
              <a:rPr sz="1800"/>
              <a:t> backend (8000)</a:t>
            </a:r>
            <a:r>
              <a:rPr lang="es-ES_tradnl" sz="1800"/>
              <a:t> y</a:t>
            </a:r>
            <a:r>
              <a:rPr sz="1800"/>
              <a:t> la base de </a:t>
            </a:r>
            <a:r>
              <a:rPr sz="1800" err="1"/>
              <a:t>datos</a:t>
            </a:r>
            <a:r>
              <a:rPr sz="1800"/>
              <a:t> (5432) y </a:t>
            </a:r>
            <a:r>
              <a:rPr sz="1800" err="1"/>
              <a:t>caché</a:t>
            </a:r>
            <a:r>
              <a:rPr sz="1800"/>
              <a:t> (6379) </a:t>
            </a:r>
            <a:r>
              <a:rPr sz="1800" err="1"/>
              <a:t>viven</a:t>
            </a:r>
            <a:r>
              <a:rPr sz="1800"/>
              <a:t> </a:t>
            </a:r>
            <a:r>
              <a:rPr sz="1800" err="1"/>
              <a:t>dentro</a:t>
            </a:r>
            <a:r>
              <a:rPr sz="1800"/>
              <a:t> de la red interna.</a:t>
            </a:r>
          </a:p>
        </p:txBody>
      </p:sp>
      <p:sp>
        <p:nvSpPr>
          <p:cNvPr id="9005" name="Rounded Rectangle 9004"/>
          <p:cNvSpPr/>
          <p:nvPr/>
        </p:nvSpPr>
        <p:spPr>
          <a:xfrm>
            <a:off x="758952" y="2916935"/>
            <a:ext cx="4009644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>
            <a:outerShdw blurRad="127000" dist="38100" dir="5400000" algn="tl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06" name="Rectangle 9005"/>
          <p:cNvSpPr/>
          <p:nvPr/>
        </p:nvSpPr>
        <p:spPr>
          <a:xfrm>
            <a:off x="758952" y="2916935"/>
            <a:ext cx="4009644" cy="5943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07" name="TextBox 9006"/>
          <p:cNvSpPr txBox="1"/>
          <p:nvPr/>
        </p:nvSpPr>
        <p:spPr>
          <a:xfrm>
            <a:off x="987552" y="3008376"/>
            <a:ext cx="3552444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Consolas"/>
              </a:rPr>
              <a:t>frontend</a:t>
            </a:r>
            <a:r>
              <a:rPr sz="1300">
                <a:solidFill>
                  <a:srgbClr val="BF9000"/>
                </a:solidFill>
                <a:latin typeface="Consolas"/>
              </a:rPr>
              <a:t>   :3000</a:t>
            </a:r>
          </a:p>
        </p:txBody>
      </p:sp>
      <p:sp>
        <p:nvSpPr>
          <p:cNvPr id="9008" name="TextBox 9007"/>
          <p:cNvSpPr txBox="1"/>
          <p:nvPr/>
        </p:nvSpPr>
        <p:spPr>
          <a:xfrm>
            <a:off x="987552" y="3630167"/>
            <a:ext cx="1095172" cy="20774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 dirty="0">
                <a:solidFill>
                  <a:srgbClr val="BF9000"/>
                </a:solidFill>
                <a:latin typeface="Calibri"/>
              </a:rPr>
              <a:t>PRESENTACIÓN</a:t>
            </a:r>
          </a:p>
        </p:txBody>
      </p:sp>
      <p:sp>
        <p:nvSpPr>
          <p:cNvPr id="9009" name="TextBox 9008"/>
          <p:cNvSpPr txBox="1"/>
          <p:nvPr/>
        </p:nvSpPr>
        <p:spPr>
          <a:xfrm>
            <a:off x="987552" y="3858767"/>
            <a:ext cx="1460272" cy="20774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 dirty="0">
                <a:solidFill>
                  <a:srgbClr val="1F3864"/>
                </a:solidFill>
                <a:latin typeface="Calibri"/>
              </a:rPr>
              <a:t>Vue 3 + Nginx alpine</a:t>
            </a:r>
          </a:p>
        </p:txBody>
      </p:sp>
      <p:sp>
        <p:nvSpPr>
          <p:cNvPr id="9010" name="TextBox 9009"/>
          <p:cNvSpPr txBox="1"/>
          <p:nvPr/>
        </p:nvSpPr>
        <p:spPr>
          <a:xfrm>
            <a:off x="987552" y="4197095"/>
            <a:ext cx="3552444" cy="20774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 dirty="0">
                <a:solidFill>
                  <a:srgbClr val="1F3864"/>
                </a:solidFill>
                <a:latin typeface="Calibri"/>
              </a:rPr>
              <a:t>• </a:t>
            </a:r>
            <a:r>
              <a:rPr sz="1300" dirty="0">
                <a:solidFill>
                  <a:srgbClr val="404040"/>
                </a:solidFill>
                <a:latin typeface="Calibri"/>
              </a:rPr>
              <a:t>SPA </a:t>
            </a:r>
            <a:r>
              <a:rPr sz="1300" dirty="0" err="1">
                <a:solidFill>
                  <a:srgbClr val="404040"/>
                </a:solidFill>
                <a:latin typeface="Calibri"/>
              </a:rPr>
              <a:t>reactiva</a:t>
            </a:r>
            <a:r>
              <a:rPr sz="1300" dirty="0">
                <a:solidFill>
                  <a:srgbClr val="404040"/>
                </a:solidFill>
                <a:latin typeface="Calibri"/>
              </a:rPr>
              <a:t> con Composition API</a:t>
            </a:r>
          </a:p>
        </p:txBody>
      </p:sp>
      <p:sp>
        <p:nvSpPr>
          <p:cNvPr id="9011" name="TextBox 9010"/>
          <p:cNvSpPr txBox="1"/>
          <p:nvPr/>
        </p:nvSpPr>
        <p:spPr>
          <a:xfrm>
            <a:off x="987552" y="4489703"/>
            <a:ext cx="3552444" cy="20774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 dirty="0">
                <a:solidFill>
                  <a:srgbClr val="1F3864"/>
                </a:solidFill>
                <a:latin typeface="Calibri"/>
              </a:rPr>
              <a:t>• </a:t>
            </a:r>
            <a:r>
              <a:rPr sz="1300" dirty="0">
                <a:solidFill>
                  <a:srgbClr val="404040"/>
                </a:solidFill>
                <a:latin typeface="Calibri"/>
              </a:rPr>
              <a:t>Mapa Leaflet con clustering</a:t>
            </a:r>
          </a:p>
        </p:txBody>
      </p:sp>
      <p:sp>
        <p:nvSpPr>
          <p:cNvPr id="9012" name="TextBox 9011"/>
          <p:cNvSpPr txBox="1"/>
          <p:nvPr/>
        </p:nvSpPr>
        <p:spPr>
          <a:xfrm>
            <a:off x="987552" y="4782311"/>
            <a:ext cx="3552444" cy="20774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1F3864"/>
                </a:solidFill>
                <a:latin typeface="Calibri"/>
              </a:rPr>
              <a:t>• </a:t>
            </a:r>
            <a:r>
              <a:rPr sz="1300">
                <a:solidFill>
                  <a:srgbClr val="404040"/>
                </a:solidFill>
                <a:latin typeface="Calibri"/>
              </a:rPr>
              <a:t>Build estática servida por Nginx</a:t>
            </a:r>
          </a:p>
        </p:txBody>
      </p:sp>
      <p:sp>
        <p:nvSpPr>
          <p:cNvPr id="9013" name="Rounded Rectangle 9012"/>
          <p:cNvSpPr/>
          <p:nvPr/>
        </p:nvSpPr>
        <p:spPr>
          <a:xfrm>
            <a:off x="4951476" y="2916935"/>
            <a:ext cx="4009644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>
            <a:outerShdw blurRad="127000" dist="38100" dir="5400000" algn="tl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14" name="Rectangle 9013"/>
          <p:cNvSpPr/>
          <p:nvPr/>
        </p:nvSpPr>
        <p:spPr>
          <a:xfrm>
            <a:off x="4951476" y="2916935"/>
            <a:ext cx="4009644" cy="594360"/>
          </a:xfrm>
          <a:prstGeom prst="rect">
            <a:avLst/>
          </a:prstGeom>
          <a:solidFill>
            <a:srgbClr val="BF9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15" name="TextBox 9014"/>
          <p:cNvSpPr txBox="1"/>
          <p:nvPr/>
        </p:nvSpPr>
        <p:spPr>
          <a:xfrm>
            <a:off x="5180076" y="3008376"/>
            <a:ext cx="3552444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Consolas"/>
              </a:rPr>
              <a:t>backend</a:t>
            </a:r>
            <a:r>
              <a:rPr sz="1300">
                <a:solidFill>
                  <a:srgbClr val="FFFFFF"/>
                </a:solidFill>
                <a:latin typeface="Consolas"/>
              </a:rPr>
              <a:t>   :8000</a:t>
            </a:r>
          </a:p>
        </p:txBody>
      </p:sp>
      <p:sp>
        <p:nvSpPr>
          <p:cNvPr id="9016" name="TextBox 9015"/>
          <p:cNvSpPr txBox="1"/>
          <p:nvPr/>
        </p:nvSpPr>
        <p:spPr>
          <a:xfrm>
            <a:off x="5180076" y="3630167"/>
            <a:ext cx="1556708" cy="20774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BF9000"/>
                </a:solidFill>
                <a:latin typeface="Calibri"/>
              </a:rPr>
              <a:t>API + ORQUESTACIÓN</a:t>
            </a:r>
          </a:p>
        </p:txBody>
      </p:sp>
      <p:sp>
        <p:nvSpPr>
          <p:cNvPr id="9017" name="TextBox 9016"/>
          <p:cNvSpPr txBox="1"/>
          <p:nvPr/>
        </p:nvSpPr>
        <p:spPr>
          <a:xfrm>
            <a:off x="5180076" y="3858767"/>
            <a:ext cx="1249253" cy="20774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1F3864"/>
                </a:solidFill>
                <a:latin typeface="Calibri"/>
              </a:rPr>
              <a:t>FastAPI + Uvicorn</a:t>
            </a:r>
          </a:p>
        </p:txBody>
      </p:sp>
      <p:sp>
        <p:nvSpPr>
          <p:cNvPr id="9018" name="TextBox 9017"/>
          <p:cNvSpPr txBox="1"/>
          <p:nvPr/>
        </p:nvSpPr>
        <p:spPr>
          <a:xfrm>
            <a:off x="5180076" y="4197095"/>
            <a:ext cx="3552444" cy="20774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BF9000"/>
                </a:solidFill>
                <a:latin typeface="Calibri"/>
              </a:rPr>
              <a:t>• </a:t>
            </a:r>
            <a:r>
              <a:rPr sz="1300">
                <a:solidFill>
                  <a:srgbClr val="404040"/>
                </a:solidFill>
                <a:latin typeface="Calibri"/>
              </a:rPr>
              <a:t>Async nativo + OpenAPI auto</a:t>
            </a:r>
          </a:p>
        </p:txBody>
      </p:sp>
      <p:sp>
        <p:nvSpPr>
          <p:cNvPr id="9019" name="TextBox 9018"/>
          <p:cNvSpPr txBox="1"/>
          <p:nvPr/>
        </p:nvSpPr>
        <p:spPr>
          <a:xfrm>
            <a:off x="5180076" y="4489703"/>
            <a:ext cx="3552444" cy="20774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BF9000"/>
                </a:solidFill>
                <a:latin typeface="Calibri"/>
              </a:rPr>
              <a:t>• </a:t>
            </a:r>
            <a:r>
              <a:rPr sz="1300">
                <a:solidFill>
                  <a:srgbClr val="404040"/>
                </a:solidFill>
                <a:latin typeface="Calibri"/>
              </a:rPr>
              <a:t>Orchestrator de pipelines</a:t>
            </a:r>
          </a:p>
        </p:txBody>
      </p:sp>
      <p:sp>
        <p:nvSpPr>
          <p:cNvPr id="9020" name="TextBox 9019"/>
          <p:cNvSpPr txBox="1"/>
          <p:nvPr/>
        </p:nvSpPr>
        <p:spPr>
          <a:xfrm>
            <a:off x="5180076" y="4782311"/>
            <a:ext cx="3552444" cy="20774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BF9000"/>
                </a:solidFill>
                <a:latin typeface="Calibri"/>
              </a:rPr>
              <a:t>• </a:t>
            </a:r>
            <a:r>
              <a:rPr sz="1300">
                <a:solidFill>
                  <a:srgbClr val="404040"/>
                </a:solidFill>
                <a:latin typeface="Calibri"/>
              </a:rPr>
              <a:t>Stream SSE al cliente</a:t>
            </a:r>
          </a:p>
        </p:txBody>
      </p:sp>
      <p:sp>
        <p:nvSpPr>
          <p:cNvPr id="9021" name="Rounded Rectangle 9020"/>
          <p:cNvSpPr/>
          <p:nvPr/>
        </p:nvSpPr>
        <p:spPr>
          <a:xfrm>
            <a:off x="9144000" y="2916935"/>
            <a:ext cx="4009644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>
            <a:outerShdw blurRad="127000" dist="38100" dir="5400000" algn="tl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22" name="Rectangle 9021"/>
          <p:cNvSpPr/>
          <p:nvPr/>
        </p:nvSpPr>
        <p:spPr>
          <a:xfrm>
            <a:off x="9144000" y="2916935"/>
            <a:ext cx="4009644" cy="594360"/>
          </a:xfrm>
          <a:prstGeom prst="rect">
            <a:avLst/>
          </a:prstGeom>
          <a:solidFill>
            <a:srgbClr val="4F81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23" name="TextBox 9022"/>
          <p:cNvSpPr txBox="1"/>
          <p:nvPr/>
        </p:nvSpPr>
        <p:spPr>
          <a:xfrm>
            <a:off x="9372600" y="3008376"/>
            <a:ext cx="3552444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Consolas"/>
              </a:rPr>
              <a:t>postgres</a:t>
            </a:r>
            <a:r>
              <a:rPr sz="1300">
                <a:solidFill>
                  <a:srgbClr val="BF9000"/>
                </a:solidFill>
                <a:latin typeface="Consolas"/>
              </a:rPr>
              <a:t>   :5432</a:t>
            </a:r>
          </a:p>
        </p:txBody>
      </p:sp>
      <p:sp>
        <p:nvSpPr>
          <p:cNvPr id="9024" name="TextBox 9023"/>
          <p:cNvSpPr txBox="1"/>
          <p:nvPr/>
        </p:nvSpPr>
        <p:spPr>
          <a:xfrm>
            <a:off x="9372600" y="3630167"/>
            <a:ext cx="1006558" cy="20774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BF9000"/>
                </a:solidFill>
                <a:latin typeface="Calibri"/>
              </a:rPr>
              <a:t>PERSISTENCIA</a:t>
            </a:r>
          </a:p>
        </p:txBody>
      </p:sp>
      <p:sp>
        <p:nvSpPr>
          <p:cNvPr id="9025" name="TextBox 9024"/>
          <p:cNvSpPr txBox="1"/>
          <p:nvPr/>
        </p:nvSpPr>
        <p:spPr>
          <a:xfrm>
            <a:off x="9372600" y="3858767"/>
            <a:ext cx="1520994" cy="20774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1F3864"/>
                </a:solidFill>
                <a:latin typeface="Calibri"/>
              </a:rPr>
              <a:t>PostgreSQL 16-alpine</a:t>
            </a:r>
          </a:p>
        </p:txBody>
      </p:sp>
      <p:sp>
        <p:nvSpPr>
          <p:cNvPr id="9026" name="TextBox 9025"/>
          <p:cNvSpPr txBox="1"/>
          <p:nvPr/>
        </p:nvSpPr>
        <p:spPr>
          <a:xfrm>
            <a:off x="9372600" y="4197095"/>
            <a:ext cx="3552444" cy="20774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4F814F"/>
                </a:solidFill>
                <a:latin typeface="Calibri"/>
              </a:rPr>
              <a:t>• </a:t>
            </a:r>
            <a:r>
              <a:rPr sz="1300">
                <a:solidFill>
                  <a:srgbClr val="404040"/>
                </a:solidFill>
                <a:latin typeface="Calibri"/>
              </a:rPr>
              <a:t>Histórico durable de activos</a:t>
            </a:r>
          </a:p>
        </p:txBody>
      </p:sp>
      <p:sp>
        <p:nvSpPr>
          <p:cNvPr id="9027" name="TextBox 9026"/>
          <p:cNvSpPr txBox="1"/>
          <p:nvPr/>
        </p:nvSpPr>
        <p:spPr>
          <a:xfrm>
            <a:off x="9372600" y="4489703"/>
            <a:ext cx="3552444" cy="20774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4F814F"/>
                </a:solidFill>
                <a:latin typeface="Calibri"/>
              </a:rPr>
              <a:t>• </a:t>
            </a:r>
            <a:r>
              <a:rPr sz="1300">
                <a:solidFill>
                  <a:srgbClr val="404040"/>
                </a:solidFill>
                <a:latin typeface="Calibri"/>
              </a:rPr>
              <a:t>Índices espaciales</a:t>
            </a:r>
          </a:p>
        </p:txBody>
      </p:sp>
      <p:sp>
        <p:nvSpPr>
          <p:cNvPr id="9028" name="TextBox 9027"/>
          <p:cNvSpPr txBox="1"/>
          <p:nvPr/>
        </p:nvSpPr>
        <p:spPr>
          <a:xfrm>
            <a:off x="9372600" y="4782311"/>
            <a:ext cx="3552444" cy="20774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4F814F"/>
                </a:solidFill>
                <a:latin typeface="Calibri"/>
              </a:rPr>
              <a:t>• </a:t>
            </a:r>
            <a:r>
              <a:rPr sz="1300">
                <a:solidFill>
                  <a:srgbClr val="404040"/>
                </a:solidFill>
                <a:latin typeface="Calibri"/>
              </a:rPr>
              <a:t>Integridad referencial 1—N</a:t>
            </a:r>
          </a:p>
        </p:txBody>
      </p:sp>
      <p:sp>
        <p:nvSpPr>
          <p:cNvPr id="9029" name="Rounded Rectangle 9028"/>
          <p:cNvSpPr/>
          <p:nvPr/>
        </p:nvSpPr>
        <p:spPr>
          <a:xfrm>
            <a:off x="13336524" y="2916935"/>
            <a:ext cx="4009644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>
            <a:outerShdw blurRad="127000" dist="38100" dir="5400000" algn="tl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30" name="Rectangle 9029"/>
          <p:cNvSpPr/>
          <p:nvPr/>
        </p:nvSpPr>
        <p:spPr>
          <a:xfrm>
            <a:off x="13336524" y="2916935"/>
            <a:ext cx="4009644" cy="594360"/>
          </a:xfrm>
          <a:prstGeom prst="rect">
            <a:avLst/>
          </a:prstGeom>
          <a:solidFill>
            <a:srgbClr val="142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31" name="TextBox 9030"/>
          <p:cNvSpPr txBox="1"/>
          <p:nvPr/>
        </p:nvSpPr>
        <p:spPr>
          <a:xfrm>
            <a:off x="13565124" y="3008376"/>
            <a:ext cx="3552444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Consolas"/>
              </a:rPr>
              <a:t>redis</a:t>
            </a:r>
            <a:r>
              <a:rPr sz="1300">
                <a:solidFill>
                  <a:srgbClr val="BF9000"/>
                </a:solidFill>
                <a:latin typeface="Consolas"/>
              </a:rPr>
              <a:t>   :6379</a:t>
            </a:r>
          </a:p>
        </p:txBody>
      </p:sp>
      <p:sp>
        <p:nvSpPr>
          <p:cNvPr id="9032" name="TextBox 9031"/>
          <p:cNvSpPr txBox="1"/>
          <p:nvPr/>
        </p:nvSpPr>
        <p:spPr>
          <a:xfrm>
            <a:off x="13565124" y="3630167"/>
            <a:ext cx="478849" cy="20774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BF9000"/>
                </a:solidFill>
                <a:latin typeface="Calibri"/>
              </a:rPr>
              <a:t>CACHÉ</a:t>
            </a:r>
          </a:p>
        </p:txBody>
      </p:sp>
      <p:sp>
        <p:nvSpPr>
          <p:cNvPr id="9033" name="TextBox 9032"/>
          <p:cNvSpPr txBox="1"/>
          <p:nvPr/>
        </p:nvSpPr>
        <p:spPr>
          <a:xfrm>
            <a:off x="13565124" y="3858767"/>
            <a:ext cx="1010533" cy="20774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1F3864"/>
                </a:solidFill>
                <a:latin typeface="Calibri"/>
              </a:rPr>
              <a:t>Redis 7-alpine</a:t>
            </a:r>
          </a:p>
        </p:txBody>
      </p:sp>
      <p:sp>
        <p:nvSpPr>
          <p:cNvPr id="9034" name="TextBox 9033"/>
          <p:cNvSpPr txBox="1"/>
          <p:nvPr/>
        </p:nvSpPr>
        <p:spPr>
          <a:xfrm>
            <a:off x="13565124" y="4197095"/>
            <a:ext cx="3552444" cy="20774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14284D"/>
                </a:solidFill>
                <a:latin typeface="Calibri"/>
              </a:rPr>
              <a:t>• </a:t>
            </a:r>
            <a:r>
              <a:rPr sz="1300">
                <a:solidFill>
                  <a:srgbClr val="404040"/>
                </a:solidFill>
                <a:latin typeface="Calibri"/>
              </a:rPr>
              <a:t>TTL 86400s por empresa</a:t>
            </a:r>
          </a:p>
        </p:txBody>
      </p:sp>
      <p:sp>
        <p:nvSpPr>
          <p:cNvPr id="9035" name="TextBox 9034"/>
          <p:cNvSpPr txBox="1"/>
          <p:nvPr/>
        </p:nvSpPr>
        <p:spPr>
          <a:xfrm>
            <a:off x="13565124" y="4489703"/>
            <a:ext cx="3552444" cy="20774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14284D"/>
                </a:solidFill>
                <a:latin typeface="Calibri"/>
              </a:rPr>
              <a:t>• </a:t>
            </a:r>
            <a:r>
              <a:rPr sz="1300">
                <a:solidFill>
                  <a:srgbClr val="404040"/>
                </a:solidFill>
                <a:latin typeface="Calibri"/>
              </a:rPr>
              <a:t>Clave company:{id}:assets</a:t>
            </a:r>
          </a:p>
        </p:txBody>
      </p:sp>
      <p:sp>
        <p:nvSpPr>
          <p:cNvPr id="9036" name="TextBox 9035"/>
          <p:cNvSpPr txBox="1"/>
          <p:nvPr/>
        </p:nvSpPr>
        <p:spPr>
          <a:xfrm>
            <a:off x="13565124" y="4782311"/>
            <a:ext cx="3552444" cy="20774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14284D"/>
                </a:solidFill>
                <a:latin typeface="Calibri"/>
              </a:rPr>
              <a:t>• </a:t>
            </a:r>
            <a:r>
              <a:rPr sz="1300">
                <a:solidFill>
                  <a:srgbClr val="404040"/>
                </a:solidFill>
                <a:latin typeface="Calibri"/>
              </a:rPr>
              <a:t>Resp. JSON cacheada</a:t>
            </a:r>
          </a:p>
        </p:txBody>
      </p:sp>
      <p:sp>
        <p:nvSpPr>
          <p:cNvPr id="9037" name="Rounded Rectangle 9036"/>
          <p:cNvSpPr/>
          <p:nvPr/>
        </p:nvSpPr>
        <p:spPr>
          <a:xfrm>
            <a:off x="758952" y="5477256"/>
            <a:ext cx="5029200" cy="29260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>
            <a:outerShdw blurRad="101600" dist="25400" dir="54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38" name="Rectangle 9037"/>
          <p:cNvSpPr/>
          <p:nvPr/>
        </p:nvSpPr>
        <p:spPr>
          <a:xfrm>
            <a:off x="758952" y="5477256"/>
            <a:ext cx="5029200" cy="4572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39" name="TextBox 9038"/>
          <p:cNvSpPr txBox="1"/>
          <p:nvPr/>
        </p:nvSpPr>
        <p:spPr>
          <a:xfrm>
            <a:off x="987552" y="5568695"/>
            <a:ext cx="45720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Consolas"/>
              </a:rPr>
              <a:t>companies</a:t>
            </a:r>
            <a:r>
              <a:rPr sz="1300">
                <a:solidFill>
                  <a:srgbClr val="BF9000"/>
                </a:solidFill>
                <a:latin typeface="Calibri"/>
              </a:rPr>
              <a:t>   ·  8 columnas</a:t>
            </a:r>
          </a:p>
        </p:txBody>
      </p:sp>
      <p:sp>
        <p:nvSpPr>
          <p:cNvPr id="9040" name="Rectangle 9039"/>
          <p:cNvSpPr/>
          <p:nvPr/>
        </p:nvSpPr>
        <p:spPr>
          <a:xfrm>
            <a:off x="804672" y="6044184"/>
            <a:ext cx="4937760" cy="310896"/>
          </a:xfrm>
          <a:prstGeom prst="rect">
            <a:avLst/>
          </a:prstGeom>
          <a:solidFill>
            <a:srgbClr val="F7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41" name="TextBox 9040"/>
          <p:cNvSpPr txBox="1"/>
          <p:nvPr/>
        </p:nvSpPr>
        <p:spPr>
          <a:xfrm>
            <a:off x="896112" y="6080760"/>
            <a:ext cx="185948" cy="20774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 dirty="0">
                <a:solidFill>
                  <a:srgbClr val="BF9000"/>
                </a:solidFill>
                <a:latin typeface="Calibri"/>
              </a:rPr>
              <a:t>PK</a:t>
            </a:r>
          </a:p>
        </p:txBody>
      </p:sp>
      <p:sp>
        <p:nvSpPr>
          <p:cNvPr id="9042" name="TextBox 9041"/>
          <p:cNvSpPr txBox="1"/>
          <p:nvPr/>
        </p:nvSpPr>
        <p:spPr>
          <a:xfrm>
            <a:off x="1261872" y="6080760"/>
            <a:ext cx="274320" cy="1846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 dirty="0">
                <a:solidFill>
                  <a:srgbClr val="1F3864"/>
                </a:solidFill>
                <a:latin typeface="Consolas"/>
              </a:rPr>
              <a:t>id</a:t>
            </a:r>
          </a:p>
        </p:txBody>
      </p:sp>
      <p:sp>
        <p:nvSpPr>
          <p:cNvPr id="9043" name="TextBox 9042"/>
          <p:cNvSpPr txBox="1"/>
          <p:nvPr/>
        </p:nvSpPr>
        <p:spPr>
          <a:xfrm>
            <a:off x="3090672" y="6080760"/>
            <a:ext cx="640080" cy="16158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dirty="0">
                <a:solidFill>
                  <a:srgbClr val="595959"/>
                </a:solidFill>
                <a:latin typeface="Consolas"/>
              </a:rPr>
              <a:t>String</a:t>
            </a:r>
          </a:p>
        </p:txBody>
      </p:sp>
      <p:sp>
        <p:nvSpPr>
          <p:cNvPr id="9044" name="TextBox 9043"/>
          <p:cNvSpPr txBox="1"/>
          <p:nvPr/>
        </p:nvSpPr>
        <p:spPr>
          <a:xfrm>
            <a:off x="3966972" y="6080760"/>
            <a:ext cx="1009892" cy="16158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i="1" dirty="0">
                <a:solidFill>
                  <a:srgbClr val="404040"/>
                </a:solidFill>
                <a:latin typeface="Calibri"/>
              </a:rPr>
              <a:t>UUID </a:t>
            </a:r>
            <a:r>
              <a:rPr sz="1300" i="1" dirty="0" err="1">
                <a:solidFill>
                  <a:srgbClr val="404040"/>
                </a:solidFill>
                <a:latin typeface="Calibri"/>
              </a:rPr>
              <a:t>identificador</a:t>
            </a:r>
            <a:endParaRPr sz="1050" i="1" dirty="0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9045" name="TextBox 9044"/>
          <p:cNvSpPr txBox="1"/>
          <p:nvPr/>
        </p:nvSpPr>
        <p:spPr>
          <a:xfrm>
            <a:off x="1261872" y="6409944"/>
            <a:ext cx="502920" cy="1846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 dirty="0">
                <a:solidFill>
                  <a:srgbClr val="1F3864"/>
                </a:solidFill>
                <a:latin typeface="Consolas"/>
              </a:rPr>
              <a:t>name</a:t>
            </a:r>
          </a:p>
        </p:txBody>
      </p:sp>
      <p:sp>
        <p:nvSpPr>
          <p:cNvPr id="9046" name="TextBox 9045"/>
          <p:cNvSpPr txBox="1"/>
          <p:nvPr/>
        </p:nvSpPr>
        <p:spPr>
          <a:xfrm>
            <a:off x="3090672" y="6409944"/>
            <a:ext cx="640080" cy="16158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>
                <a:solidFill>
                  <a:srgbClr val="595959"/>
                </a:solidFill>
                <a:latin typeface="Consolas"/>
              </a:rPr>
              <a:t>String</a:t>
            </a:r>
          </a:p>
        </p:txBody>
      </p:sp>
      <p:sp>
        <p:nvSpPr>
          <p:cNvPr id="9047" name="TextBox 9046"/>
          <p:cNvSpPr txBox="1"/>
          <p:nvPr/>
        </p:nvSpPr>
        <p:spPr>
          <a:xfrm>
            <a:off x="3966972" y="6409944"/>
            <a:ext cx="1460336" cy="16158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i="1" dirty="0">
                <a:solidFill>
                  <a:srgbClr val="404040"/>
                </a:solidFill>
                <a:latin typeface="Calibri"/>
              </a:rPr>
              <a:t>Nombre </a:t>
            </a:r>
            <a:r>
              <a:rPr sz="1300" i="1" dirty="0" err="1">
                <a:solidFill>
                  <a:srgbClr val="404040"/>
                </a:solidFill>
                <a:latin typeface="Calibri"/>
              </a:rPr>
              <a:t>canónico</a:t>
            </a:r>
            <a:r>
              <a:rPr sz="1050" i="1" dirty="0">
                <a:solidFill>
                  <a:srgbClr val="404040"/>
                </a:solidFill>
                <a:latin typeface="Calibri"/>
              </a:rPr>
              <a:t> </a:t>
            </a:r>
            <a:r>
              <a:rPr sz="1300" i="1" dirty="0" err="1">
                <a:solidFill>
                  <a:srgbClr val="404040"/>
                </a:solidFill>
                <a:latin typeface="Calibri"/>
              </a:rPr>
              <a:t>empresa</a:t>
            </a:r>
            <a:endParaRPr sz="1050" i="1" dirty="0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9048" name="Rectangle 9047"/>
          <p:cNvSpPr/>
          <p:nvPr/>
        </p:nvSpPr>
        <p:spPr>
          <a:xfrm>
            <a:off x="804672" y="6702552"/>
            <a:ext cx="4937760" cy="310896"/>
          </a:xfrm>
          <a:prstGeom prst="rect">
            <a:avLst/>
          </a:prstGeom>
          <a:solidFill>
            <a:srgbClr val="F7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49" name="TextBox 9048"/>
          <p:cNvSpPr txBox="1"/>
          <p:nvPr/>
        </p:nvSpPr>
        <p:spPr>
          <a:xfrm>
            <a:off x="1261872" y="6739128"/>
            <a:ext cx="365760" cy="1846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1F3864"/>
                </a:solidFill>
                <a:latin typeface="Consolas"/>
              </a:rPr>
              <a:t>cif</a:t>
            </a:r>
          </a:p>
        </p:txBody>
      </p:sp>
      <p:sp>
        <p:nvSpPr>
          <p:cNvPr id="9050" name="TextBox 9049"/>
          <p:cNvSpPr txBox="1"/>
          <p:nvPr/>
        </p:nvSpPr>
        <p:spPr>
          <a:xfrm>
            <a:off x="3090672" y="6739128"/>
            <a:ext cx="731520" cy="16158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>
                <a:solidFill>
                  <a:srgbClr val="595959"/>
                </a:solidFill>
                <a:latin typeface="Consolas"/>
              </a:rPr>
              <a:t>String?</a:t>
            </a:r>
          </a:p>
        </p:txBody>
      </p:sp>
      <p:sp>
        <p:nvSpPr>
          <p:cNvPr id="9051" name="TextBox 9050"/>
          <p:cNvSpPr txBox="1"/>
          <p:nvPr/>
        </p:nvSpPr>
        <p:spPr>
          <a:xfrm>
            <a:off x="3966972" y="6739128"/>
            <a:ext cx="876843" cy="16158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i="1">
                <a:solidFill>
                  <a:srgbClr val="404040"/>
                </a:solidFill>
                <a:latin typeface="Calibri"/>
              </a:rPr>
              <a:t>CIF normalizado</a:t>
            </a:r>
          </a:p>
        </p:txBody>
      </p:sp>
      <p:sp>
        <p:nvSpPr>
          <p:cNvPr id="9052" name="TextBox 9051"/>
          <p:cNvSpPr txBox="1"/>
          <p:nvPr/>
        </p:nvSpPr>
        <p:spPr>
          <a:xfrm>
            <a:off x="1261872" y="7068312"/>
            <a:ext cx="640080" cy="1846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1F3864"/>
                </a:solidFill>
                <a:latin typeface="Consolas"/>
              </a:rPr>
              <a:t>sector</a:t>
            </a:r>
          </a:p>
        </p:txBody>
      </p:sp>
      <p:sp>
        <p:nvSpPr>
          <p:cNvPr id="9053" name="TextBox 9052"/>
          <p:cNvSpPr txBox="1"/>
          <p:nvPr/>
        </p:nvSpPr>
        <p:spPr>
          <a:xfrm>
            <a:off x="3090672" y="7068312"/>
            <a:ext cx="731520" cy="16158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>
                <a:solidFill>
                  <a:srgbClr val="595959"/>
                </a:solidFill>
                <a:latin typeface="Consolas"/>
              </a:rPr>
              <a:t>String?</a:t>
            </a:r>
          </a:p>
        </p:txBody>
      </p:sp>
      <p:sp>
        <p:nvSpPr>
          <p:cNvPr id="9054" name="TextBox 9053"/>
          <p:cNvSpPr txBox="1"/>
          <p:nvPr/>
        </p:nvSpPr>
        <p:spPr>
          <a:xfrm>
            <a:off x="3966972" y="7068312"/>
            <a:ext cx="798295" cy="16158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i="1">
                <a:solidFill>
                  <a:srgbClr val="404040"/>
                </a:solidFill>
                <a:latin typeface="Calibri"/>
              </a:rPr>
              <a:t>CNAE primario</a:t>
            </a:r>
          </a:p>
        </p:txBody>
      </p:sp>
      <p:sp>
        <p:nvSpPr>
          <p:cNvPr id="9055" name="Rectangle 9054"/>
          <p:cNvSpPr/>
          <p:nvPr/>
        </p:nvSpPr>
        <p:spPr>
          <a:xfrm>
            <a:off x="804672" y="7360919"/>
            <a:ext cx="4937760" cy="310896"/>
          </a:xfrm>
          <a:prstGeom prst="rect">
            <a:avLst/>
          </a:prstGeom>
          <a:solidFill>
            <a:srgbClr val="F7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56" name="TextBox 9055"/>
          <p:cNvSpPr txBox="1"/>
          <p:nvPr/>
        </p:nvSpPr>
        <p:spPr>
          <a:xfrm>
            <a:off x="1261872" y="7397493"/>
            <a:ext cx="1280160" cy="1846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 dirty="0">
                <a:solidFill>
                  <a:srgbClr val="1F3864"/>
                </a:solidFill>
                <a:latin typeface="Consolas"/>
              </a:rPr>
              <a:t>headquarters</a:t>
            </a:r>
          </a:p>
        </p:txBody>
      </p:sp>
      <p:sp>
        <p:nvSpPr>
          <p:cNvPr id="9057" name="TextBox 9056"/>
          <p:cNvSpPr txBox="1"/>
          <p:nvPr/>
        </p:nvSpPr>
        <p:spPr>
          <a:xfrm>
            <a:off x="3090672" y="7397493"/>
            <a:ext cx="731520" cy="16158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>
                <a:solidFill>
                  <a:srgbClr val="595959"/>
                </a:solidFill>
                <a:latin typeface="Consolas"/>
              </a:rPr>
              <a:t>String?</a:t>
            </a:r>
          </a:p>
        </p:txBody>
      </p:sp>
      <p:sp>
        <p:nvSpPr>
          <p:cNvPr id="9058" name="TextBox 9057"/>
          <p:cNvSpPr txBox="1"/>
          <p:nvPr/>
        </p:nvSpPr>
        <p:spPr>
          <a:xfrm>
            <a:off x="3966972" y="7397493"/>
            <a:ext cx="1253548" cy="16158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i="1">
                <a:solidFill>
                  <a:srgbClr val="404040"/>
                </a:solidFill>
                <a:latin typeface="Calibri"/>
              </a:rPr>
              <a:t>Coords HQ identificada</a:t>
            </a:r>
          </a:p>
        </p:txBody>
      </p:sp>
      <p:sp>
        <p:nvSpPr>
          <p:cNvPr id="9059" name="TextBox 9058"/>
          <p:cNvSpPr txBox="1"/>
          <p:nvPr/>
        </p:nvSpPr>
        <p:spPr>
          <a:xfrm>
            <a:off x="1261872" y="7726676"/>
            <a:ext cx="1691640" cy="1846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1F3864"/>
                </a:solidFill>
                <a:latin typeface="Consolas"/>
              </a:rPr>
              <a:t>last_analyzed_at</a:t>
            </a:r>
          </a:p>
        </p:txBody>
      </p:sp>
      <p:sp>
        <p:nvSpPr>
          <p:cNvPr id="9060" name="TextBox 9059"/>
          <p:cNvSpPr txBox="1"/>
          <p:nvPr/>
        </p:nvSpPr>
        <p:spPr>
          <a:xfrm>
            <a:off x="3090672" y="7726676"/>
            <a:ext cx="1005840" cy="16158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>
                <a:solidFill>
                  <a:srgbClr val="595959"/>
                </a:solidFill>
                <a:latin typeface="Consolas"/>
              </a:rPr>
              <a:t>DateTime?</a:t>
            </a:r>
          </a:p>
        </p:txBody>
      </p:sp>
      <p:sp>
        <p:nvSpPr>
          <p:cNvPr id="9061" name="TextBox 9060"/>
          <p:cNvSpPr txBox="1"/>
          <p:nvPr/>
        </p:nvSpPr>
        <p:spPr>
          <a:xfrm>
            <a:off x="3966972" y="7726676"/>
            <a:ext cx="1240724" cy="16158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i="1">
                <a:solidFill>
                  <a:srgbClr val="404040"/>
                </a:solidFill>
                <a:latin typeface="Calibri"/>
              </a:rPr>
              <a:t>Última corrida pipeline</a:t>
            </a:r>
          </a:p>
        </p:txBody>
      </p:sp>
      <p:sp>
        <p:nvSpPr>
          <p:cNvPr id="9062" name="TextBox 9061"/>
          <p:cNvSpPr txBox="1"/>
          <p:nvPr/>
        </p:nvSpPr>
        <p:spPr>
          <a:xfrm>
            <a:off x="1261872" y="8055862"/>
            <a:ext cx="1280160" cy="1846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1F3864"/>
                </a:solidFill>
                <a:latin typeface="Consolas"/>
              </a:rPr>
              <a:t>total_assets</a:t>
            </a:r>
          </a:p>
        </p:txBody>
      </p:sp>
      <p:sp>
        <p:nvSpPr>
          <p:cNvPr id="9063" name="TextBox 9062"/>
          <p:cNvSpPr txBox="1"/>
          <p:nvPr/>
        </p:nvSpPr>
        <p:spPr>
          <a:xfrm>
            <a:off x="3090672" y="8055862"/>
            <a:ext cx="731520" cy="16158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>
                <a:solidFill>
                  <a:srgbClr val="595959"/>
                </a:solidFill>
                <a:latin typeface="Consolas"/>
              </a:rPr>
              <a:t>Integer</a:t>
            </a:r>
          </a:p>
        </p:txBody>
      </p:sp>
      <p:sp>
        <p:nvSpPr>
          <p:cNvPr id="9064" name="TextBox 9063"/>
          <p:cNvSpPr txBox="1"/>
          <p:nvPr/>
        </p:nvSpPr>
        <p:spPr>
          <a:xfrm>
            <a:off x="3966972" y="8055862"/>
            <a:ext cx="1410643" cy="16158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i="1">
                <a:solidFill>
                  <a:srgbClr val="404040"/>
                </a:solidFill>
                <a:latin typeface="Calibri"/>
              </a:rPr>
              <a:t>Conteo activos persistidos</a:t>
            </a:r>
          </a:p>
        </p:txBody>
      </p:sp>
      <p:sp>
        <p:nvSpPr>
          <p:cNvPr id="9065" name="Rounded Rectangle 9064"/>
          <p:cNvSpPr/>
          <p:nvPr/>
        </p:nvSpPr>
        <p:spPr>
          <a:xfrm>
            <a:off x="6062472" y="5477256"/>
            <a:ext cx="11466576" cy="29260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>
            <a:outerShdw blurRad="101600" dist="25400" dir="54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66" name="Rectangle 9065"/>
          <p:cNvSpPr/>
          <p:nvPr/>
        </p:nvSpPr>
        <p:spPr>
          <a:xfrm>
            <a:off x="6062472" y="5477256"/>
            <a:ext cx="11466576" cy="4572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67" name="TextBox 9066"/>
          <p:cNvSpPr txBox="1"/>
          <p:nvPr/>
        </p:nvSpPr>
        <p:spPr>
          <a:xfrm>
            <a:off x="6291072" y="5568695"/>
            <a:ext cx="11009376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Consolas"/>
              </a:rPr>
              <a:t>assets</a:t>
            </a:r>
            <a:r>
              <a:rPr sz="1300">
                <a:solidFill>
                  <a:srgbClr val="BF9000"/>
                </a:solidFill>
                <a:latin typeface="Calibri"/>
              </a:rPr>
              <a:t>   ·  25 columnas en 5 bloques funcionales</a:t>
            </a:r>
          </a:p>
        </p:txBody>
      </p:sp>
      <p:sp>
        <p:nvSpPr>
          <p:cNvPr id="9068" name="Rectangle 9067"/>
          <p:cNvSpPr/>
          <p:nvPr/>
        </p:nvSpPr>
        <p:spPr>
          <a:xfrm>
            <a:off x="6153912" y="6071616"/>
            <a:ext cx="45720" cy="393192"/>
          </a:xfrm>
          <a:prstGeom prst="rect">
            <a:avLst/>
          </a:prstGeom>
          <a:solidFill>
            <a:srgbClr val="BF9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69" name="TextBox 9068"/>
          <p:cNvSpPr txBox="1"/>
          <p:nvPr/>
        </p:nvSpPr>
        <p:spPr>
          <a:xfrm>
            <a:off x="6291072" y="6089904"/>
            <a:ext cx="1325880" cy="1846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 dirty="0">
                <a:solidFill>
                  <a:srgbClr val="1F3864"/>
                </a:solidFill>
                <a:latin typeface="Calibri"/>
              </a:rPr>
              <a:t>IDENTIFICACIÓN</a:t>
            </a:r>
          </a:p>
        </p:txBody>
      </p:sp>
      <p:sp>
        <p:nvSpPr>
          <p:cNvPr id="9070" name="Oval 9069"/>
          <p:cNvSpPr/>
          <p:nvPr/>
        </p:nvSpPr>
        <p:spPr>
          <a:xfrm>
            <a:off x="17071848" y="6089904"/>
            <a:ext cx="274320" cy="274320"/>
          </a:xfrm>
          <a:prstGeom prst="ellipse">
            <a:avLst/>
          </a:prstGeom>
          <a:solidFill>
            <a:srgbClr val="BF9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71" name="TextBox 9070"/>
          <p:cNvSpPr txBox="1"/>
          <p:nvPr/>
        </p:nvSpPr>
        <p:spPr>
          <a:xfrm>
            <a:off x="17071848" y="6089904"/>
            <a:ext cx="274320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9072" name="TextBox 9071"/>
          <p:cNvSpPr txBox="1"/>
          <p:nvPr/>
        </p:nvSpPr>
        <p:spPr>
          <a:xfrm>
            <a:off x="6291072" y="6318504"/>
            <a:ext cx="10963656" cy="1615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dirty="0">
                <a:solidFill>
                  <a:srgbClr val="404040"/>
                </a:solidFill>
                <a:latin typeface="Consolas"/>
              </a:rPr>
              <a:t>id, </a:t>
            </a:r>
            <a:r>
              <a:rPr sz="1300" dirty="0" err="1">
                <a:solidFill>
                  <a:srgbClr val="404040"/>
                </a:solidFill>
                <a:latin typeface="Consolas"/>
              </a:rPr>
              <a:t>company_id</a:t>
            </a:r>
            <a:r>
              <a:rPr sz="1300" dirty="0">
                <a:solidFill>
                  <a:srgbClr val="404040"/>
                </a:solidFill>
                <a:latin typeface="Consolas"/>
              </a:rPr>
              <a:t>, name, </a:t>
            </a:r>
            <a:r>
              <a:rPr sz="1300" dirty="0" err="1">
                <a:solidFill>
                  <a:srgbClr val="404040"/>
                </a:solidFill>
                <a:latin typeface="Consolas"/>
              </a:rPr>
              <a:t>raw_name</a:t>
            </a:r>
            <a:r>
              <a:rPr sz="1300" dirty="0">
                <a:solidFill>
                  <a:srgbClr val="404040"/>
                </a:solidFill>
                <a:latin typeface="Consolas"/>
              </a:rPr>
              <a:t>, category, subcategory</a:t>
            </a:r>
          </a:p>
        </p:txBody>
      </p:sp>
      <p:sp>
        <p:nvSpPr>
          <p:cNvPr id="9073" name="Rectangle 9072"/>
          <p:cNvSpPr/>
          <p:nvPr/>
        </p:nvSpPr>
        <p:spPr>
          <a:xfrm>
            <a:off x="6153912" y="6519672"/>
            <a:ext cx="45720" cy="393192"/>
          </a:xfrm>
          <a:prstGeom prst="rect">
            <a:avLst/>
          </a:prstGeom>
          <a:solidFill>
            <a:srgbClr val="BF9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74" name="TextBox 9073"/>
          <p:cNvSpPr txBox="1"/>
          <p:nvPr/>
        </p:nvSpPr>
        <p:spPr>
          <a:xfrm>
            <a:off x="6291072" y="6537960"/>
            <a:ext cx="1371600" cy="1846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 dirty="0">
                <a:solidFill>
                  <a:srgbClr val="1F3864"/>
                </a:solidFill>
                <a:latin typeface="Calibri"/>
              </a:rPr>
              <a:t>GEOLOCALIZACIÓN</a:t>
            </a:r>
          </a:p>
        </p:txBody>
      </p:sp>
      <p:sp>
        <p:nvSpPr>
          <p:cNvPr id="9075" name="Oval 9074"/>
          <p:cNvSpPr/>
          <p:nvPr/>
        </p:nvSpPr>
        <p:spPr>
          <a:xfrm>
            <a:off x="17071848" y="6537960"/>
            <a:ext cx="274320" cy="274320"/>
          </a:xfrm>
          <a:prstGeom prst="ellipse">
            <a:avLst/>
          </a:prstGeom>
          <a:solidFill>
            <a:srgbClr val="BF9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76" name="TextBox 9075"/>
          <p:cNvSpPr txBox="1"/>
          <p:nvPr/>
        </p:nvSpPr>
        <p:spPr>
          <a:xfrm>
            <a:off x="17071848" y="6537960"/>
            <a:ext cx="274320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9077" name="TextBox 9076"/>
          <p:cNvSpPr txBox="1"/>
          <p:nvPr/>
        </p:nvSpPr>
        <p:spPr>
          <a:xfrm>
            <a:off x="6291072" y="6766560"/>
            <a:ext cx="10963656" cy="1615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dirty="0">
                <a:solidFill>
                  <a:srgbClr val="404040"/>
                </a:solidFill>
                <a:latin typeface="Consolas"/>
              </a:rPr>
              <a:t>latitude, longitude, address, municipality, province, </a:t>
            </a:r>
            <a:r>
              <a:rPr sz="1300" dirty="0" err="1">
                <a:solidFill>
                  <a:srgbClr val="404040"/>
                </a:solidFill>
                <a:latin typeface="Consolas"/>
              </a:rPr>
              <a:t>autonomous_community</a:t>
            </a:r>
            <a:r>
              <a:rPr sz="1300" dirty="0">
                <a:solidFill>
                  <a:srgbClr val="404040"/>
                </a:solidFill>
                <a:latin typeface="Consolas"/>
              </a:rPr>
              <a:t>, </a:t>
            </a:r>
            <a:r>
              <a:rPr sz="1300" dirty="0" err="1">
                <a:solidFill>
                  <a:srgbClr val="404040"/>
                </a:solidFill>
                <a:latin typeface="Consolas"/>
              </a:rPr>
              <a:t>postal_code</a:t>
            </a:r>
            <a:endParaRPr sz="1050" dirty="0">
              <a:solidFill>
                <a:srgbClr val="404040"/>
              </a:solidFill>
              <a:latin typeface="Consolas"/>
            </a:endParaRPr>
          </a:p>
        </p:txBody>
      </p:sp>
      <p:sp>
        <p:nvSpPr>
          <p:cNvPr id="9078" name="Rectangle 9077"/>
          <p:cNvSpPr/>
          <p:nvPr/>
        </p:nvSpPr>
        <p:spPr>
          <a:xfrm>
            <a:off x="6153912" y="6967728"/>
            <a:ext cx="45720" cy="393192"/>
          </a:xfrm>
          <a:prstGeom prst="rect">
            <a:avLst/>
          </a:prstGeom>
          <a:solidFill>
            <a:srgbClr val="BF9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79" name="TextBox 9078"/>
          <p:cNvSpPr txBox="1"/>
          <p:nvPr/>
        </p:nvSpPr>
        <p:spPr>
          <a:xfrm>
            <a:off x="6291072" y="6986016"/>
            <a:ext cx="2011680" cy="1846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1F3864"/>
                </a:solidFill>
                <a:latin typeface="Calibri"/>
              </a:rPr>
              <a:t>METADATOS FUNCIONALES</a:t>
            </a:r>
          </a:p>
        </p:txBody>
      </p:sp>
      <p:sp>
        <p:nvSpPr>
          <p:cNvPr id="9080" name="Oval 9079"/>
          <p:cNvSpPr/>
          <p:nvPr/>
        </p:nvSpPr>
        <p:spPr>
          <a:xfrm>
            <a:off x="17071848" y="6986016"/>
            <a:ext cx="274320" cy="274320"/>
          </a:xfrm>
          <a:prstGeom prst="ellipse">
            <a:avLst/>
          </a:prstGeom>
          <a:solidFill>
            <a:srgbClr val="BF9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81" name="TextBox 9080"/>
          <p:cNvSpPr txBox="1"/>
          <p:nvPr/>
        </p:nvSpPr>
        <p:spPr>
          <a:xfrm>
            <a:off x="17071848" y="6986016"/>
            <a:ext cx="274320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9082" name="TextBox 9081"/>
          <p:cNvSpPr txBox="1"/>
          <p:nvPr/>
        </p:nvSpPr>
        <p:spPr>
          <a:xfrm>
            <a:off x="6291072" y="7214616"/>
            <a:ext cx="10963656" cy="1615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>
                <a:solidFill>
                  <a:srgbClr val="404040"/>
                </a:solidFill>
                <a:latin typeface="Consolas"/>
              </a:rPr>
              <a:t>description, size_estimate, functional_tags, is_headquarters</a:t>
            </a:r>
          </a:p>
        </p:txBody>
      </p:sp>
      <p:sp>
        <p:nvSpPr>
          <p:cNvPr id="9083" name="Rectangle 9082"/>
          <p:cNvSpPr/>
          <p:nvPr/>
        </p:nvSpPr>
        <p:spPr>
          <a:xfrm>
            <a:off x="6153912" y="7415783"/>
            <a:ext cx="45720" cy="393192"/>
          </a:xfrm>
          <a:prstGeom prst="rect">
            <a:avLst/>
          </a:prstGeom>
          <a:solidFill>
            <a:srgbClr val="BF9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84" name="TextBox 9083"/>
          <p:cNvSpPr txBox="1"/>
          <p:nvPr/>
        </p:nvSpPr>
        <p:spPr>
          <a:xfrm>
            <a:off x="6291072" y="7434071"/>
            <a:ext cx="1691640" cy="1846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1F3864"/>
                </a:solidFill>
                <a:latin typeface="Calibri"/>
              </a:rPr>
              <a:t>FUENTE Y CONFIANZA</a:t>
            </a:r>
          </a:p>
        </p:txBody>
      </p:sp>
      <p:sp>
        <p:nvSpPr>
          <p:cNvPr id="9085" name="Oval 9084"/>
          <p:cNvSpPr/>
          <p:nvPr/>
        </p:nvSpPr>
        <p:spPr>
          <a:xfrm>
            <a:off x="17071848" y="7434071"/>
            <a:ext cx="274320" cy="274320"/>
          </a:xfrm>
          <a:prstGeom prst="ellipse">
            <a:avLst/>
          </a:prstGeom>
          <a:solidFill>
            <a:srgbClr val="BF9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86" name="TextBox 9085"/>
          <p:cNvSpPr txBox="1"/>
          <p:nvPr/>
        </p:nvSpPr>
        <p:spPr>
          <a:xfrm>
            <a:off x="17071848" y="7434071"/>
            <a:ext cx="274320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9087" name="TextBox 9086"/>
          <p:cNvSpPr txBox="1"/>
          <p:nvPr/>
        </p:nvSpPr>
        <p:spPr>
          <a:xfrm>
            <a:off x="6291072" y="7662671"/>
            <a:ext cx="10963656" cy="1615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dirty="0" err="1">
                <a:solidFill>
                  <a:srgbClr val="404040"/>
                </a:solidFill>
                <a:latin typeface="Consolas"/>
              </a:rPr>
              <a:t>google_place_id</a:t>
            </a:r>
            <a:r>
              <a:rPr sz="1300" dirty="0">
                <a:solidFill>
                  <a:srgbClr val="404040"/>
                </a:solidFill>
                <a:latin typeface="Consolas"/>
              </a:rPr>
              <a:t>, </a:t>
            </a:r>
            <a:r>
              <a:rPr sz="1300" dirty="0" err="1">
                <a:solidFill>
                  <a:srgbClr val="404040"/>
                </a:solidFill>
                <a:latin typeface="Consolas"/>
              </a:rPr>
              <a:t>confidence_score</a:t>
            </a:r>
            <a:r>
              <a:rPr sz="1300" dirty="0">
                <a:solidFill>
                  <a:srgbClr val="404040"/>
                </a:solidFill>
                <a:latin typeface="Consolas"/>
              </a:rPr>
              <a:t>, </a:t>
            </a:r>
            <a:r>
              <a:rPr sz="1300" dirty="0" err="1">
                <a:solidFill>
                  <a:srgbClr val="404040"/>
                </a:solidFill>
                <a:latin typeface="Consolas"/>
              </a:rPr>
              <a:t>confidence_tier</a:t>
            </a:r>
            <a:r>
              <a:rPr sz="1300" dirty="0">
                <a:solidFill>
                  <a:srgbClr val="404040"/>
                </a:solidFill>
                <a:latin typeface="Consolas"/>
              </a:rPr>
              <a:t>, </a:t>
            </a:r>
            <a:r>
              <a:rPr sz="1300" dirty="0" err="1">
                <a:solidFill>
                  <a:srgbClr val="404040"/>
                </a:solidFill>
                <a:latin typeface="Consolas"/>
              </a:rPr>
              <a:t>data_sources</a:t>
            </a:r>
            <a:endParaRPr sz="1050" dirty="0">
              <a:solidFill>
                <a:srgbClr val="404040"/>
              </a:solidFill>
              <a:latin typeface="Consolas"/>
            </a:endParaRPr>
          </a:p>
        </p:txBody>
      </p:sp>
      <p:sp>
        <p:nvSpPr>
          <p:cNvPr id="9088" name="Rectangle 9087"/>
          <p:cNvSpPr/>
          <p:nvPr/>
        </p:nvSpPr>
        <p:spPr>
          <a:xfrm>
            <a:off x="6153912" y="7863840"/>
            <a:ext cx="45720" cy="393192"/>
          </a:xfrm>
          <a:prstGeom prst="rect">
            <a:avLst/>
          </a:prstGeom>
          <a:solidFill>
            <a:srgbClr val="BF9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89" name="TextBox 9088"/>
          <p:cNvSpPr txBox="1"/>
          <p:nvPr/>
        </p:nvSpPr>
        <p:spPr>
          <a:xfrm>
            <a:off x="6291072" y="7882127"/>
            <a:ext cx="1783080" cy="1846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1F3864"/>
                </a:solidFill>
                <a:latin typeface="Calibri"/>
              </a:rPr>
              <a:t>CONTACTO Y CONTROL</a:t>
            </a:r>
          </a:p>
        </p:txBody>
      </p:sp>
      <p:sp>
        <p:nvSpPr>
          <p:cNvPr id="9090" name="Oval 9089"/>
          <p:cNvSpPr/>
          <p:nvPr/>
        </p:nvSpPr>
        <p:spPr>
          <a:xfrm>
            <a:off x="17071848" y="7882127"/>
            <a:ext cx="274320" cy="274320"/>
          </a:xfrm>
          <a:prstGeom prst="ellipse">
            <a:avLst/>
          </a:prstGeom>
          <a:solidFill>
            <a:srgbClr val="BF9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91" name="TextBox 9090"/>
          <p:cNvSpPr txBox="1"/>
          <p:nvPr/>
        </p:nvSpPr>
        <p:spPr>
          <a:xfrm>
            <a:off x="17071848" y="7882127"/>
            <a:ext cx="274320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9092" name="TextBox 9091"/>
          <p:cNvSpPr txBox="1"/>
          <p:nvPr/>
        </p:nvSpPr>
        <p:spPr>
          <a:xfrm>
            <a:off x="6291072" y="8110727"/>
            <a:ext cx="10963656" cy="1615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>
                <a:solidFill>
                  <a:srgbClr val="404040"/>
                </a:solidFill>
                <a:latin typeface="Consolas"/>
              </a:rPr>
              <a:t>website, phone, created_at, updated_at</a:t>
            </a:r>
          </a:p>
        </p:txBody>
      </p:sp>
      <p:sp>
        <p:nvSpPr>
          <p:cNvPr id="9093" name="Rounded Rectangle 9092"/>
          <p:cNvSpPr/>
          <p:nvPr/>
        </p:nvSpPr>
        <p:spPr>
          <a:xfrm>
            <a:off x="758952" y="8494776"/>
            <a:ext cx="16770096" cy="384048"/>
          </a:xfrm>
          <a:prstGeom prst="roundRect">
            <a:avLst>
              <a:gd name="adj" fmla="val 20000"/>
            </a:avLst>
          </a:prstGeom>
          <a:solidFill>
            <a:srgbClr val="F7F7F9"/>
          </a:solidFill>
          <a:ln w="6350">
            <a:solidFill>
              <a:srgbClr val="BF9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94" name="TextBox 9093"/>
          <p:cNvSpPr txBox="1"/>
          <p:nvPr/>
        </p:nvSpPr>
        <p:spPr>
          <a:xfrm>
            <a:off x="960120" y="8567928"/>
            <a:ext cx="16459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 dirty="0" err="1">
                <a:solidFill>
                  <a:srgbClr val="1F3864"/>
                </a:solidFill>
                <a:latin typeface="Calibri"/>
              </a:rPr>
              <a:t>Relación</a:t>
            </a:r>
            <a:r>
              <a:rPr sz="1300" b="1" dirty="0">
                <a:solidFill>
                  <a:srgbClr val="1F3864"/>
                </a:solidFill>
                <a:latin typeface="Calibri"/>
              </a:rPr>
              <a:t> 1—N. </a:t>
            </a:r>
            <a:r>
              <a:rPr sz="1300" dirty="0">
                <a:solidFill>
                  <a:srgbClr val="404040"/>
                </a:solidFill>
                <a:latin typeface="Calibri"/>
              </a:rPr>
              <a:t>companies (1) ──&lt; assets (N) </a:t>
            </a:r>
            <a:r>
              <a:rPr sz="1300" dirty="0" err="1">
                <a:solidFill>
                  <a:srgbClr val="404040"/>
                </a:solidFill>
                <a:latin typeface="Calibri"/>
              </a:rPr>
              <a:t>mediante</a:t>
            </a:r>
            <a:r>
              <a:rPr sz="1300" dirty="0">
                <a:solidFill>
                  <a:srgbClr val="404040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404040"/>
                </a:solidFill>
                <a:latin typeface="Calibri"/>
              </a:rPr>
              <a:t>assets.company_id</a:t>
            </a:r>
            <a:r>
              <a:rPr sz="1300" dirty="0">
                <a:solidFill>
                  <a:srgbClr val="404040"/>
                </a:solidFill>
                <a:latin typeface="Calibri"/>
              </a:rPr>
              <a:t> (</a:t>
            </a:r>
            <a:r>
              <a:rPr sz="1300" dirty="0" err="1">
                <a:solidFill>
                  <a:srgbClr val="404040"/>
                </a:solidFill>
                <a:latin typeface="Calibri"/>
              </a:rPr>
              <a:t>indexado</a:t>
            </a:r>
            <a:r>
              <a:rPr sz="1300" dirty="0">
                <a:solidFill>
                  <a:srgbClr val="404040"/>
                </a:solidFill>
                <a:latin typeface="Calibri"/>
              </a:rPr>
              <a:t>, nullable=False). Las seis </a:t>
            </a:r>
            <a:r>
              <a:rPr sz="1300" dirty="0" err="1">
                <a:solidFill>
                  <a:srgbClr val="404040"/>
                </a:solidFill>
                <a:latin typeface="Calibri"/>
              </a:rPr>
              <a:t>señales</a:t>
            </a:r>
            <a:r>
              <a:rPr sz="1300" dirty="0">
                <a:solidFill>
                  <a:srgbClr val="404040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404040"/>
                </a:solidFill>
                <a:latin typeface="Calibri"/>
              </a:rPr>
              <a:t>individuales</a:t>
            </a:r>
            <a:r>
              <a:rPr sz="1300" dirty="0">
                <a:solidFill>
                  <a:srgbClr val="404040"/>
                </a:solidFill>
                <a:latin typeface="Calibri"/>
              </a:rPr>
              <a:t> del scoring no se </a:t>
            </a:r>
            <a:r>
              <a:rPr sz="1300" dirty="0" err="1">
                <a:solidFill>
                  <a:srgbClr val="404040"/>
                </a:solidFill>
                <a:latin typeface="Calibri"/>
              </a:rPr>
              <a:t>persisten</a:t>
            </a:r>
            <a:r>
              <a:rPr sz="1300" dirty="0">
                <a:solidFill>
                  <a:srgbClr val="404040"/>
                </a:solidFill>
                <a:latin typeface="Calibri"/>
              </a:rPr>
              <a:t> — solo </a:t>
            </a:r>
            <a:r>
              <a:rPr sz="1300" dirty="0" err="1">
                <a:solidFill>
                  <a:srgbClr val="404040"/>
                </a:solidFill>
                <a:latin typeface="Calibri"/>
              </a:rPr>
              <a:t>el</a:t>
            </a:r>
            <a:r>
              <a:rPr sz="1300" dirty="0">
                <a:solidFill>
                  <a:srgbClr val="404040"/>
                </a:solidFill>
                <a:latin typeface="Calibri"/>
              </a:rPr>
              <a:t> score </a:t>
            </a:r>
            <a:r>
              <a:rPr sz="1300" dirty="0" err="1">
                <a:solidFill>
                  <a:srgbClr val="404040"/>
                </a:solidFill>
                <a:latin typeface="Calibri"/>
              </a:rPr>
              <a:t>agregado</a:t>
            </a:r>
            <a:r>
              <a:rPr sz="1300" dirty="0">
                <a:solidFill>
                  <a:srgbClr val="404040"/>
                </a:solidFill>
                <a:latin typeface="Calibri"/>
              </a:rPr>
              <a:t> y </a:t>
            </a:r>
            <a:r>
              <a:rPr sz="1300" dirty="0" err="1">
                <a:solidFill>
                  <a:srgbClr val="404040"/>
                </a:solidFill>
                <a:latin typeface="Calibri"/>
              </a:rPr>
              <a:t>el</a:t>
            </a:r>
            <a:r>
              <a:rPr sz="1300" dirty="0">
                <a:solidFill>
                  <a:srgbClr val="404040"/>
                </a:solidFill>
                <a:latin typeface="Calibri"/>
              </a:rPr>
              <a:t> tier </a:t>
            </a:r>
            <a:r>
              <a:rPr sz="1300" dirty="0" err="1">
                <a:solidFill>
                  <a:srgbClr val="404040"/>
                </a:solidFill>
                <a:latin typeface="Calibri"/>
              </a:rPr>
              <a:t>semántico</a:t>
            </a:r>
            <a:r>
              <a:rPr sz="1300" dirty="0">
                <a:solidFill>
                  <a:srgbClr val="404040"/>
                </a:solidFill>
                <a:latin typeface="Calibri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55618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00" name="MS Header Group"/>
          <p:cNvGrpSpPr/>
          <p:nvPr/>
        </p:nvGrpSpPr>
        <p:grpSpPr>
          <a:xfrm>
            <a:off x="282819" y="579094"/>
            <a:ext cx="13786134" cy="1057874"/>
            <a:chOff x="92172" y="275827"/>
            <a:chExt cx="9190756" cy="705249"/>
          </a:xfrm>
        </p:grpSpPr>
        <p:sp>
          <p:nvSpPr>
            <p:cNvPr id="9001" name="MS Title Box"/>
            <p:cNvSpPr>
              <a:spLocks noChangeArrowheads="1"/>
            </p:cNvSpPr>
            <p:nvPr/>
          </p:nvSpPr>
          <p:spPr bwMode="gray">
            <a:xfrm>
              <a:off x="776292" y="404814"/>
              <a:ext cx="8506636" cy="576262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37160" tIns="68580" rIns="137160" bIns="68580" anchor="ctr"/>
            <a:lstStyle/>
            <a:p>
              <a:pPr>
                <a:lnSpc>
                  <a:spcPts val="3150"/>
                </a:lnSpc>
              </a:pPr>
              <a:r>
                <a:rPr lang="es-ES" sz="3000" b="1">
                  <a:solidFill>
                    <a:srgbClr val="002569"/>
                  </a:solidFill>
                  <a:latin typeface="Arial"/>
                </a:rPr>
                <a:t>Arquitectura técnica</a:t>
              </a:r>
            </a:p>
            <a:p>
              <a:r>
                <a:rPr lang="es-ES" sz="2700">
                  <a:solidFill>
                    <a:srgbClr val="E0D399">
                      <a:lumMod val="75000"/>
                    </a:srgbClr>
                  </a:solidFill>
                  <a:latin typeface="Arial"/>
                </a:rPr>
                <a:t>Histórico durable, caché efímera, SSE sobre HTTP</a:t>
              </a:r>
            </a:p>
          </p:txBody>
        </p:sp>
        <p:sp>
          <p:nvSpPr>
            <p:cNvPr id="9002" name="MS Number"/>
            <p:cNvSpPr>
              <a:spLocks noChangeArrowheads="1"/>
            </p:cNvSpPr>
            <p:nvPr/>
          </p:nvSpPr>
          <p:spPr bwMode="gray">
            <a:xfrm>
              <a:off x="92172" y="275827"/>
              <a:ext cx="477819" cy="70014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148523" tIns="74261" rIns="148523" bIns="74261">
              <a:spAutoFit/>
            </a:bodyPr>
            <a:lstStyle/>
            <a:p>
              <a:pPr algn="ctr"/>
              <a:r>
                <a:rPr lang="es-ES" sz="5850" b="1" kern="0">
                  <a:solidFill>
                    <a:srgbClr val="002569"/>
                  </a:solidFill>
                  <a:latin typeface="Arial"/>
                </a:rPr>
                <a:t>3</a:t>
              </a:r>
            </a:p>
          </p:txBody>
        </p:sp>
        <p:cxnSp>
          <p:nvCxnSpPr>
            <p:cNvPr id="9003" name="MS Header Bar"/>
            <p:cNvCxnSpPr/>
            <p:nvPr/>
          </p:nvCxnSpPr>
          <p:spPr>
            <a:xfrm>
              <a:off x="570525" y="404814"/>
              <a:ext cx="0" cy="526647"/>
            </a:xfrm>
            <a:prstGeom prst="line">
              <a:avLst/>
            </a:prstGeom>
            <a:ln>
              <a:solidFill>
                <a:schemeClr val="tx2"/>
              </a:solidFill>
            </a:ln>
          </p:spPr>
        </p:cxnSp>
      </p:grpSp>
      <p:sp>
        <p:nvSpPr>
          <p:cNvPr id="9004" name="TextBox 9003"/>
          <p:cNvSpPr txBox="1"/>
          <p:nvPr/>
        </p:nvSpPr>
        <p:spPr>
          <a:xfrm>
            <a:off x="758952" y="2048256"/>
            <a:ext cx="16770096" cy="8412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800" b="1" err="1">
                <a:solidFill>
                  <a:srgbClr val="1F3864"/>
                </a:solidFill>
                <a:latin typeface="Calibri"/>
              </a:rPr>
              <a:t>Persistencia</a:t>
            </a:r>
            <a:r>
              <a:rPr sz="1800" b="1">
                <a:solidFill>
                  <a:srgbClr val="1F3864"/>
                </a:solidFill>
                <a:latin typeface="Calibri"/>
              </a:rPr>
              <a:t> + </a:t>
            </a:r>
            <a:r>
              <a:rPr sz="1800" b="1" err="1">
                <a:solidFill>
                  <a:srgbClr val="1F3864"/>
                </a:solidFill>
                <a:latin typeface="Calibri"/>
              </a:rPr>
              <a:t>protocolo</a:t>
            </a:r>
            <a:r>
              <a:rPr sz="1800" b="1">
                <a:solidFill>
                  <a:srgbClr val="1F3864"/>
                </a:solidFill>
                <a:latin typeface="Calibri"/>
              </a:rPr>
              <a:t> de </a:t>
            </a:r>
            <a:r>
              <a:rPr sz="1800" b="1" err="1">
                <a:solidFill>
                  <a:srgbClr val="1F3864"/>
                </a:solidFill>
                <a:latin typeface="Calibri"/>
              </a:rPr>
              <a:t>tiempo</a:t>
            </a:r>
            <a:r>
              <a:rPr sz="1800" b="1">
                <a:solidFill>
                  <a:srgbClr val="1F3864"/>
                </a:solidFill>
                <a:latin typeface="Calibri"/>
              </a:rPr>
              <a:t> real.</a:t>
            </a:r>
            <a:r>
              <a:rPr sz="1800">
                <a:solidFill>
                  <a:srgbClr val="404040"/>
                </a:solidFill>
                <a:latin typeface="Calibri"/>
              </a:rPr>
              <a:t> Todo lo </a:t>
            </a:r>
            <a:r>
              <a:rPr sz="1800" err="1">
                <a:solidFill>
                  <a:srgbClr val="404040"/>
                </a:solidFill>
                <a:latin typeface="Calibri"/>
              </a:rPr>
              <a:t>escrito</a:t>
            </a:r>
            <a:r>
              <a:rPr sz="1800">
                <a:solidFill>
                  <a:srgbClr val="404040"/>
                </a:solidFill>
                <a:latin typeface="Calibri"/>
              </a:rPr>
              <a:t> </a:t>
            </a:r>
            <a:r>
              <a:rPr sz="1800" err="1">
                <a:solidFill>
                  <a:srgbClr val="404040"/>
                </a:solidFill>
                <a:latin typeface="Calibri"/>
              </a:rPr>
              <a:t>persiste</a:t>
            </a:r>
            <a:r>
              <a:rPr sz="1800">
                <a:solidFill>
                  <a:srgbClr val="404040"/>
                </a:solidFill>
                <a:latin typeface="Calibri"/>
              </a:rPr>
              <a:t> </a:t>
            </a:r>
            <a:r>
              <a:rPr sz="1800" err="1">
                <a:solidFill>
                  <a:srgbClr val="404040"/>
                </a:solidFill>
                <a:latin typeface="Calibri"/>
              </a:rPr>
              <a:t>en</a:t>
            </a:r>
            <a:r>
              <a:rPr sz="1800">
                <a:solidFill>
                  <a:srgbClr val="404040"/>
                </a:solidFill>
                <a:latin typeface="Calibri"/>
              </a:rPr>
              <a:t> PostgreSQL; las </a:t>
            </a:r>
            <a:r>
              <a:rPr sz="1800" err="1">
                <a:solidFill>
                  <a:srgbClr val="404040"/>
                </a:solidFill>
                <a:latin typeface="Calibri"/>
              </a:rPr>
              <a:t>consultas</a:t>
            </a:r>
            <a:r>
              <a:rPr sz="1800">
                <a:solidFill>
                  <a:srgbClr val="404040"/>
                </a:solidFill>
                <a:latin typeface="Calibri"/>
              </a:rPr>
              <a:t> </a:t>
            </a:r>
            <a:r>
              <a:rPr sz="1800" err="1">
                <a:solidFill>
                  <a:srgbClr val="404040"/>
                </a:solidFill>
                <a:latin typeface="Calibri"/>
              </a:rPr>
              <a:t>repetidas</a:t>
            </a:r>
            <a:r>
              <a:rPr sz="1800">
                <a:solidFill>
                  <a:srgbClr val="404040"/>
                </a:solidFill>
                <a:latin typeface="Calibri"/>
              </a:rPr>
              <a:t> se </a:t>
            </a:r>
            <a:r>
              <a:rPr sz="1800" err="1">
                <a:solidFill>
                  <a:srgbClr val="404040"/>
                </a:solidFill>
                <a:latin typeface="Calibri"/>
              </a:rPr>
              <a:t>sirven</a:t>
            </a:r>
            <a:r>
              <a:rPr sz="1800">
                <a:solidFill>
                  <a:srgbClr val="404040"/>
                </a:solidFill>
                <a:latin typeface="Calibri"/>
              </a:rPr>
              <a:t> </a:t>
            </a:r>
            <a:r>
              <a:rPr sz="1800" err="1">
                <a:solidFill>
                  <a:srgbClr val="404040"/>
                </a:solidFill>
                <a:latin typeface="Calibri"/>
              </a:rPr>
              <a:t>desde</a:t>
            </a:r>
            <a:r>
              <a:rPr sz="1800">
                <a:solidFill>
                  <a:srgbClr val="404040"/>
                </a:solidFill>
                <a:latin typeface="Calibri"/>
              </a:rPr>
              <a:t> Redis con TTL de 24h. La </a:t>
            </a:r>
            <a:r>
              <a:rPr sz="1800" err="1">
                <a:solidFill>
                  <a:srgbClr val="404040"/>
                </a:solidFill>
                <a:latin typeface="Calibri"/>
              </a:rPr>
              <a:t>comunicación</a:t>
            </a:r>
            <a:r>
              <a:rPr sz="1800">
                <a:solidFill>
                  <a:srgbClr val="404040"/>
                </a:solidFill>
                <a:latin typeface="Calibri"/>
              </a:rPr>
              <a:t> backend → frontend </a:t>
            </a:r>
            <a:r>
              <a:rPr sz="1800" err="1">
                <a:solidFill>
                  <a:srgbClr val="404040"/>
                </a:solidFill>
                <a:latin typeface="Calibri"/>
              </a:rPr>
              <a:t>usa</a:t>
            </a:r>
            <a:r>
              <a:rPr sz="1800">
                <a:solidFill>
                  <a:srgbClr val="404040"/>
                </a:solidFill>
                <a:latin typeface="Calibri"/>
              </a:rPr>
              <a:t> Server-Sent Events </a:t>
            </a:r>
            <a:r>
              <a:rPr sz="1800" err="1">
                <a:solidFill>
                  <a:srgbClr val="404040"/>
                </a:solidFill>
                <a:latin typeface="Calibri"/>
              </a:rPr>
              <a:t>sobre</a:t>
            </a:r>
            <a:r>
              <a:rPr sz="1800">
                <a:solidFill>
                  <a:srgbClr val="404040"/>
                </a:solidFill>
                <a:latin typeface="Calibri"/>
              </a:rPr>
              <a:t> HTTP </a:t>
            </a:r>
            <a:r>
              <a:rPr sz="1800" err="1">
                <a:solidFill>
                  <a:srgbClr val="404040"/>
                </a:solidFill>
                <a:latin typeface="Calibri"/>
              </a:rPr>
              <a:t>estándar</a:t>
            </a:r>
            <a:r>
              <a:rPr sz="1800">
                <a:solidFill>
                  <a:srgbClr val="404040"/>
                </a:solidFill>
                <a:latin typeface="Calibri"/>
              </a:rPr>
              <a:t> — no WebSocket.</a:t>
            </a:r>
          </a:p>
        </p:txBody>
      </p:sp>
      <p:sp>
        <p:nvSpPr>
          <p:cNvPr id="9005" name="Rounded Rectangle 9004"/>
          <p:cNvSpPr/>
          <p:nvPr/>
        </p:nvSpPr>
        <p:spPr>
          <a:xfrm>
            <a:off x="758952" y="2916935"/>
            <a:ext cx="8092440" cy="2926080"/>
          </a:xfrm>
          <a:prstGeom prst="roundRect">
            <a:avLst>
              <a:gd name="adj" fmla="val 4000"/>
            </a:avLst>
          </a:prstGeom>
          <a:solidFill>
            <a:srgbClr val="E9EEF7"/>
          </a:solidFill>
          <a:ln w="12700">
            <a:solidFill>
              <a:srgbClr val="1F3864"/>
            </a:solidFill>
          </a:ln>
          <a:effectLst>
            <a:outerShdw blurRad="127000" dist="38100" dir="5400000" algn="tl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06" name="Rectangle 9005"/>
          <p:cNvSpPr/>
          <p:nvPr/>
        </p:nvSpPr>
        <p:spPr>
          <a:xfrm>
            <a:off x="758952" y="2916935"/>
            <a:ext cx="8092440" cy="5029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07" name="TextBox 9006"/>
          <p:cNvSpPr txBox="1"/>
          <p:nvPr/>
        </p:nvSpPr>
        <p:spPr>
          <a:xfrm>
            <a:off x="1033271" y="3026663"/>
            <a:ext cx="3759684" cy="2308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 dirty="0">
                <a:solidFill>
                  <a:srgbClr val="FFFFFF"/>
                </a:solidFill>
                <a:latin typeface="Consolas"/>
              </a:rPr>
              <a:t>PostgreSQL 16-alpine</a:t>
            </a:r>
            <a:r>
              <a:rPr sz="1300" dirty="0">
                <a:solidFill>
                  <a:srgbClr val="BF9000"/>
                </a:solidFill>
                <a:latin typeface="Calibri"/>
              </a:rPr>
              <a:t>   ·   HISTÓRICO DURABLE</a:t>
            </a:r>
          </a:p>
        </p:txBody>
      </p:sp>
      <p:sp>
        <p:nvSpPr>
          <p:cNvPr id="9008" name="TextBox 9007"/>
          <p:cNvSpPr txBox="1"/>
          <p:nvPr/>
        </p:nvSpPr>
        <p:spPr>
          <a:xfrm>
            <a:off x="1078992" y="3602735"/>
            <a:ext cx="745236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dirty="0">
                <a:solidFill>
                  <a:srgbClr val="404040"/>
                </a:solidFill>
                <a:latin typeface="Calibri"/>
              </a:rPr>
              <a:t>Histórico de </a:t>
            </a:r>
            <a:r>
              <a:rPr sz="1300" dirty="0" err="1">
                <a:solidFill>
                  <a:srgbClr val="404040"/>
                </a:solidFill>
                <a:latin typeface="Calibri"/>
              </a:rPr>
              <a:t>activos</a:t>
            </a:r>
            <a:r>
              <a:rPr sz="1300" dirty="0">
                <a:solidFill>
                  <a:srgbClr val="404040"/>
                </a:solidFill>
                <a:latin typeface="Calibri"/>
              </a:rPr>
              <a:t> y </a:t>
            </a:r>
            <a:r>
              <a:rPr sz="1300" dirty="0" err="1">
                <a:solidFill>
                  <a:srgbClr val="404040"/>
                </a:solidFill>
                <a:latin typeface="Calibri"/>
              </a:rPr>
              <a:t>empresas</a:t>
            </a:r>
            <a:r>
              <a:rPr sz="1300" dirty="0">
                <a:solidFill>
                  <a:srgbClr val="404040"/>
                </a:solidFill>
                <a:latin typeface="Calibri"/>
              </a:rPr>
              <a:t> con </a:t>
            </a:r>
            <a:r>
              <a:rPr sz="1300" dirty="0" err="1">
                <a:solidFill>
                  <a:srgbClr val="404040"/>
                </a:solidFill>
                <a:latin typeface="Calibri"/>
              </a:rPr>
              <a:t>todos</a:t>
            </a:r>
            <a:r>
              <a:rPr sz="1300" dirty="0">
                <a:solidFill>
                  <a:srgbClr val="404040"/>
                </a:solidFill>
                <a:latin typeface="Calibri"/>
              </a:rPr>
              <a:t> sus campos, </a:t>
            </a:r>
            <a:r>
              <a:rPr sz="1300" dirty="0" err="1">
                <a:solidFill>
                  <a:srgbClr val="404040"/>
                </a:solidFill>
                <a:latin typeface="Calibri"/>
              </a:rPr>
              <a:t>accesible</a:t>
            </a:r>
            <a:r>
              <a:rPr sz="1300" dirty="0">
                <a:solidFill>
                  <a:srgbClr val="404040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404040"/>
                </a:solidFill>
                <a:latin typeface="Calibri"/>
              </a:rPr>
              <a:t>vía</a:t>
            </a:r>
            <a:r>
              <a:rPr sz="1300" dirty="0">
                <a:solidFill>
                  <a:srgbClr val="404040"/>
                </a:solidFill>
                <a:latin typeface="Calibri"/>
              </a:rPr>
              <a:t> </a:t>
            </a:r>
            <a:r>
              <a:rPr sz="1300" b="1" dirty="0">
                <a:solidFill>
                  <a:srgbClr val="1F3864"/>
                </a:solidFill>
                <a:latin typeface="Consolas"/>
              </a:rPr>
              <a:t>GET /</a:t>
            </a:r>
            <a:r>
              <a:rPr sz="1300" b="1" dirty="0" err="1">
                <a:solidFill>
                  <a:srgbClr val="1F3864"/>
                </a:solidFill>
                <a:latin typeface="Consolas"/>
              </a:rPr>
              <a:t>api</a:t>
            </a:r>
            <a:r>
              <a:rPr sz="1300" b="1" dirty="0">
                <a:solidFill>
                  <a:srgbClr val="1F3864"/>
                </a:solidFill>
                <a:latin typeface="Consolas"/>
              </a:rPr>
              <a:t>/v1/companies/{id}/assets</a:t>
            </a:r>
            <a:r>
              <a:rPr sz="1300" dirty="0">
                <a:solidFill>
                  <a:srgbClr val="404040"/>
                </a:solidFill>
                <a:latin typeface="Calibri"/>
              </a:rPr>
              <a:t>. </a:t>
            </a:r>
            <a:r>
              <a:rPr sz="1300" dirty="0" err="1">
                <a:solidFill>
                  <a:srgbClr val="404040"/>
                </a:solidFill>
                <a:latin typeface="Calibri"/>
              </a:rPr>
              <a:t>Integridad</a:t>
            </a:r>
            <a:r>
              <a:rPr sz="1300" dirty="0">
                <a:solidFill>
                  <a:srgbClr val="404040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404040"/>
                </a:solidFill>
                <a:latin typeface="Calibri"/>
              </a:rPr>
              <a:t>referencial</a:t>
            </a:r>
            <a:r>
              <a:rPr sz="1300" dirty="0">
                <a:solidFill>
                  <a:srgbClr val="404040"/>
                </a:solidFill>
                <a:latin typeface="Calibri"/>
              </a:rPr>
              <a:t> e </a:t>
            </a:r>
            <a:r>
              <a:rPr sz="1300" dirty="0" err="1">
                <a:solidFill>
                  <a:srgbClr val="404040"/>
                </a:solidFill>
                <a:latin typeface="Calibri"/>
              </a:rPr>
              <a:t>índices</a:t>
            </a:r>
            <a:r>
              <a:rPr sz="1300" dirty="0">
                <a:solidFill>
                  <a:srgbClr val="404040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404040"/>
                </a:solidFill>
                <a:latin typeface="Calibri"/>
              </a:rPr>
              <a:t>espaciales</a:t>
            </a:r>
            <a:r>
              <a:rPr sz="1300" dirty="0">
                <a:solidFill>
                  <a:srgbClr val="404040"/>
                </a:solidFill>
                <a:latin typeface="Calibri"/>
              </a:rPr>
              <a:t> para </a:t>
            </a:r>
            <a:r>
              <a:rPr sz="1300" dirty="0" err="1">
                <a:solidFill>
                  <a:srgbClr val="404040"/>
                </a:solidFill>
                <a:latin typeface="Calibri"/>
              </a:rPr>
              <a:t>consultas</a:t>
            </a:r>
            <a:r>
              <a:rPr sz="1300" dirty="0">
                <a:solidFill>
                  <a:srgbClr val="404040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404040"/>
                </a:solidFill>
                <a:latin typeface="Calibri"/>
              </a:rPr>
              <a:t>geográficas</a:t>
            </a:r>
            <a:r>
              <a:rPr sz="1300" dirty="0">
                <a:solidFill>
                  <a:srgbClr val="404040"/>
                </a:solidFill>
                <a:latin typeface="Calibri"/>
              </a:rPr>
              <a:t>.</a:t>
            </a:r>
          </a:p>
        </p:txBody>
      </p:sp>
      <p:sp>
        <p:nvSpPr>
          <p:cNvPr id="9009" name="Rounded Rectangle 9008"/>
          <p:cNvSpPr/>
          <p:nvPr/>
        </p:nvSpPr>
        <p:spPr>
          <a:xfrm>
            <a:off x="1078992" y="4700016"/>
            <a:ext cx="23622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BF9000"/>
            </a:solidFill>
          </a:ln>
          <a:effectLst>
            <a:outerShdw blurRad="50800" dist="12700" dir="5400000" algn="tl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10" name="TextBox 9009"/>
          <p:cNvSpPr txBox="1"/>
          <p:nvPr/>
        </p:nvSpPr>
        <p:spPr>
          <a:xfrm>
            <a:off x="1188719" y="4837176"/>
            <a:ext cx="2142744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 dirty="0">
                <a:solidFill>
                  <a:srgbClr val="BF9000"/>
                </a:solidFill>
                <a:latin typeface="Calibri"/>
              </a:rPr>
              <a:t>SE PERSISTE</a:t>
            </a:r>
          </a:p>
        </p:txBody>
      </p:sp>
      <p:sp>
        <p:nvSpPr>
          <p:cNvPr id="9011" name="TextBox 9010"/>
          <p:cNvSpPr txBox="1"/>
          <p:nvPr/>
        </p:nvSpPr>
        <p:spPr>
          <a:xfrm>
            <a:off x="1188719" y="5084064"/>
            <a:ext cx="2142744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1F3864"/>
                </a:solidFill>
                <a:latin typeface="Calibri"/>
              </a:rPr>
              <a:t>score, tier</a:t>
            </a:r>
          </a:p>
        </p:txBody>
      </p:sp>
      <p:sp>
        <p:nvSpPr>
          <p:cNvPr id="9012" name="Rounded Rectangle 9011"/>
          <p:cNvSpPr/>
          <p:nvPr/>
        </p:nvSpPr>
        <p:spPr>
          <a:xfrm>
            <a:off x="3624072" y="4700016"/>
            <a:ext cx="23622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0504D"/>
            </a:solidFill>
          </a:ln>
          <a:effectLst>
            <a:outerShdw blurRad="50800" dist="12700" dir="5400000" algn="tl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13" name="TextBox 9012"/>
          <p:cNvSpPr txBox="1"/>
          <p:nvPr/>
        </p:nvSpPr>
        <p:spPr>
          <a:xfrm>
            <a:off x="3733800" y="4837176"/>
            <a:ext cx="2142744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C0504D"/>
                </a:solidFill>
                <a:latin typeface="Calibri"/>
              </a:rPr>
              <a:t>NO SE PERSISTE</a:t>
            </a:r>
          </a:p>
        </p:txBody>
      </p:sp>
      <p:sp>
        <p:nvSpPr>
          <p:cNvPr id="9014" name="TextBox 9013"/>
          <p:cNvSpPr txBox="1"/>
          <p:nvPr/>
        </p:nvSpPr>
        <p:spPr>
          <a:xfrm>
            <a:off x="3733800" y="5084064"/>
            <a:ext cx="2142744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1F3864"/>
                </a:solidFill>
                <a:latin typeface="Calibri"/>
              </a:rPr>
              <a:t>6 señales raw</a:t>
            </a:r>
          </a:p>
        </p:txBody>
      </p:sp>
      <p:sp>
        <p:nvSpPr>
          <p:cNvPr id="9015" name="Rounded Rectangle 9014"/>
          <p:cNvSpPr/>
          <p:nvPr/>
        </p:nvSpPr>
        <p:spPr>
          <a:xfrm>
            <a:off x="6169152" y="4700016"/>
            <a:ext cx="23622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F3864"/>
            </a:solidFill>
          </a:ln>
          <a:effectLst>
            <a:outerShdw blurRad="50800" dist="12700" dir="5400000" algn="tl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16" name="TextBox 9015"/>
          <p:cNvSpPr txBox="1"/>
          <p:nvPr/>
        </p:nvSpPr>
        <p:spPr>
          <a:xfrm>
            <a:off x="6278880" y="4837176"/>
            <a:ext cx="2142744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1F3864"/>
                </a:solidFill>
                <a:latin typeface="Calibri"/>
              </a:rPr>
              <a:t>CONSULTA</a:t>
            </a:r>
          </a:p>
        </p:txBody>
      </p:sp>
      <p:sp>
        <p:nvSpPr>
          <p:cNvPr id="9017" name="TextBox 9016"/>
          <p:cNvSpPr txBox="1"/>
          <p:nvPr/>
        </p:nvSpPr>
        <p:spPr>
          <a:xfrm>
            <a:off x="6278880" y="5084064"/>
            <a:ext cx="2142744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1F3864"/>
                </a:solidFill>
                <a:latin typeface="Calibri"/>
              </a:rPr>
              <a:t>integridad referencial</a:t>
            </a:r>
          </a:p>
        </p:txBody>
      </p:sp>
      <p:sp>
        <p:nvSpPr>
          <p:cNvPr id="9018" name="Rounded Rectangle 9017"/>
          <p:cNvSpPr/>
          <p:nvPr/>
        </p:nvSpPr>
        <p:spPr>
          <a:xfrm>
            <a:off x="9436608" y="2916935"/>
            <a:ext cx="8092440" cy="2926080"/>
          </a:xfrm>
          <a:prstGeom prst="roundRect">
            <a:avLst>
              <a:gd name="adj" fmla="val 4000"/>
            </a:avLst>
          </a:prstGeom>
          <a:solidFill>
            <a:srgbClr val="FAF1D9"/>
          </a:solidFill>
          <a:ln w="12700">
            <a:solidFill>
              <a:srgbClr val="BF9000"/>
            </a:solidFill>
          </a:ln>
          <a:effectLst>
            <a:outerShdw blurRad="127000" dist="38100" dir="5400000" algn="tl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19" name="Rectangle 9018"/>
          <p:cNvSpPr/>
          <p:nvPr/>
        </p:nvSpPr>
        <p:spPr>
          <a:xfrm>
            <a:off x="9436608" y="2916935"/>
            <a:ext cx="8092440" cy="502920"/>
          </a:xfrm>
          <a:prstGeom prst="rect">
            <a:avLst/>
          </a:prstGeom>
          <a:solidFill>
            <a:srgbClr val="BF9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20" name="TextBox 9019"/>
          <p:cNvSpPr txBox="1"/>
          <p:nvPr/>
        </p:nvSpPr>
        <p:spPr>
          <a:xfrm>
            <a:off x="9710928" y="3026663"/>
            <a:ext cx="3386633" cy="2308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 dirty="0">
                <a:solidFill>
                  <a:srgbClr val="FFFFFF"/>
                </a:solidFill>
                <a:latin typeface="Consolas"/>
              </a:rPr>
              <a:t>Redis 7-alpine</a:t>
            </a:r>
            <a:r>
              <a:rPr sz="1300" dirty="0">
                <a:solidFill>
                  <a:srgbClr val="1F3864"/>
                </a:solidFill>
                <a:latin typeface="Calibri"/>
              </a:rPr>
              <a:t>   ·   CACHÉ EFÍMERA TTL 24h</a:t>
            </a:r>
          </a:p>
        </p:txBody>
      </p:sp>
      <p:sp>
        <p:nvSpPr>
          <p:cNvPr id="9021" name="TextBox 9020"/>
          <p:cNvSpPr txBox="1"/>
          <p:nvPr/>
        </p:nvSpPr>
        <p:spPr>
          <a:xfrm>
            <a:off x="9756648" y="3602735"/>
            <a:ext cx="745236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>
                <a:solidFill>
                  <a:srgbClr val="404040"/>
                </a:solidFill>
                <a:latin typeface="Calibri"/>
              </a:rPr>
              <a:t>Caché por empresa: clave </a:t>
            </a:r>
            <a:r>
              <a:rPr sz="1300" b="1">
                <a:solidFill>
                  <a:srgbClr val="1F3864"/>
                </a:solidFill>
                <a:latin typeface="Consolas"/>
              </a:rPr>
              <a:t>company:{id}:assets</a:t>
            </a:r>
            <a:r>
              <a:rPr sz="1300">
                <a:solidFill>
                  <a:srgbClr val="404040"/>
                </a:solidFill>
                <a:latin typeface="Calibri"/>
              </a:rPr>
              <a:t>, valor JSON con la respuesta completa, TTL 86 400 segundos. Si el caché está caliente y el cliente no pide </a:t>
            </a:r>
            <a:r>
              <a:rPr sz="1300" b="1">
                <a:solidFill>
                  <a:srgbClr val="1F3864"/>
                </a:solidFill>
                <a:latin typeface="Consolas"/>
              </a:rPr>
              <a:t>force_refresh</a:t>
            </a:r>
            <a:r>
              <a:rPr sz="1300">
                <a:solidFill>
                  <a:srgbClr val="404040"/>
                </a:solidFill>
                <a:latin typeface="Calibri"/>
              </a:rPr>
              <a:t>, el orchestrator devuelve el cacheado.</a:t>
            </a:r>
          </a:p>
        </p:txBody>
      </p:sp>
      <p:sp>
        <p:nvSpPr>
          <p:cNvPr id="9022" name="Rounded Rectangle 9021"/>
          <p:cNvSpPr/>
          <p:nvPr/>
        </p:nvSpPr>
        <p:spPr>
          <a:xfrm>
            <a:off x="9756648" y="4700016"/>
            <a:ext cx="23622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BF9000"/>
            </a:solidFill>
          </a:ln>
          <a:effectLst>
            <a:outerShdw blurRad="50800" dist="12700" dir="5400000" algn="tl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23" name="TextBox 9022"/>
          <p:cNvSpPr txBox="1"/>
          <p:nvPr/>
        </p:nvSpPr>
        <p:spPr>
          <a:xfrm>
            <a:off x="9866376" y="4837176"/>
            <a:ext cx="2142744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BF9000"/>
                </a:solidFill>
                <a:latin typeface="Calibri"/>
              </a:rPr>
              <a:t>TTL</a:t>
            </a:r>
          </a:p>
        </p:txBody>
      </p:sp>
      <p:sp>
        <p:nvSpPr>
          <p:cNvPr id="9024" name="TextBox 9023"/>
          <p:cNvSpPr txBox="1"/>
          <p:nvPr/>
        </p:nvSpPr>
        <p:spPr>
          <a:xfrm>
            <a:off x="9866376" y="5084064"/>
            <a:ext cx="2142744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1F3864"/>
                </a:solidFill>
                <a:latin typeface="Calibri"/>
              </a:rPr>
              <a:t>24h</a:t>
            </a:r>
          </a:p>
        </p:txBody>
      </p:sp>
      <p:sp>
        <p:nvSpPr>
          <p:cNvPr id="9025" name="Rounded Rectangle 9024"/>
          <p:cNvSpPr/>
          <p:nvPr/>
        </p:nvSpPr>
        <p:spPr>
          <a:xfrm>
            <a:off x="12301728" y="4700016"/>
            <a:ext cx="23622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4F814F"/>
            </a:solidFill>
          </a:ln>
          <a:effectLst>
            <a:outerShdw blurRad="50800" dist="12700" dir="5400000" algn="tl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26" name="TextBox 9025"/>
          <p:cNvSpPr txBox="1"/>
          <p:nvPr/>
        </p:nvSpPr>
        <p:spPr>
          <a:xfrm>
            <a:off x="12411456" y="4837176"/>
            <a:ext cx="2142744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4F814F"/>
                </a:solidFill>
                <a:latin typeface="Calibri"/>
              </a:rPr>
              <a:t>LATENCIA HIT</a:t>
            </a:r>
          </a:p>
        </p:txBody>
      </p:sp>
      <p:sp>
        <p:nvSpPr>
          <p:cNvPr id="9027" name="TextBox 9026"/>
          <p:cNvSpPr txBox="1"/>
          <p:nvPr/>
        </p:nvSpPr>
        <p:spPr>
          <a:xfrm>
            <a:off x="12411456" y="5084064"/>
            <a:ext cx="2142744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1F3864"/>
                </a:solidFill>
                <a:latin typeface="Calibri"/>
              </a:rPr>
              <a:t>ms vs min</a:t>
            </a:r>
          </a:p>
        </p:txBody>
      </p:sp>
      <p:sp>
        <p:nvSpPr>
          <p:cNvPr id="9028" name="Rounded Rectangle 9027"/>
          <p:cNvSpPr/>
          <p:nvPr/>
        </p:nvSpPr>
        <p:spPr>
          <a:xfrm>
            <a:off x="14846808" y="4700016"/>
            <a:ext cx="23622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F3864"/>
            </a:solidFill>
          </a:ln>
          <a:effectLst>
            <a:outerShdw blurRad="50800" dist="12700" dir="5400000" algn="tl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29" name="TextBox 9028"/>
          <p:cNvSpPr txBox="1"/>
          <p:nvPr/>
        </p:nvSpPr>
        <p:spPr>
          <a:xfrm>
            <a:off x="14956536" y="4837176"/>
            <a:ext cx="2142744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1F3864"/>
                </a:solidFill>
                <a:latin typeface="Calibri"/>
              </a:rPr>
              <a:t>INVALIDACIÓN</a:t>
            </a:r>
          </a:p>
        </p:txBody>
      </p:sp>
      <p:sp>
        <p:nvSpPr>
          <p:cNvPr id="9030" name="TextBox 9029"/>
          <p:cNvSpPr txBox="1"/>
          <p:nvPr/>
        </p:nvSpPr>
        <p:spPr>
          <a:xfrm>
            <a:off x="14956536" y="5084064"/>
            <a:ext cx="2142744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1F3864"/>
                </a:solidFill>
                <a:latin typeface="Calibri"/>
              </a:rPr>
              <a:t>force_refresh</a:t>
            </a:r>
          </a:p>
        </p:txBody>
      </p:sp>
      <p:sp>
        <p:nvSpPr>
          <p:cNvPr id="9031" name="Rounded Rectangle 9030"/>
          <p:cNvSpPr/>
          <p:nvPr/>
        </p:nvSpPr>
        <p:spPr>
          <a:xfrm>
            <a:off x="758952" y="6117336"/>
            <a:ext cx="8540496" cy="2606040"/>
          </a:xfrm>
          <a:prstGeom prst="roundRect">
            <a:avLst>
              <a:gd name="adj" fmla="val 4000"/>
            </a:avLst>
          </a:prstGeom>
          <a:solidFill>
            <a:srgbClr val="4F814F"/>
          </a:solidFill>
          <a:ln>
            <a:noFill/>
          </a:ln>
          <a:effectLst>
            <a:outerShdw blurRad="127000" dist="38100" dir="5400000" algn="t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32" name="TextBox 9031"/>
          <p:cNvSpPr txBox="1"/>
          <p:nvPr/>
        </p:nvSpPr>
        <p:spPr>
          <a:xfrm>
            <a:off x="1033271" y="6300216"/>
            <a:ext cx="7991856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2000" b="1" dirty="0">
                <a:solidFill>
                  <a:srgbClr val="FFFFFF"/>
                </a:solidFill>
                <a:latin typeface="Calibri"/>
              </a:rPr>
              <a:t>✓  SSE SOBRE HTTP</a:t>
            </a:r>
            <a:r>
              <a:rPr sz="1300" b="1" dirty="0">
                <a:solidFill>
                  <a:srgbClr val="BF9000"/>
                </a:solidFill>
                <a:latin typeface="Calibri"/>
              </a:rPr>
              <a:t>   · ELEGIDO</a:t>
            </a:r>
          </a:p>
        </p:txBody>
      </p:sp>
      <p:sp>
        <p:nvSpPr>
          <p:cNvPr id="9033" name="TextBox 9032"/>
          <p:cNvSpPr txBox="1"/>
          <p:nvPr/>
        </p:nvSpPr>
        <p:spPr>
          <a:xfrm>
            <a:off x="1033271" y="6803136"/>
            <a:ext cx="7991856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BF9000"/>
                </a:solidFill>
                <a:latin typeface="Calibri"/>
              </a:rPr>
              <a:t>✓  </a:t>
            </a:r>
            <a:r>
              <a:rPr sz="1300">
                <a:solidFill>
                  <a:srgbClr val="FFFFFF"/>
                </a:solidFill>
                <a:latin typeface="Calibri"/>
              </a:rPr>
              <a:t>Comunicación unidireccional servidor → cliente sobre HTTP/1.1 estándar</a:t>
            </a:r>
          </a:p>
        </p:txBody>
      </p:sp>
      <p:sp>
        <p:nvSpPr>
          <p:cNvPr id="9034" name="TextBox 9033"/>
          <p:cNvSpPr txBox="1"/>
          <p:nvPr/>
        </p:nvSpPr>
        <p:spPr>
          <a:xfrm>
            <a:off x="1033271" y="7187184"/>
            <a:ext cx="7991856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BF9000"/>
                </a:solidFill>
                <a:latin typeface="Calibri"/>
              </a:rPr>
              <a:t>✓  </a:t>
            </a:r>
            <a:r>
              <a:rPr sz="1300">
                <a:solidFill>
                  <a:srgbClr val="FFFFFF"/>
                </a:solidFill>
                <a:latin typeface="Calibri"/>
              </a:rPr>
              <a:t>Reconexión automática del navegador, atraviesa proxies sin negociación</a:t>
            </a:r>
          </a:p>
        </p:txBody>
      </p:sp>
      <p:sp>
        <p:nvSpPr>
          <p:cNvPr id="9035" name="TextBox 9034"/>
          <p:cNvSpPr txBox="1"/>
          <p:nvPr/>
        </p:nvSpPr>
        <p:spPr>
          <a:xfrm>
            <a:off x="1033271" y="7571231"/>
            <a:ext cx="7991856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BF9000"/>
                </a:solidFill>
                <a:latin typeface="Calibri"/>
              </a:rPr>
              <a:t>✓  </a:t>
            </a:r>
            <a:r>
              <a:rPr sz="1300">
                <a:solidFill>
                  <a:srgbClr val="FFFFFF"/>
                </a:solidFill>
                <a:latin typeface="Calibri"/>
              </a:rPr>
              <a:t>API simple en cliente con EventSource — pocas líneas de código</a:t>
            </a:r>
          </a:p>
        </p:txBody>
      </p:sp>
      <p:sp>
        <p:nvSpPr>
          <p:cNvPr id="9036" name="TextBox 9035"/>
          <p:cNvSpPr txBox="1"/>
          <p:nvPr/>
        </p:nvSpPr>
        <p:spPr>
          <a:xfrm>
            <a:off x="1033271" y="7955279"/>
            <a:ext cx="7991856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BF9000"/>
                </a:solidFill>
                <a:latin typeface="Calibri"/>
              </a:rPr>
              <a:t>✓  </a:t>
            </a:r>
            <a:r>
              <a:rPr sz="1300">
                <a:solidFill>
                  <a:srgbClr val="FFFFFF"/>
                </a:solidFill>
                <a:latin typeface="Calibri"/>
              </a:rPr>
              <a:t>Suficiente para el flujo: cliente recibe eventos hasta complete</a:t>
            </a:r>
          </a:p>
        </p:txBody>
      </p:sp>
      <p:sp>
        <p:nvSpPr>
          <p:cNvPr id="9037" name="Rounded Rectangle 9036"/>
          <p:cNvSpPr/>
          <p:nvPr/>
        </p:nvSpPr>
        <p:spPr>
          <a:xfrm>
            <a:off x="9573768" y="6117336"/>
            <a:ext cx="7955280" cy="26060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0504D"/>
            </a:solidFill>
          </a:ln>
          <a:effectLst>
            <a:outerShdw blurRad="101600" dist="25400" dir="54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38" name="TextBox 9037"/>
          <p:cNvSpPr txBox="1"/>
          <p:nvPr/>
        </p:nvSpPr>
        <p:spPr>
          <a:xfrm>
            <a:off x="9848088" y="6300216"/>
            <a:ext cx="74066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2000" b="1">
                <a:solidFill>
                  <a:srgbClr val="C0504D"/>
                </a:solidFill>
                <a:latin typeface="Calibri"/>
              </a:rPr>
              <a:t>✗  WEBSOCKET</a:t>
            </a:r>
            <a:r>
              <a:rPr sz="1300" b="1">
                <a:solidFill>
                  <a:srgbClr val="1F3864"/>
                </a:solidFill>
                <a:latin typeface="Calibri"/>
              </a:rPr>
              <a:t>   · DESCARTADO</a:t>
            </a:r>
          </a:p>
        </p:txBody>
      </p:sp>
      <p:sp>
        <p:nvSpPr>
          <p:cNvPr id="9039" name="TextBox 9038"/>
          <p:cNvSpPr txBox="1"/>
          <p:nvPr/>
        </p:nvSpPr>
        <p:spPr>
          <a:xfrm>
            <a:off x="9848088" y="6803136"/>
            <a:ext cx="74066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C0504D"/>
                </a:solidFill>
                <a:latin typeface="Calibri"/>
              </a:rPr>
              <a:t>✗  </a:t>
            </a:r>
            <a:r>
              <a:rPr sz="1300">
                <a:solidFill>
                  <a:srgbClr val="404040"/>
                </a:solidFill>
                <a:latin typeface="Calibri"/>
              </a:rPr>
              <a:t>Protocolo binario bidireccional — no necesario para nuestro flujo</a:t>
            </a:r>
          </a:p>
        </p:txBody>
      </p:sp>
      <p:sp>
        <p:nvSpPr>
          <p:cNvPr id="9040" name="TextBox 9039"/>
          <p:cNvSpPr txBox="1"/>
          <p:nvPr/>
        </p:nvSpPr>
        <p:spPr>
          <a:xfrm>
            <a:off x="9848088" y="7187184"/>
            <a:ext cx="74066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C0504D"/>
                </a:solidFill>
                <a:latin typeface="Calibri"/>
              </a:rPr>
              <a:t>✗  </a:t>
            </a:r>
            <a:r>
              <a:rPr sz="1300">
                <a:solidFill>
                  <a:srgbClr val="404040"/>
                </a:solidFill>
                <a:latin typeface="Calibri"/>
              </a:rPr>
              <a:t>Requiere upgrade handshake y librería específica en cliente</a:t>
            </a:r>
          </a:p>
        </p:txBody>
      </p:sp>
      <p:sp>
        <p:nvSpPr>
          <p:cNvPr id="9041" name="TextBox 9040"/>
          <p:cNvSpPr txBox="1"/>
          <p:nvPr/>
        </p:nvSpPr>
        <p:spPr>
          <a:xfrm>
            <a:off x="9848088" y="7571231"/>
            <a:ext cx="74066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C0504D"/>
                </a:solidFill>
                <a:latin typeface="Calibri"/>
              </a:rPr>
              <a:t>✗  </a:t>
            </a:r>
            <a:r>
              <a:rPr sz="1300">
                <a:solidFill>
                  <a:srgbClr val="404040"/>
                </a:solidFill>
                <a:latin typeface="Calibri"/>
              </a:rPr>
              <a:t>Reconexión manual y configuración adicional en proxies</a:t>
            </a:r>
          </a:p>
        </p:txBody>
      </p:sp>
      <p:sp>
        <p:nvSpPr>
          <p:cNvPr id="9042" name="TextBox 9041"/>
          <p:cNvSpPr txBox="1"/>
          <p:nvPr/>
        </p:nvSpPr>
        <p:spPr>
          <a:xfrm>
            <a:off x="9848088" y="7955279"/>
            <a:ext cx="74066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C0504D"/>
                </a:solidFill>
                <a:latin typeface="Calibri"/>
              </a:rPr>
              <a:t>✗  </a:t>
            </a:r>
            <a:r>
              <a:rPr sz="1300">
                <a:solidFill>
                  <a:srgbClr val="404040"/>
                </a:solidFill>
                <a:latin typeface="Calibri"/>
              </a:rPr>
              <a:t>Innecesario cuando solo el servidor envía eventos al cliente</a:t>
            </a:r>
          </a:p>
        </p:txBody>
      </p:sp>
      <p:sp>
        <p:nvSpPr>
          <p:cNvPr id="9043" name="Rounded Rectangle 9042"/>
          <p:cNvSpPr/>
          <p:nvPr/>
        </p:nvSpPr>
        <p:spPr>
          <a:xfrm>
            <a:off x="758952" y="8906255"/>
            <a:ext cx="16770096" cy="411480"/>
          </a:xfrm>
          <a:prstGeom prst="roundRect">
            <a:avLst>
              <a:gd name="adj" fmla="val 20000"/>
            </a:avLst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44" name="TextBox 9043"/>
          <p:cNvSpPr txBox="1"/>
          <p:nvPr/>
        </p:nvSpPr>
        <p:spPr>
          <a:xfrm>
            <a:off x="1033271" y="8970263"/>
            <a:ext cx="1645920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BF9000"/>
                </a:solidFill>
                <a:latin typeface="Calibri"/>
              </a:rPr>
              <a:t>Decisión. </a:t>
            </a:r>
            <a:r>
              <a:rPr sz="1300">
                <a:solidFill>
                  <a:srgbClr val="FFFFFF"/>
                </a:solidFill>
                <a:latin typeface="Calibri"/>
              </a:rPr>
              <a:t>SSE elimina toda la maquinaria de WebSocket para una semántica que no la necesita — el flujo es estrictamente del backend al cliente.</a:t>
            </a:r>
          </a:p>
        </p:txBody>
      </p:sp>
    </p:spTree>
    <p:extLst>
      <p:ext uri="{BB962C8B-B14F-4D97-AF65-F5344CB8AC3E}">
        <p14:creationId xmlns:p14="http://schemas.microsoft.com/office/powerpoint/2010/main" val="38978578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00" name="MS Header Group"/>
          <p:cNvGrpSpPr/>
          <p:nvPr/>
        </p:nvGrpSpPr>
        <p:grpSpPr>
          <a:xfrm>
            <a:off x="282819" y="579094"/>
            <a:ext cx="13786134" cy="1057874"/>
            <a:chOff x="92172" y="275827"/>
            <a:chExt cx="9190756" cy="705249"/>
          </a:xfrm>
        </p:grpSpPr>
        <p:sp>
          <p:nvSpPr>
            <p:cNvPr id="9001" name="MS Title Box"/>
            <p:cNvSpPr>
              <a:spLocks noChangeArrowheads="1"/>
            </p:cNvSpPr>
            <p:nvPr/>
          </p:nvSpPr>
          <p:spPr bwMode="gray">
            <a:xfrm>
              <a:off x="776292" y="404814"/>
              <a:ext cx="8506636" cy="576262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37160" tIns="68580" rIns="137160" bIns="68580" anchor="ctr"/>
            <a:lstStyle/>
            <a:p>
              <a:pPr>
                <a:lnSpc>
                  <a:spcPts val="3150"/>
                </a:lnSpc>
              </a:pPr>
              <a:r>
                <a:rPr lang="es-ES" sz="3000" b="1">
                  <a:solidFill>
                    <a:srgbClr val="002569"/>
                  </a:solidFill>
                  <a:latin typeface="Arial"/>
                </a:rPr>
                <a:t>Arquitectura técnica</a:t>
              </a:r>
            </a:p>
            <a:p>
              <a:r>
                <a:rPr lang="es-ES" sz="2700">
                  <a:solidFill>
                    <a:srgbClr val="E0D399">
                      <a:lumMod val="75000"/>
                    </a:srgbClr>
                  </a:solidFill>
                  <a:latin typeface="Arial"/>
                </a:rPr>
                <a:t>12-factor: configuración fuera del código</a:t>
              </a:r>
            </a:p>
          </p:txBody>
        </p:sp>
        <p:sp>
          <p:nvSpPr>
            <p:cNvPr id="9002" name="MS Number"/>
            <p:cNvSpPr>
              <a:spLocks noChangeArrowheads="1"/>
            </p:cNvSpPr>
            <p:nvPr/>
          </p:nvSpPr>
          <p:spPr bwMode="gray">
            <a:xfrm>
              <a:off x="92172" y="275827"/>
              <a:ext cx="477819" cy="70014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148523" tIns="74261" rIns="148523" bIns="74261">
              <a:spAutoFit/>
            </a:bodyPr>
            <a:lstStyle/>
            <a:p>
              <a:pPr algn="ctr"/>
              <a:r>
                <a:rPr lang="es-ES" sz="5850" b="1" kern="0">
                  <a:solidFill>
                    <a:srgbClr val="002569"/>
                  </a:solidFill>
                  <a:latin typeface="Arial"/>
                </a:rPr>
                <a:t>3</a:t>
              </a:r>
            </a:p>
          </p:txBody>
        </p:sp>
        <p:cxnSp>
          <p:nvCxnSpPr>
            <p:cNvPr id="9003" name="MS Header Bar"/>
            <p:cNvCxnSpPr/>
            <p:nvPr/>
          </p:nvCxnSpPr>
          <p:spPr>
            <a:xfrm>
              <a:off x="570525" y="404814"/>
              <a:ext cx="0" cy="526647"/>
            </a:xfrm>
            <a:prstGeom prst="line">
              <a:avLst/>
            </a:prstGeom>
            <a:ln>
              <a:solidFill>
                <a:schemeClr val="tx2"/>
              </a:solidFill>
            </a:ln>
          </p:spPr>
        </p:cxnSp>
      </p:grpSp>
      <p:sp>
        <p:nvSpPr>
          <p:cNvPr id="9004" name="TextBox 9003"/>
          <p:cNvSpPr txBox="1"/>
          <p:nvPr/>
        </p:nvSpPr>
        <p:spPr>
          <a:xfrm>
            <a:off x="758952" y="2048256"/>
            <a:ext cx="16770096" cy="8412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800" b="1">
                <a:solidFill>
                  <a:srgbClr val="1F3864"/>
                </a:solidFill>
                <a:latin typeface="Calibri"/>
              </a:rPr>
              <a:t>Tres </a:t>
            </a:r>
            <a:r>
              <a:rPr sz="1800" b="1" err="1">
                <a:solidFill>
                  <a:srgbClr val="1F3864"/>
                </a:solidFill>
                <a:latin typeface="Calibri"/>
              </a:rPr>
              <a:t>principios</a:t>
            </a:r>
            <a:r>
              <a:rPr sz="1800" b="1">
                <a:solidFill>
                  <a:srgbClr val="1F3864"/>
                </a:solidFill>
                <a:latin typeface="Calibri"/>
              </a:rPr>
              <a:t>.</a:t>
            </a:r>
            <a:r>
              <a:rPr sz="1800">
                <a:solidFill>
                  <a:srgbClr val="404040"/>
                </a:solidFill>
                <a:latin typeface="Calibri"/>
              </a:rPr>
              <a:t> las ~36 variables de </a:t>
            </a:r>
            <a:r>
              <a:rPr sz="1800" err="1">
                <a:solidFill>
                  <a:srgbClr val="404040"/>
                </a:solidFill>
                <a:latin typeface="Calibri"/>
              </a:rPr>
              <a:t>entorno</a:t>
            </a:r>
            <a:r>
              <a:rPr sz="1800">
                <a:solidFill>
                  <a:srgbClr val="404040"/>
                </a:solidFill>
                <a:latin typeface="Calibri"/>
              </a:rPr>
              <a:t> del backend se </a:t>
            </a:r>
            <a:r>
              <a:rPr sz="1800" err="1">
                <a:solidFill>
                  <a:srgbClr val="404040"/>
                </a:solidFill>
                <a:latin typeface="Calibri"/>
              </a:rPr>
              <a:t>agrupan</a:t>
            </a:r>
            <a:r>
              <a:rPr sz="1800">
                <a:solidFill>
                  <a:srgbClr val="404040"/>
                </a:solidFill>
                <a:latin typeface="Calibri"/>
              </a:rPr>
              <a:t> </a:t>
            </a:r>
            <a:r>
              <a:rPr sz="1800" err="1">
                <a:solidFill>
                  <a:srgbClr val="404040"/>
                </a:solidFill>
                <a:latin typeface="Calibri"/>
              </a:rPr>
              <a:t>por</a:t>
            </a:r>
            <a:r>
              <a:rPr sz="1800">
                <a:solidFill>
                  <a:srgbClr val="404040"/>
                </a:solidFill>
                <a:latin typeface="Calibri"/>
              </a:rPr>
              <a:t> </a:t>
            </a:r>
            <a:r>
              <a:rPr sz="1800" err="1">
                <a:solidFill>
                  <a:srgbClr val="404040"/>
                </a:solidFill>
                <a:latin typeface="Calibri"/>
              </a:rPr>
              <a:t>dominio</a:t>
            </a:r>
            <a:r>
              <a:rPr sz="1800">
                <a:solidFill>
                  <a:srgbClr val="404040"/>
                </a:solidFill>
                <a:latin typeface="Calibri"/>
              </a:rPr>
              <a:t> </a:t>
            </a:r>
            <a:r>
              <a:rPr sz="1800" err="1">
                <a:solidFill>
                  <a:srgbClr val="404040"/>
                </a:solidFill>
                <a:latin typeface="Calibri"/>
              </a:rPr>
              <a:t>en</a:t>
            </a:r>
            <a:r>
              <a:rPr sz="1800">
                <a:solidFill>
                  <a:srgbClr val="404040"/>
                </a:solidFill>
                <a:latin typeface="Calibri"/>
              </a:rPr>
              <a:t> </a:t>
            </a:r>
            <a:r>
              <a:rPr sz="1800" err="1">
                <a:solidFill>
                  <a:srgbClr val="404040"/>
                </a:solidFill>
                <a:latin typeface="Calibri"/>
              </a:rPr>
              <a:t>siete</a:t>
            </a:r>
            <a:r>
              <a:rPr sz="1800">
                <a:solidFill>
                  <a:srgbClr val="404040"/>
                </a:solidFill>
                <a:latin typeface="Calibri"/>
              </a:rPr>
              <a:t> </a:t>
            </a:r>
            <a:r>
              <a:rPr sz="1800" err="1">
                <a:solidFill>
                  <a:srgbClr val="404040"/>
                </a:solidFill>
                <a:latin typeface="Calibri"/>
              </a:rPr>
              <a:t>categorías</a:t>
            </a:r>
            <a:r>
              <a:rPr sz="1800">
                <a:solidFill>
                  <a:srgbClr val="404040"/>
                </a:solidFill>
                <a:latin typeface="Calibri"/>
              </a:rPr>
              <a:t>. Los secrets </a:t>
            </a:r>
            <a:r>
              <a:rPr sz="1800" err="1">
                <a:solidFill>
                  <a:srgbClr val="404040"/>
                </a:solidFill>
                <a:latin typeface="Calibri"/>
              </a:rPr>
              <a:t>nunca</a:t>
            </a:r>
            <a:r>
              <a:rPr sz="1800">
                <a:solidFill>
                  <a:srgbClr val="404040"/>
                </a:solidFill>
                <a:latin typeface="Calibri"/>
              </a:rPr>
              <a:t> se </a:t>
            </a:r>
            <a:r>
              <a:rPr sz="1800" err="1">
                <a:solidFill>
                  <a:srgbClr val="404040"/>
                </a:solidFill>
                <a:latin typeface="Calibri"/>
              </a:rPr>
              <a:t>commitan</a:t>
            </a:r>
            <a:r>
              <a:rPr sz="1800">
                <a:solidFill>
                  <a:srgbClr val="404040"/>
                </a:solidFill>
                <a:latin typeface="Calibri"/>
              </a:rPr>
              <a:t> (</a:t>
            </a:r>
            <a:r>
              <a:rPr sz="1800" err="1">
                <a:solidFill>
                  <a:srgbClr val="404040"/>
                </a:solidFill>
                <a:latin typeface="Calibri"/>
              </a:rPr>
              <a:t>viven</a:t>
            </a:r>
            <a:r>
              <a:rPr sz="1800">
                <a:solidFill>
                  <a:srgbClr val="404040"/>
                </a:solidFill>
                <a:latin typeface="Calibri"/>
              </a:rPr>
              <a:t> </a:t>
            </a:r>
            <a:r>
              <a:rPr sz="1800" err="1">
                <a:solidFill>
                  <a:srgbClr val="404040"/>
                </a:solidFill>
                <a:latin typeface="Calibri"/>
              </a:rPr>
              <a:t>en</a:t>
            </a:r>
            <a:r>
              <a:rPr sz="1800">
                <a:solidFill>
                  <a:srgbClr val="404040"/>
                </a:solidFill>
                <a:latin typeface="Calibri"/>
              </a:rPr>
              <a:t> .</a:t>
            </a:r>
            <a:r>
              <a:rPr sz="1800" err="1">
                <a:solidFill>
                  <a:srgbClr val="404040"/>
                </a:solidFill>
                <a:latin typeface="Calibri"/>
              </a:rPr>
              <a:t>env.secrets</a:t>
            </a:r>
            <a:r>
              <a:rPr sz="1800">
                <a:solidFill>
                  <a:srgbClr val="404040"/>
                </a:solidFill>
                <a:latin typeface="Calibri"/>
              </a:rPr>
              <a:t> </a:t>
            </a:r>
            <a:r>
              <a:rPr sz="1800" err="1">
                <a:solidFill>
                  <a:srgbClr val="404040"/>
                </a:solidFill>
                <a:latin typeface="Calibri"/>
              </a:rPr>
              <a:t>gitignored</a:t>
            </a:r>
            <a:r>
              <a:rPr sz="1800">
                <a:solidFill>
                  <a:srgbClr val="404040"/>
                </a:solidFill>
                <a:latin typeface="Calibri"/>
              </a:rPr>
              <a:t>, </a:t>
            </a:r>
            <a:r>
              <a:rPr sz="1800" err="1">
                <a:solidFill>
                  <a:srgbClr val="404040"/>
                </a:solidFill>
                <a:latin typeface="Calibri"/>
              </a:rPr>
              <a:t>separados</a:t>
            </a:r>
            <a:r>
              <a:rPr sz="1800">
                <a:solidFill>
                  <a:srgbClr val="404040"/>
                </a:solidFill>
                <a:latin typeface="Calibri"/>
              </a:rPr>
              <a:t> de </a:t>
            </a:r>
            <a:r>
              <a:rPr sz="1800" err="1">
                <a:solidFill>
                  <a:srgbClr val="404040"/>
                </a:solidFill>
                <a:latin typeface="Calibri"/>
              </a:rPr>
              <a:t>los</a:t>
            </a:r>
            <a:r>
              <a:rPr sz="1800">
                <a:solidFill>
                  <a:srgbClr val="404040"/>
                </a:solidFill>
                <a:latin typeface="Calibri"/>
              </a:rPr>
              <a:t> defaults </a:t>
            </a:r>
            <a:r>
              <a:rPr sz="1800" err="1">
                <a:solidFill>
                  <a:srgbClr val="404040"/>
                </a:solidFill>
                <a:latin typeface="Calibri"/>
              </a:rPr>
              <a:t>en</a:t>
            </a:r>
            <a:r>
              <a:rPr sz="1800">
                <a:solidFill>
                  <a:srgbClr val="404040"/>
                </a:solidFill>
                <a:latin typeface="Calibri"/>
              </a:rPr>
              <a:t> .</a:t>
            </a:r>
            <a:r>
              <a:rPr sz="1800" err="1">
                <a:solidFill>
                  <a:srgbClr val="404040"/>
                </a:solidFill>
                <a:latin typeface="Calibri"/>
              </a:rPr>
              <a:t>env.defaults</a:t>
            </a:r>
            <a:r>
              <a:rPr sz="1800">
                <a:solidFill>
                  <a:srgbClr val="404040"/>
                </a:solidFill>
                <a:latin typeface="Calibri"/>
              </a:rPr>
              <a:t>), y </a:t>
            </a:r>
            <a:r>
              <a:rPr sz="1800" err="1">
                <a:solidFill>
                  <a:srgbClr val="404040"/>
                </a:solidFill>
                <a:latin typeface="Calibri"/>
              </a:rPr>
              <a:t>cualquier</a:t>
            </a:r>
            <a:r>
              <a:rPr sz="1800">
                <a:solidFill>
                  <a:srgbClr val="404040"/>
                </a:solidFill>
                <a:latin typeface="Calibri"/>
              </a:rPr>
              <a:t> umbral del </a:t>
            </a:r>
            <a:r>
              <a:rPr sz="1800" err="1">
                <a:solidFill>
                  <a:srgbClr val="404040"/>
                </a:solidFill>
                <a:latin typeface="Calibri"/>
              </a:rPr>
              <a:t>sistema</a:t>
            </a:r>
            <a:r>
              <a:rPr sz="1800">
                <a:solidFill>
                  <a:srgbClr val="404040"/>
                </a:solidFill>
                <a:latin typeface="Calibri"/>
              </a:rPr>
              <a:t> se cambia sin redeployment.</a:t>
            </a:r>
          </a:p>
        </p:txBody>
      </p:sp>
      <p:sp>
        <p:nvSpPr>
          <p:cNvPr id="9005" name="Rounded Rectangle 9004"/>
          <p:cNvSpPr/>
          <p:nvPr/>
        </p:nvSpPr>
        <p:spPr>
          <a:xfrm>
            <a:off x="758952" y="2916935"/>
            <a:ext cx="5407152" cy="1645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>
            <a:outerShdw blurRad="127000" dist="38100" dir="5400000" algn="tl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06" name="Oval 9005"/>
          <p:cNvSpPr/>
          <p:nvPr/>
        </p:nvSpPr>
        <p:spPr>
          <a:xfrm>
            <a:off x="1170431" y="3419856"/>
            <a:ext cx="640080" cy="640080"/>
          </a:xfrm>
          <a:prstGeom prst="ellipse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07" name="Rounded Rectangle 9006"/>
          <p:cNvSpPr/>
          <p:nvPr/>
        </p:nvSpPr>
        <p:spPr>
          <a:xfrm>
            <a:off x="1344168" y="3703320"/>
            <a:ext cx="292608" cy="20116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08" name="Oval 9007"/>
          <p:cNvSpPr/>
          <p:nvPr/>
        </p:nvSpPr>
        <p:spPr>
          <a:xfrm>
            <a:off x="1399031" y="3557015"/>
            <a:ext cx="182880" cy="182880"/>
          </a:xfrm>
          <a:prstGeom prst="ellipse">
            <a:avLst/>
          </a:prstGeom>
          <a:solidFill>
            <a:srgbClr val="1F3864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09" name="TextBox 9008"/>
          <p:cNvSpPr txBox="1"/>
          <p:nvPr/>
        </p:nvSpPr>
        <p:spPr>
          <a:xfrm>
            <a:off x="1033271" y="3099815"/>
            <a:ext cx="36576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BF9000"/>
                </a:solidFill>
                <a:latin typeface="Calibri"/>
              </a:rPr>
              <a:t>01</a:t>
            </a:r>
          </a:p>
        </p:txBody>
      </p:sp>
      <p:sp>
        <p:nvSpPr>
          <p:cNvPr id="9010" name="TextBox 9009"/>
          <p:cNvSpPr txBox="1"/>
          <p:nvPr/>
        </p:nvSpPr>
        <p:spPr>
          <a:xfrm>
            <a:off x="1993392" y="3191253"/>
            <a:ext cx="3898391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1F3864"/>
                </a:solidFill>
                <a:latin typeface="Calibri"/>
              </a:rPr>
              <a:t>Cero credenciales en código</a:t>
            </a:r>
          </a:p>
        </p:txBody>
      </p:sp>
      <p:sp>
        <p:nvSpPr>
          <p:cNvPr id="9011" name="TextBox 9010"/>
          <p:cNvSpPr txBox="1"/>
          <p:nvPr/>
        </p:nvSpPr>
        <p:spPr>
          <a:xfrm>
            <a:off x="1993392" y="3648453"/>
            <a:ext cx="3898391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>
                <a:solidFill>
                  <a:srgbClr val="404040"/>
                </a:solidFill>
                <a:latin typeface="Calibri"/>
              </a:rPr>
              <a:t>Una clase Settings carga os.environ al arrancar; los defaults viven en .env.defaults y los secretos en .env.secrets (gitignored).</a:t>
            </a:r>
          </a:p>
        </p:txBody>
      </p:sp>
      <p:sp>
        <p:nvSpPr>
          <p:cNvPr id="9012" name="Rounded Rectangle 9011"/>
          <p:cNvSpPr/>
          <p:nvPr/>
        </p:nvSpPr>
        <p:spPr>
          <a:xfrm>
            <a:off x="6348984" y="2916935"/>
            <a:ext cx="5407152" cy="1645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>
            <a:outerShdw blurRad="127000" dist="38100" dir="5400000" algn="tl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13" name="Oval 9012"/>
          <p:cNvSpPr/>
          <p:nvPr/>
        </p:nvSpPr>
        <p:spPr>
          <a:xfrm>
            <a:off x="6760464" y="3419856"/>
            <a:ext cx="640080" cy="640080"/>
          </a:xfrm>
          <a:prstGeom prst="ellipse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14" name="Rectangle 9013"/>
          <p:cNvSpPr/>
          <p:nvPr/>
        </p:nvSpPr>
        <p:spPr>
          <a:xfrm>
            <a:off x="6943344" y="3648453"/>
            <a:ext cx="118872" cy="182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15" name="Rectangle 9014"/>
          <p:cNvSpPr/>
          <p:nvPr/>
        </p:nvSpPr>
        <p:spPr>
          <a:xfrm>
            <a:off x="7098791" y="3648453"/>
            <a:ext cx="118872" cy="182880"/>
          </a:xfrm>
          <a:prstGeom prst="rect">
            <a:avLst/>
          </a:prstGeom>
          <a:solidFill>
            <a:srgbClr val="BF9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16" name="TextBox 9015"/>
          <p:cNvSpPr txBox="1"/>
          <p:nvPr/>
        </p:nvSpPr>
        <p:spPr>
          <a:xfrm>
            <a:off x="6623304" y="3099815"/>
            <a:ext cx="36576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BF9000"/>
                </a:solidFill>
                <a:latin typeface="Calibri"/>
              </a:rPr>
              <a:t>02</a:t>
            </a:r>
          </a:p>
        </p:txBody>
      </p:sp>
      <p:sp>
        <p:nvSpPr>
          <p:cNvPr id="9017" name="TextBox 9016"/>
          <p:cNvSpPr txBox="1"/>
          <p:nvPr/>
        </p:nvSpPr>
        <p:spPr>
          <a:xfrm>
            <a:off x="7583424" y="3191253"/>
            <a:ext cx="389839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 dirty="0">
                <a:solidFill>
                  <a:srgbClr val="1F3864"/>
                </a:solidFill>
                <a:latin typeface="Calibri"/>
              </a:rPr>
              <a:t>Defaults vs secrets </a:t>
            </a:r>
            <a:r>
              <a:rPr sz="1300" b="1" dirty="0" err="1">
                <a:solidFill>
                  <a:srgbClr val="1F3864"/>
                </a:solidFill>
                <a:latin typeface="Calibri"/>
              </a:rPr>
              <a:t>en</a:t>
            </a:r>
            <a:r>
              <a:rPr sz="1300" b="1" dirty="0">
                <a:solidFill>
                  <a:srgbClr val="1F3864"/>
                </a:solidFill>
                <a:latin typeface="Calibri"/>
              </a:rPr>
              <a:t> </a:t>
            </a:r>
            <a:r>
              <a:rPr sz="1300" b="1" dirty="0" err="1">
                <a:solidFill>
                  <a:srgbClr val="1F3864"/>
                </a:solidFill>
                <a:latin typeface="Calibri"/>
              </a:rPr>
              <a:t>ficheros</a:t>
            </a:r>
            <a:r>
              <a:rPr sz="1300" b="1" dirty="0">
                <a:solidFill>
                  <a:srgbClr val="1F3864"/>
                </a:solidFill>
                <a:latin typeface="Calibri"/>
              </a:rPr>
              <a:t> </a:t>
            </a:r>
            <a:r>
              <a:rPr sz="1300" b="1" dirty="0" err="1">
                <a:solidFill>
                  <a:srgbClr val="1F3864"/>
                </a:solidFill>
                <a:latin typeface="Calibri"/>
              </a:rPr>
              <a:t>separados</a:t>
            </a:r>
            <a:endParaRPr sz="1300" b="1" dirty="0">
              <a:solidFill>
                <a:srgbClr val="1F3864"/>
              </a:solidFill>
              <a:latin typeface="Calibri"/>
            </a:endParaRPr>
          </a:p>
        </p:txBody>
      </p:sp>
      <p:sp>
        <p:nvSpPr>
          <p:cNvPr id="9018" name="TextBox 9017"/>
          <p:cNvSpPr txBox="1"/>
          <p:nvPr/>
        </p:nvSpPr>
        <p:spPr>
          <a:xfrm>
            <a:off x="7583424" y="3648453"/>
            <a:ext cx="3898392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>
                <a:solidFill>
                  <a:srgbClr val="404040"/>
                </a:solidFill>
                <a:latin typeface="Calibri"/>
              </a:rPr>
              <a:t>.env.defaults bajo control de versiones; .env.secrets ignorado y rellenado por entorno (dev, staging, producción).</a:t>
            </a:r>
          </a:p>
        </p:txBody>
      </p:sp>
      <p:sp>
        <p:nvSpPr>
          <p:cNvPr id="9019" name="Rounded Rectangle 9018"/>
          <p:cNvSpPr/>
          <p:nvPr/>
        </p:nvSpPr>
        <p:spPr>
          <a:xfrm>
            <a:off x="11939016" y="2916935"/>
            <a:ext cx="5407152" cy="1645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>
            <a:outerShdw blurRad="127000" dist="38100" dir="5400000" algn="tl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20" name="Oval 9019"/>
          <p:cNvSpPr/>
          <p:nvPr/>
        </p:nvSpPr>
        <p:spPr>
          <a:xfrm>
            <a:off x="12350496" y="3419856"/>
            <a:ext cx="640080" cy="640080"/>
          </a:xfrm>
          <a:prstGeom prst="ellipse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21" name="Sun 9020"/>
          <p:cNvSpPr/>
          <p:nvPr/>
        </p:nvSpPr>
        <p:spPr>
          <a:xfrm>
            <a:off x="12524231" y="3593591"/>
            <a:ext cx="292608" cy="292608"/>
          </a:xfrm>
          <a:prstGeom prst="sun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22" name="Oval 9021"/>
          <p:cNvSpPr/>
          <p:nvPr/>
        </p:nvSpPr>
        <p:spPr>
          <a:xfrm>
            <a:off x="12615671" y="3685031"/>
            <a:ext cx="109728" cy="109728"/>
          </a:xfrm>
          <a:prstGeom prst="ellipse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23" name="TextBox 9022"/>
          <p:cNvSpPr txBox="1"/>
          <p:nvPr/>
        </p:nvSpPr>
        <p:spPr>
          <a:xfrm>
            <a:off x="12213336" y="3099815"/>
            <a:ext cx="36576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BF9000"/>
                </a:solidFill>
                <a:latin typeface="Calibri"/>
              </a:rPr>
              <a:t>03</a:t>
            </a:r>
          </a:p>
        </p:txBody>
      </p:sp>
      <p:sp>
        <p:nvSpPr>
          <p:cNvPr id="9024" name="TextBox 9023"/>
          <p:cNvSpPr txBox="1"/>
          <p:nvPr/>
        </p:nvSpPr>
        <p:spPr>
          <a:xfrm>
            <a:off x="13173455" y="3191253"/>
            <a:ext cx="389839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1F3864"/>
                </a:solidFill>
                <a:latin typeface="Calibri"/>
              </a:rPr>
              <a:t>Configuración sin redeploy</a:t>
            </a:r>
          </a:p>
        </p:txBody>
      </p:sp>
      <p:sp>
        <p:nvSpPr>
          <p:cNvPr id="9025" name="TextBox 9024"/>
          <p:cNvSpPr txBox="1"/>
          <p:nvPr/>
        </p:nvSpPr>
        <p:spPr>
          <a:xfrm>
            <a:off x="13173455" y="3648453"/>
            <a:ext cx="3898392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>
                <a:solidFill>
                  <a:srgbClr val="404040"/>
                </a:solidFill>
                <a:latin typeface="Calibri"/>
              </a:rPr>
              <a:t>Umbrales, modelos LLM, concurrencias y TTL son variables — cambian en caliente sin tocar la imagen Docker.</a:t>
            </a:r>
          </a:p>
        </p:txBody>
      </p:sp>
      <p:sp>
        <p:nvSpPr>
          <p:cNvPr id="9026" name="Rectangle 9025"/>
          <p:cNvSpPr/>
          <p:nvPr/>
        </p:nvSpPr>
        <p:spPr>
          <a:xfrm>
            <a:off x="758952" y="4837176"/>
            <a:ext cx="16770096" cy="3657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27" name="TextBox 9026"/>
          <p:cNvSpPr txBox="1"/>
          <p:nvPr/>
        </p:nvSpPr>
        <p:spPr>
          <a:xfrm>
            <a:off x="941832" y="4910328"/>
            <a:ext cx="4572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Calibri"/>
              </a:rPr>
              <a:t>VARIABLE</a:t>
            </a:r>
          </a:p>
        </p:txBody>
      </p:sp>
      <p:sp>
        <p:nvSpPr>
          <p:cNvPr id="9028" name="TextBox 9027"/>
          <p:cNvSpPr txBox="1"/>
          <p:nvPr/>
        </p:nvSpPr>
        <p:spPr>
          <a:xfrm>
            <a:off x="5513832" y="4910328"/>
            <a:ext cx="1371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Calibri"/>
              </a:rPr>
              <a:t>TIPO</a:t>
            </a:r>
          </a:p>
        </p:txBody>
      </p:sp>
      <p:sp>
        <p:nvSpPr>
          <p:cNvPr id="9029" name="TextBox 9028"/>
          <p:cNvSpPr txBox="1"/>
          <p:nvPr/>
        </p:nvSpPr>
        <p:spPr>
          <a:xfrm>
            <a:off x="6885432" y="4910328"/>
            <a:ext cx="3657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Calibri"/>
              </a:rPr>
              <a:t>DEFAULT</a:t>
            </a:r>
          </a:p>
        </p:txBody>
      </p:sp>
      <p:sp>
        <p:nvSpPr>
          <p:cNvPr id="9030" name="TextBox 9029"/>
          <p:cNvSpPr txBox="1"/>
          <p:nvPr/>
        </p:nvSpPr>
        <p:spPr>
          <a:xfrm>
            <a:off x="10543032" y="4910328"/>
            <a:ext cx="32004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Calibri"/>
              </a:rPr>
              <a:t>CATEGORÍA</a:t>
            </a:r>
          </a:p>
        </p:txBody>
      </p:sp>
      <p:sp>
        <p:nvSpPr>
          <p:cNvPr id="9031" name="TextBox 9030"/>
          <p:cNvSpPr txBox="1"/>
          <p:nvPr/>
        </p:nvSpPr>
        <p:spPr>
          <a:xfrm>
            <a:off x="13743432" y="4910328"/>
            <a:ext cx="3968496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Calibri"/>
              </a:rPr>
              <a:t>USO</a:t>
            </a:r>
          </a:p>
        </p:txBody>
      </p:sp>
      <p:sp>
        <p:nvSpPr>
          <p:cNvPr id="9032" name="Rectangle 9031"/>
          <p:cNvSpPr/>
          <p:nvPr/>
        </p:nvSpPr>
        <p:spPr>
          <a:xfrm>
            <a:off x="758952" y="5294376"/>
            <a:ext cx="16770096" cy="365760"/>
          </a:xfrm>
          <a:prstGeom prst="rect">
            <a:avLst/>
          </a:prstGeom>
          <a:solidFill>
            <a:srgbClr val="F7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33" name="TextBox 9032"/>
          <p:cNvSpPr txBox="1"/>
          <p:nvPr/>
        </p:nvSpPr>
        <p:spPr>
          <a:xfrm>
            <a:off x="941832" y="5385816"/>
            <a:ext cx="4572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1F3864"/>
                </a:solidFill>
                <a:latin typeface="Consolas"/>
              </a:rPr>
              <a:t>POSTGRES_HOST</a:t>
            </a:r>
          </a:p>
        </p:txBody>
      </p:sp>
      <p:sp>
        <p:nvSpPr>
          <p:cNvPr id="9034" name="TextBox 9033"/>
          <p:cNvSpPr txBox="1"/>
          <p:nvPr/>
        </p:nvSpPr>
        <p:spPr>
          <a:xfrm>
            <a:off x="5513832" y="5385816"/>
            <a:ext cx="1371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>
                <a:solidFill>
                  <a:srgbClr val="595959"/>
                </a:solidFill>
                <a:latin typeface="Consolas"/>
              </a:rPr>
              <a:t>str</a:t>
            </a:r>
          </a:p>
        </p:txBody>
      </p:sp>
      <p:sp>
        <p:nvSpPr>
          <p:cNvPr id="9035" name="TextBox 9034"/>
          <p:cNvSpPr txBox="1"/>
          <p:nvPr/>
        </p:nvSpPr>
        <p:spPr>
          <a:xfrm>
            <a:off x="6885432" y="5385816"/>
            <a:ext cx="3657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dirty="0">
                <a:solidFill>
                  <a:srgbClr val="404040"/>
                </a:solidFill>
                <a:latin typeface="Consolas"/>
              </a:rPr>
              <a:t>localhost</a:t>
            </a:r>
          </a:p>
        </p:txBody>
      </p:sp>
      <p:sp>
        <p:nvSpPr>
          <p:cNvPr id="9036" name="TextBox 9035"/>
          <p:cNvSpPr txBox="1"/>
          <p:nvPr/>
        </p:nvSpPr>
        <p:spPr>
          <a:xfrm>
            <a:off x="10543032" y="5385816"/>
            <a:ext cx="32004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 dirty="0">
                <a:solidFill>
                  <a:srgbClr val="BF9000"/>
                </a:solidFill>
                <a:latin typeface="Calibri"/>
              </a:rPr>
              <a:t>DATOS</a:t>
            </a:r>
          </a:p>
        </p:txBody>
      </p:sp>
      <p:sp>
        <p:nvSpPr>
          <p:cNvPr id="9037" name="TextBox 9036"/>
          <p:cNvSpPr txBox="1"/>
          <p:nvPr/>
        </p:nvSpPr>
        <p:spPr>
          <a:xfrm>
            <a:off x="13743432" y="5385816"/>
            <a:ext cx="3968496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dirty="0" err="1">
                <a:solidFill>
                  <a:srgbClr val="404040"/>
                </a:solidFill>
                <a:latin typeface="Calibri"/>
              </a:rPr>
              <a:t>Conexión</a:t>
            </a:r>
            <a:r>
              <a:rPr sz="1300" dirty="0">
                <a:solidFill>
                  <a:srgbClr val="404040"/>
                </a:solidFill>
                <a:latin typeface="Calibri"/>
              </a:rPr>
              <a:t> a PostgreSQL</a:t>
            </a:r>
          </a:p>
        </p:txBody>
      </p:sp>
      <p:sp>
        <p:nvSpPr>
          <p:cNvPr id="9038" name="Rectangle 9037"/>
          <p:cNvSpPr/>
          <p:nvPr/>
        </p:nvSpPr>
        <p:spPr>
          <a:xfrm>
            <a:off x="758952" y="5660136"/>
            <a:ext cx="16770096" cy="365760"/>
          </a:xfrm>
          <a:prstGeom prst="rect">
            <a:avLst/>
          </a:prstGeom>
          <a:solidFill>
            <a:srgbClr val="F7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39" name="TextBox 9038"/>
          <p:cNvSpPr txBox="1"/>
          <p:nvPr/>
        </p:nvSpPr>
        <p:spPr>
          <a:xfrm>
            <a:off x="941832" y="5751576"/>
            <a:ext cx="4572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BF9000"/>
                </a:solidFill>
                <a:latin typeface="Consolas"/>
              </a:rPr>
              <a:t>POSTGRES_PASSWORD</a:t>
            </a:r>
          </a:p>
        </p:txBody>
      </p:sp>
      <p:sp>
        <p:nvSpPr>
          <p:cNvPr id="9040" name="TextBox 9039"/>
          <p:cNvSpPr txBox="1"/>
          <p:nvPr/>
        </p:nvSpPr>
        <p:spPr>
          <a:xfrm>
            <a:off x="5513832" y="5751576"/>
            <a:ext cx="1371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>
                <a:solidFill>
                  <a:srgbClr val="595959"/>
                </a:solidFill>
                <a:latin typeface="Consolas"/>
              </a:rPr>
              <a:t>secret</a:t>
            </a:r>
          </a:p>
        </p:txBody>
      </p:sp>
      <p:sp>
        <p:nvSpPr>
          <p:cNvPr id="9041" name="TextBox 9040"/>
          <p:cNvSpPr txBox="1"/>
          <p:nvPr/>
        </p:nvSpPr>
        <p:spPr>
          <a:xfrm>
            <a:off x="6885432" y="5751576"/>
            <a:ext cx="3657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>
                <a:solidFill>
                  <a:srgbClr val="404040"/>
                </a:solidFill>
                <a:latin typeface="Consolas"/>
              </a:rPr>
              <a:t>—</a:t>
            </a:r>
          </a:p>
        </p:txBody>
      </p:sp>
      <p:sp>
        <p:nvSpPr>
          <p:cNvPr id="9042" name="TextBox 9041"/>
          <p:cNvSpPr txBox="1"/>
          <p:nvPr/>
        </p:nvSpPr>
        <p:spPr>
          <a:xfrm>
            <a:off x="10543032" y="5751576"/>
            <a:ext cx="32004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BF9000"/>
                </a:solidFill>
                <a:latin typeface="Calibri"/>
              </a:rPr>
              <a:t>DATOS</a:t>
            </a:r>
          </a:p>
        </p:txBody>
      </p:sp>
      <p:sp>
        <p:nvSpPr>
          <p:cNvPr id="9043" name="TextBox 9042"/>
          <p:cNvSpPr txBox="1"/>
          <p:nvPr/>
        </p:nvSpPr>
        <p:spPr>
          <a:xfrm>
            <a:off x="13743432" y="5751576"/>
            <a:ext cx="3968496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>
                <a:solidFill>
                  <a:srgbClr val="404040"/>
                </a:solidFill>
                <a:latin typeface="Calibri"/>
              </a:rPr>
              <a:t>Credencial sensible (gitignored)</a:t>
            </a:r>
          </a:p>
        </p:txBody>
      </p:sp>
      <p:sp>
        <p:nvSpPr>
          <p:cNvPr id="9044" name="Rectangle 9043"/>
          <p:cNvSpPr/>
          <p:nvPr/>
        </p:nvSpPr>
        <p:spPr>
          <a:xfrm>
            <a:off x="758952" y="6025896"/>
            <a:ext cx="16770096" cy="365760"/>
          </a:xfrm>
          <a:prstGeom prst="rect">
            <a:avLst/>
          </a:prstGeom>
          <a:solidFill>
            <a:srgbClr val="F7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45" name="TextBox 9044"/>
          <p:cNvSpPr txBox="1"/>
          <p:nvPr/>
        </p:nvSpPr>
        <p:spPr>
          <a:xfrm>
            <a:off x="941832" y="6117336"/>
            <a:ext cx="4572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1F3864"/>
                </a:solidFill>
                <a:latin typeface="Consolas"/>
              </a:rPr>
              <a:t>REDIS_TTL_SECONDS</a:t>
            </a:r>
          </a:p>
        </p:txBody>
      </p:sp>
      <p:sp>
        <p:nvSpPr>
          <p:cNvPr id="9046" name="TextBox 9045"/>
          <p:cNvSpPr txBox="1"/>
          <p:nvPr/>
        </p:nvSpPr>
        <p:spPr>
          <a:xfrm>
            <a:off x="5513832" y="6117336"/>
            <a:ext cx="1371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>
                <a:solidFill>
                  <a:srgbClr val="595959"/>
                </a:solidFill>
                <a:latin typeface="Consolas"/>
              </a:rPr>
              <a:t>int</a:t>
            </a:r>
          </a:p>
        </p:txBody>
      </p:sp>
      <p:sp>
        <p:nvSpPr>
          <p:cNvPr id="9047" name="TextBox 9046"/>
          <p:cNvSpPr txBox="1"/>
          <p:nvPr/>
        </p:nvSpPr>
        <p:spPr>
          <a:xfrm>
            <a:off x="6885432" y="6117336"/>
            <a:ext cx="3657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>
                <a:solidFill>
                  <a:srgbClr val="404040"/>
                </a:solidFill>
                <a:latin typeface="Consolas"/>
              </a:rPr>
              <a:t>86400</a:t>
            </a:r>
          </a:p>
        </p:txBody>
      </p:sp>
      <p:sp>
        <p:nvSpPr>
          <p:cNvPr id="9048" name="TextBox 9047"/>
          <p:cNvSpPr txBox="1"/>
          <p:nvPr/>
        </p:nvSpPr>
        <p:spPr>
          <a:xfrm>
            <a:off x="10543032" y="6117336"/>
            <a:ext cx="32004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BF9000"/>
                </a:solidFill>
                <a:latin typeface="Calibri"/>
              </a:rPr>
              <a:t>CACHÉ</a:t>
            </a:r>
          </a:p>
        </p:txBody>
      </p:sp>
      <p:sp>
        <p:nvSpPr>
          <p:cNvPr id="9049" name="TextBox 9048"/>
          <p:cNvSpPr txBox="1"/>
          <p:nvPr/>
        </p:nvSpPr>
        <p:spPr>
          <a:xfrm>
            <a:off x="13743432" y="6117336"/>
            <a:ext cx="3968496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>
                <a:solidFill>
                  <a:srgbClr val="404040"/>
                </a:solidFill>
                <a:latin typeface="Calibri"/>
              </a:rPr>
              <a:t>TTL de la caché por empresa</a:t>
            </a:r>
          </a:p>
        </p:txBody>
      </p:sp>
      <p:sp>
        <p:nvSpPr>
          <p:cNvPr id="9050" name="Rectangle 9049"/>
          <p:cNvSpPr/>
          <p:nvPr/>
        </p:nvSpPr>
        <p:spPr>
          <a:xfrm>
            <a:off x="758952" y="6391656"/>
            <a:ext cx="16770096" cy="365760"/>
          </a:xfrm>
          <a:prstGeom prst="rect">
            <a:avLst/>
          </a:prstGeom>
          <a:solidFill>
            <a:srgbClr val="F7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51" name="TextBox 9050"/>
          <p:cNvSpPr txBox="1"/>
          <p:nvPr/>
        </p:nvSpPr>
        <p:spPr>
          <a:xfrm>
            <a:off x="941832" y="6483096"/>
            <a:ext cx="4572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BF9000"/>
                </a:solidFill>
                <a:latin typeface="Consolas"/>
              </a:rPr>
              <a:t>GOOGLE_MAPS_API_KEY</a:t>
            </a:r>
          </a:p>
        </p:txBody>
      </p:sp>
      <p:sp>
        <p:nvSpPr>
          <p:cNvPr id="9052" name="TextBox 9051"/>
          <p:cNvSpPr txBox="1"/>
          <p:nvPr/>
        </p:nvSpPr>
        <p:spPr>
          <a:xfrm>
            <a:off x="5513832" y="6483096"/>
            <a:ext cx="1371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>
                <a:solidFill>
                  <a:srgbClr val="595959"/>
                </a:solidFill>
                <a:latin typeface="Consolas"/>
              </a:rPr>
              <a:t>secret</a:t>
            </a:r>
          </a:p>
        </p:txBody>
      </p:sp>
      <p:sp>
        <p:nvSpPr>
          <p:cNvPr id="9053" name="TextBox 9052"/>
          <p:cNvSpPr txBox="1"/>
          <p:nvPr/>
        </p:nvSpPr>
        <p:spPr>
          <a:xfrm>
            <a:off x="6885432" y="6483096"/>
            <a:ext cx="3657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>
                <a:solidFill>
                  <a:srgbClr val="404040"/>
                </a:solidFill>
                <a:latin typeface="Consolas"/>
              </a:rPr>
              <a:t>—</a:t>
            </a:r>
          </a:p>
        </p:txBody>
      </p:sp>
      <p:sp>
        <p:nvSpPr>
          <p:cNvPr id="9054" name="TextBox 9053"/>
          <p:cNvSpPr txBox="1"/>
          <p:nvPr/>
        </p:nvSpPr>
        <p:spPr>
          <a:xfrm>
            <a:off x="10543032" y="6483096"/>
            <a:ext cx="32004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BF9000"/>
                </a:solidFill>
                <a:latin typeface="Calibri"/>
              </a:rPr>
              <a:t>APIS</a:t>
            </a:r>
          </a:p>
        </p:txBody>
      </p:sp>
      <p:sp>
        <p:nvSpPr>
          <p:cNvPr id="9055" name="TextBox 9054"/>
          <p:cNvSpPr txBox="1"/>
          <p:nvPr/>
        </p:nvSpPr>
        <p:spPr>
          <a:xfrm>
            <a:off x="13743432" y="6483096"/>
            <a:ext cx="3968496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>
                <a:solidFill>
                  <a:srgbClr val="404040"/>
                </a:solidFill>
                <a:latin typeface="Calibri"/>
              </a:rPr>
              <a:t>Provider canónico de geolocalización</a:t>
            </a:r>
          </a:p>
        </p:txBody>
      </p:sp>
      <p:sp>
        <p:nvSpPr>
          <p:cNvPr id="9056" name="Rectangle 9055"/>
          <p:cNvSpPr/>
          <p:nvPr/>
        </p:nvSpPr>
        <p:spPr>
          <a:xfrm>
            <a:off x="758952" y="6757416"/>
            <a:ext cx="16770096" cy="365760"/>
          </a:xfrm>
          <a:prstGeom prst="rect">
            <a:avLst/>
          </a:prstGeom>
          <a:solidFill>
            <a:srgbClr val="F7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57" name="TextBox 9056"/>
          <p:cNvSpPr txBox="1"/>
          <p:nvPr/>
        </p:nvSpPr>
        <p:spPr>
          <a:xfrm>
            <a:off x="941832" y="6848856"/>
            <a:ext cx="4572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1F3864"/>
                </a:solidFill>
                <a:latin typeface="Consolas"/>
              </a:rPr>
              <a:t>LITELLM_MODEL</a:t>
            </a:r>
          </a:p>
        </p:txBody>
      </p:sp>
      <p:sp>
        <p:nvSpPr>
          <p:cNvPr id="9058" name="TextBox 9057"/>
          <p:cNvSpPr txBox="1"/>
          <p:nvPr/>
        </p:nvSpPr>
        <p:spPr>
          <a:xfrm>
            <a:off x="5513832" y="6848856"/>
            <a:ext cx="1371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>
                <a:solidFill>
                  <a:srgbClr val="595959"/>
                </a:solidFill>
                <a:latin typeface="Consolas"/>
              </a:rPr>
              <a:t>str</a:t>
            </a:r>
          </a:p>
        </p:txBody>
      </p:sp>
      <p:sp>
        <p:nvSpPr>
          <p:cNvPr id="9059" name="TextBox 9058"/>
          <p:cNvSpPr txBox="1"/>
          <p:nvPr/>
        </p:nvSpPr>
        <p:spPr>
          <a:xfrm>
            <a:off x="6885432" y="6848856"/>
            <a:ext cx="3200400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lang="es-ES_tradnl" sz="1300" dirty="0" err="1">
                <a:solidFill>
                  <a:srgbClr val="404040"/>
                </a:solidFill>
                <a:latin typeface="Consolas"/>
              </a:rPr>
              <a:t>azure</a:t>
            </a:r>
            <a:r>
              <a:rPr sz="1300" dirty="0">
                <a:solidFill>
                  <a:srgbClr val="404040"/>
                </a:solidFill>
                <a:latin typeface="Consolas"/>
              </a:rPr>
              <a:t>/openai.gpt-oss-120b-1:0</a:t>
            </a:r>
          </a:p>
        </p:txBody>
      </p:sp>
      <p:sp>
        <p:nvSpPr>
          <p:cNvPr id="9060" name="TextBox 9059"/>
          <p:cNvSpPr txBox="1"/>
          <p:nvPr/>
        </p:nvSpPr>
        <p:spPr>
          <a:xfrm>
            <a:off x="10543032" y="6848856"/>
            <a:ext cx="32004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BF9000"/>
                </a:solidFill>
                <a:latin typeface="Calibri"/>
              </a:rPr>
              <a:t>LLM</a:t>
            </a:r>
          </a:p>
        </p:txBody>
      </p:sp>
      <p:sp>
        <p:nvSpPr>
          <p:cNvPr id="9061" name="TextBox 9060"/>
          <p:cNvSpPr txBox="1"/>
          <p:nvPr/>
        </p:nvSpPr>
        <p:spPr>
          <a:xfrm>
            <a:off x="13743432" y="6848856"/>
            <a:ext cx="3968496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>
                <a:solidFill>
                  <a:srgbClr val="404040"/>
                </a:solidFill>
                <a:latin typeface="Calibri"/>
              </a:rPr>
              <a:t>Modelo LLM por defecto</a:t>
            </a:r>
          </a:p>
        </p:txBody>
      </p:sp>
      <p:sp>
        <p:nvSpPr>
          <p:cNvPr id="9062" name="Rectangle 9061"/>
          <p:cNvSpPr/>
          <p:nvPr/>
        </p:nvSpPr>
        <p:spPr>
          <a:xfrm>
            <a:off x="758952" y="7123176"/>
            <a:ext cx="16770096" cy="365760"/>
          </a:xfrm>
          <a:prstGeom prst="rect">
            <a:avLst/>
          </a:prstGeom>
          <a:solidFill>
            <a:srgbClr val="F7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63" name="TextBox 9062"/>
          <p:cNvSpPr txBox="1"/>
          <p:nvPr/>
        </p:nvSpPr>
        <p:spPr>
          <a:xfrm>
            <a:off x="941832" y="7214616"/>
            <a:ext cx="2377440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 dirty="0">
                <a:solidFill>
                  <a:srgbClr val="1F3864"/>
                </a:solidFill>
                <a:latin typeface="Consolas"/>
              </a:rPr>
              <a:t>A</a:t>
            </a:r>
            <a:r>
              <a:rPr lang="es-ES_tradnl" sz="1300" b="1" dirty="0">
                <a:solidFill>
                  <a:srgbClr val="1F3864"/>
                </a:solidFill>
                <a:latin typeface="Consolas"/>
              </a:rPr>
              <a:t>zure</a:t>
            </a:r>
            <a:r>
              <a:rPr sz="1300" b="1" dirty="0">
                <a:solidFill>
                  <a:srgbClr val="1F3864"/>
                </a:solidFill>
                <a:latin typeface="Consolas"/>
              </a:rPr>
              <a:t>_REGION_NAME</a:t>
            </a:r>
          </a:p>
        </p:txBody>
      </p:sp>
      <p:sp>
        <p:nvSpPr>
          <p:cNvPr id="9064" name="TextBox 9063"/>
          <p:cNvSpPr txBox="1"/>
          <p:nvPr/>
        </p:nvSpPr>
        <p:spPr>
          <a:xfrm>
            <a:off x="5513832" y="7214616"/>
            <a:ext cx="1371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>
                <a:solidFill>
                  <a:srgbClr val="595959"/>
                </a:solidFill>
                <a:latin typeface="Consolas"/>
              </a:rPr>
              <a:t>str</a:t>
            </a:r>
          </a:p>
        </p:txBody>
      </p:sp>
      <p:sp>
        <p:nvSpPr>
          <p:cNvPr id="9065" name="TextBox 9064"/>
          <p:cNvSpPr txBox="1"/>
          <p:nvPr/>
        </p:nvSpPr>
        <p:spPr>
          <a:xfrm>
            <a:off x="6885432" y="7214616"/>
            <a:ext cx="3657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>
                <a:solidFill>
                  <a:srgbClr val="404040"/>
                </a:solidFill>
                <a:latin typeface="Consolas"/>
              </a:rPr>
              <a:t>eu-west-1</a:t>
            </a:r>
          </a:p>
        </p:txBody>
      </p:sp>
      <p:sp>
        <p:nvSpPr>
          <p:cNvPr id="9066" name="TextBox 9065"/>
          <p:cNvSpPr txBox="1"/>
          <p:nvPr/>
        </p:nvSpPr>
        <p:spPr>
          <a:xfrm>
            <a:off x="10543032" y="7214616"/>
            <a:ext cx="32004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BF9000"/>
                </a:solidFill>
                <a:latin typeface="Calibri"/>
              </a:rPr>
              <a:t>LLM</a:t>
            </a:r>
          </a:p>
        </p:txBody>
      </p:sp>
      <p:sp>
        <p:nvSpPr>
          <p:cNvPr id="9067" name="TextBox 9066"/>
          <p:cNvSpPr txBox="1"/>
          <p:nvPr/>
        </p:nvSpPr>
        <p:spPr>
          <a:xfrm>
            <a:off x="13743432" y="7214616"/>
            <a:ext cx="1463040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dirty="0" err="1">
                <a:solidFill>
                  <a:srgbClr val="404040"/>
                </a:solidFill>
                <a:latin typeface="Calibri"/>
              </a:rPr>
              <a:t>Región</a:t>
            </a:r>
            <a:r>
              <a:rPr sz="1000" dirty="0">
                <a:solidFill>
                  <a:srgbClr val="404040"/>
                </a:solidFill>
                <a:latin typeface="Calibri"/>
              </a:rPr>
              <a:t> </a:t>
            </a:r>
            <a:r>
              <a:rPr lang="es-ES_tradnl" sz="1300" dirty="0">
                <a:solidFill>
                  <a:srgbClr val="404040"/>
                </a:solidFill>
                <a:latin typeface="Calibri"/>
              </a:rPr>
              <a:t>Azure</a:t>
            </a:r>
            <a:endParaRPr sz="1000" dirty="0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9068" name="Rectangle 9067"/>
          <p:cNvSpPr/>
          <p:nvPr/>
        </p:nvSpPr>
        <p:spPr>
          <a:xfrm>
            <a:off x="758952" y="7488936"/>
            <a:ext cx="16770096" cy="365760"/>
          </a:xfrm>
          <a:prstGeom prst="rect">
            <a:avLst/>
          </a:prstGeom>
          <a:solidFill>
            <a:srgbClr val="F7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69" name="TextBox 9068"/>
          <p:cNvSpPr txBox="1"/>
          <p:nvPr/>
        </p:nvSpPr>
        <p:spPr>
          <a:xfrm>
            <a:off x="941832" y="7580375"/>
            <a:ext cx="4572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1F3864"/>
                </a:solidFill>
                <a:latin typeface="Consolas"/>
              </a:rPr>
              <a:t>AGENT_MAX_DURATION_SECONDS</a:t>
            </a:r>
          </a:p>
        </p:txBody>
      </p:sp>
      <p:sp>
        <p:nvSpPr>
          <p:cNvPr id="9070" name="TextBox 9069"/>
          <p:cNvSpPr txBox="1"/>
          <p:nvPr/>
        </p:nvSpPr>
        <p:spPr>
          <a:xfrm>
            <a:off x="5513832" y="7580375"/>
            <a:ext cx="1371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>
                <a:solidFill>
                  <a:srgbClr val="595959"/>
                </a:solidFill>
                <a:latin typeface="Consolas"/>
              </a:rPr>
              <a:t>int</a:t>
            </a:r>
          </a:p>
        </p:txBody>
      </p:sp>
      <p:sp>
        <p:nvSpPr>
          <p:cNvPr id="9071" name="TextBox 9070"/>
          <p:cNvSpPr txBox="1"/>
          <p:nvPr/>
        </p:nvSpPr>
        <p:spPr>
          <a:xfrm>
            <a:off x="6885432" y="7580375"/>
            <a:ext cx="3657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>
                <a:solidFill>
                  <a:srgbClr val="404040"/>
                </a:solidFill>
                <a:latin typeface="Consolas"/>
              </a:rPr>
              <a:t>120</a:t>
            </a:r>
          </a:p>
        </p:txBody>
      </p:sp>
      <p:sp>
        <p:nvSpPr>
          <p:cNvPr id="9072" name="TextBox 9071"/>
          <p:cNvSpPr txBox="1"/>
          <p:nvPr/>
        </p:nvSpPr>
        <p:spPr>
          <a:xfrm>
            <a:off x="10543032" y="7580375"/>
            <a:ext cx="32004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BF9000"/>
                </a:solidFill>
                <a:latin typeface="Calibri"/>
              </a:rPr>
              <a:t>AGENTE</a:t>
            </a:r>
          </a:p>
        </p:txBody>
      </p:sp>
      <p:sp>
        <p:nvSpPr>
          <p:cNvPr id="9073" name="TextBox 9072"/>
          <p:cNvSpPr txBox="1"/>
          <p:nvPr/>
        </p:nvSpPr>
        <p:spPr>
          <a:xfrm>
            <a:off x="13743432" y="7580375"/>
            <a:ext cx="3968496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>
                <a:solidFill>
                  <a:srgbClr val="404040"/>
                </a:solidFill>
                <a:latin typeface="Calibri"/>
              </a:rPr>
              <a:t>Timeout total del agente CrewAI</a:t>
            </a:r>
          </a:p>
        </p:txBody>
      </p:sp>
      <p:sp>
        <p:nvSpPr>
          <p:cNvPr id="9074" name="Rectangle 9073"/>
          <p:cNvSpPr/>
          <p:nvPr/>
        </p:nvSpPr>
        <p:spPr>
          <a:xfrm>
            <a:off x="758952" y="7854693"/>
            <a:ext cx="16770096" cy="365760"/>
          </a:xfrm>
          <a:prstGeom prst="rect">
            <a:avLst/>
          </a:prstGeom>
          <a:solidFill>
            <a:srgbClr val="F7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75" name="TextBox 9074"/>
          <p:cNvSpPr txBox="1"/>
          <p:nvPr/>
        </p:nvSpPr>
        <p:spPr>
          <a:xfrm>
            <a:off x="941832" y="7946136"/>
            <a:ext cx="4572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1F3864"/>
                </a:solidFill>
                <a:latin typeface="Consolas"/>
              </a:rPr>
              <a:t>CONFIDENCE_THRESHOLD_HIGH</a:t>
            </a:r>
          </a:p>
        </p:txBody>
      </p:sp>
      <p:sp>
        <p:nvSpPr>
          <p:cNvPr id="9076" name="TextBox 9075"/>
          <p:cNvSpPr txBox="1"/>
          <p:nvPr/>
        </p:nvSpPr>
        <p:spPr>
          <a:xfrm>
            <a:off x="5513832" y="7946136"/>
            <a:ext cx="1371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>
                <a:solidFill>
                  <a:srgbClr val="595959"/>
                </a:solidFill>
                <a:latin typeface="Consolas"/>
              </a:rPr>
              <a:t>float</a:t>
            </a:r>
          </a:p>
        </p:txBody>
      </p:sp>
      <p:sp>
        <p:nvSpPr>
          <p:cNvPr id="9077" name="TextBox 9076"/>
          <p:cNvSpPr txBox="1"/>
          <p:nvPr/>
        </p:nvSpPr>
        <p:spPr>
          <a:xfrm>
            <a:off x="6885432" y="7946136"/>
            <a:ext cx="3657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>
                <a:solidFill>
                  <a:srgbClr val="404040"/>
                </a:solidFill>
                <a:latin typeface="Consolas"/>
              </a:rPr>
              <a:t>0.65</a:t>
            </a:r>
          </a:p>
        </p:txBody>
      </p:sp>
      <p:sp>
        <p:nvSpPr>
          <p:cNvPr id="9078" name="TextBox 9077"/>
          <p:cNvSpPr txBox="1"/>
          <p:nvPr/>
        </p:nvSpPr>
        <p:spPr>
          <a:xfrm>
            <a:off x="10543032" y="7946136"/>
            <a:ext cx="32004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BF9000"/>
                </a:solidFill>
                <a:latin typeface="Calibri"/>
              </a:rPr>
              <a:t>SCORING</a:t>
            </a:r>
          </a:p>
        </p:txBody>
      </p:sp>
      <p:sp>
        <p:nvSpPr>
          <p:cNvPr id="9079" name="TextBox 9078"/>
          <p:cNvSpPr txBox="1"/>
          <p:nvPr/>
        </p:nvSpPr>
        <p:spPr>
          <a:xfrm>
            <a:off x="13743432" y="7946136"/>
            <a:ext cx="3968496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>
                <a:solidFill>
                  <a:srgbClr val="404040"/>
                </a:solidFill>
                <a:latin typeface="Calibri"/>
              </a:rPr>
              <a:t>Umbral configurable HIGH/MEDIUM</a:t>
            </a:r>
          </a:p>
        </p:txBody>
      </p:sp>
      <p:sp>
        <p:nvSpPr>
          <p:cNvPr id="9080" name="Rounded Rectangle 9079"/>
          <p:cNvSpPr/>
          <p:nvPr/>
        </p:nvSpPr>
        <p:spPr>
          <a:xfrm>
            <a:off x="758952" y="8220454"/>
            <a:ext cx="16770096" cy="384048"/>
          </a:xfrm>
          <a:prstGeom prst="roundRect">
            <a:avLst>
              <a:gd name="adj" fmla="val 20000"/>
            </a:avLst>
          </a:prstGeom>
          <a:solidFill>
            <a:srgbClr val="F7F7F9"/>
          </a:solidFill>
          <a:ln w="6350">
            <a:solidFill>
              <a:srgbClr val="BF9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81" name="TextBox 9080"/>
          <p:cNvSpPr txBox="1"/>
          <p:nvPr/>
        </p:nvSpPr>
        <p:spPr>
          <a:xfrm>
            <a:off x="960120" y="8293606"/>
            <a:ext cx="16459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 dirty="0" err="1">
                <a:solidFill>
                  <a:srgbClr val="1F3864"/>
                </a:solidFill>
                <a:latin typeface="Calibri"/>
              </a:rPr>
              <a:t>Tabla</a:t>
            </a:r>
            <a:r>
              <a:rPr sz="1300" b="1" dirty="0">
                <a:solidFill>
                  <a:srgbClr val="1F3864"/>
                </a:solidFill>
                <a:latin typeface="Calibri"/>
              </a:rPr>
              <a:t> </a:t>
            </a:r>
            <a:r>
              <a:rPr sz="1300" b="1" dirty="0" err="1">
                <a:solidFill>
                  <a:srgbClr val="1F3864"/>
                </a:solidFill>
                <a:latin typeface="Calibri"/>
              </a:rPr>
              <a:t>representativa</a:t>
            </a:r>
            <a:r>
              <a:rPr sz="1300" b="1" dirty="0">
                <a:solidFill>
                  <a:srgbClr val="1F3864"/>
                </a:solidFill>
                <a:latin typeface="Calibri"/>
              </a:rPr>
              <a:t> de 8 variables. </a:t>
            </a:r>
            <a:r>
              <a:rPr sz="1300" dirty="0">
                <a:solidFill>
                  <a:srgbClr val="404040"/>
                </a:solidFill>
                <a:latin typeface="Calibri"/>
              </a:rPr>
              <a:t>El backend </a:t>
            </a:r>
            <a:r>
              <a:rPr sz="1300" dirty="0" err="1">
                <a:solidFill>
                  <a:srgbClr val="404040"/>
                </a:solidFill>
                <a:latin typeface="Calibri"/>
              </a:rPr>
              <a:t>gestiona</a:t>
            </a:r>
            <a:r>
              <a:rPr sz="1300" dirty="0">
                <a:solidFill>
                  <a:srgbClr val="404040"/>
                </a:solidFill>
                <a:latin typeface="Calibri"/>
              </a:rPr>
              <a:t> ~36 variables </a:t>
            </a:r>
            <a:r>
              <a:rPr sz="1300" dirty="0" err="1">
                <a:solidFill>
                  <a:srgbClr val="404040"/>
                </a:solidFill>
                <a:latin typeface="Calibri"/>
              </a:rPr>
              <a:t>agrupadas</a:t>
            </a:r>
            <a:r>
              <a:rPr sz="1300" dirty="0">
                <a:solidFill>
                  <a:srgbClr val="404040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404040"/>
                </a:solidFill>
                <a:latin typeface="Calibri"/>
              </a:rPr>
              <a:t>por</a:t>
            </a:r>
            <a:r>
              <a:rPr sz="1300" dirty="0">
                <a:solidFill>
                  <a:srgbClr val="404040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404040"/>
                </a:solidFill>
                <a:latin typeface="Calibri"/>
              </a:rPr>
              <a:t>dominio</a:t>
            </a:r>
            <a:r>
              <a:rPr sz="1300" dirty="0">
                <a:solidFill>
                  <a:srgbClr val="404040"/>
                </a:solidFill>
                <a:latin typeface="Calibri"/>
              </a:rPr>
              <a:t> · </a:t>
            </a:r>
            <a:r>
              <a:rPr sz="1300" dirty="0" err="1">
                <a:solidFill>
                  <a:srgbClr val="404040"/>
                </a:solidFill>
                <a:latin typeface="Calibri"/>
              </a:rPr>
              <a:t>selección</a:t>
            </a:r>
            <a:r>
              <a:rPr sz="1300" dirty="0">
                <a:solidFill>
                  <a:srgbClr val="404040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404040"/>
                </a:solidFill>
                <a:latin typeface="Calibri"/>
              </a:rPr>
              <a:t>reducida</a:t>
            </a:r>
            <a:r>
              <a:rPr sz="1300" dirty="0">
                <a:solidFill>
                  <a:srgbClr val="404040"/>
                </a:solidFill>
                <a:latin typeface="Calibri"/>
              </a:rPr>
              <a:t> a las </a:t>
            </a:r>
            <a:r>
              <a:rPr sz="1300" dirty="0" err="1">
                <a:solidFill>
                  <a:srgbClr val="404040"/>
                </a:solidFill>
                <a:latin typeface="Calibri"/>
              </a:rPr>
              <a:t>relevantes</a:t>
            </a:r>
            <a:r>
              <a:rPr sz="1300" dirty="0">
                <a:solidFill>
                  <a:srgbClr val="404040"/>
                </a:solidFill>
                <a:latin typeface="Calibri"/>
              </a:rPr>
              <a:t> para </a:t>
            </a:r>
            <a:r>
              <a:rPr sz="1300" dirty="0" err="1">
                <a:solidFill>
                  <a:srgbClr val="404040"/>
                </a:solidFill>
                <a:latin typeface="Calibri"/>
              </a:rPr>
              <a:t>esta</a:t>
            </a:r>
            <a:r>
              <a:rPr sz="1300" dirty="0">
                <a:solidFill>
                  <a:srgbClr val="404040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404040"/>
                </a:solidFill>
                <a:latin typeface="Calibri"/>
              </a:rPr>
              <a:t>sección</a:t>
            </a:r>
            <a:r>
              <a:rPr sz="1300" dirty="0">
                <a:solidFill>
                  <a:srgbClr val="404040"/>
                </a:solidFill>
                <a:latin typeface="Calibri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734818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26D4868-8701-1324-CB15-FBA257066D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6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255256"/>
            <a:ext cx="18288000" cy="9729788"/>
          </a:xfrm>
          <a:prstGeom prst="rect">
            <a:avLst/>
          </a:prstGeom>
        </p:spPr>
      </p:pic>
      <p:graphicFrame>
        <p:nvGraphicFramePr>
          <p:cNvPr id="6" name="Object 5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4369" y="3848"/>
          <a:ext cx="3176" cy="31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270" imgH="270" progId="TCLayout.ActiveDocument.1">
                  <p:embed/>
                </p:oleObj>
              </mc:Choice>
              <mc:Fallback>
                <p:oleObj name="think-cell Slide" r:id="rId5" imgW="270" imgH="270" progId="TCLayout.ActiveDocument.1">
                  <p:embed/>
                  <p:pic>
                    <p:nvPicPr>
                      <p:cNvPr id="6" name="Object 5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369" y="3848"/>
                        <a:ext cx="3176" cy="317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" name="TextBox 23">
            <a:extLst>
              <a:ext uri="{FF2B5EF4-FFF2-40B4-BE49-F238E27FC236}">
                <a16:creationId xmlns:a16="http://schemas.microsoft.com/office/drawing/2014/main" id="{25FFD7D5-7622-4CE1-9525-56F18FF62B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1327" y="812469"/>
            <a:ext cx="6823923" cy="901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60895" tIns="80445" rIns="160895" bIns="80445" anchor="t">
            <a:spAutoFit/>
          </a:bodyPr>
          <a:lstStyle>
            <a:defPPr>
              <a:defRPr lang="es-E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defRPr/>
            </a:pPr>
            <a:r>
              <a:rPr lang="es-ES" sz="4800" b="1" noProof="0" dirty="0">
                <a:solidFill>
                  <a:srgbClr val="FFFFFF"/>
                </a:solidFill>
                <a:latin typeface="+mj-lt"/>
                <a:cs typeface="Arial"/>
                <a:sym typeface="Arial"/>
              </a:rPr>
              <a:t>Índice</a:t>
            </a:r>
            <a:endParaRPr lang="es-ES" sz="4800" b="1" noProof="0" dirty="0">
              <a:solidFill>
                <a:srgbClr val="FFFFFF"/>
              </a:solidFill>
              <a:latin typeface="+mj-lt"/>
              <a:cs typeface="Arial"/>
            </a:endParaRPr>
          </a:p>
        </p:txBody>
      </p:sp>
      <p:grpSp>
        <p:nvGrpSpPr>
          <p:cNvPr id="2000" name="IdxGroup0"/>
          <p:cNvGrpSpPr/>
          <p:nvPr/>
        </p:nvGrpSpPr>
        <p:grpSpPr>
          <a:xfrm>
            <a:off x="2047897" y="2536436"/>
            <a:ext cx="8604329" cy="571050"/>
            <a:chOff x="969531" y="947475"/>
            <a:chExt cx="5736219" cy="380700"/>
          </a:xfrm>
        </p:grpSpPr>
        <p:sp>
          <p:nvSpPr>
            <p:cNvPr id="2001" name="IdxNum0"/>
            <p:cNvSpPr txBox="1"/>
            <p:nvPr/>
          </p:nvSpPr>
          <p:spPr>
            <a:xfrm>
              <a:off x="969531" y="947475"/>
              <a:ext cx="564600" cy="38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688" tIns="118688" rIns="118688" bIns="118688" anchor="ctr" anchorCtr="0">
              <a:noAutofit/>
            </a:bodyPr>
            <a:lstStyle/>
            <a:p>
              <a:pPr>
                <a:buClr>
                  <a:srgbClr val="000000"/>
                </a:buClr>
                <a:buSzPts val="1900"/>
              </a:pPr>
              <a:r>
                <a:rPr lang="es-ES" sz="2850" b="1">
                  <a:solidFill>
                    <a:schemeClr val="bg2">
                      <a:lumMod val="60000"/>
                      <a:lumOff val="40000"/>
                    </a:schemeClr>
                  </a:solidFill>
                  <a:latin typeface="+mj-lt"/>
                  <a:ea typeface="Lato Black"/>
                  <a:cs typeface="Lato Black"/>
                  <a:sym typeface="Lato Black"/>
                </a:rPr>
                <a:t>01</a:t>
              </a:r>
            </a:p>
          </p:txBody>
        </p:sp>
        <p:sp>
          <p:nvSpPr>
            <p:cNvPr id="2002" name="IdxTitle0"/>
            <p:cNvSpPr txBox="1"/>
            <p:nvPr/>
          </p:nvSpPr>
          <p:spPr>
            <a:xfrm>
              <a:off x="1708650" y="947475"/>
              <a:ext cx="4997100" cy="38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688" tIns="118688" rIns="118688" bIns="118688" anchor="ctr" anchorCtr="0">
              <a:noAutofit/>
            </a:bodyPr>
            <a:lstStyle/>
            <a:p>
              <a:r>
                <a:rPr lang="es-ES" sz="2400" b="1">
                  <a:solidFill>
                    <a:schemeClr val="bg2">
                      <a:lumMod val="60000"/>
                      <a:lumOff val="40000"/>
                    </a:schemeClr>
                  </a:solidFill>
                  <a:latin typeface="+mj-lt"/>
                  <a:ea typeface="Lato Black"/>
                  <a:cs typeface="Lato Black"/>
                  <a:sym typeface="Lato Black"/>
                </a:rPr>
                <a:t>Contexto y oportunidad</a:t>
              </a:r>
            </a:p>
          </p:txBody>
        </p:sp>
        <p:cxnSp>
          <p:nvCxnSpPr>
            <p:cNvPr id="2003" name="IdxBar0"/>
            <p:cNvCxnSpPr/>
            <p:nvPr/>
          </p:nvCxnSpPr>
          <p:spPr>
            <a:xfrm>
              <a:off x="1515900" y="952425"/>
              <a:ext cx="0" cy="370800"/>
            </a:xfrm>
            <a:prstGeom prst="straightConnector1">
              <a:avLst/>
            </a:prstGeom>
            <a:noFill/>
            <a:ln w="28575" cap="flat" cmpd="sng">
              <a:solidFill>
                <a:schemeClr val="bg2">
                  <a:lumMod val="60000"/>
                  <a:lumOff val="4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010" name="IdxGroup1"/>
          <p:cNvGrpSpPr/>
          <p:nvPr/>
        </p:nvGrpSpPr>
        <p:grpSpPr>
          <a:xfrm>
            <a:off x="2047897" y="3171436"/>
            <a:ext cx="8604329" cy="571050"/>
            <a:chOff x="969531" y="947475"/>
            <a:chExt cx="5736219" cy="380700"/>
          </a:xfrm>
        </p:grpSpPr>
        <p:sp>
          <p:nvSpPr>
            <p:cNvPr id="2011" name="IdxNum1"/>
            <p:cNvSpPr txBox="1"/>
            <p:nvPr/>
          </p:nvSpPr>
          <p:spPr>
            <a:xfrm>
              <a:off x="969531" y="947475"/>
              <a:ext cx="564600" cy="38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688" tIns="118688" rIns="118688" bIns="118688" anchor="ctr" anchorCtr="0">
              <a:noAutofit/>
            </a:bodyPr>
            <a:lstStyle/>
            <a:p>
              <a:pPr>
                <a:buClr>
                  <a:srgbClr val="000000"/>
                </a:buClr>
                <a:buSzPts val="1900"/>
              </a:pPr>
              <a:r>
                <a:rPr lang="es-ES" sz="2850" b="1">
                  <a:solidFill>
                    <a:schemeClr val="bg2">
                      <a:lumMod val="60000"/>
                      <a:lumOff val="40000"/>
                    </a:schemeClr>
                  </a:solidFill>
                  <a:latin typeface="+mj-lt"/>
                  <a:ea typeface="Lato Black"/>
                  <a:cs typeface="Lato Black"/>
                  <a:sym typeface="Lato Black"/>
                </a:rPr>
                <a:t>02</a:t>
              </a:r>
            </a:p>
          </p:txBody>
        </p:sp>
        <p:sp>
          <p:nvSpPr>
            <p:cNvPr id="2012" name="IdxTitle1"/>
            <p:cNvSpPr txBox="1"/>
            <p:nvPr/>
          </p:nvSpPr>
          <p:spPr>
            <a:xfrm>
              <a:off x="1708650" y="947475"/>
              <a:ext cx="4997100" cy="38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688" tIns="118688" rIns="118688" bIns="118688" anchor="ctr" anchorCtr="0">
              <a:noAutofit/>
            </a:bodyPr>
            <a:lstStyle/>
            <a:p>
              <a:r>
                <a:rPr lang="es-ES" sz="2400" b="1">
                  <a:solidFill>
                    <a:schemeClr val="bg2">
                      <a:lumMod val="60000"/>
                      <a:lumOff val="40000"/>
                    </a:schemeClr>
                  </a:solidFill>
                  <a:latin typeface="+mj-lt"/>
                  <a:ea typeface="Lato Black"/>
                  <a:cs typeface="Lato Black"/>
                  <a:sym typeface="Lato Black"/>
                </a:rPr>
                <a:t>La solución</a:t>
              </a:r>
            </a:p>
          </p:txBody>
        </p:sp>
        <p:cxnSp>
          <p:nvCxnSpPr>
            <p:cNvPr id="2013" name="IdxBar1"/>
            <p:cNvCxnSpPr/>
            <p:nvPr/>
          </p:nvCxnSpPr>
          <p:spPr>
            <a:xfrm>
              <a:off x="1515900" y="952425"/>
              <a:ext cx="0" cy="370800"/>
            </a:xfrm>
            <a:prstGeom prst="straightConnector1">
              <a:avLst/>
            </a:prstGeom>
            <a:noFill/>
            <a:ln w="28575" cap="flat" cmpd="sng">
              <a:solidFill>
                <a:schemeClr val="bg2">
                  <a:lumMod val="60000"/>
                  <a:lumOff val="4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020" name="IdxGroup2"/>
          <p:cNvGrpSpPr/>
          <p:nvPr/>
        </p:nvGrpSpPr>
        <p:grpSpPr>
          <a:xfrm>
            <a:off x="2047897" y="3806436"/>
            <a:ext cx="8604329" cy="571050"/>
            <a:chOff x="969531" y="947475"/>
            <a:chExt cx="5736219" cy="380700"/>
          </a:xfrm>
        </p:grpSpPr>
        <p:sp>
          <p:nvSpPr>
            <p:cNvPr id="2021" name="IdxNum2"/>
            <p:cNvSpPr txBox="1"/>
            <p:nvPr/>
          </p:nvSpPr>
          <p:spPr>
            <a:xfrm>
              <a:off x="969531" y="947475"/>
              <a:ext cx="564600" cy="38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688" tIns="118688" rIns="118688" bIns="118688" anchor="ctr" anchorCtr="0">
              <a:noAutofit/>
            </a:bodyPr>
            <a:lstStyle/>
            <a:p>
              <a:pPr>
                <a:buClr>
                  <a:srgbClr val="000000"/>
                </a:buClr>
                <a:buSzPts val="1900"/>
              </a:pPr>
              <a:r>
                <a:rPr lang="es-ES" sz="2850" b="1">
                  <a:solidFill>
                    <a:schemeClr val="bg2">
                      <a:lumMod val="60000"/>
                      <a:lumOff val="40000"/>
                    </a:schemeClr>
                  </a:solidFill>
                  <a:latin typeface="+mj-lt"/>
                  <a:ea typeface="Lato Black"/>
                  <a:cs typeface="Lato Black"/>
                  <a:sym typeface="Lato Black"/>
                </a:rPr>
                <a:t>03</a:t>
              </a:r>
            </a:p>
          </p:txBody>
        </p:sp>
        <p:sp>
          <p:nvSpPr>
            <p:cNvPr id="2022" name="IdxTitle2"/>
            <p:cNvSpPr txBox="1"/>
            <p:nvPr/>
          </p:nvSpPr>
          <p:spPr>
            <a:xfrm>
              <a:off x="1708650" y="947475"/>
              <a:ext cx="4997100" cy="38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688" tIns="118688" rIns="118688" bIns="118688" anchor="ctr" anchorCtr="0">
              <a:noAutofit/>
            </a:bodyPr>
            <a:lstStyle/>
            <a:p>
              <a:r>
                <a:rPr lang="es-ES" sz="2400" b="1">
                  <a:solidFill>
                    <a:schemeClr val="bg2">
                      <a:lumMod val="60000"/>
                      <a:lumOff val="40000"/>
                    </a:schemeClr>
                  </a:solidFill>
                  <a:latin typeface="+mj-lt"/>
                  <a:ea typeface="Lato Black"/>
                  <a:cs typeface="Lato Black"/>
                  <a:sym typeface="Lato Black"/>
                </a:rPr>
                <a:t>Arquitectura técnica</a:t>
              </a:r>
            </a:p>
          </p:txBody>
        </p:sp>
        <p:cxnSp>
          <p:nvCxnSpPr>
            <p:cNvPr id="2023" name="IdxBar2"/>
            <p:cNvCxnSpPr/>
            <p:nvPr/>
          </p:nvCxnSpPr>
          <p:spPr>
            <a:xfrm>
              <a:off x="1515900" y="952425"/>
              <a:ext cx="0" cy="370800"/>
            </a:xfrm>
            <a:prstGeom prst="straightConnector1">
              <a:avLst/>
            </a:prstGeom>
            <a:noFill/>
            <a:ln w="28575" cap="flat" cmpd="sng">
              <a:solidFill>
                <a:schemeClr val="bg2">
                  <a:lumMod val="60000"/>
                  <a:lumOff val="4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030" name="IdxGroup3"/>
          <p:cNvGrpSpPr/>
          <p:nvPr/>
        </p:nvGrpSpPr>
        <p:grpSpPr>
          <a:xfrm>
            <a:off x="2047897" y="4441436"/>
            <a:ext cx="8604329" cy="571050"/>
            <a:chOff x="969531" y="947475"/>
            <a:chExt cx="5736219" cy="380700"/>
          </a:xfrm>
        </p:grpSpPr>
        <p:sp>
          <p:nvSpPr>
            <p:cNvPr id="2031" name="IdxNum3"/>
            <p:cNvSpPr txBox="1"/>
            <p:nvPr/>
          </p:nvSpPr>
          <p:spPr>
            <a:xfrm>
              <a:off x="969531" y="947475"/>
              <a:ext cx="564600" cy="38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688" tIns="118688" rIns="118688" bIns="118688" anchor="ctr" anchorCtr="0">
              <a:noAutofit/>
            </a:bodyPr>
            <a:lstStyle/>
            <a:p>
              <a:pPr>
                <a:buClr>
                  <a:srgbClr val="000000"/>
                </a:buClr>
                <a:buSzPts val="1900"/>
              </a:pPr>
              <a:r>
                <a:rPr lang="es-ES" sz="2850" b="1">
                  <a:solidFill>
                    <a:schemeClr val="bg1"/>
                  </a:solidFill>
                  <a:latin typeface="+mj-lt"/>
                  <a:ea typeface="Lato Black"/>
                  <a:cs typeface="Lato Black"/>
                  <a:sym typeface="Lato Black"/>
                </a:rPr>
                <a:t>04</a:t>
              </a:r>
            </a:p>
          </p:txBody>
        </p:sp>
        <p:sp>
          <p:nvSpPr>
            <p:cNvPr id="2032" name="IdxTitle3"/>
            <p:cNvSpPr txBox="1"/>
            <p:nvPr/>
          </p:nvSpPr>
          <p:spPr>
            <a:xfrm>
              <a:off x="1708650" y="947475"/>
              <a:ext cx="4997100" cy="38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688" tIns="118688" rIns="118688" bIns="118688" anchor="ctr" anchorCtr="0">
              <a:noAutofit/>
            </a:bodyPr>
            <a:lstStyle/>
            <a:p>
              <a:r>
                <a:rPr lang="es-ES" sz="2400" b="1">
                  <a:solidFill>
                    <a:schemeClr val="bg1"/>
                  </a:solidFill>
                  <a:latin typeface="+mj-lt"/>
                  <a:ea typeface="Lato Black"/>
                  <a:cs typeface="Lato Black"/>
                  <a:sym typeface="Lato Black"/>
                </a:rPr>
                <a:t>Pipelines de análisis</a:t>
              </a:r>
            </a:p>
          </p:txBody>
        </p:sp>
        <p:cxnSp>
          <p:nvCxnSpPr>
            <p:cNvPr id="2033" name="IdxBar3"/>
            <p:cNvCxnSpPr/>
            <p:nvPr/>
          </p:nvCxnSpPr>
          <p:spPr>
            <a:xfrm>
              <a:off x="1515900" y="952425"/>
              <a:ext cx="0" cy="370800"/>
            </a:xfrm>
            <a:prstGeom prst="straightConnector1">
              <a:avLst/>
            </a:prstGeom>
            <a:noFill/>
            <a:ln w="28575" cap="flat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040" name="IdxGroup4"/>
          <p:cNvGrpSpPr/>
          <p:nvPr/>
        </p:nvGrpSpPr>
        <p:grpSpPr>
          <a:xfrm>
            <a:off x="2047897" y="5076436"/>
            <a:ext cx="8604329" cy="571050"/>
            <a:chOff x="969531" y="947475"/>
            <a:chExt cx="5736219" cy="380700"/>
          </a:xfrm>
        </p:grpSpPr>
        <p:sp>
          <p:nvSpPr>
            <p:cNvPr id="2041" name="IdxNum4"/>
            <p:cNvSpPr txBox="1"/>
            <p:nvPr/>
          </p:nvSpPr>
          <p:spPr>
            <a:xfrm>
              <a:off x="969531" y="947475"/>
              <a:ext cx="564600" cy="38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688" tIns="118688" rIns="118688" bIns="118688" anchor="ctr" anchorCtr="0">
              <a:noAutofit/>
            </a:bodyPr>
            <a:lstStyle/>
            <a:p>
              <a:pPr>
                <a:buClr>
                  <a:srgbClr val="000000"/>
                </a:buClr>
                <a:buSzPts val="1900"/>
              </a:pPr>
              <a:r>
                <a:rPr lang="es-ES" sz="2850" b="1">
                  <a:solidFill>
                    <a:schemeClr val="bg2">
                      <a:lumMod val="60000"/>
                      <a:lumOff val="40000"/>
                    </a:schemeClr>
                  </a:solidFill>
                  <a:latin typeface="+mj-lt"/>
                  <a:ea typeface="Lato Black"/>
                  <a:cs typeface="Lato Black"/>
                  <a:sym typeface="Lato Black"/>
                </a:rPr>
                <a:t>05</a:t>
              </a:r>
            </a:p>
          </p:txBody>
        </p:sp>
        <p:sp>
          <p:nvSpPr>
            <p:cNvPr id="2042" name="IdxTitle4"/>
            <p:cNvSpPr txBox="1"/>
            <p:nvPr/>
          </p:nvSpPr>
          <p:spPr>
            <a:xfrm>
              <a:off x="1708650" y="947475"/>
              <a:ext cx="4997100" cy="38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688" tIns="118688" rIns="118688" bIns="118688" anchor="ctr" anchorCtr="0">
              <a:noAutofit/>
            </a:bodyPr>
            <a:lstStyle/>
            <a:p>
              <a:r>
                <a:rPr lang="es-ES" sz="2400" b="1">
                  <a:solidFill>
                    <a:schemeClr val="bg2">
                      <a:lumMod val="60000"/>
                      <a:lumOff val="40000"/>
                    </a:schemeClr>
                  </a:solidFill>
                  <a:latin typeface="+mj-lt"/>
                  <a:ea typeface="Lato Black"/>
                  <a:cs typeface="Lato Black"/>
                  <a:sym typeface="Lato Black"/>
                </a:rPr>
                <a:t>Demostración y resultados</a:t>
              </a:r>
            </a:p>
          </p:txBody>
        </p:sp>
        <p:cxnSp>
          <p:nvCxnSpPr>
            <p:cNvPr id="2043" name="IdxBar4"/>
            <p:cNvCxnSpPr/>
            <p:nvPr/>
          </p:nvCxnSpPr>
          <p:spPr>
            <a:xfrm>
              <a:off x="1515900" y="952425"/>
              <a:ext cx="0" cy="370800"/>
            </a:xfrm>
            <a:prstGeom prst="straightConnector1">
              <a:avLst/>
            </a:prstGeom>
            <a:noFill/>
            <a:ln w="28575" cap="flat" cmpd="sng">
              <a:solidFill>
                <a:schemeClr val="bg2">
                  <a:lumMod val="60000"/>
                  <a:lumOff val="4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050" name="IdxGroup5"/>
          <p:cNvGrpSpPr/>
          <p:nvPr/>
        </p:nvGrpSpPr>
        <p:grpSpPr>
          <a:xfrm>
            <a:off x="2047897" y="5711436"/>
            <a:ext cx="8604329" cy="571050"/>
            <a:chOff x="969531" y="947475"/>
            <a:chExt cx="5736219" cy="380700"/>
          </a:xfrm>
        </p:grpSpPr>
        <p:sp>
          <p:nvSpPr>
            <p:cNvPr id="2051" name="IdxNum5"/>
            <p:cNvSpPr txBox="1"/>
            <p:nvPr/>
          </p:nvSpPr>
          <p:spPr>
            <a:xfrm>
              <a:off x="969531" y="947475"/>
              <a:ext cx="564600" cy="38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688" tIns="118688" rIns="118688" bIns="118688" anchor="ctr" anchorCtr="0">
              <a:noAutofit/>
            </a:bodyPr>
            <a:lstStyle/>
            <a:p>
              <a:pPr>
                <a:buClr>
                  <a:srgbClr val="000000"/>
                </a:buClr>
                <a:buSzPts val="1900"/>
              </a:pPr>
              <a:r>
                <a:rPr lang="es-ES" sz="2850" b="1">
                  <a:solidFill>
                    <a:schemeClr val="bg2">
                      <a:lumMod val="60000"/>
                      <a:lumOff val="40000"/>
                    </a:schemeClr>
                  </a:solidFill>
                  <a:latin typeface="+mj-lt"/>
                  <a:ea typeface="Lato Black"/>
                  <a:cs typeface="Lato Black"/>
                  <a:sym typeface="Lato Black"/>
                </a:rPr>
                <a:t>06</a:t>
              </a:r>
            </a:p>
          </p:txBody>
        </p:sp>
        <p:sp>
          <p:nvSpPr>
            <p:cNvPr id="2052" name="IdxTitle5"/>
            <p:cNvSpPr txBox="1"/>
            <p:nvPr/>
          </p:nvSpPr>
          <p:spPr>
            <a:xfrm>
              <a:off x="1708650" y="947475"/>
              <a:ext cx="4997100" cy="38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688" tIns="118688" rIns="118688" bIns="118688" anchor="ctr" anchorCtr="0">
              <a:noAutofit/>
            </a:bodyPr>
            <a:lstStyle/>
            <a:p>
              <a:r>
                <a:rPr lang="es-ES" sz="2400" b="1">
                  <a:solidFill>
                    <a:schemeClr val="bg2">
                      <a:lumMod val="60000"/>
                      <a:lumOff val="40000"/>
                    </a:schemeClr>
                  </a:solidFill>
                  <a:latin typeface="+mj-lt"/>
                  <a:ea typeface="Lato Black"/>
                  <a:cs typeface="Lato Black"/>
                  <a:sym typeface="Lato Black"/>
                </a:rPr>
                <a:t>Benchmarking</a:t>
              </a:r>
            </a:p>
          </p:txBody>
        </p:sp>
        <p:cxnSp>
          <p:nvCxnSpPr>
            <p:cNvPr id="2053" name="IdxBar5"/>
            <p:cNvCxnSpPr/>
            <p:nvPr/>
          </p:nvCxnSpPr>
          <p:spPr>
            <a:xfrm>
              <a:off x="1515900" y="952425"/>
              <a:ext cx="0" cy="370800"/>
            </a:xfrm>
            <a:prstGeom prst="straightConnector1">
              <a:avLst/>
            </a:prstGeom>
            <a:noFill/>
            <a:ln w="28575" cap="flat" cmpd="sng">
              <a:solidFill>
                <a:schemeClr val="bg2">
                  <a:lumMod val="60000"/>
                  <a:lumOff val="4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060" name="IdxGroup6"/>
          <p:cNvGrpSpPr/>
          <p:nvPr/>
        </p:nvGrpSpPr>
        <p:grpSpPr>
          <a:xfrm>
            <a:off x="2047897" y="6346436"/>
            <a:ext cx="8604329" cy="571050"/>
            <a:chOff x="969531" y="947475"/>
            <a:chExt cx="5736219" cy="380700"/>
          </a:xfrm>
        </p:grpSpPr>
        <p:sp>
          <p:nvSpPr>
            <p:cNvPr id="2061" name="IdxNum6"/>
            <p:cNvSpPr txBox="1"/>
            <p:nvPr/>
          </p:nvSpPr>
          <p:spPr>
            <a:xfrm>
              <a:off x="969531" y="947475"/>
              <a:ext cx="564600" cy="38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688" tIns="118688" rIns="118688" bIns="118688" anchor="ctr" anchorCtr="0">
              <a:noAutofit/>
            </a:bodyPr>
            <a:lstStyle/>
            <a:p>
              <a:pPr>
                <a:buClr>
                  <a:srgbClr val="000000"/>
                </a:buClr>
                <a:buSzPts val="1900"/>
              </a:pPr>
              <a:r>
                <a:rPr lang="es-ES" sz="2850" b="1">
                  <a:solidFill>
                    <a:schemeClr val="bg2">
                      <a:lumMod val="60000"/>
                      <a:lumOff val="40000"/>
                    </a:schemeClr>
                  </a:solidFill>
                  <a:latin typeface="+mj-lt"/>
                  <a:ea typeface="Lato Black"/>
                  <a:cs typeface="Lato Black"/>
                  <a:sym typeface="Lato Black"/>
                </a:rPr>
                <a:t>07</a:t>
              </a:r>
            </a:p>
          </p:txBody>
        </p:sp>
        <p:sp>
          <p:nvSpPr>
            <p:cNvPr id="2062" name="IdxTitle6"/>
            <p:cNvSpPr txBox="1"/>
            <p:nvPr/>
          </p:nvSpPr>
          <p:spPr>
            <a:xfrm>
              <a:off x="1708650" y="947475"/>
              <a:ext cx="4997100" cy="38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688" tIns="118688" rIns="118688" bIns="118688" anchor="ctr" anchorCtr="0">
              <a:noAutofit/>
            </a:bodyPr>
            <a:lstStyle/>
            <a:p>
              <a:r>
                <a:rPr lang="es-ES" sz="2400" b="1">
                  <a:solidFill>
                    <a:schemeClr val="bg2">
                      <a:lumMod val="60000"/>
                      <a:lumOff val="40000"/>
                    </a:schemeClr>
                  </a:solidFill>
                  <a:latin typeface="+mj-lt"/>
                  <a:ea typeface="Lato Black"/>
                  <a:cs typeface="Lato Black"/>
                  <a:sym typeface="Lato Black"/>
                </a:rPr>
                <a:t>Propuesta de valor y cierre</a:t>
              </a:r>
            </a:p>
          </p:txBody>
        </p:sp>
        <p:cxnSp>
          <p:nvCxnSpPr>
            <p:cNvPr id="2063" name="IdxBar6"/>
            <p:cNvCxnSpPr/>
            <p:nvPr/>
          </p:nvCxnSpPr>
          <p:spPr>
            <a:xfrm>
              <a:off x="1515900" y="952425"/>
              <a:ext cx="0" cy="370800"/>
            </a:xfrm>
            <a:prstGeom prst="straightConnector1">
              <a:avLst/>
            </a:prstGeom>
            <a:noFill/>
            <a:ln w="28575" cap="flat" cmpd="sng">
              <a:solidFill>
                <a:schemeClr val="bg2">
                  <a:lumMod val="60000"/>
                  <a:lumOff val="4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070" name="IdxGroup7"/>
          <p:cNvGrpSpPr/>
          <p:nvPr/>
        </p:nvGrpSpPr>
        <p:grpSpPr>
          <a:xfrm>
            <a:off x="2047897" y="6981436"/>
            <a:ext cx="8604329" cy="571050"/>
            <a:chOff x="969531" y="947475"/>
            <a:chExt cx="5736219" cy="380700"/>
          </a:xfrm>
        </p:grpSpPr>
        <p:sp>
          <p:nvSpPr>
            <p:cNvPr id="2071" name="IdxNum7"/>
            <p:cNvSpPr txBox="1"/>
            <p:nvPr/>
          </p:nvSpPr>
          <p:spPr>
            <a:xfrm>
              <a:off x="969531" y="947475"/>
              <a:ext cx="564600" cy="38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688" tIns="118688" rIns="118688" bIns="118688" anchor="ctr" anchorCtr="0">
              <a:noAutofit/>
            </a:bodyPr>
            <a:lstStyle/>
            <a:p>
              <a:pPr>
                <a:buClr>
                  <a:srgbClr val="000000"/>
                </a:buClr>
                <a:buSzPts val="1900"/>
              </a:pPr>
              <a:r>
                <a:rPr lang="es-ES" sz="2850" b="1">
                  <a:solidFill>
                    <a:schemeClr val="bg2">
                      <a:lumMod val="60000"/>
                      <a:lumOff val="40000"/>
                    </a:schemeClr>
                  </a:solidFill>
                  <a:latin typeface="+mj-lt"/>
                  <a:ea typeface="Lato Black"/>
                  <a:cs typeface="Lato Black"/>
                  <a:sym typeface="Lato Black"/>
                </a:rPr>
                <a:t>08</a:t>
              </a:r>
            </a:p>
          </p:txBody>
        </p:sp>
        <p:sp>
          <p:nvSpPr>
            <p:cNvPr id="2072" name="IdxTitle7"/>
            <p:cNvSpPr txBox="1"/>
            <p:nvPr/>
          </p:nvSpPr>
          <p:spPr>
            <a:xfrm>
              <a:off x="1708650" y="947475"/>
              <a:ext cx="4997100" cy="38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688" tIns="118688" rIns="118688" bIns="118688" anchor="ctr" anchorCtr="0">
              <a:noAutofit/>
            </a:bodyPr>
            <a:lstStyle/>
            <a:p>
              <a:r>
                <a:rPr lang="es-ES" sz="2400" b="1">
                  <a:solidFill>
                    <a:schemeClr val="bg2">
                      <a:lumMod val="60000"/>
                      <a:lumOff val="40000"/>
                    </a:schemeClr>
                  </a:solidFill>
                  <a:latin typeface="+mj-lt"/>
                  <a:ea typeface="Lato Black"/>
                  <a:cs typeface="Lato Black"/>
                  <a:sym typeface="Lato Black"/>
                </a:rPr>
                <a:t>Bibliografía y anexos</a:t>
              </a:r>
            </a:p>
          </p:txBody>
        </p:sp>
        <p:cxnSp>
          <p:nvCxnSpPr>
            <p:cNvPr id="2073" name="IdxBar7"/>
            <p:cNvCxnSpPr/>
            <p:nvPr/>
          </p:nvCxnSpPr>
          <p:spPr>
            <a:xfrm>
              <a:off x="1515900" y="952425"/>
              <a:ext cx="0" cy="370800"/>
            </a:xfrm>
            <a:prstGeom prst="straightConnector1">
              <a:avLst/>
            </a:prstGeom>
            <a:noFill/>
            <a:ln w="28575" cap="flat" cmpd="sng">
              <a:solidFill>
                <a:schemeClr val="bg2">
                  <a:lumMod val="60000"/>
                  <a:lumOff val="4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</p:spTree>
    <p:extLst>
      <p:ext uri="{BB962C8B-B14F-4D97-AF65-F5344CB8AC3E}">
        <p14:creationId xmlns:p14="http://schemas.microsoft.com/office/powerpoint/2010/main" val="14874146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886142-02E2-EB62-E7AC-2EF96B5824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00" name="MS Header Group">
            <a:extLst>
              <a:ext uri="{FF2B5EF4-FFF2-40B4-BE49-F238E27FC236}">
                <a16:creationId xmlns:a16="http://schemas.microsoft.com/office/drawing/2014/main" id="{7E55A791-8ED7-816F-2D10-317AB761C7DB}"/>
              </a:ext>
            </a:extLst>
          </p:cNvPr>
          <p:cNvGrpSpPr/>
          <p:nvPr/>
        </p:nvGrpSpPr>
        <p:grpSpPr>
          <a:xfrm>
            <a:off x="282819" y="579094"/>
            <a:ext cx="13786134" cy="1057874"/>
            <a:chOff x="92172" y="275827"/>
            <a:chExt cx="9190756" cy="705249"/>
          </a:xfrm>
        </p:grpSpPr>
        <p:sp>
          <p:nvSpPr>
            <p:cNvPr id="9001" name="MS Title Box">
              <a:extLst>
                <a:ext uri="{FF2B5EF4-FFF2-40B4-BE49-F238E27FC236}">
                  <a16:creationId xmlns:a16="http://schemas.microsoft.com/office/drawing/2014/main" id="{784994DE-EC5F-CF6E-93ED-7FE1EF4AADB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776292" y="404814"/>
              <a:ext cx="8506636" cy="576262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37160" tIns="68580" rIns="137160" bIns="68580" anchor="ctr"/>
            <a:lstStyle/>
            <a:p>
              <a:pPr>
                <a:lnSpc>
                  <a:spcPts val="3150"/>
                </a:lnSpc>
              </a:pPr>
              <a:r>
                <a:rPr lang="es-ES_tradnl" sz="3000" b="1" dirty="0">
                  <a:solidFill>
                    <a:srgbClr val="002569"/>
                  </a:solidFill>
                  <a:latin typeface="Arial"/>
                </a:rPr>
                <a:t>Pipelines de análisis</a:t>
              </a:r>
            </a:p>
            <a:p>
              <a:r>
                <a:rPr lang="es-ES_tradnl" sz="2700" dirty="0">
                  <a:solidFill>
                    <a:srgbClr val="E0D399">
                      <a:lumMod val="75000"/>
                    </a:srgbClr>
                  </a:solidFill>
                  <a:latin typeface="Arial"/>
                </a:rPr>
                <a:t>Tres pipelines, un mismo formato de salida</a:t>
              </a:r>
            </a:p>
          </p:txBody>
        </p:sp>
        <p:sp>
          <p:nvSpPr>
            <p:cNvPr id="9002" name="MS Number">
              <a:extLst>
                <a:ext uri="{FF2B5EF4-FFF2-40B4-BE49-F238E27FC236}">
                  <a16:creationId xmlns:a16="http://schemas.microsoft.com/office/drawing/2014/main" id="{9E6CA45A-2DB8-21C6-4803-56177471B822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2172" y="275827"/>
              <a:ext cx="477819" cy="70014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148523" tIns="74261" rIns="148523" bIns="74261">
              <a:spAutoFit/>
            </a:bodyPr>
            <a:lstStyle/>
            <a:p>
              <a:pPr algn="ctr"/>
              <a:r>
                <a:rPr lang="es-ES" sz="5850" b="1" kern="0" dirty="0">
                  <a:solidFill>
                    <a:srgbClr val="002569"/>
                  </a:solidFill>
                  <a:latin typeface="Arial"/>
                </a:rPr>
                <a:t>4</a:t>
              </a:r>
            </a:p>
          </p:txBody>
        </p:sp>
        <p:cxnSp>
          <p:nvCxnSpPr>
            <p:cNvPr id="9003" name="MS Header Bar">
              <a:extLst>
                <a:ext uri="{FF2B5EF4-FFF2-40B4-BE49-F238E27FC236}">
                  <a16:creationId xmlns:a16="http://schemas.microsoft.com/office/drawing/2014/main" id="{9A0255AE-FE38-E9B9-A9BB-CED75C39C3F2}"/>
                </a:ext>
              </a:extLst>
            </p:cNvPr>
            <p:cNvCxnSpPr/>
            <p:nvPr/>
          </p:nvCxnSpPr>
          <p:spPr>
            <a:xfrm>
              <a:off x="570525" y="404814"/>
              <a:ext cx="0" cy="526647"/>
            </a:xfrm>
            <a:prstGeom prst="line">
              <a:avLst/>
            </a:prstGeom>
            <a:ln>
              <a:solidFill>
                <a:schemeClr val="tx2"/>
              </a:solidFill>
            </a:ln>
          </p:spPr>
        </p:cxnSp>
      </p:grpSp>
      <p:sp>
        <p:nvSpPr>
          <p:cNvPr id="9005" name="Trapezoid 9004">
            <a:extLst>
              <a:ext uri="{FF2B5EF4-FFF2-40B4-BE49-F238E27FC236}">
                <a16:creationId xmlns:a16="http://schemas.microsoft.com/office/drawing/2014/main" id="{BDB27408-DA19-401F-47C7-CB88154C35E2}"/>
              </a:ext>
            </a:extLst>
          </p:cNvPr>
          <p:cNvSpPr/>
          <p:nvPr/>
        </p:nvSpPr>
        <p:spPr>
          <a:xfrm rot="10800000">
            <a:off x="758952" y="3017520"/>
            <a:ext cx="5413248" cy="868680"/>
          </a:xfrm>
          <a:prstGeom prst="trapezoid">
            <a:avLst>
              <a:gd name="adj" fmla="val 20000"/>
            </a:avLst>
          </a:prstGeom>
          <a:solidFill>
            <a:srgbClr val="1F3864"/>
          </a:solidFill>
          <a:ln>
            <a:noFill/>
          </a:ln>
          <a:effectLst>
            <a:outerShdw blurRad="101600" dist="25400" dir="54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06" name="Oval 9005">
            <a:extLst>
              <a:ext uri="{FF2B5EF4-FFF2-40B4-BE49-F238E27FC236}">
                <a16:creationId xmlns:a16="http://schemas.microsoft.com/office/drawing/2014/main" id="{0A4A011B-B8CB-25E7-D3E8-3C4A05614CC2}"/>
              </a:ext>
            </a:extLst>
          </p:cNvPr>
          <p:cNvSpPr/>
          <p:nvPr/>
        </p:nvSpPr>
        <p:spPr>
          <a:xfrm>
            <a:off x="1376172" y="3165346"/>
            <a:ext cx="502920" cy="5029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07" name="Oval 9006">
            <a:extLst>
              <a:ext uri="{FF2B5EF4-FFF2-40B4-BE49-F238E27FC236}">
                <a16:creationId xmlns:a16="http://schemas.microsoft.com/office/drawing/2014/main" id="{33C8762A-0861-CB0C-960C-D59ED88D53F4}"/>
              </a:ext>
            </a:extLst>
          </p:cNvPr>
          <p:cNvSpPr/>
          <p:nvPr/>
        </p:nvSpPr>
        <p:spPr>
          <a:xfrm>
            <a:off x="1549907" y="3270504"/>
            <a:ext cx="155448" cy="155448"/>
          </a:xfrm>
          <a:prstGeom prst="ellipse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08" name="Isosceles Triangle 9007">
            <a:extLst>
              <a:ext uri="{FF2B5EF4-FFF2-40B4-BE49-F238E27FC236}">
                <a16:creationId xmlns:a16="http://schemas.microsoft.com/office/drawing/2014/main" id="{0F24963D-40D2-617C-CC13-E56B7DD2FBB5}"/>
              </a:ext>
            </a:extLst>
          </p:cNvPr>
          <p:cNvSpPr/>
          <p:nvPr/>
        </p:nvSpPr>
        <p:spPr>
          <a:xfrm rot="10800000">
            <a:off x="1572767" y="3389376"/>
            <a:ext cx="109728" cy="146304"/>
          </a:xfrm>
          <a:prstGeom prst="triangle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09" name="Oval 9008">
            <a:extLst>
              <a:ext uri="{FF2B5EF4-FFF2-40B4-BE49-F238E27FC236}">
                <a16:creationId xmlns:a16="http://schemas.microsoft.com/office/drawing/2014/main" id="{8613979C-E9EF-6EC5-DB1D-95684B10D0B5}"/>
              </a:ext>
            </a:extLst>
          </p:cNvPr>
          <p:cNvSpPr/>
          <p:nvPr/>
        </p:nvSpPr>
        <p:spPr>
          <a:xfrm>
            <a:off x="1604772" y="3311652"/>
            <a:ext cx="45720" cy="457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10" name="TextBox 9009">
            <a:extLst>
              <a:ext uri="{FF2B5EF4-FFF2-40B4-BE49-F238E27FC236}">
                <a16:creationId xmlns:a16="http://schemas.microsoft.com/office/drawing/2014/main" id="{F30F5311-84C8-D75D-5317-1039D21F0404}"/>
              </a:ext>
            </a:extLst>
          </p:cNvPr>
          <p:cNvSpPr txBox="1"/>
          <p:nvPr/>
        </p:nvSpPr>
        <p:spPr>
          <a:xfrm>
            <a:off x="1993391" y="3160776"/>
            <a:ext cx="3995928" cy="5029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100" b="1" dirty="0">
                <a:solidFill>
                  <a:srgbClr val="FFFFFF"/>
                </a:solidFill>
                <a:latin typeface="Calibri"/>
              </a:rPr>
              <a:t>MODO 01</a:t>
            </a:r>
          </a:p>
          <a:p>
            <a:r>
              <a:rPr sz="1800" b="1" dirty="0" err="1">
                <a:solidFill>
                  <a:srgbClr val="FFFFFF"/>
                </a:solidFill>
                <a:latin typeface="Calibri"/>
              </a:rPr>
              <a:t>Búsqueda</a:t>
            </a:r>
            <a:r>
              <a:rPr sz="1800" b="1" dirty="0">
                <a:solidFill>
                  <a:srgbClr val="FFFFFF"/>
                </a:solidFill>
                <a:latin typeface="Calibri"/>
              </a:rPr>
              <a:t> Maps</a:t>
            </a:r>
          </a:p>
        </p:txBody>
      </p:sp>
      <p:sp>
        <p:nvSpPr>
          <p:cNvPr id="9011" name="Rounded Rectangle 9010">
            <a:extLst>
              <a:ext uri="{FF2B5EF4-FFF2-40B4-BE49-F238E27FC236}">
                <a16:creationId xmlns:a16="http://schemas.microsoft.com/office/drawing/2014/main" id="{90B03BA9-9E24-3C03-0CBA-FF8091735240}"/>
              </a:ext>
            </a:extLst>
          </p:cNvPr>
          <p:cNvSpPr/>
          <p:nvPr/>
        </p:nvSpPr>
        <p:spPr>
          <a:xfrm>
            <a:off x="758952" y="3877053"/>
            <a:ext cx="5413248" cy="47548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>
            <a:outerShdw blurRad="76200" dist="12700" dir="5400000" algn="t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12" name="TextBox 9011">
            <a:extLst>
              <a:ext uri="{FF2B5EF4-FFF2-40B4-BE49-F238E27FC236}">
                <a16:creationId xmlns:a16="http://schemas.microsoft.com/office/drawing/2014/main" id="{8AD60694-3DC8-5511-32CC-088C56C065A3}"/>
              </a:ext>
            </a:extLst>
          </p:cNvPr>
          <p:cNvSpPr txBox="1"/>
          <p:nvPr/>
        </p:nvSpPr>
        <p:spPr>
          <a:xfrm>
            <a:off x="1051560" y="4105655"/>
            <a:ext cx="4828032" cy="6001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s-ES_tradnl" sz="1300" dirty="0">
                <a:solidFill>
                  <a:srgbClr val="404040"/>
                </a:solidFill>
                <a:latin typeface="Calibri"/>
              </a:rPr>
              <a:t>El usuario teclea el nombre de la empresa. El sistema lanza el pipeline automático sobre Google Places API enriquecido con LLM y devuelve los activos clasificados sobre el mapa.</a:t>
            </a:r>
          </a:p>
        </p:txBody>
      </p:sp>
      <p:sp>
        <p:nvSpPr>
          <p:cNvPr id="9013" name="TextBox 9012">
            <a:extLst>
              <a:ext uri="{FF2B5EF4-FFF2-40B4-BE49-F238E27FC236}">
                <a16:creationId xmlns:a16="http://schemas.microsoft.com/office/drawing/2014/main" id="{B38A744D-D9CB-041F-48BC-67E76A5EF46B}"/>
              </a:ext>
            </a:extLst>
          </p:cNvPr>
          <p:cNvSpPr txBox="1"/>
          <p:nvPr/>
        </p:nvSpPr>
        <p:spPr>
          <a:xfrm>
            <a:off x="1051560" y="5032756"/>
            <a:ext cx="448071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400" b="1" dirty="0">
                <a:solidFill>
                  <a:srgbClr val="BF9000"/>
                </a:solidFill>
                <a:latin typeface="Calibri"/>
              </a:rPr>
              <a:t>FLUJO</a:t>
            </a:r>
          </a:p>
        </p:txBody>
      </p:sp>
      <p:sp>
        <p:nvSpPr>
          <p:cNvPr id="9014" name="Chevron 9013">
            <a:extLst>
              <a:ext uri="{FF2B5EF4-FFF2-40B4-BE49-F238E27FC236}">
                <a16:creationId xmlns:a16="http://schemas.microsoft.com/office/drawing/2014/main" id="{7A8158C8-4B5A-C1AB-76A8-9637E8507C2A}"/>
              </a:ext>
            </a:extLst>
          </p:cNvPr>
          <p:cNvSpPr/>
          <p:nvPr/>
        </p:nvSpPr>
        <p:spPr>
          <a:xfrm>
            <a:off x="1051560" y="5279643"/>
            <a:ext cx="929030" cy="292608"/>
          </a:xfrm>
          <a:prstGeom prst="chevron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9015" name="TextBox 9014">
            <a:extLst>
              <a:ext uri="{FF2B5EF4-FFF2-40B4-BE49-F238E27FC236}">
                <a16:creationId xmlns:a16="http://schemas.microsoft.com/office/drawing/2014/main" id="{DDFFBDF6-42A6-3F49-011F-92AC104C08CA}"/>
              </a:ext>
            </a:extLst>
          </p:cNvPr>
          <p:cNvSpPr txBox="1"/>
          <p:nvPr/>
        </p:nvSpPr>
        <p:spPr>
          <a:xfrm>
            <a:off x="1261197" y="5333613"/>
            <a:ext cx="509755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200" b="1" dirty="0">
                <a:solidFill>
                  <a:srgbClr val="FFFFFF"/>
                </a:solidFill>
                <a:latin typeface="Consolas"/>
              </a:rPr>
              <a:t>Search</a:t>
            </a:r>
          </a:p>
        </p:txBody>
      </p:sp>
      <p:sp>
        <p:nvSpPr>
          <p:cNvPr id="9016" name="Chevron 9015">
            <a:extLst>
              <a:ext uri="{FF2B5EF4-FFF2-40B4-BE49-F238E27FC236}">
                <a16:creationId xmlns:a16="http://schemas.microsoft.com/office/drawing/2014/main" id="{B50D0655-64C7-8ED4-B160-47DCEB5E383E}"/>
              </a:ext>
            </a:extLst>
          </p:cNvPr>
          <p:cNvSpPr/>
          <p:nvPr/>
        </p:nvSpPr>
        <p:spPr>
          <a:xfrm>
            <a:off x="2017165" y="5279643"/>
            <a:ext cx="1005229" cy="292608"/>
          </a:xfrm>
          <a:prstGeom prst="chevron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9017" name="TextBox 9016">
            <a:extLst>
              <a:ext uri="{FF2B5EF4-FFF2-40B4-BE49-F238E27FC236}">
                <a16:creationId xmlns:a16="http://schemas.microsoft.com/office/drawing/2014/main" id="{069E6F45-0868-83A4-483A-C0AE9E3C5DAD}"/>
              </a:ext>
            </a:extLst>
          </p:cNvPr>
          <p:cNvSpPr txBox="1"/>
          <p:nvPr/>
        </p:nvSpPr>
        <p:spPr>
          <a:xfrm>
            <a:off x="2099364" y="5333613"/>
            <a:ext cx="764633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es-ES_tradnl" sz="1200" b="1" dirty="0">
                <a:solidFill>
                  <a:srgbClr val="FFFFFF"/>
                </a:solidFill>
                <a:latin typeface="Consolas"/>
              </a:rPr>
              <a:t> </a:t>
            </a:r>
            <a:r>
              <a:rPr sz="1200" b="1" dirty="0">
                <a:solidFill>
                  <a:srgbClr val="FFFFFF"/>
                </a:solidFill>
                <a:latin typeface="Consolas"/>
              </a:rPr>
              <a:t>Classify</a:t>
            </a:r>
          </a:p>
        </p:txBody>
      </p:sp>
      <p:sp>
        <p:nvSpPr>
          <p:cNvPr id="9018" name="Chevron 9017">
            <a:extLst>
              <a:ext uri="{FF2B5EF4-FFF2-40B4-BE49-F238E27FC236}">
                <a16:creationId xmlns:a16="http://schemas.microsoft.com/office/drawing/2014/main" id="{65B59680-14A1-7E51-E98E-E3D5D73DA049}"/>
              </a:ext>
            </a:extLst>
          </p:cNvPr>
          <p:cNvSpPr/>
          <p:nvPr/>
        </p:nvSpPr>
        <p:spPr>
          <a:xfrm>
            <a:off x="3058972" y="5279643"/>
            <a:ext cx="929030" cy="292608"/>
          </a:xfrm>
          <a:prstGeom prst="chevron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9019" name="TextBox 9018">
            <a:extLst>
              <a:ext uri="{FF2B5EF4-FFF2-40B4-BE49-F238E27FC236}">
                <a16:creationId xmlns:a16="http://schemas.microsoft.com/office/drawing/2014/main" id="{C2D8CB14-BE0F-6FF4-1632-898B40DE2601}"/>
              </a:ext>
            </a:extLst>
          </p:cNvPr>
          <p:cNvSpPr txBox="1"/>
          <p:nvPr/>
        </p:nvSpPr>
        <p:spPr>
          <a:xfrm>
            <a:off x="3268609" y="5333613"/>
            <a:ext cx="509755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onsolas"/>
              </a:rPr>
              <a:t>Enrich</a:t>
            </a:r>
          </a:p>
        </p:txBody>
      </p:sp>
      <p:sp>
        <p:nvSpPr>
          <p:cNvPr id="9020" name="Chevron 9019">
            <a:extLst>
              <a:ext uri="{FF2B5EF4-FFF2-40B4-BE49-F238E27FC236}">
                <a16:creationId xmlns:a16="http://schemas.microsoft.com/office/drawing/2014/main" id="{8CFBA98C-8332-49C8-66E6-A7B6947D4DEB}"/>
              </a:ext>
            </a:extLst>
          </p:cNvPr>
          <p:cNvSpPr/>
          <p:nvPr/>
        </p:nvSpPr>
        <p:spPr>
          <a:xfrm>
            <a:off x="4024579" y="5279643"/>
            <a:ext cx="929030" cy="292608"/>
          </a:xfrm>
          <a:prstGeom prst="chevron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9021" name="TextBox 9020">
            <a:extLst>
              <a:ext uri="{FF2B5EF4-FFF2-40B4-BE49-F238E27FC236}">
                <a16:creationId xmlns:a16="http://schemas.microsoft.com/office/drawing/2014/main" id="{D104AD80-98FA-0F0C-BF84-785A448931EC}"/>
              </a:ext>
            </a:extLst>
          </p:cNvPr>
          <p:cNvSpPr txBox="1"/>
          <p:nvPr/>
        </p:nvSpPr>
        <p:spPr>
          <a:xfrm>
            <a:off x="4276696" y="5333613"/>
            <a:ext cx="424795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onsolas"/>
              </a:rPr>
              <a:t>Score</a:t>
            </a:r>
          </a:p>
        </p:txBody>
      </p:sp>
      <p:sp>
        <p:nvSpPr>
          <p:cNvPr id="9024" name="TextBox 9023">
            <a:extLst>
              <a:ext uri="{FF2B5EF4-FFF2-40B4-BE49-F238E27FC236}">
                <a16:creationId xmlns:a16="http://schemas.microsoft.com/office/drawing/2014/main" id="{1D717F0C-EEB6-BCD2-35E1-ADF1C9F88B66}"/>
              </a:ext>
            </a:extLst>
          </p:cNvPr>
          <p:cNvSpPr txBox="1"/>
          <p:nvPr/>
        </p:nvSpPr>
        <p:spPr>
          <a:xfrm>
            <a:off x="1051560" y="5998463"/>
            <a:ext cx="747384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400" b="1" dirty="0">
                <a:solidFill>
                  <a:srgbClr val="BF9000"/>
                </a:solidFill>
                <a:latin typeface="Calibri"/>
              </a:rPr>
              <a:t>VENTAJAS</a:t>
            </a:r>
          </a:p>
        </p:txBody>
      </p:sp>
      <p:sp>
        <p:nvSpPr>
          <p:cNvPr id="9025" name="TextBox 9024">
            <a:extLst>
              <a:ext uri="{FF2B5EF4-FFF2-40B4-BE49-F238E27FC236}">
                <a16:creationId xmlns:a16="http://schemas.microsoft.com/office/drawing/2014/main" id="{E10FF7E1-3530-9FA1-E0ED-251AFA1E5FCD}"/>
              </a:ext>
            </a:extLst>
          </p:cNvPr>
          <p:cNvSpPr txBox="1"/>
          <p:nvPr/>
        </p:nvSpPr>
        <p:spPr>
          <a:xfrm>
            <a:off x="1051560" y="6272783"/>
            <a:ext cx="4828032" cy="2000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 dirty="0">
                <a:solidFill>
                  <a:srgbClr val="4F814F"/>
                </a:solidFill>
                <a:latin typeface="Calibri"/>
              </a:rPr>
              <a:t>✓  </a:t>
            </a:r>
            <a:r>
              <a:rPr sz="1300" dirty="0">
                <a:solidFill>
                  <a:srgbClr val="404040"/>
                </a:solidFill>
                <a:latin typeface="Calibri"/>
              </a:rPr>
              <a:t>Cero </a:t>
            </a:r>
            <a:r>
              <a:rPr sz="1300" dirty="0" err="1">
                <a:solidFill>
                  <a:srgbClr val="404040"/>
                </a:solidFill>
                <a:latin typeface="Calibri"/>
              </a:rPr>
              <a:t>fricción</a:t>
            </a:r>
            <a:r>
              <a:rPr sz="1300" dirty="0">
                <a:solidFill>
                  <a:srgbClr val="404040"/>
                </a:solidFill>
                <a:latin typeface="Calibri"/>
              </a:rPr>
              <a:t> para </a:t>
            </a:r>
            <a:r>
              <a:rPr sz="1300" dirty="0" err="1">
                <a:solidFill>
                  <a:srgbClr val="404040"/>
                </a:solidFill>
                <a:latin typeface="Calibri"/>
              </a:rPr>
              <a:t>el</a:t>
            </a:r>
            <a:r>
              <a:rPr sz="1300" dirty="0">
                <a:solidFill>
                  <a:srgbClr val="404040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404040"/>
                </a:solidFill>
                <a:latin typeface="Calibri"/>
              </a:rPr>
              <a:t>analista</a:t>
            </a:r>
            <a:endParaRPr sz="1300" dirty="0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9026" name="TextBox 9025">
            <a:extLst>
              <a:ext uri="{FF2B5EF4-FFF2-40B4-BE49-F238E27FC236}">
                <a16:creationId xmlns:a16="http://schemas.microsoft.com/office/drawing/2014/main" id="{AC5574C5-2BF8-19B1-D170-6E1FC833E47D}"/>
              </a:ext>
            </a:extLst>
          </p:cNvPr>
          <p:cNvSpPr txBox="1"/>
          <p:nvPr/>
        </p:nvSpPr>
        <p:spPr>
          <a:xfrm>
            <a:off x="1051560" y="6565391"/>
            <a:ext cx="4828032" cy="2000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4F814F"/>
                </a:solidFill>
                <a:latin typeface="Calibri"/>
              </a:rPr>
              <a:t>✓  </a:t>
            </a:r>
            <a:r>
              <a:rPr sz="1300">
                <a:solidFill>
                  <a:srgbClr val="404040"/>
                </a:solidFill>
                <a:latin typeface="Calibri"/>
              </a:rPr>
              <a:t>Sin </a:t>
            </a:r>
            <a:r>
              <a:rPr lang="es-ES_tradnl" sz="1300" err="1">
                <a:solidFill>
                  <a:srgbClr val="404040"/>
                </a:solidFill>
                <a:latin typeface="Calibri"/>
              </a:rPr>
              <a:t>documento</a:t>
            </a:r>
            <a:r>
              <a:rPr sz="1300">
                <a:solidFill>
                  <a:srgbClr val="404040"/>
                </a:solidFill>
                <a:latin typeface="Calibri"/>
              </a:rPr>
              <a:t> </a:t>
            </a:r>
            <a:r>
              <a:rPr lang="es-ES_tradnl" sz="1300" err="1">
                <a:solidFill>
                  <a:srgbClr val="404040"/>
                </a:solidFill>
                <a:latin typeface="Calibri"/>
              </a:rPr>
              <a:t>previo</a:t>
            </a:r>
            <a:endParaRPr sz="1300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9027" name="TextBox 9026">
            <a:extLst>
              <a:ext uri="{FF2B5EF4-FFF2-40B4-BE49-F238E27FC236}">
                <a16:creationId xmlns:a16="http://schemas.microsoft.com/office/drawing/2014/main" id="{37BDCA62-1BF1-D115-7F9E-F7193F682344}"/>
              </a:ext>
            </a:extLst>
          </p:cNvPr>
          <p:cNvSpPr txBox="1"/>
          <p:nvPr/>
        </p:nvSpPr>
        <p:spPr>
          <a:xfrm>
            <a:off x="1051560" y="6857999"/>
            <a:ext cx="4828032" cy="2000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4F814F"/>
                </a:solidFill>
                <a:latin typeface="Calibri"/>
              </a:rPr>
              <a:t>✓  </a:t>
            </a:r>
            <a:r>
              <a:rPr sz="1300">
                <a:solidFill>
                  <a:srgbClr val="404040"/>
                </a:solidFill>
                <a:latin typeface="Calibri"/>
              </a:rPr>
              <a:t>Cobertura amplia inmediata</a:t>
            </a:r>
          </a:p>
        </p:txBody>
      </p:sp>
      <p:sp>
        <p:nvSpPr>
          <p:cNvPr id="9028" name="Rectangle 9027">
            <a:extLst>
              <a:ext uri="{FF2B5EF4-FFF2-40B4-BE49-F238E27FC236}">
                <a16:creationId xmlns:a16="http://schemas.microsoft.com/office/drawing/2014/main" id="{72E40538-6994-F571-B444-F75D1532571D}"/>
              </a:ext>
            </a:extLst>
          </p:cNvPr>
          <p:cNvSpPr/>
          <p:nvPr/>
        </p:nvSpPr>
        <p:spPr>
          <a:xfrm>
            <a:off x="1051560" y="7626093"/>
            <a:ext cx="4828032" cy="4572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9029" name="Rounded Rectangle 9028">
            <a:extLst>
              <a:ext uri="{FF2B5EF4-FFF2-40B4-BE49-F238E27FC236}">
                <a16:creationId xmlns:a16="http://schemas.microsoft.com/office/drawing/2014/main" id="{7548001F-90E1-3EA3-730B-F4013FD05EBD}"/>
              </a:ext>
            </a:extLst>
          </p:cNvPr>
          <p:cNvSpPr/>
          <p:nvPr/>
        </p:nvSpPr>
        <p:spPr>
          <a:xfrm>
            <a:off x="4462272" y="7424927"/>
            <a:ext cx="1417320" cy="201168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9030" name="TextBox 9029">
            <a:extLst>
              <a:ext uri="{FF2B5EF4-FFF2-40B4-BE49-F238E27FC236}">
                <a16:creationId xmlns:a16="http://schemas.microsoft.com/office/drawing/2014/main" id="{E92A6591-56D1-F73A-6B47-F9F9DFFD8B63}"/>
              </a:ext>
            </a:extLst>
          </p:cNvPr>
          <p:cNvSpPr txBox="1"/>
          <p:nvPr/>
        </p:nvSpPr>
        <p:spPr>
          <a:xfrm>
            <a:off x="4691634" y="7448567"/>
            <a:ext cx="958596" cy="15388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COSTE/BENEFICIO</a:t>
            </a:r>
          </a:p>
        </p:txBody>
      </p:sp>
      <p:sp>
        <p:nvSpPr>
          <p:cNvPr id="9031" name="TextBox 9030">
            <a:extLst>
              <a:ext uri="{FF2B5EF4-FFF2-40B4-BE49-F238E27FC236}">
                <a16:creationId xmlns:a16="http://schemas.microsoft.com/office/drawing/2014/main" id="{1275B09B-7FA5-3D13-1E32-19A6AE1A828F}"/>
              </a:ext>
            </a:extLst>
          </p:cNvPr>
          <p:cNvSpPr txBox="1"/>
          <p:nvPr/>
        </p:nvSpPr>
        <p:spPr>
          <a:xfrm>
            <a:off x="1051560" y="7717536"/>
            <a:ext cx="666657" cy="2000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595959"/>
                </a:solidFill>
                <a:latin typeface="Calibri"/>
              </a:rPr>
              <a:t>LATENCIA</a:t>
            </a:r>
          </a:p>
        </p:txBody>
      </p:sp>
      <p:sp>
        <p:nvSpPr>
          <p:cNvPr id="9032" name="TextBox 9031">
            <a:extLst>
              <a:ext uri="{FF2B5EF4-FFF2-40B4-BE49-F238E27FC236}">
                <a16:creationId xmlns:a16="http://schemas.microsoft.com/office/drawing/2014/main" id="{9CD6929F-E768-5D08-0D82-C7A28D691634}"/>
              </a:ext>
            </a:extLst>
          </p:cNvPr>
          <p:cNvSpPr txBox="1"/>
          <p:nvPr/>
        </p:nvSpPr>
        <p:spPr>
          <a:xfrm>
            <a:off x="1051560" y="7964423"/>
            <a:ext cx="210312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2000" b="1" dirty="0">
                <a:solidFill>
                  <a:srgbClr val="1F3864"/>
                </a:solidFill>
                <a:latin typeface="Calibri"/>
              </a:rPr>
              <a:t>~45 s</a:t>
            </a:r>
          </a:p>
        </p:txBody>
      </p:sp>
      <p:sp>
        <p:nvSpPr>
          <p:cNvPr id="9033" name="TextBox 9032">
            <a:extLst>
              <a:ext uri="{FF2B5EF4-FFF2-40B4-BE49-F238E27FC236}">
                <a16:creationId xmlns:a16="http://schemas.microsoft.com/office/drawing/2014/main" id="{08B35434-A238-5601-4463-2A242B7AA75A}"/>
              </a:ext>
            </a:extLst>
          </p:cNvPr>
          <p:cNvSpPr txBox="1"/>
          <p:nvPr/>
        </p:nvSpPr>
        <p:spPr>
          <a:xfrm>
            <a:off x="1051560" y="8311893"/>
            <a:ext cx="2885405" cy="16927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100" b="1" dirty="0">
                <a:solidFill>
                  <a:srgbClr val="595959"/>
                </a:solidFill>
                <a:latin typeface="Calibri"/>
              </a:rPr>
              <a:t>MEJOR CASO  </a:t>
            </a:r>
            <a:r>
              <a:rPr sz="1100" b="1" dirty="0">
                <a:solidFill>
                  <a:srgbClr val="1F3864"/>
                </a:solidFill>
                <a:latin typeface="Calibri"/>
              </a:rPr>
              <a:t>Empresas con </a:t>
            </a:r>
            <a:r>
              <a:rPr sz="1100" b="1" dirty="0" err="1">
                <a:solidFill>
                  <a:srgbClr val="1F3864"/>
                </a:solidFill>
                <a:latin typeface="Calibri"/>
              </a:rPr>
              <a:t>alta</a:t>
            </a:r>
            <a:r>
              <a:rPr sz="1100" b="1" dirty="0">
                <a:solidFill>
                  <a:srgbClr val="1F3864"/>
                </a:solidFill>
                <a:latin typeface="Calibri"/>
              </a:rPr>
              <a:t> </a:t>
            </a:r>
            <a:r>
              <a:rPr sz="1100" b="1" dirty="0" err="1">
                <a:solidFill>
                  <a:srgbClr val="1F3864"/>
                </a:solidFill>
                <a:latin typeface="Calibri"/>
              </a:rPr>
              <a:t>presencia</a:t>
            </a:r>
            <a:r>
              <a:rPr sz="1100" b="1" dirty="0">
                <a:solidFill>
                  <a:srgbClr val="1F3864"/>
                </a:solidFill>
                <a:latin typeface="Calibri"/>
              </a:rPr>
              <a:t> digital</a:t>
            </a:r>
          </a:p>
        </p:txBody>
      </p:sp>
      <p:sp>
        <p:nvSpPr>
          <p:cNvPr id="9034" name="Trapezoid 9033">
            <a:extLst>
              <a:ext uri="{FF2B5EF4-FFF2-40B4-BE49-F238E27FC236}">
                <a16:creationId xmlns:a16="http://schemas.microsoft.com/office/drawing/2014/main" id="{553DD847-C3D9-D386-6FCA-88F6436DA8A8}"/>
              </a:ext>
            </a:extLst>
          </p:cNvPr>
          <p:cNvSpPr/>
          <p:nvPr/>
        </p:nvSpPr>
        <p:spPr>
          <a:xfrm rot="10800000">
            <a:off x="6455664" y="3017520"/>
            <a:ext cx="5413248" cy="868680"/>
          </a:xfrm>
          <a:prstGeom prst="trapezoid">
            <a:avLst>
              <a:gd name="adj" fmla="val 20000"/>
            </a:avLst>
          </a:prstGeom>
          <a:solidFill>
            <a:srgbClr val="BF9000"/>
          </a:solidFill>
          <a:ln>
            <a:noFill/>
          </a:ln>
          <a:effectLst>
            <a:outerShdw blurRad="101600" dist="25400" dir="54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35" name="Oval 9034">
            <a:extLst>
              <a:ext uri="{FF2B5EF4-FFF2-40B4-BE49-F238E27FC236}">
                <a16:creationId xmlns:a16="http://schemas.microsoft.com/office/drawing/2014/main" id="{B4EB4697-4A01-23DE-C1AC-184E18A86B7C}"/>
              </a:ext>
            </a:extLst>
          </p:cNvPr>
          <p:cNvSpPr/>
          <p:nvPr/>
        </p:nvSpPr>
        <p:spPr>
          <a:xfrm>
            <a:off x="7072883" y="3165346"/>
            <a:ext cx="502920" cy="5029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36" name="Folded Corner 9035">
            <a:extLst>
              <a:ext uri="{FF2B5EF4-FFF2-40B4-BE49-F238E27FC236}">
                <a16:creationId xmlns:a16="http://schemas.microsoft.com/office/drawing/2014/main" id="{B9918ACA-ACDA-5A1E-43BF-9E60475ED092}"/>
              </a:ext>
            </a:extLst>
          </p:cNvPr>
          <p:cNvSpPr/>
          <p:nvPr/>
        </p:nvSpPr>
        <p:spPr>
          <a:xfrm>
            <a:off x="7214616" y="3279646"/>
            <a:ext cx="219456" cy="274320"/>
          </a:xfrm>
          <a:prstGeom prst="foldedCorner">
            <a:avLst/>
          </a:prstGeom>
          <a:solidFill>
            <a:srgbClr val="BF9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37" name="Rectangle 9036">
            <a:extLst>
              <a:ext uri="{FF2B5EF4-FFF2-40B4-BE49-F238E27FC236}">
                <a16:creationId xmlns:a16="http://schemas.microsoft.com/office/drawing/2014/main" id="{C35A6645-93CE-1E42-8821-66D588A20E00}"/>
              </a:ext>
            </a:extLst>
          </p:cNvPr>
          <p:cNvSpPr/>
          <p:nvPr/>
        </p:nvSpPr>
        <p:spPr>
          <a:xfrm>
            <a:off x="7242048" y="3343656"/>
            <a:ext cx="146304" cy="109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38" name="Rectangle 9037">
            <a:extLst>
              <a:ext uri="{FF2B5EF4-FFF2-40B4-BE49-F238E27FC236}">
                <a16:creationId xmlns:a16="http://schemas.microsoft.com/office/drawing/2014/main" id="{BE51DFC6-D6C6-DDBF-F9B4-E4A825C066C0}"/>
              </a:ext>
            </a:extLst>
          </p:cNvPr>
          <p:cNvSpPr/>
          <p:nvPr/>
        </p:nvSpPr>
        <p:spPr>
          <a:xfrm>
            <a:off x="7242048" y="3398520"/>
            <a:ext cx="146304" cy="109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39" name="Rectangle 9038">
            <a:extLst>
              <a:ext uri="{FF2B5EF4-FFF2-40B4-BE49-F238E27FC236}">
                <a16:creationId xmlns:a16="http://schemas.microsoft.com/office/drawing/2014/main" id="{584E9C61-B93B-7FB6-0176-B341DD1EC199}"/>
              </a:ext>
            </a:extLst>
          </p:cNvPr>
          <p:cNvSpPr/>
          <p:nvPr/>
        </p:nvSpPr>
        <p:spPr>
          <a:xfrm>
            <a:off x="7242048" y="3453384"/>
            <a:ext cx="91440" cy="109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40" name="TextBox 9039">
            <a:extLst>
              <a:ext uri="{FF2B5EF4-FFF2-40B4-BE49-F238E27FC236}">
                <a16:creationId xmlns:a16="http://schemas.microsoft.com/office/drawing/2014/main" id="{267778E4-51EF-D1BE-9409-428EF564E7B6}"/>
              </a:ext>
            </a:extLst>
          </p:cNvPr>
          <p:cNvSpPr txBox="1"/>
          <p:nvPr/>
        </p:nvSpPr>
        <p:spPr>
          <a:xfrm>
            <a:off x="7690104" y="3160776"/>
            <a:ext cx="3995927" cy="5029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100" b="1" dirty="0">
                <a:solidFill>
                  <a:srgbClr val="FFFFFF"/>
                </a:solidFill>
                <a:latin typeface="Calibri"/>
              </a:rPr>
              <a:t>MODO 02</a:t>
            </a:r>
          </a:p>
          <a:p>
            <a:r>
              <a:rPr sz="1800" b="1" dirty="0">
                <a:solidFill>
                  <a:srgbClr val="FFFFFF"/>
                </a:solidFill>
                <a:latin typeface="Calibri"/>
              </a:rPr>
              <a:t>Carga de </a:t>
            </a:r>
            <a:r>
              <a:rPr sz="1800" b="1" dirty="0" err="1">
                <a:solidFill>
                  <a:srgbClr val="FFFFFF"/>
                </a:solidFill>
                <a:latin typeface="Calibri"/>
              </a:rPr>
              <a:t>documento</a:t>
            </a:r>
            <a:endParaRPr sz="18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9041" name="Rounded Rectangle 9040">
            <a:extLst>
              <a:ext uri="{FF2B5EF4-FFF2-40B4-BE49-F238E27FC236}">
                <a16:creationId xmlns:a16="http://schemas.microsoft.com/office/drawing/2014/main" id="{0DBE9C3F-F5A5-7B58-FBCD-C39B90D5689E}"/>
              </a:ext>
            </a:extLst>
          </p:cNvPr>
          <p:cNvSpPr/>
          <p:nvPr/>
        </p:nvSpPr>
        <p:spPr>
          <a:xfrm>
            <a:off x="6455664" y="3877053"/>
            <a:ext cx="5413248" cy="47548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>
            <a:outerShdw blurRad="76200" dist="12700" dir="5400000" algn="t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42" name="TextBox 9041">
            <a:extLst>
              <a:ext uri="{FF2B5EF4-FFF2-40B4-BE49-F238E27FC236}">
                <a16:creationId xmlns:a16="http://schemas.microsoft.com/office/drawing/2014/main" id="{2B140BE7-C902-0CEB-D74E-F7C533C4F159}"/>
              </a:ext>
            </a:extLst>
          </p:cNvPr>
          <p:cNvSpPr txBox="1"/>
          <p:nvPr/>
        </p:nvSpPr>
        <p:spPr>
          <a:xfrm>
            <a:off x="6748272" y="4105655"/>
            <a:ext cx="4828032" cy="6001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dirty="0">
                <a:solidFill>
                  <a:srgbClr val="404040"/>
                </a:solidFill>
                <a:latin typeface="Calibri"/>
              </a:rPr>
              <a:t>El </a:t>
            </a:r>
            <a:r>
              <a:rPr sz="1300" dirty="0" err="1">
                <a:solidFill>
                  <a:srgbClr val="404040"/>
                </a:solidFill>
                <a:latin typeface="Calibri"/>
              </a:rPr>
              <a:t>usuario</a:t>
            </a:r>
            <a:r>
              <a:rPr sz="1300" dirty="0">
                <a:solidFill>
                  <a:srgbClr val="404040"/>
                </a:solidFill>
                <a:latin typeface="Calibri"/>
              </a:rPr>
              <a:t> arrastra un PDF, DOCX o Excel con </a:t>
            </a:r>
            <a:r>
              <a:rPr sz="1300" dirty="0" err="1">
                <a:solidFill>
                  <a:srgbClr val="404040"/>
                </a:solidFill>
                <a:latin typeface="Calibri"/>
              </a:rPr>
              <a:t>activos</a:t>
            </a:r>
            <a:r>
              <a:rPr sz="1300" dirty="0">
                <a:solidFill>
                  <a:srgbClr val="404040"/>
                </a:solidFill>
                <a:latin typeface="Calibri"/>
              </a:rPr>
              <a:t>. El pipeline </a:t>
            </a:r>
            <a:r>
              <a:rPr sz="1300" dirty="0" err="1">
                <a:solidFill>
                  <a:srgbClr val="404040"/>
                </a:solidFill>
                <a:latin typeface="Calibri"/>
              </a:rPr>
              <a:t>ejecuta</a:t>
            </a:r>
            <a:r>
              <a:rPr sz="1300" dirty="0">
                <a:solidFill>
                  <a:srgbClr val="404040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404040"/>
                </a:solidFill>
                <a:latin typeface="Calibri"/>
              </a:rPr>
              <a:t>extracción</a:t>
            </a:r>
            <a:r>
              <a:rPr sz="1300" dirty="0">
                <a:solidFill>
                  <a:srgbClr val="404040"/>
                </a:solidFill>
                <a:latin typeface="Calibri"/>
              </a:rPr>
              <a:t> IA </a:t>
            </a:r>
            <a:r>
              <a:rPr sz="1300" dirty="0" err="1">
                <a:solidFill>
                  <a:srgbClr val="404040"/>
                </a:solidFill>
                <a:latin typeface="Calibri"/>
              </a:rPr>
              <a:t>por</a:t>
            </a:r>
            <a:r>
              <a:rPr sz="1300" dirty="0">
                <a:solidFill>
                  <a:srgbClr val="404040"/>
                </a:solidFill>
                <a:latin typeface="Calibri"/>
              </a:rPr>
              <a:t> chunks, </a:t>
            </a:r>
            <a:r>
              <a:rPr sz="1300" dirty="0" err="1">
                <a:solidFill>
                  <a:srgbClr val="404040"/>
                </a:solidFill>
                <a:latin typeface="Calibri"/>
              </a:rPr>
              <a:t>deduplicación</a:t>
            </a:r>
            <a:r>
              <a:rPr sz="1300" dirty="0">
                <a:solidFill>
                  <a:srgbClr val="404040"/>
                </a:solidFill>
                <a:latin typeface="Calibri"/>
              </a:rPr>
              <a:t>, geocoding y scoring documental </a:t>
            </a:r>
            <a:r>
              <a:rPr sz="1300" dirty="0" err="1">
                <a:solidFill>
                  <a:srgbClr val="404040"/>
                </a:solidFill>
                <a:latin typeface="Calibri"/>
              </a:rPr>
              <a:t>sobre</a:t>
            </a:r>
            <a:r>
              <a:rPr sz="1300" dirty="0">
                <a:solidFill>
                  <a:srgbClr val="404040"/>
                </a:solidFill>
                <a:latin typeface="Calibri"/>
              </a:rPr>
              <a:t> lo </a:t>
            </a:r>
            <a:r>
              <a:rPr sz="1300" dirty="0" err="1">
                <a:solidFill>
                  <a:srgbClr val="404040"/>
                </a:solidFill>
                <a:latin typeface="Calibri"/>
              </a:rPr>
              <a:t>extraído</a:t>
            </a:r>
            <a:r>
              <a:rPr sz="1300" dirty="0">
                <a:solidFill>
                  <a:srgbClr val="404040"/>
                </a:solidFill>
                <a:latin typeface="Calibri"/>
              </a:rPr>
              <a:t>.</a:t>
            </a:r>
          </a:p>
        </p:txBody>
      </p:sp>
      <p:sp>
        <p:nvSpPr>
          <p:cNvPr id="9043" name="TextBox 9042">
            <a:extLst>
              <a:ext uri="{FF2B5EF4-FFF2-40B4-BE49-F238E27FC236}">
                <a16:creationId xmlns:a16="http://schemas.microsoft.com/office/drawing/2014/main" id="{A99B8256-3809-FE22-E9A3-793638E30573}"/>
              </a:ext>
            </a:extLst>
          </p:cNvPr>
          <p:cNvSpPr txBox="1"/>
          <p:nvPr/>
        </p:nvSpPr>
        <p:spPr>
          <a:xfrm>
            <a:off x="6748272" y="5032756"/>
            <a:ext cx="448071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400" b="1" dirty="0">
                <a:solidFill>
                  <a:srgbClr val="BF9000"/>
                </a:solidFill>
                <a:latin typeface="Calibri"/>
              </a:rPr>
              <a:t>FLUJO</a:t>
            </a:r>
          </a:p>
        </p:txBody>
      </p:sp>
      <p:sp>
        <p:nvSpPr>
          <p:cNvPr id="9044" name="Chevron 9043">
            <a:extLst>
              <a:ext uri="{FF2B5EF4-FFF2-40B4-BE49-F238E27FC236}">
                <a16:creationId xmlns:a16="http://schemas.microsoft.com/office/drawing/2014/main" id="{1FBC9D8B-D3C3-8FFF-FB36-9CEE1B4E1B5B}"/>
              </a:ext>
            </a:extLst>
          </p:cNvPr>
          <p:cNvSpPr/>
          <p:nvPr/>
        </p:nvSpPr>
        <p:spPr>
          <a:xfrm>
            <a:off x="7726172" y="5279643"/>
            <a:ext cx="929030" cy="292608"/>
          </a:xfrm>
          <a:prstGeom prst="chevron">
            <a:avLst/>
          </a:prstGeom>
          <a:solidFill>
            <a:srgbClr val="BF9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9045" name="TextBox 9044">
            <a:extLst>
              <a:ext uri="{FF2B5EF4-FFF2-40B4-BE49-F238E27FC236}">
                <a16:creationId xmlns:a16="http://schemas.microsoft.com/office/drawing/2014/main" id="{EDEDB464-B9C2-E239-E5A9-BCDD315D0DC3}"/>
              </a:ext>
            </a:extLst>
          </p:cNvPr>
          <p:cNvSpPr txBox="1"/>
          <p:nvPr/>
        </p:nvSpPr>
        <p:spPr>
          <a:xfrm>
            <a:off x="7978289" y="5333613"/>
            <a:ext cx="424795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onsolas"/>
              </a:rPr>
              <a:t>Parse</a:t>
            </a:r>
          </a:p>
        </p:txBody>
      </p:sp>
      <p:sp>
        <p:nvSpPr>
          <p:cNvPr id="9046" name="Chevron 9045">
            <a:extLst>
              <a:ext uri="{FF2B5EF4-FFF2-40B4-BE49-F238E27FC236}">
                <a16:creationId xmlns:a16="http://schemas.microsoft.com/office/drawing/2014/main" id="{692E7CD9-DFC9-9558-DE8E-52C891426BB2}"/>
              </a:ext>
            </a:extLst>
          </p:cNvPr>
          <p:cNvSpPr/>
          <p:nvPr/>
        </p:nvSpPr>
        <p:spPr>
          <a:xfrm>
            <a:off x="8691778" y="5279643"/>
            <a:ext cx="929030" cy="292608"/>
          </a:xfrm>
          <a:prstGeom prst="chevron">
            <a:avLst/>
          </a:prstGeom>
          <a:solidFill>
            <a:srgbClr val="BF9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9047" name="TextBox 9046">
            <a:extLst>
              <a:ext uri="{FF2B5EF4-FFF2-40B4-BE49-F238E27FC236}">
                <a16:creationId xmlns:a16="http://schemas.microsoft.com/office/drawing/2014/main" id="{1058E1C7-920E-584B-1E87-89D4D2BA2CA1}"/>
              </a:ext>
            </a:extLst>
          </p:cNvPr>
          <p:cNvSpPr txBox="1"/>
          <p:nvPr/>
        </p:nvSpPr>
        <p:spPr>
          <a:xfrm>
            <a:off x="8943895" y="5333613"/>
            <a:ext cx="424795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onsolas"/>
              </a:rPr>
              <a:t>Chunk</a:t>
            </a:r>
          </a:p>
        </p:txBody>
      </p:sp>
      <p:sp>
        <p:nvSpPr>
          <p:cNvPr id="9048" name="Chevron 9047">
            <a:extLst>
              <a:ext uri="{FF2B5EF4-FFF2-40B4-BE49-F238E27FC236}">
                <a16:creationId xmlns:a16="http://schemas.microsoft.com/office/drawing/2014/main" id="{E558656D-B5EB-3DAE-E271-0E1C3DD3C472}"/>
              </a:ext>
            </a:extLst>
          </p:cNvPr>
          <p:cNvSpPr/>
          <p:nvPr/>
        </p:nvSpPr>
        <p:spPr>
          <a:xfrm>
            <a:off x="9657384" y="5279643"/>
            <a:ext cx="929030" cy="292608"/>
          </a:xfrm>
          <a:prstGeom prst="chevron">
            <a:avLst/>
          </a:prstGeom>
          <a:solidFill>
            <a:srgbClr val="BF9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9049" name="TextBox 9048">
            <a:extLst>
              <a:ext uri="{FF2B5EF4-FFF2-40B4-BE49-F238E27FC236}">
                <a16:creationId xmlns:a16="http://schemas.microsoft.com/office/drawing/2014/main" id="{A478697D-BC1F-1EAF-2D2D-C0B83043E17B}"/>
              </a:ext>
            </a:extLst>
          </p:cNvPr>
          <p:cNvSpPr txBox="1"/>
          <p:nvPr/>
        </p:nvSpPr>
        <p:spPr>
          <a:xfrm>
            <a:off x="9824542" y="5333613"/>
            <a:ext cx="594714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200" b="1" dirty="0">
                <a:solidFill>
                  <a:srgbClr val="FFFFFF"/>
                </a:solidFill>
                <a:latin typeface="Consolas"/>
              </a:rPr>
              <a:t>Extract</a:t>
            </a:r>
          </a:p>
        </p:txBody>
      </p:sp>
      <p:sp>
        <p:nvSpPr>
          <p:cNvPr id="9050" name="Chevron 9049">
            <a:extLst>
              <a:ext uri="{FF2B5EF4-FFF2-40B4-BE49-F238E27FC236}">
                <a16:creationId xmlns:a16="http://schemas.microsoft.com/office/drawing/2014/main" id="{2F80C102-0342-5BDA-43EB-C148ADA540C6}"/>
              </a:ext>
            </a:extLst>
          </p:cNvPr>
          <p:cNvSpPr/>
          <p:nvPr/>
        </p:nvSpPr>
        <p:spPr>
          <a:xfrm>
            <a:off x="7728001" y="5659579"/>
            <a:ext cx="929030" cy="292608"/>
          </a:xfrm>
          <a:prstGeom prst="chevron">
            <a:avLst/>
          </a:prstGeom>
          <a:solidFill>
            <a:srgbClr val="BF9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9051" name="TextBox 9050">
            <a:extLst>
              <a:ext uri="{FF2B5EF4-FFF2-40B4-BE49-F238E27FC236}">
                <a16:creationId xmlns:a16="http://schemas.microsoft.com/office/drawing/2014/main" id="{8D77A00B-E761-B14C-9F4C-011F142C2542}"/>
              </a:ext>
            </a:extLst>
          </p:cNvPr>
          <p:cNvSpPr txBox="1"/>
          <p:nvPr/>
        </p:nvSpPr>
        <p:spPr>
          <a:xfrm>
            <a:off x="7980118" y="5713549"/>
            <a:ext cx="424795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onsolas"/>
              </a:rPr>
              <a:t>Dedup</a:t>
            </a:r>
          </a:p>
        </p:txBody>
      </p:sp>
      <p:sp>
        <p:nvSpPr>
          <p:cNvPr id="9052" name="Chevron 9051">
            <a:extLst>
              <a:ext uri="{FF2B5EF4-FFF2-40B4-BE49-F238E27FC236}">
                <a16:creationId xmlns:a16="http://schemas.microsoft.com/office/drawing/2014/main" id="{2F3D713F-F22C-6865-56BB-F54BB6AF8FE1}"/>
              </a:ext>
            </a:extLst>
          </p:cNvPr>
          <p:cNvSpPr/>
          <p:nvPr/>
        </p:nvSpPr>
        <p:spPr>
          <a:xfrm>
            <a:off x="8693607" y="5659579"/>
            <a:ext cx="929030" cy="292608"/>
          </a:xfrm>
          <a:prstGeom prst="chevron">
            <a:avLst/>
          </a:prstGeom>
          <a:solidFill>
            <a:srgbClr val="BF9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9053" name="TextBox 9052">
            <a:extLst>
              <a:ext uri="{FF2B5EF4-FFF2-40B4-BE49-F238E27FC236}">
                <a16:creationId xmlns:a16="http://schemas.microsoft.com/office/drawing/2014/main" id="{B690B097-75FF-2C0F-5E64-B37A58905BF6}"/>
              </a:ext>
            </a:extLst>
          </p:cNvPr>
          <p:cNvSpPr txBox="1"/>
          <p:nvPr/>
        </p:nvSpPr>
        <p:spPr>
          <a:xfrm>
            <a:off x="8818285" y="5713549"/>
            <a:ext cx="679673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es-ES_tradnl" sz="1200" b="1" dirty="0">
                <a:solidFill>
                  <a:srgbClr val="FFFFFF"/>
                </a:solidFill>
                <a:latin typeface="Consolas"/>
              </a:rPr>
              <a:t> </a:t>
            </a:r>
            <a:r>
              <a:rPr sz="1200" b="1" dirty="0">
                <a:solidFill>
                  <a:srgbClr val="FFFFFF"/>
                </a:solidFill>
                <a:latin typeface="Consolas"/>
              </a:rPr>
              <a:t>Geocode</a:t>
            </a:r>
          </a:p>
        </p:txBody>
      </p:sp>
      <p:sp>
        <p:nvSpPr>
          <p:cNvPr id="9054" name="TextBox 9053">
            <a:extLst>
              <a:ext uri="{FF2B5EF4-FFF2-40B4-BE49-F238E27FC236}">
                <a16:creationId xmlns:a16="http://schemas.microsoft.com/office/drawing/2014/main" id="{F24BDAA9-97E1-1CCC-7066-D57C0C23471D}"/>
              </a:ext>
            </a:extLst>
          </p:cNvPr>
          <p:cNvSpPr txBox="1"/>
          <p:nvPr/>
        </p:nvSpPr>
        <p:spPr>
          <a:xfrm>
            <a:off x="6748272" y="5998463"/>
            <a:ext cx="747384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400" b="1" dirty="0">
                <a:solidFill>
                  <a:srgbClr val="BF9000"/>
                </a:solidFill>
                <a:latin typeface="Calibri"/>
              </a:rPr>
              <a:t>VENTAJAS</a:t>
            </a:r>
          </a:p>
        </p:txBody>
      </p:sp>
      <p:sp>
        <p:nvSpPr>
          <p:cNvPr id="9055" name="TextBox 9054">
            <a:extLst>
              <a:ext uri="{FF2B5EF4-FFF2-40B4-BE49-F238E27FC236}">
                <a16:creationId xmlns:a16="http://schemas.microsoft.com/office/drawing/2014/main" id="{E6AEE40C-2B0F-70A5-C388-B3EF7064C44F}"/>
              </a:ext>
            </a:extLst>
          </p:cNvPr>
          <p:cNvSpPr txBox="1"/>
          <p:nvPr/>
        </p:nvSpPr>
        <p:spPr>
          <a:xfrm>
            <a:off x="6748272" y="6272783"/>
            <a:ext cx="4828032" cy="2000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4F814F"/>
                </a:solidFill>
                <a:latin typeface="Calibri"/>
              </a:rPr>
              <a:t>✓  </a:t>
            </a:r>
            <a:r>
              <a:rPr sz="1300">
                <a:solidFill>
                  <a:srgbClr val="404040"/>
                </a:solidFill>
                <a:latin typeface="Calibri"/>
              </a:rPr>
              <a:t>Cobertura casi total</a:t>
            </a:r>
          </a:p>
        </p:txBody>
      </p:sp>
      <p:sp>
        <p:nvSpPr>
          <p:cNvPr id="9056" name="TextBox 9055">
            <a:extLst>
              <a:ext uri="{FF2B5EF4-FFF2-40B4-BE49-F238E27FC236}">
                <a16:creationId xmlns:a16="http://schemas.microsoft.com/office/drawing/2014/main" id="{0D2784B4-D482-8060-07BE-E133F84183DF}"/>
              </a:ext>
            </a:extLst>
          </p:cNvPr>
          <p:cNvSpPr txBox="1"/>
          <p:nvPr/>
        </p:nvSpPr>
        <p:spPr>
          <a:xfrm>
            <a:off x="6748272" y="6565391"/>
            <a:ext cx="4828032" cy="2000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 dirty="0">
                <a:solidFill>
                  <a:srgbClr val="4F814F"/>
                </a:solidFill>
                <a:latin typeface="Calibri"/>
              </a:rPr>
              <a:t>✓  </a:t>
            </a:r>
            <a:r>
              <a:rPr sz="1300" dirty="0">
                <a:solidFill>
                  <a:srgbClr val="404040"/>
                </a:solidFill>
                <a:latin typeface="Calibri"/>
              </a:rPr>
              <a:t>Score documental alto</a:t>
            </a:r>
          </a:p>
        </p:txBody>
      </p:sp>
      <p:sp>
        <p:nvSpPr>
          <p:cNvPr id="9057" name="TextBox 9056">
            <a:extLst>
              <a:ext uri="{FF2B5EF4-FFF2-40B4-BE49-F238E27FC236}">
                <a16:creationId xmlns:a16="http://schemas.microsoft.com/office/drawing/2014/main" id="{6484FD03-0241-EE44-B687-826A719F4AD5}"/>
              </a:ext>
            </a:extLst>
          </p:cNvPr>
          <p:cNvSpPr txBox="1"/>
          <p:nvPr/>
        </p:nvSpPr>
        <p:spPr>
          <a:xfrm>
            <a:off x="6748272" y="6857999"/>
            <a:ext cx="4828032" cy="2000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4F814F"/>
                </a:solidFill>
                <a:latin typeface="Calibri"/>
              </a:rPr>
              <a:t>✓  </a:t>
            </a:r>
            <a:r>
              <a:rPr sz="1300">
                <a:solidFill>
                  <a:srgbClr val="404040"/>
                </a:solidFill>
                <a:latin typeface="Calibri"/>
              </a:rPr>
              <a:t>Trazabilidad por mención</a:t>
            </a:r>
          </a:p>
        </p:txBody>
      </p:sp>
      <p:sp>
        <p:nvSpPr>
          <p:cNvPr id="9058" name="Rectangle 9057">
            <a:extLst>
              <a:ext uri="{FF2B5EF4-FFF2-40B4-BE49-F238E27FC236}">
                <a16:creationId xmlns:a16="http://schemas.microsoft.com/office/drawing/2014/main" id="{580DAA64-92A2-2AC7-8FFE-1E223DE51257}"/>
              </a:ext>
            </a:extLst>
          </p:cNvPr>
          <p:cNvSpPr/>
          <p:nvPr/>
        </p:nvSpPr>
        <p:spPr>
          <a:xfrm>
            <a:off x="6748272" y="7626093"/>
            <a:ext cx="4828032" cy="4572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9059" name="Rounded Rectangle 9058">
            <a:extLst>
              <a:ext uri="{FF2B5EF4-FFF2-40B4-BE49-F238E27FC236}">
                <a16:creationId xmlns:a16="http://schemas.microsoft.com/office/drawing/2014/main" id="{16B5A278-E9CD-F8F6-09E0-6E8860AACEAC}"/>
              </a:ext>
            </a:extLst>
          </p:cNvPr>
          <p:cNvSpPr/>
          <p:nvPr/>
        </p:nvSpPr>
        <p:spPr>
          <a:xfrm>
            <a:off x="10158984" y="7424927"/>
            <a:ext cx="1417320" cy="201168"/>
          </a:xfrm>
          <a:prstGeom prst="roundRect">
            <a:avLst>
              <a:gd name="adj" fmla="val 50000"/>
            </a:avLst>
          </a:prstGeom>
          <a:solidFill>
            <a:srgbClr val="BF9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9060" name="TextBox 9059">
            <a:extLst>
              <a:ext uri="{FF2B5EF4-FFF2-40B4-BE49-F238E27FC236}">
                <a16:creationId xmlns:a16="http://schemas.microsoft.com/office/drawing/2014/main" id="{EE6CBD89-893F-8CBA-99C1-A9FE377E46A2}"/>
              </a:ext>
            </a:extLst>
          </p:cNvPr>
          <p:cNvSpPr txBox="1"/>
          <p:nvPr/>
        </p:nvSpPr>
        <p:spPr>
          <a:xfrm>
            <a:off x="10582309" y="7448567"/>
            <a:ext cx="570669" cy="15388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000" b="1" dirty="0">
                <a:solidFill>
                  <a:srgbClr val="FFFFFF"/>
                </a:solidFill>
                <a:latin typeface="Calibri"/>
              </a:rPr>
              <a:t>PRECISIÓN</a:t>
            </a:r>
          </a:p>
        </p:txBody>
      </p:sp>
      <p:sp>
        <p:nvSpPr>
          <p:cNvPr id="9061" name="TextBox 9060">
            <a:extLst>
              <a:ext uri="{FF2B5EF4-FFF2-40B4-BE49-F238E27FC236}">
                <a16:creationId xmlns:a16="http://schemas.microsoft.com/office/drawing/2014/main" id="{06B435FF-31BC-AE58-1287-31DB96A8B6EC}"/>
              </a:ext>
            </a:extLst>
          </p:cNvPr>
          <p:cNvSpPr txBox="1"/>
          <p:nvPr/>
        </p:nvSpPr>
        <p:spPr>
          <a:xfrm>
            <a:off x="6748272" y="7717536"/>
            <a:ext cx="666657" cy="2000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595959"/>
                </a:solidFill>
                <a:latin typeface="Calibri"/>
              </a:rPr>
              <a:t>LATENCIA</a:t>
            </a:r>
          </a:p>
        </p:txBody>
      </p:sp>
      <p:sp>
        <p:nvSpPr>
          <p:cNvPr id="9062" name="TextBox 9061">
            <a:extLst>
              <a:ext uri="{FF2B5EF4-FFF2-40B4-BE49-F238E27FC236}">
                <a16:creationId xmlns:a16="http://schemas.microsoft.com/office/drawing/2014/main" id="{DB2D1D34-9CE7-C0C1-487D-ED19B6C7484A}"/>
              </a:ext>
            </a:extLst>
          </p:cNvPr>
          <p:cNvSpPr txBox="1"/>
          <p:nvPr/>
        </p:nvSpPr>
        <p:spPr>
          <a:xfrm>
            <a:off x="6748272" y="7964423"/>
            <a:ext cx="210312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2000" b="1">
                <a:solidFill>
                  <a:srgbClr val="1F3864"/>
                </a:solidFill>
                <a:latin typeface="Calibri"/>
              </a:rPr>
              <a:t>~60 s</a:t>
            </a:r>
          </a:p>
        </p:txBody>
      </p:sp>
      <p:sp>
        <p:nvSpPr>
          <p:cNvPr id="9063" name="TextBox 9062">
            <a:extLst>
              <a:ext uri="{FF2B5EF4-FFF2-40B4-BE49-F238E27FC236}">
                <a16:creationId xmlns:a16="http://schemas.microsoft.com/office/drawing/2014/main" id="{E7DBC4DC-46D1-EB96-1D27-D87A4D387B36}"/>
              </a:ext>
            </a:extLst>
          </p:cNvPr>
          <p:cNvSpPr txBox="1"/>
          <p:nvPr/>
        </p:nvSpPr>
        <p:spPr>
          <a:xfrm>
            <a:off x="6748272" y="8311893"/>
            <a:ext cx="2728311" cy="16927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100" b="1" dirty="0">
                <a:solidFill>
                  <a:srgbClr val="595959"/>
                </a:solidFill>
                <a:latin typeface="Calibri"/>
              </a:rPr>
              <a:t>MEJOR CASO  </a:t>
            </a:r>
            <a:r>
              <a:rPr sz="1100" b="1" dirty="0">
                <a:solidFill>
                  <a:srgbClr val="1F3864"/>
                </a:solidFill>
                <a:latin typeface="Calibri"/>
              </a:rPr>
              <a:t>Memoria </a:t>
            </a:r>
            <a:r>
              <a:rPr sz="1100" b="1" dirty="0" err="1">
                <a:solidFill>
                  <a:srgbClr val="1F3864"/>
                </a:solidFill>
                <a:latin typeface="Calibri"/>
              </a:rPr>
              <a:t>anual</a:t>
            </a:r>
            <a:r>
              <a:rPr sz="1100" b="1" dirty="0">
                <a:solidFill>
                  <a:srgbClr val="1F3864"/>
                </a:solidFill>
                <a:latin typeface="Calibri"/>
              </a:rPr>
              <a:t> o </a:t>
            </a:r>
            <a:r>
              <a:rPr sz="1100" b="1" dirty="0" err="1">
                <a:solidFill>
                  <a:srgbClr val="1F3864"/>
                </a:solidFill>
                <a:latin typeface="Calibri"/>
              </a:rPr>
              <a:t>listado</a:t>
            </a:r>
            <a:r>
              <a:rPr sz="1100" b="1" dirty="0">
                <a:solidFill>
                  <a:srgbClr val="1F3864"/>
                </a:solidFill>
                <a:latin typeface="Calibri"/>
              </a:rPr>
              <a:t> </a:t>
            </a:r>
            <a:r>
              <a:rPr sz="1100" b="1" dirty="0" err="1">
                <a:solidFill>
                  <a:srgbClr val="1F3864"/>
                </a:solidFill>
                <a:latin typeface="Calibri"/>
              </a:rPr>
              <a:t>interno</a:t>
            </a:r>
            <a:endParaRPr sz="1100" b="1" dirty="0">
              <a:solidFill>
                <a:srgbClr val="1F3864"/>
              </a:solidFill>
              <a:latin typeface="Calibri"/>
            </a:endParaRPr>
          </a:p>
        </p:txBody>
      </p:sp>
      <p:sp>
        <p:nvSpPr>
          <p:cNvPr id="9064" name="Trapezoid 9063">
            <a:extLst>
              <a:ext uri="{FF2B5EF4-FFF2-40B4-BE49-F238E27FC236}">
                <a16:creationId xmlns:a16="http://schemas.microsoft.com/office/drawing/2014/main" id="{86D559B1-C060-2E53-1BEB-3393F37C4FCD}"/>
              </a:ext>
            </a:extLst>
          </p:cNvPr>
          <p:cNvSpPr/>
          <p:nvPr/>
        </p:nvSpPr>
        <p:spPr>
          <a:xfrm rot="10800000">
            <a:off x="12152376" y="3017520"/>
            <a:ext cx="5413248" cy="868680"/>
          </a:xfrm>
          <a:prstGeom prst="trapezoid">
            <a:avLst>
              <a:gd name="adj" fmla="val 20000"/>
            </a:avLst>
          </a:prstGeom>
          <a:solidFill>
            <a:srgbClr val="14284D"/>
          </a:solidFill>
          <a:ln>
            <a:noFill/>
          </a:ln>
          <a:effectLst>
            <a:outerShdw blurRad="101600" dist="25400" dir="54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65" name="Oval 9064">
            <a:extLst>
              <a:ext uri="{FF2B5EF4-FFF2-40B4-BE49-F238E27FC236}">
                <a16:creationId xmlns:a16="http://schemas.microsoft.com/office/drawing/2014/main" id="{54FB6B54-FF52-41E8-A682-9AE6E2690D63}"/>
              </a:ext>
            </a:extLst>
          </p:cNvPr>
          <p:cNvSpPr/>
          <p:nvPr/>
        </p:nvSpPr>
        <p:spPr>
          <a:xfrm>
            <a:off x="12769595" y="3165346"/>
            <a:ext cx="502920" cy="5029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66" name="Rounded Rectangle 9065">
            <a:extLst>
              <a:ext uri="{FF2B5EF4-FFF2-40B4-BE49-F238E27FC236}">
                <a16:creationId xmlns:a16="http://schemas.microsoft.com/office/drawing/2014/main" id="{79484E75-FBD7-0E8D-9482-2ACB9443BCBC}"/>
              </a:ext>
            </a:extLst>
          </p:cNvPr>
          <p:cNvSpPr/>
          <p:nvPr/>
        </p:nvSpPr>
        <p:spPr>
          <a:xfrm>
            <a:off x="12883895" y="3343656"/>
            <a:ext cx="274320" cy="201168"/>
          </a:xfrm>
          <a:prstGeom prst="roundRect">
            <a:avLst>
              <a:gd name="adj" fmla="val 30000"/>
            </a:avLst>
          </a:prstGeom>
          <a:solidFill>
            <a:srgbClr val="142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67" name="Oval 9066">
            <a:extLst>
              <a:ext uri="{FF2B5EF4-FFF2-40B4-BE49-F238E27FC236}">
                <a16:creationId xmlns:a16="http://schemas.microsoft.com/office/drawing/2014/main" id="{388695B0-92E8-816D-2DCB-77EAB1C00690}"/>
              </a:ext>
            </a:extLst>
          </p:cNvPr>
          <p:cNvSpPr/>
          <p:nvPr/>
        </p:nvSpPr>
        <p:spPr>
          <a:xfrm>
            <a:off x="12938759" y="3398520"/>
            <a:ext cx="45720" cy="457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68" name="Oval 9067">
            <a:extLst>
              <a:ext uri="{FF2B5EF4-FFF2-40B4-BE49-F238E27FC236}">
                <a16:creationId xmlns:a16="http://schemas.microsoft.com/office/drawing/2014/main" id="{8E833B23-5107-7D00-AB00-F00FD40E41CA}"/>
              </a:ext>
            </a:extLst>
          </p:cNvPr>
          <p:cNvSpPr/>
          <p:nvPr/>
        </p:nvSpPr>
        <p:spPr>
          <a:xfrm>
            <a:off x="13057631" y="3398520"/>
            <a:ext cx="45720" cy="457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69" name="Rectangle 9068">
            <a:extLst>
              <a:ext uri="{FF2B5EF4-FFF2-40B4-BE49-F238E27FC236}">
                <a16:creationId xmlns:a16="http://schemas.microsoft.com/office/drawing/2014/main" id="{9B5A9D6C-223A-A43C-FC71-B06A5888C123}"/>
              </a:ext>
            </a:extLst>
          </p:cNvPr>
          <p:cNvSpPr/>
          <p:nvPr/>
        </p:nvSpPr>
        <p:spPr>
          <a:xfrm>
            <a:off x="13013740" y="3270504"/>
            <a:ext cx="14630" cy="73152"/>
          </a:xfrm>
          <a:prstGeom prst="rect">
            <a:avLst/>
          </a:prstGeom>
          <a:solidFill>
            <a:srgbClr val="142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70" name="Oval 9069">
            <a:extLst>
              <a:ext uri="{FF2B5EF4-FFF2-40B4-BE49-F238E27FC236}">
                <a16:creationId xmlns:a16="http://schemas.microsoft.com/office/drawing/2014/main" id="{B9EE5621-426B-4628-5CA8-CA4FB19DA62A}"/>
              </a:ext>
            </a:extLst>
          </p:cNvPr>
          <p:cNvSpPr/>
          <p:nvPr/>
        </p:nvSpPr>
        <p:spPr>
          <a:xfrm>
            <a:off x="12989051" y="3233928"/>
            <a:ext cx="64008" cy="64008"/>
          </a:xfrm>
          <a:prstGeom prst="ellipse">
            <a:avLst/>
          </a:prstGeom>
          <a:solidFill>
            <a:srgbClr val="142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71" name="TextBox 9070">
            <a:extLst>
              <a:ext uri="{FF2B5EF4-FFF2-40B4-BE49-F238E27FC236}">
                <a16:creationId xmlns:a16="http://schemas.microsoft.com/office/drawing/2014/main" id="{6C429829-4755-9E19-ED7A-D81EFC8FB8B6}"/>
              </a:ext>
            </a:extLst>
          </p:cNvPr>
          <p:cNvSpPr txBox="1"/>
          <p:nvPr/>
        </p:nvSpPr>
        <p:spPr>
          <a:xfrm>
            <a:off x="13386815" y="3160776"/>
            <a:ext cx="3995928" cy="5029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100" b="1" dirty="0">
                <a:solidFill>
                  <a:srgbClr val="FFFFFF"/>
                </a:solidFill>
                <a:latin typeface="Calibri"/>
              </a:rPr>
              <a:t>MODO 03</a:t>
            </a:r>
          </a:p>
          <a:p>
            <a:r>
              <a:rPr sz="1800" b="1" dirty="0" err="1">
                <a:solidFill>
                  <a:srgbClr val="FFFFFF"/>
                </a:solidFill>
                <a:latin typeface="Calibri"/>
              </a:rPr>
              <a:t>Agente</a:t>
            </a:r>
            <a:r>
              <a:rPr sz="1800" b="1" dirty="0">
                <a:solidFill>
                  <a:srgbClr val="FFFFFF"/>
                </a:solidFill>
                <a:latin typeface="Calibri"/>
              </a:rPr>
              <a:t> IA</a:t>
            </a:r>
          </a:p>
        </p:txBody>
      </p:sp>
      <p:sp>
        <p:nvSpPr>
          <p:cNvPr id="9072" name="Rounded Rectangle 9071">
            <a:extLst>
              <a:ext uri="{FF2B5EF4-FFF2-40B4-BE49-F238E27FC236}">
                <a16:creationId xmlns:a16="http://schemas.microsoft.com/office/drawing/2014/main" id="{5C9935FE-4063-9B14-1FBE-6925ABEA6BB5}"/>
              </a:ext>
            </a:extLst>
          </p:cNvPr>
          <p:cNvSpPr/>
          <p:nvPr/>
        </p:nvSpPr>
        <p:spPr>
          <a:xfrm>
            <a:off x="12152376" y="3877053"/>
            <a:ext cx="5413248" cy="47548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>
            <a:outerShdw blurRad="76200" dist="12700" dir="5400000" algn="t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73" name="TextBox 9072">
            <a:extLst>
              <a:ext uri="{FF2B5EF4-FFF2-40B4-BE49-F238E27FC236}">
                <a16:creationId xmlns:a16="http://schemas.microsoft.com/office/drawing/2014/main" id="{CD551962-10E4-00CD-EADD-2F8826D3FE3F}"/>
              </a:ext>
            </a:extLst>
          </p:cNvPr>
          <p:cNvSpPr txBox="1"/>
          <p:nvPr/>
        </p:nvSpPr>
        <p:spPr>
          <a:xfrm>
            <a:off x="12444984" y="4105655"/>
            <a:ext cx="4828032" cy="6001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dirty="0">
                <a:solidFill>
                  <a:srgbClr val="404040"/>
                </a:solidFill>
                <a:latin typeface="Calibri"/>
              </a:rPr>
              <a:t>El </a:t>
            </a:r>
            <a:r>
              <a:rPr sz="1300" dirty="0" err="1">
                <a:solidFill>
                  <a:srgbClr val="404040"/>
                </a:solidFill>
                <a:latin typeface="Calibri"/>
              </a:rPr>
              <a:t>usuario</a:t>
            </a:r>
            <a:r>
              <a:rPr sz="1300" dirty="0">
                <a:solidFill>
                  <a:srgbClr val="404040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404040"/>
                </a:solidFill>
                <a:latin typeface="Calibri"/>
              </a:rPr>
              <a:t>activa</a:t>
            </a:r>
            <a:r>
              <a:rPr sz="1300" dirty="0">
                <a:solidFill>
                  <a:srgbClr val="404040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404040"/>
                </a:solidFill>
                <a:latin typeface="Calibri"/>
              </a:rPr>
              <a:t>el</a:t>
            </a:r>
            <a:r>
              <a:rPr sz="1300" dirty="0">
                <a:solidFill>
                  <a:srgbClr val="404040"/>
                </a:solidFill>
                <a:latin typeface="Calibri"/>
              </a:rPr>
              <a:t> toggle de </a:t>
            </a:r>
            <a:r>
              <a:rPr sz="1300" dirty="0" err="1">
                <a:solidFill>
                  <a:srgbClr val="404040"/>
                </a:solidFill>
                <a:latin typeface="Calibri"/>
              </a:rPr>
              <a:t>agente</a:t>
            </a:r>
            <a:r>
              <a:rPr sz="1300" dirty="0">
                <a:solidFill>
                  <a:srgbClr val="404040"/>
                </a:solidFill>
                <a:latin typeface="Calibri"/>
              </a:rPr>
              <a:t> y </a:t>
            </a:r>
            <a:r>
              <a:rPr sz="1300" dirty="0" err="1">
                <a:solidFill>
                  <a:srgbClr val="404040"/>
                </a:solidFill>
                <a:latin typeface="Calibri"/>
              </a:rPr>
              <a:t>teclea</a:t>
            </a:r>
            <a:r>
              <a:rPr sz="1300" dirty="0">
                <a:solidFill>
                  <a:srgbClr val="404040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404040"/>
                </a:solidFill>
                <a:latin typeface="Calibri"/>
              </a:rPr>
              <a:t>el</a:t>
            </a:r>
            <a:r>
              <a:rPr sz="1300" dirty="0">
                <a:solidFill>
                  <a:srgbClr val="404040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404040"/>
                </a:solidFill>
                <a:latin typeface="Calibri"/>
              </a:rPr>
              <a:t>nombre</a:t>
            </a:r>
            <a:r>
              <a:rPr sz="1300" dirty="0">
                <a:solidFill>
                  <a:srgbClr val="404040"/>
                </a:solidFill>
                <a:latin typeface="Calibri"/>
              </a:rPr>
              <a:t>. Un </a:t>
            </a:r>
            <a:r>
              <a:rPr sz="1300" dirty="0" err="1">
                <a:solidFill>
                  <a:srgbClr val="404040"/>
                </a:solidFill>
                <a:latin typeface="Calibri"/>
              </a:rPr>
              <a:t>agente</a:t>
            </a:r>
            <a:r>
              <a:rPr sz="1300" dirty="0">
                <a:solidFill>
                  <a:srgbClr val="404040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404040"/>
                </a:solidFill>
                <a:latin typeface="Calibri"/>
              </a:rPr>
              <a:t>CrewAI</a:t>
            </a:r>
            <a:r>
              <a:rPr sz="1300" dirty="0">
                <a:solidFill>
                  <a:srgbClr val="404040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404040"/>
                </a:solidFill>
                <a:latin typeface="Calibri"/>
              </a:rPr>
              <a:t>navega</a:t>
            </a:r>
            <a:r>
              <a:rPr sz="1300" dirty="0">
                <a:solidFill>
                  <a:srgbClr val="404040"/>
                </a:solidFill>
                <a:latin typeface="Calibri"/>
              </a:rPr>
              <a:t> la web, </a:t>
            </a:r>
            <a:r>
              <a:rPr sz="1300" dirty="0" err="1">
                <a:solidFill>
                  <a:srgbClr val="404040"/>
                </a:solidFill>
                <a:latin typeface="Calibri"/>
              </a:rPr>
              <a:t>descarga</a:t>
            </a:r>
            <a:r>
              <a:rPr sz="1300" dirty="0">
                <a:solidFill>
                  <a:srgbClr val="404040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404040"/>
                </a:solidFill>
                <a:latin typeface="Calibri"/>
              </a:rPr>
              <a:t>documentos</a:t>
            </a:r>
            <a:r>
              <a:rPr sz="1300" dirty="0">
                <a:solidFill>
                  <a:srgbClr val="404040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404040"/>
                </a:solidFill>
                <a:latin typeface="Calibri"/>
              </a:rPr>
              <a:t>candidatos</a:t>
            </a:r>
            <a:r>
              <a:rPr sz="1300" dirty="0">
                <a:solidFill>
                  <a:srgbClr val="404040"/>
                </a:solidFill>
                <a:latin typeface="Calibri"/>
              </a:rPr>
              <a:t>, </a:t>
            </a:r>
            <a:r>
              <a:rPr sz="1300" dirty="0" err="1">
                <a:solidFill>
                  <a:srgbClr val="404040"/>
                </a:solidFill>
                <a:latin typeface="Calibri"/>
              </a:rPr>
              <a:t>los</a:t>
            </a:r>
            <a:r>
              <a:rPr sz="1300" dirty="0">
                <a:solidFill>
                  <a:srgbClr val="404040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404040"/>
                </a:solidFill>
                <a:latin typeface="Calibri"/>
              </a:rPr>
              <a:t>valida</a:t>
            </a:r>
            <a:r>
              <a:rPr sz="1300" dirty="0">
                <a:solidFill>
                  <a:srgbClr val="404040"/>
                </a:solidFill>
                <a:latin typeface="Calibri"/>
              </a:rPr>
              <a:t> y </a:t>
            </a:r>
            <a:r>
              <a:rPr sz="1300" dirty="0" err="1">
                <a:solidFill>
                  <a:srgbClr val="404040"/>
                </a:solidFill>
                <a:latin typeface="Calibri"/>
              </a:rPr>
              <a:t>los</a:t>
            </a:r>
            <a:r>
              <a:rPr sz="1300" dirty="0">
                <a:solidFill>
                  <a:srgbClr val="404040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404040"/>
                </a:solidFill>
                <a:latin typeface="Calibri"/>
              </a:rPr>
              <a:t>procesa</a:t>
            </a:r>
            <a:r>
              <a:rPr sz="1300" dirty="0">
                <a:solidFill>
                  <a:srgbClr val="404040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404040"/>
                </a:solidFill>
                <a:latin typeface="Calibri"/>
              </a:rPr>
              <a:t>en</a:t>
            </a:r>
            <a:r>
              <a:rPr sz="1300" dirty="0">
                <a:solidFill>
                  <a:srgbClr val="404040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404040"/>
                </a:solidFill>
                <a:latin typeface="Calibri"/>
              </a:rPr>
              <a:t>el</a:t>
            </a:r>
            <a:r>
              <a:rPr sz="1300" dirty="0">
                <a:solidFill>
                  <a:srgbClr val="404040"/>
                </a:solidFill>
                <a:latin typeface="Calibri"/>
              </a:rPr>
              <a:t> pipeline </a:t>
            </a:r>
            <a:r>
              <a:rPr sz="1300" dirty="0" err="1">
                <a:solidFill>
                  <a:srgbClr val="404040"/>
                </a:solidFill>
                <a:latin typeface="Calibri"/>
              </a:rPr>
              <a:t>documento</a:t>
            </a:r>
            <a:r>
              <a:rPr sz="1300" dirty="0">
                <a:solidFill>
                  <a:srgbClr val="404040"/>
                </a:solidFill>
                <a:latin typeface="Calibri"/>
              </a:rPr>
              <a:t>.</a:t>
            </a:r>
          </a:p>
        </p:txBody>
      </p:sp>
      <p:sp>
        <p:nvSpPr>
          <p:cNvPr id="9074" name="TextBox 9073">
            <a:extLst>
              <a:ext uri="{FF2B5EF4-FFF2-40B4-BE49-F238E27FC236}">
                <a16:creationId xmlns:a16="http://schemas.microsoft.com/office/drawing/2014/main" id="{C69E3F5E-17BC-D875-A6A2-70F3B7C8E78A}"/>
              </a:ext>
            </a:extLst>
          </p:cNvPr>
          <p:cNvSpPr txBox="1"/>
          <p:nvPr/>
        </p:nvSpPr>
        <p:spPr>
          <a:xfrm>
            <a:off x="12444984" y="5032756"/>
            <a:ext cx="448071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400" b="1" dirty="0">
                <a:solidFill>
                  <a:srgbClr val="BF9000"/>
                </a:solidFill>
                <a:latin typeface="Calibri"/>
              </a:rPr>
              <a:t>FLUJO</a:t>
            </a:r>
          </a:p>
        </p:txBody>
      </p:sp>
      <p:sp>
        <p:nvSpPr>
          <p:cNvPr id="9075" name="Chevron 9074">
            <a:extLst>
              <a:ext uri="{FF2B5EF4-FFF2-40B4-BE49-F238E27FC236}">
                <a16:creationId xmlns:a16="http://schemas.microsoft.com/office/drawing/2014/main" id="{0743709F-5B12-3091-5465-1461E9AB4A24}"/>
              </a:ext>
            </a:extLst>
          </p:cNvPr>
          <p:cNvSpPr/>
          <p:nvPr/>
        </p:nvSpPr>
        <p:spPr>
          <a:xfrm>
            <a:off x="12444984" y="5279643"/>
            <a:ext cx="929030" cy="292608"/>
          </a:xfrm>
          <a:prstGeom prst="chevron">
            <a:avLst/>
          </a:prstGeom>
          <a:solidFill>
            <a:srgbClr val="142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9076" name="TextBox 9075">
            <a:extLst>
              <a:ext uri="{FF2B5EF4-FFF2-40B4-BE49-F238E27FC236}">
                <a16:creationId xmlns:a16="http://schemas.microsoft.com/office/drawing/2014/main" id="{706EAF71-FACB-88AA-4152-A52B01B06BDD}"/>
              </a:ext>
            </a:extLst>
          </p:cNvPr>
          <p:cNvSpPr txBox="1"/>
          <p:nvPr/>
        </p:nvSpPr>
        <p:spPr>
          <a:xfrm>
            <a:off x="12654621" y="5333613"/>
            <a:ext cx="509755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onsolas"/>
              </a:rPr>
              <a:t>Search</a:t>
            </a:r>
          </a:p>
        </p:txBody>
      </p:sp>
      <p:sp>
        <p:nvSpPr>
          <p:cNvPr id="9077" name="Chevron 9076">
            <a:extLst>
              <a:ext uri="{FF2B5EF4-FFF2-40B4-BE49-F238E27FC236}">
                <a16:creationId xmlns:a16="http://schemas.microsoft.com/office/drawing/2014/main" id="{793B454C-91EB-623B-01B7-B6CAF7754FF3}"/>
              </a:ext>
            </a:extLst>
          </p:cNvPr>
          <p:cNvSpPr/>
          <p:nvPr/>
        </p:nvSpPr>
        <p:spPr>
          <a:xfrm>
            <a:off x="13410590" y="5279643"/>
            <a:ext cx="929030" cy="292608"/>
          </a:xfrm>
          <a:prstGeom prst="chevron">
            <a:avLst/>
          </a:prstGeom>
          <a:solidFill>
            <a:srgbClr val="142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9078" name="TextBox 9077">
            <a:extLst>
              <a:ext uri="{FF2B5EF4-FFF2-40B4-BE49-F238E27FC236}">
                <a16:creationId xmlns:a16="http://schemas.microsoft.com/office/drawing/2014/main" id="{1C04BBFE-64A1-CD18-4235-44E1904F9C9E}"/>
              </a:ext>
            </a:extLst>
          </p:cNvPr>
          <p:cNvSpPr txBox="1"/>
          <p:nvPr/>
        </p:nvSpPr>
        <p:spPr>
          <a:xfrm>
            <a:off x="13662707" y="5333613"/>
            <a:ext cx="424795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onsolas"/>
              </a:rPr>
              <a:t>Fetch</a:t>
            </a:r>
          </a:p>
        </p:txBody>
      </p:sp>
      <p:sp>
        <p:nvSpPr>
          <p:cNvPr id="9079" name="Chevron 9078">
            <a:extLst>
              <a:ext uri="{FF2B5EF4-FFF2-40B4-BE49-F238E27FC236}">
                <a16:creationId xmlns:a16="http://schemas.microsoft.com/office/drawing/2014/main" id="{F8D705EB-856B-52CD-C481-AB30EACB793F}"/>
              </a:ext>
            </a:extLst>
          </p:cNvPr>
          <p:cNvSpPr/>
          <p:nvPr/>
        </p:nvSpPr>
        <p:spPr>
          <a:xfrm>
            <a:off x="14376196" y="5279643"/>
            <a:ext cx="929030" cy="292608"/>
          </a:xfrm>
          <a:prstGeom prst="chevron">
            <a:avLst/>
          </a:prstGeom>
          <a:solidFill>
            <a:srgbClr val="142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9080" name="TextBox 9079">
            <a:extLst>
              <a:ext uri="{FF2B5EF4-FFF2-40B4-BE49-F238E27FC236}">
                <a16:creationId xmlns:a16="http://schemas.microsoft.com/office/drawing/2014/main" id="{C7DAE593-F8AE-6CFE-C440-9B5B65862598}"/>
              </a:ext>
            </a:extLst>
          </p:cNvPr>
          <p:cNvSpPr txBox="1"/>
          <p:nvPr/>
        </p:nvSpPr>
        <p:spPr>
          <a:xfrm>
            <a:off x="14585833" y="5333613"/>
            <a:ext cx="509755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onsolas"/>
              </a:rPr>
              <a:t>Review</a:t>
            </a:r>
          </a:p>
        </p:txBody>
      </p:sp>
      <p:sp>
        <p:nvSpPr>
          <p:cNvPr id="9081" name="Chevron 9080">
            <a:extLst>
              <a:ext uri="{FF2B5EF4-FFF2-40B4-BE49-F238E27FC236}">
                <a16:creationId xmlns:a16="http://schemas.microsoft.com/office/drawing/2014/main" id="{1A2064BF-6549-73C5-C453-82C1C766CA7E}"/>
              </a:ext>
            </a:extLst>
          </p:cNvPr>
          <p:cNvSpPr/>
          <p:nvPr/>
        </p:nvSpPr>
        <p:spPr>
          <a:xfrm>
            <a:off x="15341802" y="5279643"/>
            <a:ext cx="984047" cy="292608"/>
          </a:xfrm>
          <a:prstGeom prst="chevron">
            <a:avLst/>
          </a:prstGeom>
          <a:solidFill>
            <a:srgbClr val="142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9082" name="TextBox 9081">
            <a:extLst>
              <a:ext uri="{FF2B5EF4-FFF2-40B4-BE49-F238E27FC236}">
                <a16:creationId xmlns:a16="http://schemas.microsoft.com/office/drawing/2014/main" id="{9EB74F2F-AB73-BBE6-DD11-07227C4314FD}"/>
              </a:ext>
            </a:extLst>
          </p:cNvPr>
          <p:cNvSpPr txBox="1"/>
          <p:nvPr/>
        </p:nvSpPr>
        <p:spPr>
          <a:xfrm>
            <a:off x="15424001" y="5333613"/>
            <a:ext cx="764633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es-ES_tradnl" sz="1200" b="1" dirty="0">
                <a:solidFill>
                  <a:srgbClr val="FFFFFF"/>
                </a:solidFill>
                <a:latin typeface="Consolas"/>
              </a:rPr>
              <a:t> </a:t>
            </a:r>
            <a:r>
              <a:rPr sz="1200" b="1" dirty="0">
                <a:solidFill>
                  <a:srgbClr val="FFFFFF"/>
                </a:solidFill>
                <a:latin typeface="Consolas"/>
              </a:rPr>
              <a:t>Validate</a:t>
            </a:r>
          </a:p>
        </p:txBody>
      </p:sp>
      <p:sp>
        <p:nvSpPr>
          <p:cNvPr id="9083" name="Chevron 9082">
            <a:extLst>
              <a:ext uri="{FF2B5EF4-FFF2-40B4-BE49-F238E27FC236}">
                <a16:creationId xmlns:a16="http://schemas.microsoft.com/office/drawing/2014/main" id="{CFCF4FD0-02DB-9094-7E61-AEEE208E1167}"/>
              </a:ext>
            </a:extLst>
          </p:cNvPr>
          <p:cNvSpPr/>
          <p:nvPr/>
        </p:nvSpPr>
        <p:spPr>
          <a:xfrm>
            <a:off x="16364563" y="5279643"/>
            <a:ext cx="929030" cy="292608"/>
          </a:xfrm>
          <a:prstGeom prst="chevron">
            <a:avLst/>
          </a:prstGeom>
          <a:solidFill>
            <a:srgbClr val="142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9084" name="TextBox 9083">
            <a:extLst>
              <a:ext uri="{FF2B5EF4-FFF2-40B4-BE49-F238E27FC236}">
                <a16:creationId xmlns:a16="http://schemas.microsoft.com/office/drawing/2014/main" id="{6C6DFA60-62BB-E7EF-D3A7-EC7D7631F3B3}"/>
              </a:ext>
            </a:extLst>
          </p:cNvPr>
          <p:cNvSpPr txBox="1"/>
          <p:nvPr/>
        </p:nvSpPr>
        <p:spPr>
          <a:xfrm>
            <a:off x="16701638" y="5333613"/>
            <a:ext cx="254878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onsolas"/>
              </a:rPr>
              <a:t>Run</a:t>
            </a:r>
          </a:p>
        </p:txBody>
      </p:sp>
      <p:sp>
        <p:nvSpPr>
          <p:cNvPr id="9085" name="TextBox 9084">
            <a:extLst>
              <a:ext uri="{FF2B5EF4-FFF2-40B4-BE49-F238E27FC236}">
                <a16:creationId xmlns:a16="http://schemas.microsoft.com/office/drawing/2014/main" id="{0BED1CDF-A48D-349C-35AA-A8DE44511816}"/>
              </a:ext>
            </a:extLst>
          </p:cNvPr>
          <p:cNvSpPr txBox="1"/>
          <p:nvPr/>
        </p:nvSpPr>
        <p:spPr>
          <a:xfrm>
            <a:off x="12444984" y="5998463"/>
            <a:ext cx="747384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400" b="1">
                <a:solidFill>
                  <a:srgbClr val="BF9000"/>
                </a:solidFill>
                <a:latin typeface="Calibri"/>
              </a:rPr>
              <a:t>VENTAJAS</a:t>
            </a:r>
          </a:p>
        </p:txBody>
      </p:sp>
      <p:sp>
        <p:nvSpPr>
          <p:cNvPr id="9086" name="TextBox 9085">
            <a:extLst>
              <a:ext uri="{FF2B5EF4-FFF2-40B4-BE49-F238E27FC236}">
                <a16:creationId xmlns:a16="http://schemas.microsoft.com/office/drawing/2014/main" id="{E1E74E76-CD61-B933-BCD9-0E359E719460}"/>
              </a:ext>
            </a:extLst>
          </p:cNvPr>
          <p:cNvSpPr txBox="1"/>
          <p:nvPr/>
        </p:nvSpPr>
        <p:spPr>
          <a:xfrm>
            <a:off x="12444984" y="6272783"/>
            <a:ext cx="4828032" cy="2000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4F814F"/>
                </a:solidFill>
                <a:latin typeface="Calibri"/>
              </a:rPr>
              <a:t>✓  </a:t>
            </a:r>
            <a:r>
              <a:rPr sz="1300">
                <a:solidFill>
                  <a:srgbClr val="404040"/>
                </a:solidFill>
                <a:latin typeface="Calibri"/>
              </a:rPr>
              <a:t>Recupera empresas opacas</a:t>
            </a:r>
          </a:p>
        </p:txBody>
      </p:sp>
      <p:sp>
        <p:nvSpPr>
          <p:cNvPr id="9087" name="TextBox 9086">
            <a:extLst>
              <a:ext uri="{FF2B5EF4-FFF2-40B4-BE49-F238E27FC236}">
                <a16:creationId xmlns:a16="http://schemas.microsoft.com/office/drawing/2014/main" id="{F218D73A-903E-11E6-5E44-F8363EA17A0B}"/>
              </a:ext>
            </a:extLst>
          </p:cNvPr>
          <p:cNvSpPr txBox="1"/>
          <p:nvPr/>
        </p:nvSpPr>
        <p:spPr>
          <a:xfrm>
            <a:off x="12444984" y="6565391"/>
            <a:ext cx="4828032" cy="2000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4F814F"/>
                </a:solidFill>
                <a:latin typeface="Calibri"/>
              </a:rPr>
              <a:t>✓  </a:t>
            </a:r>
            <a:r>
              <a:rPr sz="1300">
                <a:solidFill>
                  <a:srgbClr val="404040"/>
                </a:solidFill>
                <a:latin typeface="Calibri"/>
              </a:rPr>
              <a:t>Validación humana en bucle</a:t>
            </a:r>
          </a:p>
        </p:txBody>
      </p:sp>
      <p:sp>
        <p:nvSpPr>
          <p:cNvPr id="9088" name="TextBox 9087">
            <a:extLst>
              <a:ext uri="{FF2B5EF4-FFF2-40B4-BE49-F238E27FC236}">
                <a16:creationId xmlns:a16="http://schemas.microsoft.com/office/drawing/2014/main" id="{EF93B777-E2AA-F20B-6CE6-FCBEB457CD72}"/>
              </a:ext>
            </a:extLst>
          </p:cNvPr>
          <p:cNvSpPr txBox="1"/>
          <p:nvPr/>
        </p:nvSpPr>
        <p:spPr>
          <a:xfrm>
            <a:off x="12444984" y="6857999"/>
            <a:ext cx="4828032" cy="2000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4F814F"/>
                </a:solidFill>
                <a:latin typeface="Calibri"/>
              </a:rPr>
              <a:t>✓  </a:t>
            </a:r>
            <a:r>
              <a:rPr sz="1300">
                <a:solidFill>
                  <a:srgbClr val="404040"/>
                </a:solidFill>
                <a:latin typeface="Calibri"/>
              </a:rPr>
              <a:t>Combina web + documento</a:t>
            </a:r>
          </a:p>
        </p:txBody>
      </p:sp>
      <p:sp>
        <p:nvSpPr>
          <p:cNvPr id="9089" name="Rectangle 9088">
            <a:extLst>
              <a:ext uri="{FF2B5EF4-FFF2-40B4-BE49-F238E27FC236}">
                <a16:creationId xmlns:a16="http://schemas.microsoft.com/office/drawing/2014/main" id="{E0CF20F6-DEDB-44DD-71C4-39212BB3706A}"/>
              </a:ext>
            </a:extLst>
          </p:cNvPr>
          <p:cNvSpPr/>
          <p:nvPr/>
        </p:nvSpPr>
        <p:spPr>
          <a:xfrm>
            <a:off x="12444984" y="7626093"/>
            <a:ext cx="4828032" cy="4572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9090" name="Rounded Rectangle 9089">
            <a:extLst>
              <a:ext uri="{FF2B5EF4-FFF2-40B4-BE49-F238E27FC236}">
                <a16:creationId xmlns:a16="http://schemas.microsoft.com/office/drawing/2014/main" id="{0232B62B-56AB-E17D-9C41-666F5212503E}"/>
              </a:ext>
            </a:extLst>
          </p:cNvPr>
          <p:cNvSpPr/>
          <p:nvPr/>
        </p:nvSpPr>
        <p:spPr>
          <a:xfrm>
            <a:off x="15855696" y="7424927"/>
            <a:ext cx="1417320" cy="201168"/>
          </a:xfrm>
          <a:prstGeom prst="roundRect">
            <a:avLst>
              <a:gd name="adj" fmla="val 50000"/>
            </a:avLst>
          </a:prstGeom>
          <a:solidFill>
            <a:srgbClr val="142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9091" name="TextBox 9090">
            <a:extLst>
              <a:ext uri="{FF2B5EF4-FFF2-40B4-BE49-F238E27FC236}">
                <a16:creationId xmlns:a16="http://schemas.microsoft.com/office/drawing/2014/main" id="{DF280E43-013D-C326-6AD3-47E2FEC9164E}"/>
              </a:ext>
            </a:extLst>
          </p:cNvPr>
          <p:cNvSpPr txBox="1"/>
          <p:nvPr/>
        </p:nvSpPr>
        <p:spPr>
          <a:xfrm>
            <a:off x="16211695" y="7448567"/>
            <a:ext cx="705321" cy="15388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AUTONOMÍA</a:t>
            </a:r>
          </a:p>
        </p:txBody>
      </p:sp>
      <p:sp>
        <p:nvSpPr>
          <p:cNvPr id="9092" name="TextBox 9091">
            <a:extLst>
              <a:ext uri="{FF2B5EF4-FFF2-40B4-BE49-F238E27FC236}">
                <a16:creationId xmlns:a16="http://schemas.microsoft.com/office/drawing/2014/main" id="{6CE1B2E1-B9E0-1FC1-C1BE-AFE2DAEAB803}"/>
              </a:ext>
            </a:extLst>
          </p:cNvPr>
          <p:cNvSpPr txBox="1"/>
          <p:nvPr/>
        </p:nvSpPr>
        <p:spPr>
          <a:xfrm>
            <a:off x="12444984" y="7717536"/>
            <a:ext cx="666657" cy="2000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595959"/>
                </a:solidFill>
                <a:latin typeface="Calibri"/>
              </a:rPr>
              <a:t>LATENCIA</a:t>
            </a:r>
          </a:p>
        </p:txBody>
      </p:sp>
      <p:sp>
        <p:nvSpPr>
          <p:cNvPr id="9093" name="TextBox 9092">
            <a:extLst>
              <a:ext uri="{FF2B5EF4-FFF2-40B4-BE49-F238E27FC236}">
                <a16:creationId xmlns:a16="http://schemas.microsoft.com/office/drawing/2014/main" id="{D86C0235-B038-B052-DFB5-18BD6390FD89}"/>
              </a:ext>
            </a:extLst>
          </p:cNvPr>
          <p:cNvSpPr txBox="1"/>
          <p:nvPr/>
        </p:nvSpPr>
        <p:spPr>
          <a:xfrm>
            <a:off x="12444984" y="7964423"/>
            <a:ext cx="210312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2000" b="1" dirty="0">
                <a:solidFill>
                  <a:srgbClr val="14284D"/>
                </a:solidFill>
                <a:latin typeface="Calibri"/>
              </a:rPr>
              <a:t>~3 min</a:t>
            </a:r>
          </a:p>
        </p:txBody>
      </p:sp>
      <p:sp>
        <p:nvSpPr>
          <p:cNvPr id="9094" name="TextBox 9093">
            <a:extLst>
              <a:ext uri="{FF2B5EF4-FFF2-40B4-BE49-F238E27FC236}">
                <a16:creationId xmlns:a16="http://schemas.microsoft.com/office/drawing/2014/main" id="{8C7EB49E-6CE8-B97D-3CB9-6851E383F7EE}"/>
              </a:ext>
            </a:extLst>
          </p:cNvPr>
          <p:cNvSpPr txBox="1"/>
          <p:nvPr/>
        </p:nvSpPr>
        <p:spPr>
          <a:xfrm>
            <a:off x="12444984" y="8311893"/>
            <a:ext cx="2665794" cy="16927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100" b="1" dirty="0">
                <a:solidFill>
                  <a:srgbClr val="595959"/>
                </a:solidFill>
                <a:latin typeface="Calibri"/>
              </a:rPr>
              <a:t>MEJOR CASO  </a:t>
            </a:r>
            <a:r>
              <a:rPr sz="1100" b="1" dirty="0">
                <a:solidFill>
                  <a:srgbClr val="1F3864"/>
                </a:solidFill>
                <a:latin typeface="Calibri"/>
              </a:rPr>
              <a:t>Empresa sin </a:t>
            </a:r>
            <a:r>
              <a:rPr sz="1100" b="1" dirty="0" err="1">
                <a:solidFill>
                  <a:srgbClr val="1F3864"/>
                </a:solidFill>
                <a:latin typeface="Calibri"/>
              </a:rPr>
              <a:t>presencia</a:t>
            </a:r>
            <a:r>
              <a:rPr sz="1100" b="1" dirty="0">
                <a:solidFill>
                  <a:srgbClr val="1F3864"/>
                </a:solidFill>
                <a:latin typeface="Calibri"/>
              </a:rPr>
              <a:t> </a:t>
            </a:r>
            <a:r>
              <a:rPr sz="1100" b="1" dirty="0" err="1">
                <a:solidFill>
                  <a:srgbClr val="1F3864"/>
                </a:solidFill>
                <a:latin typeface="Calibri"/>
              </a:rPr>
              <a:t>en</a:t>
            </a:r>
            <a:r>
              <a:rPr sz="1100" b="1" dirty="0">
                <a:solidFill>
                  <a:srgbClr val="1F3864"/>
                </a:solidFill>
                <a:latin typeface="Calibri"/>
              </a:rPr>
              <a:t> Maps</a:t>
            </a:r>
          </a:p>
        </p:txBody>
      </p:sp>
      <p:sp>
        <p:nvSpPr>
          <p:cNvPr id="3" name="Chevron 9019">
            <a:extLst>
              <a:ext uri="{FF2B5EF4-FFF2-40B4-BE49-F238E27FC236}">
                <a16:creationId xmlns:a16="http://schemas.microsoft.com/office/drawing/2014/main" id="{A3EE6E6D-3A03-2133-870C-61F81ED80071}"/>
              </a:ext>
            </a:extLst>
          </p:cNvPr>
          <p:cNvSpPr/>
          <p:nvPr/>
        </p:nvSpPr>
        <p:spPr>
          <a:xfrm>
            <a:off x="9670014" y="5684470"/>
            <a:ext cx="929030" cy="292608"/>
          </a:xfrm>
          <a:prstGeom prst="chevron">
            <a:avLst/>
          </a:prstGeom>
          <a:solidFill>
            <a:srgbClr val="BF9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F05D025-A228-0E4F-CB7D-E81F934A665E}"/>
              </a:ext>
            </a:extLst>
          </p:cNvPr>
          <p:cNvSpPr txBox="1"/>
          <p:nvPr/>
        </p:nvSpPr>
        <p:spPr>
          <a:xfrm>
            <a:off x="9922131" y="5738440"/>
            <a:ext cx="424795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200" b="1" dirty="0">
                <a:solidFill>
                  <a:srgbClr val="FFFFFF"/>
                </a:solidFill>
                <a:latin typeface="Consolas"/>
              </a:rPr>
              <a:t>Score</a:t>
            </a:r>
          </a:p>
        </p:txBody>
      </p:sp>
      <p:sp>
        <p:nvSpPr>
          <p:cNvPr id="5" name="Text 4">
            <a:extLst>
              <a:ext uri="{FF2B5EF4-FFF2-40B4-BE49-F238E27FC236}">
                <a16:creationId xmlns:a16="http://schemas.microsoft.com/office/drawing/2014/main" id="{2E5555A4-7431-7BEE-D50A-49598581435E}"/>
              </a:ext>
            </a:extLst>
          </p:cNvPr>
          <p:cNvSpPr/>
          <p:nvPr/>
        </p:nvSpPr>
        <p:spPr>
          <a:xfrm>
            <a:off x="762000" y="2095500"/>
            <a:ext cx="17266920" cy="6458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just">
              <a:buNone/>
            </a:pPr>
            <a:r>
              <a:rPr lang="en-US" b="1" dirty="0">
                <a:solidFill>
                  <a:srgbClr val="1F3864"/>
                </a:solidFill>
                <a:latin typeface="Calibri"/>
              </a:rPr>
              <a:t>Visión general. </a:t>
            </a:r>
            <a:r>
              <a:rPr lang="en-US" dirty="0">
                <a:solidFill>
                  <a:srgbClr val="404040"/>
                </a:solidFill>
                <a:latin typeface="Calibri"/>
              </a:rPr>
              <a:t>Tres </a:t>
            </a:r>
            <a:r>
              <a:rPr lang="en-US" dirty="0" err="1">
                <a:solidFill>
                  <a:srgbClr val="404040"/>
                </a:solidFill>
                <a:latin typeface="Calibri"/>
              </a:rPr>
              <a:t>modos</a:t>
            </a:r>
            <a:r>
              <a:rPr lang="en-US" dirty="0">
                <a:solidFill>
                  <a:srgbClr val="404040"/>
                </a:solidFill>
                <a:latin typeface="Calibri"/>
              </a:rPr>
              <a:t> </a:t>
            </a:r>
            <a:r>
              <a:rPr lang="en-US" dirty="0" err="1">
                <a:solidFill>
                  <a:srgbClr val="404040"/>
                </a:solidFill>
                <a:latin typeface="Calibri"/>
              </a:rPr>
              <a:t>sobre</a:t>
            </a:r>
            <a:r>
              <a:rPr lang="en-US" dirty="0">
                <a:solidFill>
                  <a:srgbClr val="404040"/>
                </a:solidFill>
                <a:latin typeface="Calibri"/>
              </a:rPr>
              <a:t> la </a:t>
            </a:r>
            <a:r>
              <a:rPr lang="en-US" dirty="0" err="1">
                <a:solidFill>
                  <a:srgbClr val="404040"/>
                </a:solidFill>
                <a:latin typeface="Calibri"/>
              </a:rPr>
              <a:t>misma</a:t>
            </a:r>
            <a:r>
              <a:rPr lang="en-US" dirty="0">
                <a:solidFill>
                  <a:srgbClr val="404040"/>
                </a:solidFill>
                <a:latin typeface="Calibri"/>
              </a:rPr>
              <a:t> </a:t>
            </a:r>
            <a:r>
              <a:rPr lang="en-US" dirty="0" err="1">
                <a:solidFill>
                  <a:srgbClr val="404040"/>
                </a:solidFill>
                <a:latin typeface="Calibri"/>
              </a:rPr>
              <a:t>plataforma</a:t>
            </a:r>
            <a:r>
              <a:rPr lang="en-US" dirty="0">
                <a:solidFill>
                  <a:srgbClr val="404040"/>
                </a:solidFill>
                <a:latin typeface="Calibri"/>
              </a:rPr>
              <a:t>: </a:t>
            </a:r>
            <a:r>
              <a:rPr lang="en-US" dirty="0" err="1">
                <a:solidFill>
                  <a:srgbClr val="404040"/>
                </a:solidFill>
                <a:latin typeface="Calibri"/>
              </a:rPr>
              <a:t>cobertura</a:t>
            </a:r>
            <a:r>
              <a:rPr lang="en-US" dirty="0">
                <a:solidFill>
                  <a:srgbClr val="404040"/>
                </a:solidFill>
                <a:latin typeface="Calibri"/>
              </a:rPr>
              <a:t> </a:t>
            </a:r>
            <a:r>
              <a:rPr lang="en-US" dirty="0" err="1">
                <a:solidFill>
                  <a:srgbClr val="404040"/>
                </a:solidFill>
                <a:latin typeface="Calibri"/>
              </a:rPr>
              <a:t>amplia</a:t>
            </a:r>
            <a:r>
              <a:rPr lang="en-US" dirty="0">
                <a:solidFill>
                  <a:srgbClr val="404040"/>
                </a:solidFill>
                <a:latin typeface="Calibri"/>
              </a:rPr>
              <a:t> </a:t>
            </a:r>
            <a:r>
              <a:rPr lang="en-US" dirty="0" err="1">
                <a:solidFill>
                  <a:srgbClr val="404040"/>
                </a:solidFill>
                <a:latin typeface="Calibri"/>
              </a:rPr>
              <a:t>rápida</a:t>
            </a:r>
            <a:r>
              <a:rPr lang="en-US" dirty="0">
                <a:solidFill>
                  <a:srgbClr val="404040"/>
                </a:solidFill>
                <a:latin typeface="Calibri"/>
              </a:rPr>
              <a:t> con Maps, </a:t>
            </a:r>
            <a:r>
              <a:rPr lang="en-US" dirty="0" err="1">
                <a:solidFill>
                  <a:srgbClr val="404040"/>
                </a:solidFill>
                <a:latin typeface="Calibri"/>
              </a:rPr>
              <a:t>precisión</a:t>
            </a:r>
            <a:r>
              <a:rPr lang="en-US" dirty="0">
                <a:solidFill>
                  <a:srgbClr val="404040"/>
                </a:solidFill>
                <a:latin typeface="Calibri"/>
              </a:rPr>
              <a:t> documental con </a:t>
            </a:r>
            <a:r>
              <a:rPr lang="en-US" dirty="0" err="1">
                <a:solidFill>
                  <a:srgbClr val="404040"/>
                </a:solidFill>
                <a:latin typeface="Calibri"/>
              </a:rPr>
              <a:t>Documento</a:t>
            </a:r>
            <a:r>
              <a:rPr lang="en-US" dirty="0">
                <a:solidFill>
                  <a:srgbClr val="404040"/>
                </a:solidFill>
                <a:latin typeface="Calibri"/>
              </a:rPr>
              <a:t>, </a:t>
            </a:r>
            <a:r>
              <a:rPr lang="en-US" dirty="0" err="1">
                <a:solidFill>
                  <a:srgbClr val="404040"/>
                </a:solidFill>
                <a:latin typeface="Calibri"/>
              </a:rPr>
              <a:t>autonomía</a:t>
            </a:r>
            <a:r>
              <a:rPr lang="en-US" dirty="0">
                <a:solidFill>
                  <a:srgbClr val="404040"/>
                </a:solidFill>
                <a:latin typeface="Calibri"/>
              </a:rPr>
              <a:t> </a:t>
            </a:r>
            <a:r>
              <a:rPr lang="en-US" dirty="0" err="1">
                <a:solidFill>
                  <a:srgbClr val="404040"/>
                </a:solidFill>
                <a:latin typeface="Calibri"/>
              </a:rPr>
              <a:t>sobre</a:t>
            </a:r>
            <a:r>
              <a:rPr lang="en-US" dirty="0">
                <a:solidFill>
                  <a:srgbClr val="404040"/>
                </a:solidFill>
                <a:latin typeface="Calibri"/>
              </a:rPr>
              <a:t> la web con </a:t>
            </a:r>
            <a:r>
              <a:rPr lang="en-US" dirty="0" err="1">
                <a:solidFill>
                  <a:srgbClr val="404040"/>
                </a:solidFill>
                <a:latin typeface="Calibri"/>
              </a:rPr>
              <a:t>el</a:t>
            </a:r>
            <a:r>
              <a:rPr lang="en-US" dirty="0">
                <a:solidFill>
                  <a:srgbClr val="404040"/>
                </a:solidFill>
                <a:latin typeface="Calibri"/>
              </a:rPr>
              <a:t> </a:t>
            </a:r>
            <a:r>
              <a:rPr lang="en-US" dirty="0" err="1">
                <a:solidFill>
                  <a:srgbClr val="404040"/>
                </a:solidFill>
                <a:latin typeface="Calibri"/>
              </a:rPr>
              <a:t>Agente</a:t>
            </a:r>
            <a:r>
              <a:rPr lang="en-US" dirty="0">
                <a:solidFill>
                  <a:srgbClr val="404040"/>
                </a:solidFill>
                <a:latin typeface="Calibri"/>
              </a:rPr>
              <a:t>. </a:t>
            </a:r>
            <a:r>
              <a:rPr lang="en-US" dirty="0" err="1">
                <a:solidFill>
                  <a:srgbClr val="404040"/>
                </a:solidFill>
                <a:latin typeface="Calibri"/>
              </a:rPr>
              <a:t>Comparten</a:t>
            </a:r>
            <a:r>
              <a:rPr lang="en-US" dirty="0">
                <a:solidFill>
                  <a:srgbClr val="404040"/>
                </a:solidFill>
                <a:latin typeface="Calibri"/>
              </a:rPr>
              <a:t> </a:t>
            </a:r>
            <a:r>
              <a:rPr lang="en-US" dirty="0" err="1">
                <a:solidFill>
                  <a:srgbClr val="404040"/>
                </a:solidFill>
                <a:latin typeface="Calibri"/>
              </a:rPr>
              <a:t>formato</a:t>
            </a:r>
            <a:r>
              <a:rPr lang="en-US" dirty="0">
                <a:solidFill>
                  <a:srgbClr val="404040"/>
                </a:solidFill>
                <a:latin typeface="Calibri"/>
              </a:rPr>
              <a:t> de </a:t>
            </a:r>
            <a:r>
              <a:rPr lang="en-US" dirty="0" err="1">
                <a:solidFill>
                  <a:srgbClr val="404040"/>
                </a:solidFill>
                <a:latin typeface="Calibri"/>
              </a:rPr>
              <a:t>salida</a:t>
            </a:r>
            <a:r>
              <a:rPr lang="en-US" dirty="0">
                <a:solidFill>
                  <a:srgbClr val="404040"/>
                </a:solidFill>
                <a:latin typeface="Calibri"/>
              </a:rPr>
              <a:t> y </a:t>
            </a:r>
            <a:r>
              <a:rPr lang="en-US" dirty="0" err="1">
                <a:solidFill>
                  <a:srgbClr val="404040"/>
                </a:solidFill>
                <a:latin typeface="Calibri"/>
              </a:rPr>
              <a:t>modelo</a:t>
            </a:r>
            <a:r>
              <a:rPr lang="en-US" dirty="0">
                <a:solidFill>
                  <a:srgbClr val="404040"/>
                </a:solidFill>
                <a:latin typeface="Calibri"/>
              </a:rPr>
              <a:t> de scoring; </a:t>
            </a:r>
            <a:r>
              <a:rPr lang="en-US" dirty="0" err="1">
                <a:solidFill>
                  <a:srgbClr val="404040"/>
                </a:solidFill>
                <a:latin typeface="Calibri"/>
              </a:rPr>
              <a:t>sólo</a:t>
            </a:r>
            <a:r>
              <a:rPr lang="en-US" dirty="0">
                <a:solidFill>
                  <a:srgbClr val="404040"/>
                </a:solidFill>
                <a:latin typeface="Calibri"/>
              </a:rPr>
              <a:t> cambia la </a:t>
            </a:r>
            <a:r>
              <a:rPr lang="en-US" dirty="0" err="1">
                <a:solidFill>
                  <a:srgbClr val="404040"/>
                </a:solidFill>
                <a:latin typeface="Calibri"/>
              </a:rPr>
              <a:t>fuente</a:t>
            </a:r>
            <a:r>
              <a:rPr lang="en-US" dirty="0">
                <a:solidFill>
                  <a:srgbClr val="404040"/>
                </a:solidFill>
                <a:latin typeface="Calibri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898022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3"/>
          <p:cNvSpPr/>
          <p:nvPr/>
        </p:nvSpPr>
        <p:spPr>
          <a:xfrm>
            <a:off x="762000" y="1866801"/>
            <a:ext cx="16764000" cy="9525"/>
          </a:xfrm>
          <a:prstGeom prst="rect">
            <a:avLst/>
          </a:prstGeom>
          <a:solidFill>
            <a:srgbClr val="D9D9D9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62000" y="2095500"/>
            <a:ext cx="17266920" cy="6458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just">
              <a:buNone/>
            </a:pPr>
            <a:r>
              <a:rPr lang="en-US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Search &amp; classify. </a:t>
            </a:r>
            <a:r>
              <a:rPr lang="en-US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Generamos </a:t>
            </a:r>
            <a:r>
              <a:rPr lang="en-US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múltiples</a:t>
            </a:r>
            <a:r>
              <a:rPr lang="en-US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queries </a:t>
            </a:r>
            <a:r>
              <a:rPr lang="en-US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</a:t>
            </a:r>
            <a:r>
              <a:rPr lang="en-US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paralelo</a:t>
            </a:r>
            <a:r>
              <a:rPr lang="en-US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contra Google Places y </a:t>
            </a:r>
            <a:r>
              <a:rPr lang="en-US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dejamos</a:t>
            </a:r>
            <a:r>
              <a:rPr lang="en-US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que</a:t>
            </a:r>
            <a:r>
              <a:rPr lang="en-US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</a:t>
            </a:r>
            <a:r>
              <a:rPr lang="en-US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LLM </a:t>
            </a:r>
            <a:r>
              <a:rPr lang="en-US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separe</a:t>
            </a:r>
            <a:r>
              <a:rPr lang="en-US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</a:t>
            </a:r>
            <a:r>
              <a:rPr lang="en-US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grano de la </a:t>
            </a:r>
            <a:r>
              <a:rPr lang="en-US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paja</a:t>
            </a:r>
            <a:r>
              <a:rPr lang="en-US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descarta</a:t>
            </a:r>
            <a:r>
              <a:rPr lang="en-US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franquicias</a:t>
            </a:r>
            <a:r>
              <a:rPr lang="en-US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competidores</a:t>
            </a:r>
            <a:r>
              <a:rPr lang="en-US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y POIs </a:t>
            </a:r>
            <a:r>
              <a:rPr lang="en-US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irrelevantes</a:t>
            </a:r>
            <a:r>
              <a:rPr lang="en-US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762000" y="3562946"/>
            <a:ext cx="8296299" cy="5465416"/>
          </a:xfrm>
          <a:prstGeom prst="roundRect">
            <a:avLst>
              <a:gd name="adj" fmla="val 1258"/>
            </a:avLst>
          </a:prstGeom>
          <a:solidFill>
            <a:srgbClr val="E9EFF7"/>
          </a:solidFill>
          <a:ln w="7937">
            <a:solidFill>
              <a:srgbClr val="000000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769937" y="3570883"/>
            <a:ext cx="8280425" cy="85725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979413" y="3789970"/>
            <a:ext cx="419075" cy="419075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941313" y="3789970"/>
            <a:ext cx="495275" cy="4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endParaRPr lang="en-US" sz="135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1512838" y="3787552"/>
            <a:ext cx="1562869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00" b="1" kern="0" spc="156" dirty="0">
                <a:solidFill>
                  <a:srgbClr val="FFFFFF">
                    <a:alpha val="85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PASO 1</a:t>
            </a:r>
            <a:endParaRPr lang="en-US" sz="1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1512838" y="3949402"/>
            <a:ext cx="1562869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18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search_maps</a:t>
            </a:r>
            <a:endParaRPr lang="en-US" sz="18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998513" y="4637608"/>
            <a:ext cx="8057972" cy="10053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300" b="1" dirty="0" err="1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Múltiples</a:t>
            </a:r>
            <a:r>
              <a:rPr lang="en-US" sz="13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queries con </a:t>
            </a:r>
            <a:r>
              <a:rPr lang="en-US" sz="1300" b="1" dirty="0" err="1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variantes</a:t>
            </a:r>
            <a:r>
              <a:rPr lang="en-US" sz="13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del </a:t>
            </a:r>
            <a:r>
              <a:rPr lang="en-US" sz="1300" b="1" dirty="0" err="1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nombre</a:t>
            </a:r>
            <a:r>
              <a:rPr lang="en-US" sz="13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Combinamos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sufijos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n-US" sz="1300" i="1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"Inditex </a:t>
            </a:r>
            <a:r>
              <a:rPr lang="en-US" sz="1300" i="1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sede</a:t>
            </a:r>
            <a:r>
              <a:rPr lang="en-US" sz="1300" i="1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"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300" i="1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"Inditex </a:t>
            </a:r>
            <a:r>
              <a:rPr lang="en-US" sz="1300" i="1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fábrica</a:t>
            </a:r>
            <a:r>
              <a:rPr lang="en-US" sz="1300" i="1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"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300" i="1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"Industria de </a:t>
            </a:r>
            <a:r>
              <a:rPr lang="en-US" sz="1300" i="1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Diseño</a:t>
            </a:r>
            <a:r>
              <a:rPr lang="en-US" sz="1300" i="1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Textil" 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…) y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los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lanzamos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paralelo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contra Google Places.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Devuelve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hasta N </a:t>
            </a:r>
            <a:r>
              <a:rPr lang="en-US" sz="13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place 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tipo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dirección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y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coordenadas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sz="13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998513" y="5784230"/>
            <a:ext cx="8057972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400" b="1" kern="0" spc="149" dirty="0">
                <a:solidFill>
                  <a:srgbClr val="BF9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FANOUT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998513" y="6112768"/>
            <a:ext cx="7823274" cy="9525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937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s-ES_tradnl" sz="20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1216000" y="6292155"/>
            <a:ext cx="7622997" cy="631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100" dirty="0">
                <a:solidFill>
                  <a:srgbClr val="BF9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▸</a:t>
            </a:r>
            <a:r>
              <a:rPr lang="en-US" sz="1100" dirty="0">
                <a:solidFill>
                  <a:srgbClr val="1F3864"/>
                </a:solidFill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8 queries  →  64 places </a:t>
            </a:r>
            <a:r>
              <a:rPr lang="en-US" sz="1100" dirty="0" err="1">
                <a:solidFill>
                  <a:srgbClr val="1F3864"/>
                </a:solidFill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brutos</a:t>
            </a:r>
            <a:r>
              <a:rPr lang="en-US" sz="1100" dirty="0">
                <a:solidFill>
                  <a:srgbClr val="1F3864"/>
                </a:solidFill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100" dirty="0">
                <a:solidFill>
                  <a:srgbClr val="BF9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▸</a:t>
            </a:r>
            <a:r>
              <a:rPr lang="en-US" sz="1100" dirty="0">
                <a:solidFill>
                  <a:srgbClr val="1F3864"/>
                </a:solidFill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n-US" sz="1100" dirty="0" err="1">
                <a:solidFill>
                  <a:srgbClr val="1F3864"/>
                </a:solidFill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paralelo</a:t>
            </a:r>
            <a:r>
              <a:rPr lang="en-US" sz="1100" dirty="0">
                <a:solidFill>
                  <a:srgbClr val="1F3864"/>
                </a:solidFill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100" dirty="0" err="1">
                <a:solidFill>
                  <a:srgbClr val="1F3864"/>
                </a:solidFill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asíncrono</a:t>
            </a:r>
            <a:r>
              <a:rPr lang="en-US" sz="1100" dirty="0">
                <a:solidFill>
                  <a:srgbClr val="1F3864"/>
                </a:solidFill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n-US" sz="1100" dirty="0" err="1">
                <a:solidFill>
                  <a:srgbClr val="1F3864"/>
                </a:solidFill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httpx</a:t>
            </a:r>
            <a:r>
              <a:rPr lang="en-US" sz="1100" dirty="0">
                <a:solidFill>
                  <a:srgbClr val="1F3864"/>
                </a:solidFill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lang="en-US" sz="1100" dirty="0">
                <a:solidFill>
                  <a:srgbClr val="BF9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▸</a:t>
            </a:r>
            <a:r>
              <a:rPr lang="en-US" sz="1100" dirty="0">
                <a:solidFill>
                  <a:srgbClr val="1F3864"/>
                </a:solidFill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dedupe </a:t>
            </a:r>
            <a:r>
              <a:rPr lang="en-US" sz="1100" dirty="0" err="1">
                <a:solidFill>
                  <a:srgbClr val="1F3864"/>
                </a:solidFill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por</a:t>
            </a:r>
            <a:r>
              <a:rPr lang="en-US" sz="1100" dirty="0">
                <a:solidFill>
                  <a:srgbClr val="1F3864"/>
                </a:solidFill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100" dirty="0" err="1">
                <a:solidFill>
                  <a:srgbClr val="1F3864"/>
                </a:solidFill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place_id</a:t>
            </a:r>
            <a:r>
              <a:rPr lang="en-US" sz="1100" dirty="0">
                <a:solidFill>
                  <a:srgbClr val="1F3864"/>
                </a:solidFill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Google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998513" y="7236668"/>
            <a:ext cx="8057972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400" b="1" kern="0" spc="149" dirty="0">
                <a:solidFill>
                  <a:srgbClr val="BF9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DECISIÓN CLAVE</a:t>
            </a:r>
          </a:p>
        </p:txBody>
      </p:sp>
      <p:sp>
        <p:nvSpPr>
          <p:cNvPr id="41" name="Text 39"/>
          <p:cNvSpPr/>
          <p:nvPr/>
        </p:nvSpPr>
        <p:spPr>
          <a:xfrm>
            <a:off x="998513" y="7565206"/>
            <a:ext cx="8057972" cy="2447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Sobre-buscar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y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filtrar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después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—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más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barato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que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buscar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menos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y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perder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activos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sz="13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9229700" y="3562945"/>
            <a:ext cx="8296299" cy="5465417"/>
          </a:xfrm>
          <a:prstGeom prst="roundRect">
            <a:avLst>
              <a:gd name="adj" fmla="val 1258"/>
            </a:avLst>
          </a:prstGeom>
          <a:solidFill>
            <a:srgbClr val="FAF1D9"/>
          </a:solidFill>
          <a:ln w="7937">
            <a:solidFill>
              <a:srgbClr val="000000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9237637" y="3570883"/>
            <a:ext cx="8280425" cy="857250"/>
          </a:xfrm>
          <a:prstGeom prst="rect">
            <a:avLst/>
          </a:prstGeom>
          <a:solidFill>
            <a:srgbClr val="BF9000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9447113" y="3789970"/>
            <a:ext cx="419075" cy="419075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9409013" y="3789970"/>
            <a:ext cx="495275" cy="4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>
                <a:solidFill>
                  <a:srgbClr val="BF9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  <a:endParaRPr lang="en-US" sz="135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9980537" y="3787552"/>
            <a:ext cx="211452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00" b="1" kern="0" spc="156" dirty="0">
                <a:solidFill>
                  <a:srgbClr val="FFFFFF">
                    <a:alpha val="85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PASO 2</a:t>
            </a:r>
            <a:endParaRPr lang="en-US" sz="1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9980537" y="3949402"/>
            <a:ext cx="2114525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18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filter_and_classify</a:t>
            </a:r>
            <a:endParaRPr lang="en-US" sz="18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9466213" y="4637608"/>
            <a:ext cx="8057972" cy="10053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3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 LLM </a:t>
            </a:r>
            <a:r>
              <a:rPr lang="en-US" sz="1300" b="1" dirty="0" err="1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separa</a:t>
            </a:r>
            <a:r>
              <a:rPr lang="en-US" sz="13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300" b="1" dirty="0" err="1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</a:t>
            </a:r>
            <a:r>
              <a:rPr lang="en-US" sz="13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grano de la </a:t>
            </a:r>
            <a:r>
              <a:rPr lang="en-US" sz="1300" b="1" dirty="0" err="1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paja</a:t>
            </a:r>
            <a:r>
              <a:rPr lang="en-US" sz="13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Descarta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franquiciados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competidores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locales no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productivos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Asigna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cada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activo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válido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una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las 12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categorías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del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enum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300" b="1" dirty="0" err="1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AssetCategory</a:t>
            </a:r>
            <a:r>
              <a:rPr lang="en-US" sz="1300" b="1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correspondiente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supercategoría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sz="13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9466213" y="6114455"/>
            <a:ext cx="3854524" cy="690438"/>
          </a:xfrm>
          <a:prstGeom prst="rect">
            <a:avLst/>
          </a:prstGeom>
          <a:solidFill>
            <a:srgbClr val="FBEEF0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0" name="Shape 48"/>
          <p:cNvSpPr/>
          <p:nvPr/>
        </p:nvSpPr>
        <p:spPr>
          <a:xfrm>
            <a:off x="9466213" y="6114455"/>
            <a:ext cx="23813" cy="690438"/>
          </a:xfrm>
          <a:prstGeom prst="rect">
            <a:avLst/>
          </a:prstGeom>
          <a:solidFill>
            <a:srgbClr val="B9384A"/>
          </a:solidFill>
          <a:ln/>
        </p:spPr>
        <p:txBody>
          <a:bodyPr/>
          <a:lstStyle/>
          <a:p>
            <a:endParaRPr lang="es-ES_tradnl" sz="20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9661425" y="6247780"/>
            <a:ext cx="3592548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b="1" kern="0" spc="149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RECHAZADOS</a:t>
            </a:r>
            <a:endParaRPr lang="en-US" sz="825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9661425" y="6404917"/>
            <a:ext cx="3592548" cy="304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>
                <a:solidFill>
                  <a:srgbClr val="B9384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42</a:t>
            </a:r>
            <a:endParaRPr lang="en-US" sz="21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3" name="Shape 51"/>
          <p:cNvSpPr/>
          <p:nvPr/>
        </p:nvSpPr>
        <p:spPr>
          <a:xfrm>
            <a:off x="13434963" y="6114455"/>
            <a:ext cx="3854524" cy="690438"/>
          </a:xfrm>
          <a:prstGeom prst="rect">
            <a:avLst/>
          </a:prstGeom>
          <a:solidFill>
            <a:srgbClr val="E6EFE6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4" name="Shape 52"/>
          <p:cNvSpPr/>
          <p:nvPr/>
        </p:nvSpPr>
        <p:spPr>
          <a:xfrm>
            <a:off x="13434963" y="6114455"/>
            <a:ext cx="23813" cy="690438"/>
          </a:xfrm>
          <a:prstGeom prst="rect">
            <a:avLst/>
          </a:prstGeom>
          <a:solidFill>
            <a:srgbClr val="4F814F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5" name="Text 53"/>
          <p:cNvSpPr/>
          <p:nvPr/>
        </p:nvSpPr>
        <p:spPr>
          <a:xfrm>
            <a:off x="13630175" y="6247780"/>
            <a:ext cx="3592548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b="1" kern="0" spc="149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VÁLIDOS</a:t>
            </a:r>
            <a:endParaRPr lang="en-US" sz="825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6" name="Text 54"/>
          <p:cNvSpPr/>
          <p:nvPr/>
        </p:nvSpPr>
        <p:spPr>
          <a:xfrm>
            <a:off x="13630175" y="6404917"/>
            <a:ext cx="3592548" cy="304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>
                <a:solidFill>
                  <a:srgbClr val="4F814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22</a:t>
            </a:r>
            <a:endParaRPr lang="en-US" sz="21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7" name="Text 55"/>
          <p:cNvSpPr/>
          <p:nvPr/>
        </p:nvSpPr>
        <p:spPr>
          <a:xfrm>
            <a:off x="9466213" y="7236668"/>
            <a:ext cx="8057972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r>
              <a:rPr lang="en-US" sz="1400" b="1" kern="0" spc="149" dirty="0">
                <a:solidFill>
                  <a:srgbClr val="BF9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DECISIÓN CLAVE</a:t>
            </a:r>
          </a:p>
        </p:txBody>
      </p:sp>
      <p:sp>
        <p:nvSpPr>
          <p:cNvPr id="58" name="Text 56"/>
          <p:cNvSpPr/>
          <p:nvPr/>
        </p:nvSpPr>
        <p:spPr>
          <a:xfrm>
            <a:off x="9466213" y="7565206"/>
            <a:ext cx="8057972" cy="2447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Clasificar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y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filtrar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una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sola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llamada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al LLM —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evita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un round-trip extra y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mantiene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contexto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sz="13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5" name="Shape 9">
            <a:extLst>
              <a:ext uri="{FF2B5EF4-FFF2-40B4-BE49-F238E27FC236}">
                <a16:creationId xmlns:a16="http://schemas.microsoft.com/office/drawing/2014/main" id="{F4CC4F13-7CB7-2EC8-987F-24C6EAB99119}"/>
              </a:ext>
            </a:extLst>
          </p:cNvPr>
          <p:cNvSpPr/>
          <p:nvPr/>
        </p:nvSpPr>
        <p:spPr>
          <a:xfrm>
            <a:off x="774526" y="2931790"/>
            <a:ext cx="1257226" cy="364505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6" name="Shape 10">
            <a:extLst>
              <a:ext uri="{FF2B5EF4-FFF2-40B4-BE49-F238E27FC236}">
                <a16:creationId xmlns:a16="http://schemas.microsoft.com/office/drawing/2014/main" id="{1C0EFBC7-D701-8038-D9B8-B79F23A71B3A}"/>
              </a:ext>
            </a:extLst>
          </p:cNvPr>
          <p:cNvSpPr/>
          <p:nvPr/>
        </p:nvSpPr>
        <p:spPr>
          <a:xfrm>
            <a:off x="907851" y="3007940"/>
            <a:ext cx="209476" cy="209476"/>
          </a:xfrm>
          <a:prstGeom prst="ellipse">
            <a:avLst/>
          </a:prstGeom>
          <a:solidFill>
            <a:srgbClr val="FFFFFF">
              <a:alpha val="85000"/>
            </a:srgbClr>
          </a:solidFill>
          <a:ln/>
          <a:effectLst>
            <a:outerShdw blurRad="101600" dist="9525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7" name="Text 11">
            <a:extLst>
              <a:ext uri="{FF2B5EF4-FFF2-40B4-BE49-F238E27FC236}">
                <a16:creationId xmlns:a16="http://schemas.microsoft.com/office/drawing/2014/main" id="{A4FBE4AF-4E37-9997-D0EA-3676591728ED}"/>
              </a:ext>
            </a:extLst>
          </p:cNvPr>
          <p:cNvSpPr/>
          <p:nvPr/>
        </p:nvSpPr>
        <p:spPr>
          <a:xfrm>
            <a:off x="869751" y="3007940"/>
            <a:ext cx="285676" cy="2475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kern="0" spc="39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endParaRPr lang="en-US" sz="9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8" name="Text 12">
            <a:extLst>
              <a:ext uri="{FF2B5EF4-FFF2-40B4-BE49-F238E27FC236}">
                <a16:creationId xmlns:a16="http://schemas.microsoft.com/office/drawing/2014/main" id="{F9990583-718A-5C03-C8C0-634F7DD03E45}"/>
              </a:ext>
            </a:extLst>
          </p:cNvPr>
          <p:cNvSpPr/>
          <p:nvPr/>
        </p:nvSpPr>
        <p:spPr>
          <a:xfrm>
            <a:off x="1122511" y="3003480"/>
            <a:ext cx="606319" cy="2094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kern="0" spc="2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Search</a:t>
            </a:r>
            <a:endParaRPr lang="en-US" sz="1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9" name="Shape 13">
            <a:extLst>
              <a:ext uri="{FF2B5EF4-FFF2-40B4-BE49-F238E27FC236}">
                <a16:creationId xmlns:a16="http://schemas.microsoft.com/office/drawing/2014/main" id="{18281A3C-DF6A-61BB-CCE7-9EADA7FA01C4}"/>
              </a:ext>
            </a:extLst>
          </p:cNvPr>
          <p:cNvSpPr/>
          <p:nvPr/>
        </p:nvSpPr>
        <p:spPr>
          <a:xfrm>
            <a:off x="2088803" y="2931790"/>
            <a:ext cx="1257226" cy="364505"/>
          </a:xfrm>
          <a:prstGeom prst="rect">
            <a:avLst/>
          </a:prstGeom>
          <a:solidFill>
            <a:srgbClr val="BF9000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0" name="Shape 14">
            <a:extLst>
              <a:ext uri="{FF2B5EF4-FFF2-40B4-BE49-F238E27FC236}">
                <a16:creationId xmlns:a16="http://schemas.microsoft.com/office/drawing/2014/main" id="{9399141E-E653-A37E-4C00-3BBFD2269A50}"/>
              </a:ext>
            </a:extLst>
          </p:cNvPr>
          <p:cNvSpPr/>
          <p:nvPr/>
        </p:nvSpPr>
        <p:spPr>
          <a:xfrm>
            <a:off x="2222128" y="3007940"/>
            <a:ext cx="209476" cy="209476"/>
          </a:xfrm>
          <a:prstGeom prst="ellipse">
            <a:avLst/>
          </a:prstGeom>
          <a:solidFill>
            <a:srgbClr val="FFFFFF"/>
          </a:solidFill>
          <a:ln/>
          <a:effectLst>
            <a:outerShdw blurRad="101600" dist="9525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1" name="Text 15">
            <a:extLst>
              <a:ext uri="{FF2B5EF4-FFF2-40B4-BE49-F238E27FC236}">
                <a16:creationId xmlns:a16="http://schemas.microsoft.com/office/drawing/2014/main" id="{015591C0-2FD2-CCF5-078C-260161A17084}"/>
              </a:ext>
            </a:extLst>
          </p:cNvPr>
          <p:cNvSpPr/>
          <p:nvPr/>
        </p:nvSpPr>
        <p:spPr>
          <a:xfrm>
            <a:off x="2184028" y="3007940"/>
            <a:ext cx="285676" cy="2475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kern="0" spc="39">
                <a:solidFill>
                  <a:srgbClr val="BF9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</a:p>
        </p:txBody>
      </p:sp>
      <p:sp>
        <p:nvSpPr>
          <p:cNvPr id="72" name="Text 16">
            <a:extLst>
              <a:ext uri="{FF2B5EF4-FFF2-40B4-BE49-F238E27FC236}">
                <a16:creationId xmlns:a16="http://schemas.microsoft.com/office/drawing/2014/main" id="{D480B6B1-40C1-F68F-D282-75F38CD0E53F}"/>
              </a:ext>
            </a:extLst>
          </p:cNvPr>
          <p:cNvSpPr/>
          <p:nvPr/>
        </p:nvSpPr>
        <p:spPr>
          <a:xfrm>
            <a:off x="2426160" y="3003480"/>
            <a:ext cx="686875" cy="2094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kern="0" spc="2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Classify</a:t>
            </a:r>
            <a:endParaRPr lang="en-US" sz="1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3" name="Shape 17">
            <a:extLst>
              <a:ext uri="{FF2B5EF4-FFF2-40B4-BE49-F238E27FC236}">
                <a16:creationId xmlns:a16="http://schemas.microsoft.com/office/drawing/2014/main" id="{0BE007EB-0105-D72F-D0A5-81F330CBEB94}"/>
              </a:ext>
            </a:extLst>
          </p:cNvPr>
          <p:cNvSpPr/>
          <p:nvPr/>
        </p:nvSpPr>
        <p:spPr>
          <a:xfrm>
            <a:off x="3403079" y="2931790"/>
            <a:ext cx="1257226" cy="364505"/>
          </a:xfrm>
          <a:prstGeom prst="rect">
            <a:avLst/>
          </a:prstGeom>
          <a:solidFill>
            <a:srgbClr val="B8C2D8">
              <a:alpha val="55000"/>
            </a:srgbClr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4" name="Shape 18">
            <a:extLst>
              <a:ext uri="{FF2B5EF4-FFF2-40B4-BE49-F238E27FC236}">
                <a16:creationId xmlns:a16="http://schemas.microsoft.com/office/drawing/2014/main" id="{F1DD418D-3A9C-4325-BD5D-F4DAEFA7B392}"/>
              </a:ext>
            </a:extLst>
          </p:cNvPr>
          <p:cNvSpPr/>
          <p:nvPr/>
        </p:nvSpPr>
        <p:spPr>
          <a:xfrm>
            <a:off x="3536404" y="3007940"/>
            <a:ext cx="209476" cy="209476"/>
          </a:xfrm>
          <a:prstGeom prst="ellipse">
            <a:avLst/>
          </a:prstGeom>
          <a:solidFill>
            <a:srgbClr val="FFFFFF"/>
          </a:solidFill>
          <a:ln/>
          <a:effectLst>
            <a:outerShdw blurRad="101600" dist="9525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5" name="Text 19">
            <a:extLst>
              <a:ext uri="{FF2B5EF4-FFF2-40B4-BE49-F238E27FC236}">
                <a16:creationId xmlns:a16="http://schemas.microsoft.com/office/drawing/2014/main" id="{2CFD4B1E-DC44-364A-8FFD-B872E24C2B70}"/>
              </a:ext>
            </a:extLst>
          </p:cNvPr>
          <p:cNvSpPr/>
          <p:nvPr/>
        </p:nvSpPr>
        <p:spPr>
          <a:xfrm>
            <a:off x="3498304" y="3007940"/>
            <a:ext cx="285676" cy="2475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kern="0" spc="39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</a:t>
            </a:r>
            <a:endParaRPr lang="en-US" sz="9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6" name="Text 20">
            <a:extLst>
              <a:ext uri="{FF2B5EF4-FFF2-40B4-BE49-F238E27FC236}">
                <a16:creationId xmlns:a16="http://schemas.microsoft.com/office/drawing/2014/main" id="{5387DA0A-2E96-8844-5785-583523FFFF9B}"/>
              </a:ext>
            </a:extLst>
          </p:cNvPr>
          <p:cNvSpPr/>
          <p:nvPr/>
        </p:nvSpPr>
        <p:spPr>
          <a:xfrm>
            <a:off x="3757209" y="3003480"/>
            <a:ext cx="573053" cy="2094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kern="0" spc="2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Enrich</a:t>
            </a:r>
            <a:endParaRPr lang="en-US" sz="1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7" name="Shape 22">
            <a:extLst>
              <a:ext uri="{FF2B5EF4-FFF2-40B4-BE49-F238E27FC236}">
                <a16:creationId xmlns:a16="http://schemas.microsoft.com/office/drawing/2014/main" id="{7604D887-2C67-8CAC-C49D-676E893D1B68}"/>
              </a:ext>
            </a:extLst>
          </p:cNvPr>
          <p:cNvSpPr/>
          <p:nvPr/>
        </p:nvSpPr>
        <p:spPr>
          <a:xfrm>
            <a:off x="4717355" y="2931790"/>
            <a:ext cx="1257226" cy="364505"/>
          </a:xfrm>
          <a:prstGeom prst="rect">
            <a:avLst/>
          </a:prstGeom>
          <a:solidFill>
            <a:srgbClr val="B8C2D8">
              <a:alpha val="55000"/>
            </a:srgbClr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8" name="Shape 23">
            <a:extLst>
              <a:ext uri="{FF2B5EF4-FFF2-40B4-BE49-F238E27FC236}">
                <a16:creationId xmlns:a16="http://schemas.microsoft.com/office/drawing/2014/main" id="{F2FE9364-ABE9-BF5E-948F-E8EAE1D5205A}"/>
              </a:ext>
            </a:extLst>
          </p:cNvPr>
          <p:cNvSpPr/>
          <p:nvPr/>
        </p:nvSpPr>
        <p:spPr>
          <a:xfrm>
            <a:off x="4850680" y="3007940"/>
            <a:ext cx="209476" cy="209476"/>
          </a:xfrm>
          <a:prstGeom prst="ellipse">
            <a:avLst/>
          </a:prstGeom>
          <a:solidFill>
            <a:srgbClr val="FFFFFF"/>
          </a:solidFill>
          <a:ln/>
          <a:effectLst>
            <a:outerShdw blurRad="101600" dist="9525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9" name="Text 24">
            <a:extLst>
              <a:ext uri="{FF2B5EF4-FFF2-40B4-BE49-F238E27FC236}">
                <a16:creationId xmlns:a16="http://schemas.microsoft.com/office/drawing/2014/main" id="{F0D6DC51-B43F-7BC4-6DDA-8BB5845CEB79}"/>
              </a:ext>
            </a:extLst>
          </p:cNvPr>
          <p:cNvSpPr/>
          <p:nvPr/>
        </p:nvSpPr>
        <p:spPr>
          <a:xfrm>
            <a:off x="4812580" y="3007940"/>
            <a:ext cx="285676" cy="2475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kern="0" spc="39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</a:t>
            </a:r>
          </a:p>
        </p:txBody>
      </p:sp>
      <p:sp>
        <p:nvSpPr>
          <p:cNvPr id="80" name="Text 25">
            <a:extLst>
              <a:ext uri="{FF2B5EF4-FFF2-40B4-BE49-F238E27FC236}">
                <a16:creationId xmlns:a16="http://schemas.microsoft.com/office/drawing/2014/main" id="{034992DD-4DC9-8867-F157-F79BB8D643E6}"/>
              </a:ext>
            </a:extLst>
          </p:cNvPr>
          <p:cNvSpPr/>
          <p:nvPr/>
        </p:nvSpPr>
        <p:spPr>
          <a:xfrm>
            <a:off x="5078075" y="3003480"/>
            <a:ext cx="520541" cy="2094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kern="0" spc="2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Score</a:t>
            </a:r>
            <a:endParaRPr lang="en-US" sz="1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7" name="MS Header Group">
            <a:extLst>
              <a:ext uri="{FF2B5EF4-FFF2-40B4-BE49-F238E27FC236}">
                <a16:creationId xmlns:a16="http://schemas.microsoft.com/office/drawing/2014/main" id="{A92D97AD-6F82-1D79-E957-344A92575E9E}"/>
              </a:ext>
            </a:extLst>
          </p:cNvPr>
          <p:cNvGrpSpPr/>
          <p:nvPr/>
        </p:nvGrpSpPr>
        <p:grpSpPr>
          <a:xfrm>
            <a:off x="282819" y="579094"/>
            <a:ext cx="13786134" cy="1057874"/>
            <a:chOff x="92172" y="275827"/>
            <a:chExt cx="9190756" cy="705249"/>
          </a:xfrm>
        </p:grpSpPr>
        <p:sp>
          <p:nvSpPr>
            <p:cNvPr id="8" name="MS Title Box">
              <a:extLst>
                <a:ext uri="{FF2B5EF4-FFF2-40B4-BE49-F238E27FC236}">
                  <a16:creationId xmlns:a16="http://schemas.microsoft.com/office/drawing/2014/main" id="{09B38428-F436-0E46-F39D-85A83E91DCDC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776292" y="404814"/>
              <a:ext cx="8506636" cy="576262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37160" tIns="68580" rIns="137160" bIns="68580" anchor="ctr"/>
            <a:lstStyle/>
            <a:p>
              <a:pPr>
                <a:lnSpc>
                  <a:spcPts val="3150"/>
                </a:lnSpc>
              </a:pPr>
              <a:r>
                <a:rPr lang="es-ES_tradnl" sz="3000" b="1" dirty="0">
                  <a:solidFill>
                    <a:srgbClr val="002569"/>
                  </a:solidFill>
                  <a:latin typeface="Arial"/>
                </a:rPr>
                <a:t>Pipeline Maps · Pasos 1–2</a:t>
              </a:r>
            </a:p>
            <a:p>
              <a:r>
                <a:rPr lang="es-ES_tradnl" sz="2700" dirty="0">
                  <a:solidFill>
                    <a:srgbClr val="E0D399">
                      <a:lumMod val="75000"/>
                    </a:srgbClr>
                  </a:solidFill>
                  <a:latin typeface="Arial"/>
                </a:rPr>
                <a:t>Buscar mucho, filtrar bien</a:t>
              </a:r>
            </a:p>
          </p:txBody>
        </p:sp>
        <p:sp>
          <p:nvSpPr>
            <p:cNvPr id="9" name="MS Number">
              <a:extLst>
                <a:ext uri="{FF2B5EF4-FFF2-40B4-BE49-F238E27FC236}">
                  <a16:creationId xmlns:a16="http://schemas.microsoft.com/office/drawing/2014/main" id="{3CB8B9AB-F0D0-0410-D2B1-98DD66FF3F2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2172" y="275827"/>
              <a:ext cx="477819" cy="70014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148523" tIns="74261" rIns="148523" bIns="74261">
              <a:spAutoFit/>
            </a:bodyPr>
            <a:lstStyle/>
            <a:p>
              <a:pPr algn="ctr"/>
              <a:r>
                <a:rPr lang="es-ES" sz="5850" b="1" kern="0" dirty="0">
                  <a:solidFill>
                    <a:srgbClr val="002569"/>
                  </a:solidFill>
                  <a:latin typeface="Arial"/>
                </a:rPr>
                <a:t>4</a:t>
              </a:r>
            </a:p>
          </p:txBody>
        </p:sp>
        <p:cxnSp>
          <p:nvCxnSpPr>
            <p:cNvPr id="10" name="MS Header Bar">
              <a:extLst>
                <a:ext uri="{FF2B5EF4-FFF2-40B4-BE49-F238E27FC236}">
                  <a16:creationId xmlns:a16="http://schemas.microsoft.com/office/drawing/2014/main" id="{3C024D2B-0D71-F6F7-754A-A249B674725E}"/>
                </a:ext>
              </a:extLst>
            </p:cNvPr>
            <p:cNvCxnSpPr/>
            <p:nvPr/>
          </p:nvCxnSpPr>
          <p:spPr>
            <a:xfrm>
              <a:off x="570525" y="404814"/>
              <a:ext cx="0" cy="526647"/>
            </a:xfrm>
            <a:prstGeom prst="line">
              <a:avLst/>
            </a:prstGeom>
            <a:ln>
              <a:solidFill>
                <a:schemeClr val="tx2"/>
              </a:solidFill>
            </a:ln>
          </p:spPr>
        </p:cxn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3"/>
          <p:cNvSpPr/>
          <p:nvPr/>
        </p:nvSpPr>
        <p:spPr>
          <a:xfrm>
            <a:off x="762000" y="1866801"/>
            <a:ext cx="16764000" cy="9525"/>
          </a:xfrm>
          <a:prstGeom prst="rect">
            <a:avLst/>
          </a:prstGeom>
          <a:solidFill>
            <a:srgbClr val="D9D9D9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6" name="Text 4"/>
          <p:cNvSpPr/>
          <p:nvPr/>
        </p:nvSpPr>
        <p:spPr>
          <a:xfrm>
            <a:off x="762000" y="2095500"/>
            <a:ext cx="17266920" cy="6458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just">
              <a:buNone/>
            </a:pPr>
            <a:r>
              <a:rPr lang="en-US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Enrich &amp; score. </a:t>
            </a:r>
            <a:r>
              <a:rPr lang="en-US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 </a:t>
            </a:r>
            <a:r>
              <a:rPr lang="en-US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segundo</a:t>
            </a:r>
            <a:r>
              <a:rPr lang="en-US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round de Place Details </a:t>
            </a:r>
            <a:r>
              <a:rPr lang="en-US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añade</a:t>
            </a:r>
            <a:r>
              <a:rPr lang="en-US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web, </a:t>
            </a:r>
            <a:r>
              <a:rPr lang="en-US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teléfono</a:t>
            </a:r>
            <a:r>
              <a:rPr lang="en-US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y reviews; las reviews se </a:t>
            </a:r>
            <a:r>
              <a:rPr lang="en-US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analizan</a:t>
            </a:r>
            <a:r>
              <a:rPr lang="en-US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</a:t>
            </a:r>
            <a:r>
              <a:rPr lang="en-US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busca</a:t>
            </a:r>
            <a:r>
              <a:rPr lang="en-US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n-US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lenguaje</a:t>
            </a:r>
            <a:r>
              <a:rPr lang="en-US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B2B. Las seis </a:t>
            </a:r>
            <a:r>
              <a:rPr lang="en-US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señales</a:t>
            </a:r>
            <a:r>
              <a:rPr lang="en-US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se </a:t>
            </a:r>
            <a:r>
              <a:rPr lang="en-US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combinan</a:t>
            </a:r>
            <a:r>
              <a:rPr lang="en-US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con pesos </a:t>
            </a:r>
            <a:r>
              <a:rPr lang="en-US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fijos</a:t>
            </a:r>
            <a:r>
              <a:rPr lang="en-US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y </a:t>
            </a:r>
            <a:r>
              <a:rPr lang="en-US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suavizado</a:t>
            </a:r>
            <a:r>
              <a:rPr lang="en-US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Beta.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762000" y="3535650"/>
            <a:ext cx="8296299" cy="5492712"/>
          </a:xfrm>
          <a:prstGeom prst="roundRect">
            <a:avLst>
              <a:gd name="adj" fmla="val 1258"/>
            </a:avLst>
          </a:prstGeom>
          <a:solidFill>
            <a:srgbClr val="E9EFF7"/>
          </a:solidFill>
          <a:ln w="7937">
            <a:solidFill>
              <a:srgbClr val="000000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769937" y="3570883"/>
            <a:ext cx="8280425" cy="85725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979413" y="3789970"/>
            <a:ext cx="419075" cy="419075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941313" y="3789970"/>
            <a:ext cx="495275" cy="4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</a:t>
            </a:r>
            <a:endParaRPr lang="en-US" sz="135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1512838" y="3787552"/>
            <a:ext cx="1630958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b="1" kern="0" spc="156">
                <a:solidFill>
                  <a:srgbClr val="FFFFFF">
                    <a:alpha val="85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PASO 3</a:t>
            </a:r>
            <a:endParaRPr lang="en-US" sz="975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1512838" y="3949402"/>
            <a:ext cx="1630958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18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enrich_assets</a:t>
            </a:r>
            <a:endParaRPr lang="en-US" sz="18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998513" y="4637608"/>
            <a:ext cx="8057972" cy="931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Para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cada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activo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válido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se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lanza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una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segunda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llamada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 </a:t>
            </a:r>
            <a:r>
              <a:rPr lang="en-US" sz="13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Places Details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que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añade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3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website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300" b="1" dirty="0" err="1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teléfono</a:t>
            </a:r>
            <a:r>
              <a:rPr lang="en-US" sz="13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 </a:t>
            </a:r>
            <a:r>
              <a:rPr lang="en-US" sz="13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reviews 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Las reviews se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analizan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para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detectar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lenguaje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B2B (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frecuencia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"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proveedor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", "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facturación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", "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logística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").</a:t>
            </a:r>
            <a:endParaRPr lang="en-US" sz="13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998513" y="5680572"/>
            <a:ext cx="8057972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400" b="1" kern="0" spc="149" dirty="0">
                <a:solidFill>
                  <a:srgbClr val="BF9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SEÑALES NUEVAS POR ACTIVO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1197362" y="6009110"/>
            <a:ext cx="1398696" cy="2225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00" b="1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website_match</a:t>
            </a:r>
            <a:endParaRPr lang="en-US" sz="13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2538287" y="6024985"/>
            <a:ext cx="3253818" cy="1817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coincidencia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dominio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con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oficial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sz="13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1191340" y="6278490"/>
            <a:ext cx="1189910" cy="2225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00" b="1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reviews_b2b</a:t>
            </a:r>
            <a:endParaRPr lang="en-US" sz="13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2387228" y="6294364"/>
            <a:ext cx="3529006" cy="1817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 score 0–1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según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vocabulario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corporativo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sz="13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1206381" y="6547868"/>
            <a:ext cx="1711384" cy="2225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00" b="1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address_corporate</a:t>
            </a:r>
            <a:endParaRPr lang="en-US" sz="13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2780062" y="6563743"/>
            <a:ext cx="3380359" cy="1817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polígono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industrial vs. zona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residencial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sz="13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998513" y="7171235"/>
            <a:ext cx="8057972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400" b="1" kern="0" spc="149" dirty="0">
                <a:solidFill>
                  <a:srgbClr val="BF9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DECISIÓN CLAVE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998513" y="7499773"/>
            <a:ext cx="8057972" cy="2526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Enriquecer </a:t>
            </a:r>
            <a:r>
              <a:rPr lang="en-US" sz="1300" dirty="0" err="1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sólo</a:t>
            </a:r>
            <a:r>
              <a:rPr lang="en-US" sz="13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los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válidos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del paso 2 —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coste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Place Details es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relevante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volumen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sz="13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9229700" y="3562946"/>
            <a:ext cx="8296299" cy="5492712"/>
          </a:xfrm>
          <a:prstGeom prst="roundRect">
            <a:avLst>
              <a:gd name="adj" fmla="val 1258"/>
            </a:avLst>
          </a:prstGeom>
          <a:solidFill>
            <a:srgbClr val="FAF1D9"/>
          </a:solidFill>
          <a:ln w="7937">
            <a:solidFill>
              <a:srgbClr val="000000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9237637" y="3570883"/>
            <a:ext cx="8280425" cy="857250"/>
          </a:xfrm>
          <a:prstGeom prst="rect">
            <a:avLst/>
          </a:prstGeom>
          <a:solidFill>
            <a:srgbClr val="BF9000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9447113" y="3789970"/>
            <a:ext cx="419075" cy="419075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9409013" y="3789970"/>
            <a:ext cx="495275" cy="4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>
                <a:solidFill>
                  <a:srgbClr val="BF9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</a:t>
            </a:r>
            <a:endParaRPr lang="en-US" sz="135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9980537" y="3787552"/>
            <a:ext cx="2818547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b="1" kern="0" spc="156">
                <a:solidFill>
                  <a:srgbClr val="FFFFFF">
                    <a:alpha val="85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PASO 4</a:t>
            </a:r>
            <a:endParaRPr lang="en-US" sz="975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0" name="Text 48"/>
          <p:cNvSpPr/>
          <p:nvPr/>
        </p:nvSpPr>
        <p:spPr>
          <a:xfrm>
            <a:off x="9980537" y="3949402"/>
            <a:ext cx="2818547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18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score_assets · 6 señales</a:t>
            </a:r>
            <a:endParaRPr lang="en-US" sz="18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1" name="Shape 79"/>
          <p:cNvSpPr/>
          <p:nvPr/>
        </p:nvSpPr>
        <p:spPr>
          <a:xfrm>
            <a:off x="9466213" y="8412188"/>
            <a:ext cx="7823274" cy="387201"/>
          </a:xfrm>
          <a:prstGeom prst="roundRect">
            <a:avLst>
              <a:gd name="adj" fmla="val 9840"/>
            </a:avLst>
          </a:prstGeom>
          <a:solidFill>
            <a:srgbClr val="14284D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2" name="Text 80"/>
          <p:cNvSpPr/>
          <p:nvPr/>
        </p:nvSpPr>
        <p:spPr>
          <a:xfrm>
            <a:off x="9618513" y="8526414"/>
            <a:ext cx="758081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b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Score final</a:t>
            </a:r>
            <a:endParaRPr lang="en-US" sz="105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3" name="Text 81"/>
          <p:cNvSpPr/>
          <p:nvPr/>
        </p:nvSpPr>
        <p:spPr>
          <a:xfrm>
            <a:off x="14379205" y="8493407"/>
            <a:ext cx="3947900" cy="2121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E0D39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Σ wᵢ · sᵢ → Beta(α=1+raw·10, β=1+(1−raw)·10)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0B74ECBC-77B7-569A-7A1A-21DE3C5C3C0B}"/>
              </a:ext>
            </a:extLst>
          </p:cNvPr>
          <p:cNvSpPr txBox="1"/>
          <p:nvPr/>
        </p:nvSpPr>
        <p:spPr>
          <a:xfrm>
            <a:off x="9537191" y="4654296"/>
            <a:ext cx="834909" cy="1846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200" b="1" dirty="0" err="1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name_match</a:t>
            </a:r>
            <a:endParaRPr sz="1200" b="1" dirty="0">
              <a:solidFill>
                <a:srgbClr val="1F3864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3" name="Rounded Rectangle 9008">
            <a:extLst>
              <a:ext uri="{FF2B5EF4-FFF2-40B4-BE49-F238E27FC236}">
                <a16:creationId xmlns:a16="http://schemas.microsoft.com/office/drawing/2014/main" id="{FAD4CAEE-FE3A-1BEF-4C53-BF377A82322E}"/>
              </a:ext>
            </a:extLst>
          </p:cNvPr>
          <p:cNvSpPr/>
          <p:nvPr/>
        </p:nvSpPr>
        <p:spPr>
          <a:xfrm>
            <a:off x="12006072" y="4700015"/>
            <a:ext cx="2377440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4" name="Rounded Rectangle 9009">
            <a:extLst>
              <a:ext uri="{FF2B5EF4-FFF2-40B4-BE49-F238E27FC236}">
                <a16:creationId xmlns:a16="http://schemas.microsoft.com/office/drawing/2014/main" id="{9C98F901-FA7A-2050-0DFB-D223964B00B0}"/>
              </a:ext>
            </a:extLst>
          </p:cNvPr>
          <p:cNvSpPr/>
          <p:nvPr/>
        </p:nvSpPr>
        <p:spPr>
          <a:xfrm>
            <a:off x="12006072" y="4700015"/>
            <a:ext cx="713232" cy="182880"/>
          </a:xfrm>
          <a:prstGeom prst="roundRect">
            <a:avLst>
              <a:gd name="adj" fmla="val 50000"/>
            </a:avLst>
          </a:prstGeom>
          <a:solidFill>
            <a:srgbClr val="BF9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967A4327-8EF2-1096-911B-E914E81DF57B}"/>
              </a:ext>
            </a:extLst>
          </p:cNvPr>
          <p:cNvSpPr txBox="1"/>
          <p:nvPr/>
        </p:nvSpPr>
        <p:spPr>
          <a:xfrm>
            <a:off x="14917164" y="4654296"/>
            <a:ext cx="335028" cy="2308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500" b="1">
                <a:solidFill>
                  <a:srgbClr val="BF9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30%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FDE4C86C-1296-4D1F-49FF-33BDF6173638}"/>
              </a:ext>
            </a:extLst>
          </p:cNvPr>
          <p:cNvSpPr txBox="1"/>
          <p:nvPr/>
        </p:nvSpPr>
        <p:spPr>
          <a:xfrm>
            <a:off x="9537191" y="4946903"/>
            <a:ext cx="6949440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Coincidencia</a:t>
            </a:r>
            <a:r>
              <a:rPr sz="11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1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léxica</a:t>
            </a:r>
            <a:r>
              <a:rPr sz="11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con </a:t>
            </a:r>
            <a:r>
              <a:rPr sz="11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</a:t>
            </a:r>
            <a:r>
              <a:rPr sz="11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1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nombre</a:t>
            </a:r>
            <a:r>
              <a:rPr sz="11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del </a:t>
            </a:r>
            <a:r>
              <a:rPr sz="11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lugar</a:t>
            </a:r>
            <a:r>
              <a:rPr sz="11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Google Places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B3B5DAA8-5943-9DCE-D427-7BEC826983BE}"/>
              </a:ext>
            </a:extLst>
          </p:cNvPr>
          <p:cNvSpPr txBox="1"/>
          <p:nvPr/>
        </p:nvSpPr>
        <p:spPr>
          <a:xfrm>
            <a:off x="9537191" y="5276088"/>
            <a:ext cx="759567" cy="1846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200" b="1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type_match</a:t>
            </a:r>
          </a:p>
        </p:txBody>
      </p:sp>
      <p:sp>
        <p:nvSpPr>
          <p:cNvPr id="108" name="Rounded Rectangle 9013">
            <a:extLst>
              <a:ext uri="{FF2B5EF4-FFF2-40B4-BE49-F238E27FC236}">
                <a16:creationId xmlns:a16="http://schemas.microsoft.com/office/drawing/2014/main" id="{A4344596-6679-1C16-3E42-0E265B6C5FB9}"/>
              </a:ext>
            </a:extLst>
          </p:cNvPr>
          <p:cNvSpPr/>
          <p:nvPr/>
        </p:nvSpPr>
        <p:spPr>
          <a:xfrm>
            <a:off x="12006072" y="5321807"/>
            <a:ext cx="2377440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9" name="Rounded Rectangle 9014">
            <a:extLst>
              <a:ext uri="{FF2B5EF4-FFF2-40B4-BE49-F238E27FC236}">
                <a16:creationId xmlns:a16="http://schemas.microsoft.com/office/drawing/2014/main" id="{BBB70683-8934-182F-DD95-657C489C0FE1}"/>
              </a:ext>
            </a:extLst>
          </p:cNvPr>
          <p:cNvSpPr/>
          <p:nvPr/>
        </p:nvSpPr>
        <p:spPr>
          <a:xfrm>
            <a:off x="12006072" y="5321807"/>
            <a:ext cx="475488" cy="182880"/>
          </a:xfrm>
          <a:prstGeom prst="roundRect">
            <a:avLst>
              <a:gd name="adj" fmla="val 50000"/>
            </a:avLst>
          </a:prstGeom>
          <a:solidFill>
            <a:srgbClr val="BF9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CB9861B8-63C2-EF07-1B8F-F00DB2FD29F9}"/>
              </a:ext>
            </a:extLst>
          </p:cNvPr>
          <p:cNvSpPr txBox="1"/>
          <p:nvPr/>
        </p:nvSpPr>
        <p:spPr>
          <a:xfrm>
            <a:off x="14917164" y="5276088"/>
            <a:ext cx="335028" cy="2308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500" b="1">
                <a:solidFill>
                  <a:srgbClr val="BF9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20%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99A87B49-E665-2C14-C6BC-53388C663B9F}"/>
              </a:ext>
            </a:extLst>
          </p:cNvPr>
          <p:cNvSpPr txBox="1"/>
          <p:nvPr/>
        </p:nvSpPr>
        <p:spPr>
          <a:xfrm>
            <a:off x="9537191" y="5568696"/>
            <a:ext cx="6949440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Compatibilidad</a:t>
            </a:r>
            <a:r>
              <a:rPr sz="11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del </a:t>
            </a:r>
            <a:r>
              <a:rPr sz="11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tipo</a:t>
            </a:r>
            <a:r>
              <a:rPr sz="11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Google Places con la </a:t>
            </a:r>
            <a:r>
              <a:rPr sz="11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categoría</a:t>
            </a:r>
            <a:endParaRPr sz="1100" dirty="0">
              <a:solidFill>
                <a:srgbClr val="40404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DBBDC0D3-3BF7-CB71-92DB-C479726CC857}"/>
              </a:ext>
            </a:extLst>
          </p:cNvPr>
          <p:cNvSpPr txBox="1"/>
          <p:nvPr/>
        </p:nvSpPr>
        <p:spPr>
          <a:xfrm>
            <a:off x="9537191" y="5897880"/>
            <a:ext cx="1191480" cy="1846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200" b="1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address_corporate</a:t>
            </a:r>
          </a:p>
        </p:txBody>
      </p:sp>
      <p:sp>
        <p:nvSpPr>
          <p:cNvPr id="113" name="Rounded Rectangle 9018">
            <a:extLst>
              <a:ext uri="{FF2B5EF4-FFF2-40B4-BE49-F238E27FC236}">
                <a16:creationId xmlns:a16="http://schemas.microsoft.com/office/drawing/2014/main" id="{A418EA4F-89BC-91DE-C1D3-2DFFB7EE30E5}"/>
              </a:ext>
            </a:extLst>
          </p:cNvPr>
          <p:cNvSpPr/>
          <p:nvPr/>
        </p:nvSpPr>
        <p:spPr>
          <a:xfrm>
            <a:off x="12006072" y="5943600"/>
            <a:ext cx="2377440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4" name="Rounded Rectangle 9019">
            <a:extLst>
              <a:ext uri="{FF2B5EF4-FFF2-40B4-BE49-F238E27FC236}">
                <a16:creationId xmlns:a16="http://schemas.microsoft.com/office/drawing/2014/main" id="{0D0A637C-240B-18D8-850C-0FB72D9B9E05}"/>
              </a:ext>
            </a:extLst>
          </p:cNvPr>
          <p:cNvSpPr/>
          <p:nvPr/>
        </p:nvSpPr>
        <p:spPr>
          <a:xfrm>
            <a:off x="12006072" y="5943600"/>
            <a:ext cx="356616" cy="182880"/>
          </a:xfrm>
          <a:prstGeom prst="roundRect">
            <a:avLst>
              <a:gd name="adj" fmla="val 50000"/>
            </a:avLst>
          </a:prstGeom>
          <a:solidFill>
            <a:srgbClr val="BF9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F68818EF-D063-C9D7-6012-F2826FB09759}"/>
              </a:ext>
            </a:extLst>
          </p:cNvPr>
          <p:cNvSpPr txBox="1"/>
          <p:nvPr/>
        </p:nvSpPr>
        <p:spPr>
          <a:xfrm>
            <a:off x="14917164" y="5897880"/>
            <a:ext cx="335028" cy="2308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500" b="1">
                <a:solidFill>
                  <a:srgbClr val="BF9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15%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6C522F2A-DAA5-CB90-7B34-884D11F7D706}"/>
              </a:ext>
            </a:extLst>
          </p:cNvPr>
          <p:cNvSpPr txBox="1"/>
          <p:nvPr/>
        </p:nvSpPr>
        <p:spPr>
          <a:xfrm>
            <a:off x="9537191" y="6190488"/>
            <a:ext cx="6949440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Heurística baseline (valor neutro 0.5; pendiente de implementación específica)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A6F6701D-06E0-0943-C432-D329824A681E}"/>
              </a:ext>
            </a:extLst>
          </p:cNvPr>
          <p:cNvSpPr txBox="1"/>
          <p:nvPr/>
        </p:nvSpPr>
        <p:spPr>
          <a:xfrm>
            <a:off x="9537191" y="6519672"/>
            <a:ext cx="975332" cy="1846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200" b="1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website_match</a:t>
            </a:r>
          </a:p>
        </p:txBody>
      </p:sp>
      <p:sp>
        <p:nvSpPr>
          <p:cNvPr id="118" name="Rounded Rectangle 9023">
            <a:extLst>
              <a:ext uri="{FF2B5EF4-FFF2-40B4-BE49-F238E27FC236}">
                <a16:creationId xmlns:a16="http://schemas.microsoft.com/office/drawing/2014/main" id="{895AEE75-68ED-399F-B25F-A4592730630A}"/>
              </a:ext>
            </a:extLst>
          </p:cNvPr>
          <p:cNvSpPr/>
          <p:nvPr/>
        </p:nvSpPr>
        <p:spPr>
          <a:xfrm>
            <a:off x="12006072" y="6565392"/>
            <a:ext cx="2377440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9" name="Rounded Rectangle 9024">
            <a:extLst>
              <a:ext uri="{FF2B5EF4-FFF2-40B4-BE49-F238E27FC236}">
                <a16:creationId xmlns:a16="http://schemas.microsoft.com/office/drawing/2014/main" id="{28A974FD-2DE4-2182-246D-72804B8C46A5}"/>
              </a:ext>
            </a:extLst>
          </p:cNvPr>
          <p:cNvSpPr/>
          <p:nvPr/>
        </p:nvSpPr>
        <p:spPr>
          <a:xfrm>
            <a:off x="12006072" y="6565392"/>
            <a:ext cx="356616" cy="182880"/>
          </a:xfrm>
          <a:prstGeom prst="roundRect">
            <a:avLst>
              <a:gd name="adj" fmla="val 50000"/>
            </a:avLst>
          </a:prstGeom>
          <a:solidFill>
            <a:srgbClr val="BF9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A2149629-3CA3-35D2-203B-CCB4DB30A27B}"/>
              </a:ext>
            </a:extLst>
          </p:cNvPr>
          <p:cNvSpPr txBox="1"/>
          <p:nvPr/>
        </p:nvSpPr>
        <p:spPr>
          <a:xfrm>
            <a:off x="14917164" y="6519672"/>
            <a:ext cx="335028" cy="2308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500" b="1">
                <a:solidFill>
                  <a:srgbClr val="BF9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15%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15CC10EB-6752-B7DA-6FFB-B561D6A05C47}"/>
              </a:ext>
            </a:extLst>
          </p:cNvPr>
          <p:cNvSpPr txBox="1"/>
          <p:nvPr/>
        </p:nvSpPr>
        <p:spPr>
          <a:xfrm>
            <a:off x="9537191" y="6812280"/>
            <a:ext cx="6949440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Dominio web declarado coincide con dominio empresarial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9AD4057B-70FF-40DD-E71A-D0489CD4DC7B}"/>
              </a:ext>
            </a:extLst>
          </p:cNvPr>
          <p:cNvSpPr txBox="1"/>
          <p:nvPr/>
        </p:nvSpPr>
        <p:spPr>
          <a:xfrm>
            <a:off x="9537191" y="7141464"/>
            <a:ext cx="813300" cy="1846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200" b="1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reviews_b2b</a:t>
            </a:r>
          </a:p>
        </p:txBody>
      </p:sp>
      <p:sp>
        <p:nvSpPr>
          <p:cNvPr id="123" name="Rounded Rectangle 9028">
            <a:extLst>
              <a:ext uri="{FF2B5EF4-FFF2-40B4-BE49-F238E27FC236}">
                <a16:creationId xmlns:a16="http://schemas.microsoft.com/office/drawing/2014/main" id="{5088355E-317B-4556-0417-5A176E8AF0F3}"/>
              </a:ext>
            </a:extLst>
          </p:cNvPr>
          <p:cNvSpPr/>
          <p:nvPr/>
        </p:nvSpPr>
        <p:spPr>
          <a:xfrm>
            <a:off x="12006072" y="7187184"/>
            <a:ext cx="2377440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4" name="Rounded Rectangle 9029">
            <a:extLst>
              <a:ext uri="{FF2B5EF4-FFF2-40B4-BE49-F238E27FC236}">
                <a16:creationId xmlns:a16="http://schemas.microsoft.com/office/drawing/2014/main" id="{BA75753A-F068-8338-0280-E29732756C2F}"/>
              </a:ext>
            </a:extLst>
          </p:cNvPr>
          <p:cNvSpPr/>
          <p:nvPr/>
        </p:nvSpPr>
        <p:spPr>
          <a:xfrm>
            <a:off x="12006072" y="7187184"/>
            <a:ext cx="237744" cy="182880"/>
          </a:xfrm>
          <a:prstGeom prst="roundRect">
            <a:avLst>
              <a:gd name="adj" fmla="val 50000"/>
            </a:avLst>
          </a:prstGeom>
          <a:solidFill>
            <a:srgbClr val="BF9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8DEEEAD5-9C04-B768-CD23-33060DE3E8D3}"/>
              </a:ext>
            </a:extLst>
          </p:cNvPr>
          <p:cNvSpPr txBox="1"/>
          <p:nvPr/>
        </p:nvSpPr>
        <p:spPr>
          <a:xfrm>
            <a:off x="14917164" y="7141464"/>
            <a:ext cx="335028" cy="2308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500" b="1">
                <a:solidFill>
                  <a:srgbClr val="BF9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10%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5E55B55B-D58C-F70B-20D8-A95F7226CC00}"/>
              </a:ext>
            </a:extLst>
          </p:cNvPr>
          <p:cNvSpPr txBox="1"/>
          <p:nvPr/>
        </p:nvSpPr>
        <p:spPr>
          <a:xfrm>
            <a:off x="9537191" y="7434072"/>
            <a:ext cx="6949440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Volumen de reseñas en Google Places (&gt;100 → 0.8, &gt;20 → 0.5, resto → 0.3)</a:t>
            </a: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DE6F2680-A415-3463-8878-640AA272CB8A}"/>
              </a:ext>
            </a:extLst>
          </p:cNvPr>
          <p:cNvSpPr txBox="1"/>
          <p:nvPr/>
        </p:nvSpPr>
        <p:spPr>
          <a:xfrm>
            <a:off x="9537191" y="7763256"/>
            <a:ext cx="979435" cy="1846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200" b="1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llm_confidence</a:t>
            </a:r>
          </a:p>
        </p:txBody>
      </p:sp>
      <p:sp>
        <p:nvSpPr>
          <p:cNvPr id="128" name="Rounded Rectangle 9033">
            <a:extLst>
              <a:ext uri="{FF2B5EF4-FFF2-40B4-BE49-F238E27FC236}">
                <a16:creationId xmlns:a16="http://schemas.microsoft.com/office/drawing/2014/main" id="{4362E179-FCA7-FF17-E180-BCDB27658B76}"/>
              </a:ext>
            </a:extLst>
          </p:cNvPr>
          <p:cNvSpPr/>
          <p:nvPr/>
        </p:nvSpPr>
        <p:spPr>
          <a:xfrm>
            <a:off x="12006072" y="7808976"/>
            <a:ext cx="2377440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9" name="Rounded Rectangle 9034">
            <a:extLst>
              <a:ext uri="{FF2B5EF4-FFF2-40B4-BE49-F238E27FC236}">
                <a16:creationId xmlns:a16="http://schemas.microsoft.com/office/drawing/2014/main" id="{B742DC0D-A362-E9FB-16CB-E6D93C1D2749}"/>
              </a:ext>
            </a:extLst>
          </p:cNvPr>
          <p:cNvSpPr/>
          <p:nvPr/>
        </p:nvSpPr>
        <p:spPr>
          <a:xfrm>
            <a:off x="12006072" y="7808976"/>
            <a:ext cx="237744" cy="182880"/>
          </a:xfrm>
          <a:prstGeom prst="roundRect">
            <a:avLst>
              <a:gd name="adj" fmla="val 50000"/>
            </a:avLst>
          </a:prstGeom>
          <a:solidFill>
            <a:srgbClr val="BF9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7C8360F2-A631-0EF2-ED2F-56AAAB777A11}"/>
              </a:ext>
            </a:extLst>
          </p:cNvPr>
          <p:cNvSpPr txBox="1"/>
          <p:nvPr/>
        </p:nvSpPr>
        <p:spPr>
          <a:xfrm>
            <a:off x="14917164" y="7763256"/>
            <a:ext cx="335028" cy="2308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500" b="1">
                <a:solidFill>
                  <a:srgbClr val="BF9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10%</a:t>
            </a: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F4786188-6266-B14F-E96B-FD844A9ED2D1}"/>
              </a:ext>
            </a:extLst>
          </p:cNvPr>
          <p:cNvSpPr txBox="1"/>
          <p:nvPr/>
        </p:nvSpPr>
        <p:spPr>
          <a:xfrm>
            <a:off x="9537191" y="8055864"/>
            <a:ext cx="6949440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Confianza autorreportada por el LLM al clasificar</a:t>
            </a:r>
          </a:p>
        </p:txBody>
      </p:sp>
      <p:grpSp>
        <p:nvGrpSpPr>
          <p:cNvPr id="7" name="MS Header Group">
            <a:extLst>
              <a:ext uri="{FF2B5EF4-FFF2-40B4-BE49-F238E27FC236}">
                <a16:creationId xmlns:a16="http://schemas.microsoft.com/office/drawing/2014/main" id="{BDE588F3-95D2-276C-8F72-0EAC9C4D059B}"/>
              </a:ext>
            </a:extLst>
          </p:cNvPr>
          <p:cNvGrpSpPr/>
          <p:nvPr/>
        </p:nvGrpSpPr>
        <p:grpSpPr>
          <a:xfrm>
            <a:off x="282819" y="579094"/>
            <a:ext cx="13786134" cy="1057874"/>
            <a:chOff x="92172" y="275827"/>
            <a:chExt cx="9190756" cy="705249"/>
          </a:xfrm>
        </p:grpSpPr>
        <p:sp>
          <p:nvSpPr>
            <p:cNvPr id="8" name="MS Title Box">
              <a:extLst>
                <a:ext uri="{FF2B5EF4-FFF2-40B4-BE49-F238E27FC236}">
                  <a16:creationId xmlns:a16="http://schemas.microsoft.com/office/drawing/2014/main" id="{EDCAFE22-DC19-2585-BE08-CF5C7BE70DA6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776292" y="404814"/>
              <a:ext cx="8506636" cy="576262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37160" tIns="68580" rIns="137160" bIns="68580" anchor="ctr"/>
            <a:lstStyle/>
            <a:p>
              <a:pPr>
                <a:lnSpc>
                  <a:spcPts val="3150"/>
                </a:lnSpc>
              </a:pPr>
              <a:r>
                <a:rPr lang="es-ES_tradnl" sz="3000" b="1" dirty="0">
                  <a:solidFill>
                    <a:srgbClr val="002569"/>
                  </a:solidFill>
                  <a:latin typeface="Arial"/>
                </a:rPr>
                <a:t>Pipeline Maps · Pasos 3–4</a:t>
              </a:r>
            </a:p>
            <a:p>
              <a:r>
                <a:rPr lang="es-ES_tradnl" sz="2700" dirty="0">
                  <a:solidFill>
                    <a:srgbClr val="E0D399">
                      <a:lumMod val="75000"/>
                    </a:srgbClr>
                  </a:solidFill>
                  <a:latin typeface="Arial"/>
                </a:rPr>
                <a:t>Enriquecer con detalles y puntuar con seis señales</a:t>
              </a:r>
            </a:p>
          </p:txBody>
        </p:sp>
        <p:sp>
          <p:nvSpPr>
            <p:cNvPr id="9" name="MS Number">
              <a:extLst>
                <a:ext uri="{FF2B5EF4-FFF2-40B4-BE49-F238E27FC236}">
                  <a16:creationId xmlns:a16="http://schemas.microsoft.com/office/drawing/2014/main" id="{EEE27D61-FF67-E62F-982C-36AAC0E7FBF3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2172" y="275827"/>
              <a:ext cx="477819" cy="70014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148523" tIns="74261" rIns="148523" bIns="74261">
              <a:spAutoFit/>
            </a:bodyPr>
            <a:lstStyle/>
            <a:p>
              <a:pPr algn="ctr"/>
              <a:r>
                <a:rPr lang="es-ES" sz="5850" b="1" kern="0" dirty="0">
                  <a:solidFill>
                    <a:srgbClr val="002569"/>
                  </a:solidFill>
                  <a:latin typeface="Arial"/>
                </a:rPr>
                <a:t>4</a:t>
              </a:r>
            </a:p>
          </p:txBody>
        </p:sp>
        <p:cxnSp>
          <p:nvCxnSpPr>
            <p:cNvPr id="10" name="MS Header Bar">
              <a:extLst>
                <a:ext uri="{FF2B5EF4-FFF2-40B4-BE49-F238E27FC236}">
                  <a16:creationId xmlns:a16="http://schemas.microsoft.com/office/drawing/2014/main" id="{3DA3FD0F-D0F7-6CE6-4374-7D718961C264}"/>
                </a:ext>
              </a:extLst>
            </p:cNvPr>
            <p:cNvCxnSpPr/>
            <p:nvPr/>
          </p:nvCxnSpPr>
          <p:spPr>
            <a:xfrm>
              <a:off x="570525" y="404814"/>
              <a:ext cx="0" cy="526647"/>
            </a:xfrm>
            <a:prstGeom prst="line">
              <a:avLst/>
            </a:prstGeom>
            <a:ln>
              <a:solidFill>
                <a:schemeClr val="tx2"/>
              </a:solidFill>
            </a:ln>
          </p:spPr>
        </p:cxnSp>
      </p:grpSp>
      <p:sp>
        <p:nvSpPr>
          <p:cNvPr id="11" name="Shape 9">
            <a:extLst>
              <a:ext uri="{FF2B5EF4-FFF2-40B4-BE49-F238E27FC236}">
                <a16:creationId xmlns:a16="http://schemas.microsoft.com/office/drawing/2014/main" id="{F9A80473-7690-EAF1-44BB-9B4CA740B43B}"/>
              </a:ext>
            </a:extLst>
          </p:cNvPr>
          <p:cNvSpPr/>
          <p:nvPr/>
        </p:nvSpPr>
        <p:spPr>
          <a:xfrm>
            <a:off x="774526" y="2931790"/>
            <a:ext cx="1257226" cy="364505"/>
          </a:xfrm>
          <a:prstGeom prst="rect">
            <a:avLst/>
          </a:prstGeom>
          <a:solidFill>
            <a:srgbClr val="B8C2D8">
              <a:alpha val="55000"/>
            </a:srgbClr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10AB41B2-977A-B8BA-FB65-8C3721C6471E}"/>
              </a:ext>
            </a:extLst>
          </p:cNvPr>
          <p:cNvSpPr/>
          <p:nvPr/>
        </p:nvSpPr>
        <p:spPr>
          <a:xfrm>
            <a:off x="907851" y="3007940"/>
            <a:ext cx="209476" cy="209476"/>
          </a:xfrm>
          <a:prstGeom prst="ellipse">
            <a:avLst/>
          </a:prstGeom>
          <a:solidFill>
            <a:srgbClr val="FFFFFF"/>
          </a:solidFill>
          <a:ln/>
          <a:effectLst>
            <a:outerShdw blurRad="101600" dist="9525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F35C006E-7081-1EA3-9C82-E2457934F7A1}"/>
              </a:ext>
            </a:extLst>
          </p:cNvPr>
          <p:cNvSpPr/>
          <p:nvPr/>
        </p:nvSpPr>
        <p:spPr>
          <a:xfrm>
            <a:off x="869751" y="3007940"/>
            <a:ext cx="285676" cy="2475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kern="0" spc="39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endParaRPr lang="en-US" sz="9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1B6A5DEC-32EA-2E58-FE74-1F7A1C0E1B22}"/>
              </a:ext>
            </a:extLst>
          </p:cNvPr>
          <p:cNvSpPr/>
          <p:nvPr/>
        </p:nvSpPr>
        <p:spPr>
          <a:xfrm>
            <a:off x="1122511" y="3003480"/>
            <a:ext cx="606319" cy="2094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kern="0" spc="2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Search</a:t>
            </a:r>
            <a:endParaRPr lang="en-US" sz="1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16738DCA-6A02-83BA-7AE2-65F2D5323908}"/>
              </a:ext>
            </a:extLst>
          </p:cNvPr>
          <p:cNvSpPr/>
          <p:nvPr/>
        </p:nvSpPr>
        <p:spPr>
          <a:xfrm>
            <a:off x="2088803" y="2931790"/>
            <a:ext cx="1257226" cy="364505"/>
          </a:xfrm>
          <a:prstGeom prst="rect">
            <a:avLst/>
          </a:prstGeom>
          <a:solidFill>
            <a:srgbClr val="B8C2D8">
              <a:alpha val="55000"/>
            </a:srgbClr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B5D8F0E6-2698-029F-BBA9-2FA40C25E368}"/>
              </a:ext>
            </a:extLst>
          </p:cNvPr>
          <p:cNvSpPr/>
          <p:nvPr/>
        </p:nvSpPr>
        <p:spPr>
          <a:xfrm>
            <a:off x="2222128" y="3007940"/>
            <a:ext cx="209476" cy="209476"/>
          </a:xfrm>
          <a:prstGeom prst="ellipse">
            <a:avLst/>
          </a:prstGeom>
          <a:solidFill>
            <a:srgbClr val="FFFFFF"/>
          </a:solidFill>
          <a:ln/>
          <a:effectLst>
            <a:outerShdw blurRad="101600" dist="9525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F1C63698-1186-BB9B-E178-492E7D34186E}"/>
              </a:ext>
            </a:extLst>
          </p:cNvPr>
          <p:cNvSpPr/>
          <p:nvPr/>
        </p:nvSpPr>
        <p:spPr>
          <a:xfrm>
            <a:off x="2184028" y="3007940"/>
            <a:ext cx="285676" cy="2475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/>
            <a:r>
              <a:rPr lang="en-US" sz="900" b="1" kern="0" spc="39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336F3C58-EDD6-7808-B91B-6B952438A897}"/>
              </a:ext>
            </a:extLst>
          </p:cNvPr>
          <p:cNvSpPr/>
          <p:nvPr/>
        </p:nvSpPr>
        <p:spPr>
          <a:xfrm>
            <a:off x="2426160" y="3003480"/>
            <a:ext cx="686875" cy="2094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kern="0" spc="2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Classify</a:t>
            </a:r>
            <a:endParaRPr lang="en-US" sz="1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D97C5984-E5B5-8AC1-12DA-FB453D622A5C}"/>
              </a:ext>
            </a:extLst>
          </p:cNvPr>
          <p:cNvSpPr/>
          <p:nvPr/>
        </p:nvSpPr>
        <p:spPr>
          <a:xfrm>
            <a:off x="3403079" y="2931790"/>
            <a:ext cx="1257226" cy="364505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F94AC79A-A3A4-A3E8-3FE9-CED21C0FC980}"/>
              </a:ext>
            </a:extLst>
          </p:cNvPr>
          <p:cNvSpPr/>
          <p:nvPr/>
        </p:nvSpPr>
        <p:spPr>
          <a:xfrm>
            <a:off x="3536404" y="3007940"/>
            <a:ext cx="209476" cy="209476"/>
          </a:xfrm>
          <a:prstGeom prst="ellipse">
            <a:avLst/>
          </a:prstGeom>
          <a:solidFill>
            <a:srgbClr val="FFFFFF"/>
          </a:solidFill>
          <a:ln/>
          <a:effectLst>
            <a:outerShdw blurRad="101600" dist="9525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F702EABC-E14B-A215-4AB6-85B643381254}"/>
              </a:ext>
            </a:extLst>
          </p:cNvPr>
          <p:cNvSpPr/>
          <p:nvPr/>
        </p:nvSpPr>
        <p:spPr>
          <a:xfrm>
            <a:off x="3498304" y="3007940"/>
            <a:ext cx="285676" cy="2475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kern="0" spc="39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</a:t>
            </a:r>
            <a:endParaRPr lang="en-US" sz="9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82DBC1B9-9AB5-9367-4B1A-76744F8A093A}"/>
              </a:ext>
            </a:extLst>
          </p:cNvPr>
          <p:cNvSpPr/>
          <p:nvPr/>
        </p:nvSpPr>
        <p:spPr>
          <a:xfrm>
            <a:off x="3757209" y="3003480"/>
            <a:ext cx="573053" cy="2094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kern="0" spc="2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Enrich</a:t>
            </a:r>
            <a:endParaRPr lang="en-US" sz="1200" b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Shape 22">
            <a:extLst>
              <a:ext uri="{FF2B5EF4-FFF2-40B4-BE49-F238E27FC236}">
                <a16:creationId xmlns:a16="http://schemas.microsoft.com/office/drawing/2014/main" id="{3F60C0B7-91EC-190E-9317-B1148B375B28}"/>
              </a:ext>
            </a:extLst>
          </p:cNvPr>
          <p:cNvSpPr/>
          <p:nvPr/>
        </p:nvSpPr>
        <p:spPr>
          <a:xfrm>
            <a:off x="4717355" y="2931790"/>
            <a:ext cx="1257226" cy="364505"/>
          </a:xfrm>
          <a:prstGeom prst="rect">
            <a:avLst/>
          </a:prstGeom>
          <a:solidFill>
            <a:srgbClr val="BF9000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" name="Shape 23">
            <a:extLst>
              <a:ext uri="{FF2B5EF4-FFF2-40B4-BE49-F238E27FC236}">
                <a16:creationId xmlns:a16="http://schemas.microsoft.com/office/drawing/2014/main" id="{BA0D26C7-D823-D732-B9EC-B37BBB1CA783}"/>
              </a:ext>
            </a:extLst>
          </p:cNvPr>
          <p:cNvSpPr/>
          <p:nvPr/>
        </p:nvSpPr>
        <p:spPr>
          <a:xfrm>
            <a:off x="4850680" y="3007940"/>
            <a:ext cx="209476" cy="209476"/>
          </a:xfrm>
          <a:prstGeom prst="ellipse">
            <a:avLst/>
          </a:prstGeom>
          <a:solidFill>
            <a:srgbClr val="FFFFFF"/>
          </a:solidFill>
          <a:ln/>
          <a:effectLst>
            <a:outerShdw blurRad="101600" dist="9525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Text 24">
            <a:extLst>
              <a:ext uri="{FF2B5EF4-FFF2-40B4-BE49-F238E27FC236}">
                <a16:creationId xmlns:a16="http://schemas.microsoft.com/office/drawing/2014/main" id="{E83C1053-5452-8F01-8D54-0B8AF0280FB2}"/>
              </a:ext>
            </a:extLst>
          </p:cNvPr>
          <p:cNvSpPr/>
          <p:nvPr/>
        </p:nvSpPr>
        <p:spPr>
          <a:xfrm>
            <a:off x="4812580" y="3007940"/>
            <a:ext cx="285676" cy="2475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/>
            <a:r>
              <a:rPr lang="en-US" sz="900" b="1" kern="0" spc="39" dirty="0">
                <a:solidFill>
                  <a:srgbClr val="BF9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</a:t>
            </a:r>
          </a:p>
        </p:txBody>
      </p:sp>
      <p:sp>
        <p:nvSpPr>
          <p:cNvPr id="26" name="Text 25">
            <a:extLst>
              <a:ext uri="{FF2B5EF4-FFF2-40B4-BE49-F238E27FC236}">
                <a16:creationId xmlns:a16="http://schemas.microsoft.com/office/drawing/2014/main" id="{665FAD57-EA3C-74D3-6D8A-174D422883DD}"/>
              </a:ext>
            </a:extLst>
          </p:cNvPr>
          <p:cNvSpPr/>
          <p:nvPr/>
        </p:nvSpPr>
        <p:spPr>
          <a:xfrm>
            <a:off x="5078075" y="3003480"/>
            <a:ext cx="520541" cy="2094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kern="0" spc="2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Score</a:t>
            </a:r>
            <a:endParaRPr lang="en-US" sz="1200" b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3"/>
          <p:cNvSpPr/>
          <p:nvPr/>
        </p:nvSpPr>
        <p:spPr>
          <a:xfrm>
            <a:off x="762000" y="1866801"/>
            <a:ext cx="16764000" cy="9525"/>
          </a:xfrm>
          <a:prstGeom prst="rect">
            <a:avLst/>
          </a:prstGeom>
          <a:solidFill>
            <a:srgbClr val="D9D9D9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6" name="Text 4"/>
          <p:cNvSpPr/>
          <p:nvPr/>
        </p:nvSpPr>
        <p:spPr>
          <a:xfrm>
            <a:off x="762000" y="2095500"/>
            <a:ext cx="17266920" cy="6458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Parse → chunk → extract. </a:t>
            </a:r>
            <a:r>
              <a:rPr lang="en-US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 PDF </a:t>
            </a:r>
            <a:r>
              <a:rPr lang="en-US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complejo</a:t>
            </a:r>
            <a:r>
              <a:rPr lang="en-US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80 </a:t>
            </a:r>
            <a:r>
              <a:rPr lang="en-US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páginas</a:t>
            </a:r>
            <a:r>
              <a:rPr lang="en-US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se </a:t>
            </a:r>
            <a:r>
              <a:rPr lang="en-US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transforma</a:t>
            </a:r>
            <a:r>
              <a:rPr lang="en-US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</a:t>
            </a:r>
            <a:r>
              <a:rPr lang="en-US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28 chunks Markdown </a:t>
            </a:r>
            <a:r>
              <a:rPr lang="en-US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semánticos</a:t>
            </a:r>
            <a:r>
              <a:rPr lang="en-US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; </a:t>
            </a:r>
            <a:r>
              <a:rPr lang="en-US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</a:t>
            </a:r>
            <a:r>
              <a:rPr lang="en-US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LLM </a:t>
            </a:r>
            <a:r>
              <a:rPr lang="en-US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extrae</a:t>
            </a:r>
            <a:r>
              <a:rPr lang="en-US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menciones</a:t>
            </a:r>
            <a:r>
              <a:rPr lang="en-US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n-US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activo</a:t>
            </a:r>
            <a:r>
              <a:rPr lang="en-US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</a:t>
            </a:r>
            <a:r>
              <a:rPr lang="en-US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paralelo</a:t>
            </a:r>
            <a:r>
              <a:rPr lang="en-US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cada</a:t>
            </a:r>
            <a:r>
              <a:rPr lang="en-US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una</a:t>
            </a:r>
            <a:r>
              <a:rPr lang="en-US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con la </a:t>
            </a:r>
            <a:r>
              <a:rPr lang="en-US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cita</a:t>
            </a:r>
            <a:r>
              <a:rPr lang="en-US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textual de la </a:t>
            </a:r>
            <a:r>
              <a:rPr lang="en-US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que</a:t>
            </a:r>
            <a:r>
              <a:rPr lang="en-US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vino.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762000" y="2950766"/>
            <a:ext cx="1257226" cy="364505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895325" y="3026916"/>
            <a:ext cx="209476" cy="209476"/>
          </a:xfrm>
          <a:prstGeom prst="ellipse">
            <a:avLst/>
          </a:prstGeom>
          <a:solidFill>
            <a:srgbClr val="FFFFFF"/>
          </a:solidFill>
          <a:ln/>
          <a:effectLst>
            <a:outerShdw blurRad="101600" dist="9525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857225" y="3026916"/>
            <a:ext cx="285676" cy="2475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kern="0" spc="39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</a:p>
        </p:txBody>
      </p:sp>
      <p:sp>
        <p:nvSpPr>
          <p:cNvPr id="10" name="Text 8"/>
          <p:cNvSpPr/>
          <p:nvPr/>
        </p:nvSpPr>
        <p:spPr>
          <a:xfrm>
            <a:off x="1110853" y="3026891"/>
            <a:ext cx="513160" cy="1741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kern="0" spc="2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Parse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2076276" y="2950766"/>
            <a:ext cx="1257226" cy="364505"/>
          </a:xfrm>
          <a:prstGeom prst="rect">
            <a:avLst/>
          </a:prstGeom>
          <a:solidFill>
            <a:srgbClr val="BF9000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2209601" y="3026916"/>
            <a:ext cx="209476" cy="209476"/>
          </a:xfrm>
          <a:prstGeom prst="ellipse">
            <a:avLst/>
          </a:prstGeom>
          <a:solidFill>
            <a:srgbClr val="FFFFFF"/>
          </a:solidFill>
          <a:ln/>
          <a:effectLst>
            <a:outerShdw blurRad="101600" dist="9525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2171501" y="3026916"/>
            <a:ext cx="285676" cy="2475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kern="0" spc="39">
                <a:solidFill>
                  <a:srgbClr val="BF9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  <a:endParaRPr lang="en-US" sz="9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2439392" y="3026891"/>
            <a:ext cx="570669" cy="1741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kern="0" spc="2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Chunk</a:t>
            </a:r>
            <a:endParaRPr lang="en-US" sz="12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3390553" y="2950766"/>
            <a:ext cx="1257226" cy="364505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3523878" y="3026916"/>
            <a:ext cx="209476" cy="209476"/>
          </a:xfrm>
          <a:prstGeom prst="ellipse">
            <a:avLst/>
          </a:prstGeom>
          <a:solidFill>
            <a:srgbClr val="FFFFFF"/>
          </a:solidFill>
          <a:ln/>
          <a:effectLst>
            <a:outerShdw blurRad="101600" dist="9525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3485778" y="3026916"/>
            <a:ext cx="285676" cy="2475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kern="0" spc="39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</a:t>
            </a:r>
          </a:p>
        </p:txBody>
      </p:sp>
      <p:sp>
        <p:nvSpPr>
          <p:cNvPr id="20" name="Text 18"/>
          <p:cNvSpPr/>
          <p:nvPr/>
        </p:nvSpPr>
        <p:spPr>
          <a:xfrm>
            <a:off x="3733825" y="3026891"/>
            <a:ext cx="618320" cy="1741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kern="0" spc="2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Extract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704829" y="2950766"/>
            <a:ext cx="1257226" cy="364505"/>
          </a:xfrm>
          <a:prstGeom prst="rect">
            <a:avLst/>
          </a:prstGeom>
          <a:solidFill>
            <a:srgbClr val="B8C2D8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4838154" y="3026916"/>
            <a:ext cx="209476" cy="209476"/>
          </a:xfrm>
          <a:prstGeom prst="ellipse">
            <a:avLst/>
          </a:prstGeom>
          <a:solidFill>
            <a:srgbClr val="FFFFFF">
              <a:alpha val="85000"/>
            </a:srgbClr>
          </a:solidFill>
          <a:ln/>
          <a:effectLst>
            <a:outerShdw blurRad="101600" dist="9525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4800054" y="3026916"/>
            <a:ext cx="285676" cy="2475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kern="0" spc="39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</a:t>
            </a:r>
            <a:endParaRPr lang="en-US" sz="9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5058420" y="3026891"/>
            <a:ext cx="570669" cy="1741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kern="0" spc="2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Dedup</a:t>
            </a:r>
            <a:endParaRPr lang="en-US" sz="12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6019105" y="2950766"/>
            <a:ext cx="1257226" cy="364505"/>
          </a:xfrm>
          <a:prstGeom prst="rect">
            <a:avLst/>
          </a:prstGeom>
          <a:solidFill>
            <a:srgbClr val="B8C2D8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6152430" y="3026916"/>
            <a:ext cx="209476" cy="209476"/>
          </a:xfrm>
          <a:prstGeom prst="ellipse">
            <a:avLst/>
          </a:prstGeom>
          <a:solidFill>
            <a:srgbClr val="FFFFFF">
              <a:alpha val="85000"/>
            </a:srgbClr>
          </a:solidFill>
          <a:ln/>
          <a:effectLst>
            <a:outerShdw blurRad="101600" dist="9525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6114330" y="3026916"/>
            <a:ext cx="285676" cy="2475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kern="0" spc="39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</a:t>
            </a:r>
            <a:endParaRPr lang="en-US" sz="9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6345535" y="3026891"/>
            <a:ext cx="750814" cy="1741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kern="0" spc="2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Geocode</a:t>
            </a:r>
            <a:endParaRPr lang="en-US" sz="12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7333381" y="2950766"/>
            <a:ext cx="1257226" cy="364505"/>
          </a:xfrm>
          <a:prstGeom prst="rect">
            <a:avLst/>
          </a:prstGeom>
          <a:solidFill>
            <a:srgbClr val="B8C2D8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7466707" y="3026916"/>
            <a:ext cx="209476" cy="209476"/>
          </a:xfrm>
          <a:prstGeom prst="ellipse">
            <a:avLst/>
          </a:prstGeom>
          <a:solidFill>
            <a:srgbClr val="FFFFFF">
              <a:alpha val="85000"/>
            </a:srgbClr>
          </a:solidFill>
          <a:ln/>
          <a:effectLst>
            <a:outerShdw blurRad="101600" dist="9525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7428607" y="3026916"/>
            <a:ext cx="285676" cy="2475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kern="0" spc="39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6</a:t>
            </a:r>
            <a:endParaRPr lang="en-US" sz="9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7678862" y="3026891"/>
            <a:ext cx="521226" cy="1741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kern="0" spc="2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Score</a:t>
            </a:r>
            <a:endParaRPr lang="en-US" sz="12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762000" y="3524746"/>
            <a:ext cx="5473650" cy="4149824"/>
          </a:xfrm>
          <a:prstGeom prst="roundRect">
            <a:avLst>
              <a:gd name="adj" fmla="val 1836"/>
            </a:avLst>
          </a:prstGeom>
          <a:solidFill>
            <a:srgbClr val="E9EFF7"/>
          </a:solidFill>
          <a:ln w="7937">
            <a:solidFill>
              <a:srgbClr val="000000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769937" y="3532683"/>
            <a:ext cx="5457775" cy="85725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979413" y="3751771"/>
            <a:ext cx="419075" cy="419075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941313" y="3751771"/>
            <a:ext cx="495275" cy="4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kern="0" spc="39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endParaRPr lang="en-US" sz="900" b="1" kern="0" spc="39">
              <a:solidFill>
                <a:srgbClr val="1F3864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1512838" y="3749353"/>
            <a:ext cx="1937668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b="1" kern="0" spc="156">
                <a:solidFill>
                  <a:srgbClr val="FFFFFF">
                    <a:alpha val="85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PASO 1 · PARSE</a:t>
            </a:r>
            <a:endParaRPr lang="en-US" sz="975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1512838" y="3911203"/>
            <a:ext cx="1937668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18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parse_document</a:t>
            </a:r>
            <a:endParaRPr lang="en-US" sz="18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998513" y="4599409"/>
            <a:ext cx="5150644" cy="66590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PDF / DOCX / XLSX → </a:t>
            </a:r>
            <a:r>
              <a:rPr lang="en-US" sz="13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Markdown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Usamos </a:t>
            </a:r>
            <a:r>
              <a:rPr lang="en-US" sz="1300" b="1" dirty="0" err="1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Docling</a:t>
            </a:r>
            <a:r>
              <a:rPr lang="en-US" sz="13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DocumentConverter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+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HybridChunker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).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Preserva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tablas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y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secciones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y produce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chunking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semántico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una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sola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pasada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sz="13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998513" y="5665341"/>
            <a:ext cx="5000625" cy="614288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998513" y="5665341"/>
            <a:ext cx="23813" cy="614288"/>
          </a:xfrm>
          <a:prstGeom prst="rect">
            <a:avLst/>
          </a:prstGeom>
          <a:solidFill>
            <a:srgbClr val="BF9000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1193726" y="5747866"/>
            <a:ext cx="4773032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300" b="1" kern="0" spc="149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SALIDA</a:t>
            </a:r>
            <a:endParaRPr lang="en-US" sz="13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1193726" y="5955804"/>
            <a:ext cx="477303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BF9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PDF 80p → 64 KB md</a:t>
            </a:r>
            <a:endParaRPr lang="en-US" sz="1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998513" y="6444310"/>
            <a:ext cx="5150644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400" b="1" kern="0" spc="149">
                <a:solidFill>
                  <a:srgbClr val="BF9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DECISIÓN</a:t>
            </a:r>
            <a:endParaRPr lang="en-US" sz="14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998513" y="6766129"/>
            <a:ext cx="5150644" cy="4513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Docling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sobre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extractores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ad hoc —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HybridChunker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preserva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estructura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y produce chunks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coherentes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una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sola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pasada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sz="13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6407051" y="3524746"/>
            <a:ext cx="5473774" cy="4149824"/>
          </a:xfrm>
          <a:prstGeom prst="roundRect">
            <a:avLst>
              <a:gd name="adj" fmla="val 1836"/>
            </a:avLst>
          </a:prstGeom>
          <a:solidFill>
            <a:srgbClr val="FAF1D9"/>
          </a:solidFill>
          <a:ln w="7937">
            <a:solidFill>
              <a:srgbClr val="000000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6414988" y="3532683"/>
            <a:ext cx="5457899" cy="857250"/>
          </a:xfrm>
          <a:prstGeom prst="rect">
            <a:avLst/>
          </a:prstGeom>
          <a:solidFill>
            <a:srgbClr val="BF9000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6624464" y="3751771"/>
            <a:ext cx="419075" cy="419075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0" name="Text 48"/>
          <p:cNvSpPr/>
          <p:nvPr/>
        </p:nvSpPr>
        <p:spPr>
          <a:xfrm>
            <a:off x="6586364" y="3751771"/>
            <a:ext cx="495275" cy="4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>
                <a:solidFill>
                  <a:srgbClr val="BF9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  <a:endParaRPr lang="en-US" sz="135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7157889" y="3749353"/>
            <a:ext cx="2000796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b="1" kern="0" spc="156">
                <a:solidFill>
                  <a:srgbClr val="FFFFFF">
                    <a:alpha val="85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PASO 2 · CHUNK</a:t>
            </a:r>
            <a:endParaRPr lang="en-US" sz="975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7157889" y="3911203"/>
            <a:ext cx="2000796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18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chunk_document</a:t>
            </a:r>
            <a:endParaRPr lang="en-US" sz="18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6643563" y="4599409"/>
            <a:ext cx="5150771" cy="4592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Divide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Markdown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3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chunks </a:t>
            </a:r>
            <a:r>
              <a:rPr lang="en-US" sz="1300" b="1" dirty="0" err="1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semánticamente</a:t>
            </a:r>
            <a:r>
              <a:rPr lang="en-US" sz="13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300" b="1" dirty="0" err="1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coherentes</a:t>
            </a:r>
            <a:r>
              <a:rPr lang="en-US" sz="13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respetando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encabezados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y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secciones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con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solapamiento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controlado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para no romper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menciones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sz="13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4" name="Shape 52"/>
          <p:cNvSpPr/>
          <p:nvPr/>
        </p:nvSpPr>
        <p:spPr>
          <a:xfrm>
            <a:off x="6643563" y="5651903"/>
            <a:ext cx="5000749" cy="614288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5" name="Shape 53"/>
          <p:cNvSpPr/>
          <p:nvPr/>
        </p:nvSpPr>
        <p:spPr>
          <a:xfrm>
            <a:off x="6643563" y="5651903"/>
            <a:ext cx="23813" cy="614288"/>
          </a:xfrm>
          <a:prstGeom prst="rect">
            <a:avLst/>
          </a:prstGeom>
          <a:solidFill>
            <a:srgbClr val="BF9000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6" name="Text 54"/>
          <p:cNvSpPr/>
          <p:nvPr/>
        </p:nvSpPr>
        <p:spPr>
          <a:xfrm>
            <a:off x="6838776" y="5734428"/>
            <a:ext cx="4773160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300" b="1" kern="0" spc="149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FANOUT</a:t>
            </a:r>
            <a:endParaRPr lang="en-US" sz="13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7" name="Text 55"/>
          <p:cNvSpPr/>
          <p:nvPr/>
        </p:nvSpPr>
        <p:spPr>
          <a:xfrm>
            <a:off x="6838776" y="5942365"/>
            <a:ext cx="477316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>
                <a:solidFill>
                  <a:srgbClr val="BF9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64 KB → 28 chunks</a:t>
            </a:r>
            <a:endParaRPr lang="en-US" sz="15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8" name="Text 56"/>
          <p:cNvSpPr/>
          <p:nvPr/>
        </p:nvSpPr>
        <p:spPr>
          <a:xfrm>
            <a:off x="6643563" y="6444310"/>
            <a:ext cx="5150771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400" b="1" kern="0" spc="149">
                <a:solidFill>
                  <a:srgbClr val="BF9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DECISIÓN</a:t>
            </a:r>
            <a:endParaRPr lang="en-US" sz="14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9" name="Text 57"/>
          <p:cNvSpPr/>
          <p:nvPr/>
        </p:nvSpPr>
        <p:spPr>
          <a:xfrm>
            <a:off x="6643563" y="6766129"/>
            <a:ext cx="5150771" cy="4513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30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Chunking por estructura (no por tokens fijos) — previene romper una mención a la mitad.</a:t>
            </a:r>
            <a:endParaRPr lang="en-US" sz="13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0" name="Shape 58"/>
          <p:cNvSpPr/>
          <p:nvPr/>
        </p:nvSpPr>
        <p:spPr>
          <a:xfrm>
            <a:off x="12052225" y="3524746"/>
            <a:ext cx="5473774" cy="4149824"/>
          </a:xfrm>
          <a:prstGeom prst="roundRect">
            <a:avLst>
              <a:gd name="adj" fmla="val 1836"/>
            </a:avLst>
          </a:prstGeom>
          <a:solidFill>
            <a:srgbClr val="E9EFF7"/>
          </a:solidFill>
          <a:ln w="7937">
            <a:solidFill>
              <a:srgbClr val="000000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1" name="Shape 59"/>
          <p:cNvSpPr/>
          <p:nvPr/>
        </p:nvSpPr>
        <p:spPr>
          <a:xfrm>
            <a:off x="12060163" y="3532683"/>
            <a:ext cx="5457899" cy="85725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2" name="Shape 60"/>
          <p:cNvSpPr/>
          <p:nvPr/>
        </p:nvSpPr>
        <p:spPr>
          <a:xfrm>
            <a:off x="12269638" y="3751771"/>
            <a:ext cx="419075" cy="419075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3" name="Text 61"/>
          <p:cNvSpPr/>
          <p:nvPr/>
        </p:nvSpPr>
        <p:spPr>
          <a:xfrm>
            <a:off x="12231538" y="3751771"/>
            <a:ext cx="495275" cy="4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kern="0" spc="39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</a:t>
            </a:r>
          </a:p>
        </p:txBody>
      </p:sp>
      <p:sp>
        <p:nvSpPr>
          <p:cNvPr id="64" name="Text 62"/>
          <p:cNvSpPr/>
          <p:nvPr/>
        </p:nvSpPr>
        <p:spPr>
          <a:xfrm>
            <a:off x="12803063" y="3749353"/>
            <a:ext cx="1696938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b="1" kern="0" spc="156">
                <a:solidFill>
                  <a:srgbClr val="FFFFFF">
                    <a:alpha val="85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PASO 3 · EXTRACT</a:t>
            </a:r>
            <a:endParaRPr lang="en-US" sz="975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5" name="Text 63"/>
          <p:cNvSpPr/>
          <p:nvPr/>
        </p:nvSpPr>
        <p:spPr>
          <a:xfrm>
            <a:off x="12803063" y="3911203"/>
            <a:ext cx="1696938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18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extract_assets</a:t>
            </a:r>
            <a:endParaRPr lang="en-US" sz="18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6" name="Text 64"/>
          <p:cNvSpPr/>
          <p:nvPr/>
        </p:nvSpPr>
        <p:spPr>
          <a:xfrm>
            <a:off x="12288738" y="4599409"/>
            <a:ext cx="5150771" cy="4672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30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 LLM </a:t>
            </a:r>
            <a:r>
              <a:rPr lang="en-US" sz="1300" b="1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extrae entidades de activo </a:t>
            </a:r>
            <a:r>
              <a:rPr lang="en-US" sz="130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 cada chunk en paralelo. Devuelve nombre, dirección probable, tipo y la </a:t>
            </a:r>
            <a:r>
              <a:rPr lang="en-US" sz="1300" b="1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cita textual </a:t>
            </a:r>
            <a:r>
              <a:rPr lang="en-US" sz="130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 la que se extrajo.</a:t>
            </a:r>
            <a:endParaRPr lang="en-US" sz="13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7" name="Shape 65"/>
          <p:cNvSpPr/>
          <p:nvPr/>
        </p:nvSpPr>
        <p:spPr>
          <a:xfrm>
            <a:off x="12288738" y="5659840"/>
            <a:ext cx="5000749" cy="614288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8" name="Shape 66"/>
          <p:cNvSpPr/>
          <p:nvPr/>
        </p:nvSpPr>
        <p:spPr>
          <a:xfrm>
            <a:off x="12288738" y="5659840"/>
            <a:ext cx="23813" cy="614288"/>
          </a:xfrm>
          <a:prstGeom prst="rect">
            <a:avLst/>
          </a:prstGeom>
          <a:solidFill>
            <a:srgbClr val="BF9000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9" name="Text 67"/>
          <p:cNvSpPr/>
          <p:nvPr/>
        </p:nvSpPr>
        <p:spPr>
          <a:xfrm>
            <a:off x="12483951" y="5742365"/>
            <a:ext cx="4773160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300" b="1" kern="0" spc="149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SALIDA</a:t>
            </a:r>
            <a:endParaRPr lang="en-US" sz="13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0" name="Text 68"/>
          <p:cNvSpPr/>
          <p:nvPr/>
        </p:nvSpPr>
        <p:spPr>
          <a:xfrm>
            <a:off x="12483951" y="5950303"/>
            <a:ext cx="477316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BF9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28 chunks → 71 </a:t>
            </a:r>
            <a:r>
              <a:rPr lang="en-US" sz="1500" b="1" dirty="0" err="1">
                <a:solidFill>
                  <a:srgbClr val="BF9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menciones</a:t>
            </a:r>
            <a:endParaRPr lang="en-US" sz="1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1" name="Text 69"/>
          <p:cNvSpPr/>
          <p:nvPr/>
        </p:nvSpPr>
        <p:spPr>
          <a:xfrm>
            <a:off x="12288738" y="6444310"/>
            <a:ext cx="5150771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400" b="1" kern="0" spc="149">
                <a:solidFill>
                  <a:srgbClr val="BF9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DECISIÓN</a:t>
            </a:r>
            <a:endParaRPr lang="en-US" sz="14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2" name="Text 70"/>
          <p:cNvSpPr/>
          <p:nvPr/>
        </p:nvSpPr>
        <p:spPr>
          <a:xfrm>
            <a:off x="12288738" y="6766129"/>
            <a:ext cx="5150771" cy="2447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30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Conservar la cita textual — habilita la trazabilidad activo ↔ documento.</a:t>
            </a:r>
            <a:endParaRPr lang="en-US" sz="13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3" name="Shape 71"/>
          <p:cNvSpPr/>
          <p:nvPr/>
        </p:nvSpPr>
        <p:spPr>
          <a:xfrm>
            <a:off x="762000" y="7845971"/>
            <a:ext cx="8100590" cy="1774279"/>
          </a:xfrm>
          <a:prstGeom prst="rect">
            <a:avLst/>
          </a:prstGeom>
          <a:solidFill>
            <a:srgbClr val="FAF1D9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4" name="Shape 72"/>
          <p:cNvSpPr/>
          <p:nvPr/>
        </p:nvSpPr>
        <p:spPr>
          <a:xfrm>
            <a:off x="762000" y="7845971"/>
            <a:ext cx="23813" cy="1774279"/>
          </a:xfrm>
          <a:prstGeom prst="rect">
            <a:avLst/>
          </a:prstGeom>
          <a:solidFill>
            <a:srgbClr val="BF9000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5" name="Text 73"/>
          <p:cNvSpPr/>
          <p:nvPr/>
        </p:nvSpPr>
        <p:spPr>
          <a:xfrm>
            <a:off x="995288" y="8017371"/>
            <a:ext cx="7887562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400" b="1" kern="0" spc="149" dirty="0">
                <a:solidFill>
                  <a:srgbClr val="BF9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CHUNK · EJEMPLO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6" name="Text 74"/>
          <p:cNvSpPr/>
          <p:nvPr/>
        </p:nvSpPr>
        <p:spPr>
          <a:xfrm>
            <a:off x="995288" y="8320484"/>
            <a:ext cx="7887562" cy="4094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"...la planta de </a:t>
            </a:r>
            <a:r>
              <a:rPr lang="en-US" sz="1200" b="1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Arteixo</a:t>
            </a:r>
            <a:r>
              <a:rPr lang="en-US" sz="1200" b="1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(A Coruña) </a:t>
            </a:r>
            <a:r>
              <a:rPr lang="en-US" sz="12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2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inaugurada</a:t>
            </a:r>
            <a:r>
              <a:rPr lang="en-US" sz="12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</a:t>
            </a:r>
            <a:r>
              <a:rPr lang="en-US" sz="12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1985 y </a:t>
            </a:r>
            <a:r>
              <a:rPr lang="en-US" sz="12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ampliada</a:t>
            </a:r>
            <a:r>
              <a:rPr lang="en-US" sz="12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</a:t>
            </a:r>
            <a:r>
              <a:rPr lang="en-US" sz="12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2018, </a:t>
            </a:r>
            <a:r>
              <a:rPr lang="en-US" sz="12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concentra</a:t>
            </a:r>
            <a:r>
              <a:rPr lang="en-US" sz="12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</a:t>
            </a:r>
            <a:r>
              <a:rPr lang="en-US" sz="12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grueso</a:t>
            </a:r>
            <a:r>
              <a:rPr lang="en-US" sz="12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la </a:t>
            </a:r>
            <a:r>
              <a:rPr lang="en-US" sz="12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actividad</a:t>
            </a:r>
            <a:r>
              <a:rPr lang="en-US" sz="12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logística</a:t>
            </a:r>
            <a:r>
              <a:rPr lang="en-US" sz="12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del </a:t>
            </a:r>
            <a:r>
              <a:rPr lang="en-US" sz="12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grupo</a:t>
            </a:r>
            <a:r>
              <a:rPr lang="en-US" sz="12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con </a:t>
            </a:r>
            <a:r>
              <a:rPr lang="en-US" sz="12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una</a:t>
            </a:r>
            <a:r>
              <a:rPr lang="en-US" sz="12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superficie</a:t>
            </a:r>
            <a:r>
              <a:rPr lang="en-US" sz="12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superior a 2,1 </a:t>
            </a:r>
            <a:r>
              <a:rPr lang="en-US" sz="12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millones</a:t>
            </a:r>
            <a:r>
              <a:rPr lang="en-US" sz="12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m²..."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7" name="Text 75"/>
          <p:cNvSpPr/>
          <p:nvPr/>
        </p:nvSpPr>
        <p:spPr>
          <a:xfrm>
            <a:off x="9110191" y="7845971"/>
            <a:ext cx="167630" cy="18123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>
                <a:solidFill>
                  <a:srgbClr val="BF9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</a:t>
            </a:r>
            <a:endParaRPr lang="en-US" sz="12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8" name="Shape 76"/>
          <p:cNvSpPr/>
          <p:nvPr/>
        </p:nvSpPr>
        <p:spPr>
          <a:xfrm>
            <a:off x="9449221" y="7845971"/>
            <a:ext cx="8076778" cy="1774279"/>
          </a:xfrm>
          <a:prstGeom prst="roundRect">
            <a:avLst>
              <a:gd name="adj" fmla="val 2147"/>
            </a:avLst>
          </a:prstGeom>
          <a:solidFill>
            <a:srgbClr val="14284D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9" name="Text 77"/>
          <p:cNvSpPr/>
          <p:nvPr/>
        </p:nvSpPr>
        <p:spPr>
          <a:xfrm>
            <a:off x="9658697" y="7941170"/>
            <a:ext cx="7887562" cy="3266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200" kern="0" spc="132" dirty="0">
                <a:solidFill>
                  <a:srgbClr val="BF9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ASSET EXTRAÍDO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0" name="Text 78"/>
          <p:cNvSpPr/>
          <p:nvPr/>
        </p:nvSpPr>
        <p:spPr>
          <a:xfrm>
            <a:off x="9658697" y="8208813"/>
            <a:ext cx="224904" cy="3789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20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{</a:t>
            </a:r>
            <a:endParaRPr lang="en-US" sz="12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l">
              <a:lnSpc>
                <a:spcPct val="160000"/>
              </a:lnSpc>
              <a:buNone/>
            </a:pPr>
            <a:r>
              <a:rPr lang="en-US" sz="120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</a:t>
            </a:r>
            <a:endParaRPr lang="en-US" sz="12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1" name="Text 79"/>
          <p:cNvSpPr/>
          <p:nvPr/>
        </p:nvSpPr>
        <p:spPr>
          <a:xfrm>
            <a:off x="9807401" y="8406755"/>
            <a:ext cx="52206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200">
                <a:solidFill>
                  <a:srgbClr val="E0D39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"name"</a:t>
            </a:r>
            <a:endParaRPr lang="en-US" sz="12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2" name="Text 80"/>
          <p:cNvSpPr/>
          <p:nvPr/>
        </p:nvSpPr>
        <p:spPr>
          <a:xfrm>
            <a:off x="10682317" y="8406755"/>
            <a:ext cx="3138163" cy="3789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"Plataforma </a:t>
            </a:r>
            <a:r>
              <a:rPr lang="en-US" sz="1200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logística</a:t>
            </a: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Arteixo</a:t>
            </a: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",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l">
              <a:lnSpc>
                <a:spcPct val="16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3" name="Text 81"/>
          <p:cNvSpPr/>
          <p:nvPr/>
        </p:nvSpPr>
        <p:spPr>
          <a:xfrm>
            <a:off x="9807401" y="8604696"/>
            <a:ext cx="52206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200" dirty="0">
                <a:solidFill>
                  <a:srgbClr val="E0D39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"type"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4" name="Text 82"/>
          <p:cNvSpPr/>
          <p:nvPr/>
        </p:nvSpPr>
        <p:spPr>
          <a:xfrm>
            <a:off x="10682317" y="8604696"/>
            <a:ext cx="2231231" cy="3789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"Centro </a:t>
            </a:r>
            <a:r>
              <a:rPr lang="en-US" sz="1200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logístico</a:t>
            </a: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",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l">
              <a:lnSpc>
                <a:spcPct val="16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5" name="Text 83"/>
          <p:cNvSpPr/>
          <p:nvPr/>
        </p:nvSpPr>
        <p:spPr>
          <a:xfrm>
            <a:off x="9807401" y="8802638"/>
            <a:ext cx="745058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200">
                <a:solidFill>
                  <a:srgbClr val="E0D39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"address"</a:t>
            </a:r>
            <a:endParaRPr lang="en-US" sz="12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6" name="Text 84"/>
          <p:cNvSpPr/>
          <p:nvPr/>
        </p:nvSpPr>
        <p:spPr>
          <a:xfrm>
            <a:off x="10682317" y="8802638"/>
            <a:ext cx="2528639" cy="3789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"</a:t>
            </a:r>
            <a:r>
              <a:rPr lang="en-US" sz="1200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Arteixo</a:t>
            </a: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A Coruña",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l">
              <a:lnSpc>
                <a:spcPct val="16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7" name="Text 85"/>
          <p:cNvSpPr/>
          <p:nvPr/>
        </p:nvSpPr>
        <p:spPr>
          <a:xfrm>
            <a:off x="9807401" y="9000579"/>
            <a:ext cx="819348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200">
                <a:solidFill>
                  <a:srgbClr val="E0D39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"evidence"</a:t>
            </a:r>
            <a:endParaRPr lang="en-US" sz="12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8" name="Text 86"/>
          <p:cNvSpPr/>
          <p:nvPr/>
        </p:nvSpPr>
        <p:spPr>
          <a:xfrm>
            <a:off x="10682317" y="9000579"/>
            <a:ext cx="2985125" cy="3789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20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"...planta de Arteixo..."</a:t>
            </a:r>
            <a:endParaRPr lang="en-US" sz="12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l">
              <a:lnSpc>
                <a:spcPct val="160000"/>
              </a:lnSpc>
              <a:buNone/>
            </a:pPr>
            <a:r>
              <a:rPr lang="en-US" sz="120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}</a:t>
            </a:r>
            <a:endParaRPr lang="en-US" sz="12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11" name="MS Header Group">
            <a:extLst>
              <a:ext uri="{FF2B5EF4-FFF2-40B4-BE49-F238E27FC236}">
                <a16:creationId xmlns:a16="http://schemas.microsoft.com/office/drawing/2014/main" id="{EDCDA8C2-7D13-6BA2-D13F-688D2E457A98}"/>
              </a:ext>
            </a:extLst>
          </p:cNvPr>
          <p:cNvGrpSpPr/>
          <p:nvPr/>
        </p:nvGrpSpPr>
        <p:grpSpPr>
          <a:xfrm>
            <a:off x="282819" y="579094"/>
            <a:ext cx="13786134" cy="1057874"/>
            <a:chOff x="92172" y="275827"/>
            <a:chExt cx="9190756" cy="705249"/>
          </a:xfrm>
        </p:grpSpPr>
        <p:sp>
          <p:nvSpPr>
            <p:cNvPr id="16" name="MS Title Box">
              <a:extLst>
                <a:ext uri="{FF2B5EF4-FFF2-40B4-BE49-F238E27FC236}">
                  <a16:creationId xmlns:a16="http://schemas.microsoft.com/office/drawing/2014/main" id="{1ED60D7A-E04C-D95E-346F-8274E471673D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776292" y="404814"/>
              <a:ext cx="8506636" cy="576262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37160" tIns="68580" rIns="137160" bIns="68580" anchor="ctr"/>
            <a:lstStyle/>
            <a:p>
              <a:pPr>
                <a:lnSpc>
                  <a:spcPts val="3150"/>
                </a:lnSpc>
              </a:pPr>
              <a:r>
                <a:rPr lang="es-ES_tradnl" sz="3000" b="1" dirty="0">
                  <a:solidFill>
                    <a:srgbClr val="002569"/>
                  </a:solidFill>
                  <a:latin typeface="Arial"/>
                </a:rPr>
                <a:t>Pipeline Documento · Pasos 1–3</a:t>
              </a:r>
            </a:p>
            <a:p>
              <a:r>
                <a:rPr lang="es-ES_tradnl" sz="2700" dirty="0">
                  <a:solidFill>
                    <a:srgbClr val="E0D399">
                      <a:lumMod val="75000"/>
                    </a:srgbClr>
                  </a:solidFill>
                  <a:latin typeface="Arial"/>
                </a:rPr>
                <a:t>Convertir un PDF de 80 páginas en activos estructurados</a:t>
              </a:r>
            </a:p>
          </p:txBody>
        </p:sp>
        <p:sp>
          <p:nvSpPr>
            <p:cNvPr id="21" name="MS Number">
              <a:extLst>
                <a:ext uri="{FF2B5EF4-FFF2-40B4-BE49-F238E27FC236}">
                  <a16:creationId xmlns:a16="http://schemas.microsoft.com/office/drawing/2014/main" id="{0322A55F-0A6F-527C-0B52-6A9B92A0AC78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2172" y="275827"/>
              <a:ext cx="477819" cy="70014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148523" tIns="74261" rIns="148523" bIns="74261">
              <a:spAutoFit/>
            </a:bodyPr>
            <a:lstStyle/>
            <a:p>
              <a:pPr algn="ctr"/>
              <a:r>
                <a:rPr lang="es-ES" sz="5850" b="1" kern="0" dirty="0">
                  <a:solidFill>
                    <a:srgbClr val="002569"/>
                  </a:solidFill>
                  <a:latin typeface="Arial"/>
                </a:rPr>
                <a:t>4</a:t>
              </a:r>
            </a:p>
          </p:txBody>
        </p:sp>
        <p:cxnSp>
          <p:nvCxnSpPr>
            <p:cNvPr id="91" name="MS Header Bar">
              <a:extLst>
                <a:ext uri="{FF2B5EF4-FFF2-40B4-BE49-F238E27FC236}">
                  <a16:creationId xmlns:a16="http://schemas.microsoft.com/office/drawing/2014/main" id="{9DE0A5E1-C889-F2BE-93AA-0783DC897BC0}"/>
                </a:ext>
              </a:extLst>
            </p:cNvPr>
            <p:cNvCxnSpPr/>
            <p:nvPr/>
          </p:nvCxnSpPr>
          <p:spPr>
            <a:xfrm>
              <a:off x="570525" y="404814"/>
              <a:ext cx="0" cy="526647"/>
            </a:xfrm>
            <a:prstGeom prst="line">
              <a:avLst/>
            </a:prstGeom>
            <a:ln>
              <a:solidFill>
                <a:schemeClr val="tx2"/>
              </a:solidFill>
            </a:ln>
          </p:spPr>
        </p:cxn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ounded Rectangle 9037">
            <a:extLst>
              <a:ext uri="{FF2B5EF4-FFF2-40B4-BE49-F238E27FC236}">
                <a16:creationId xmlns:a16="http://schemas.microsoft.com/office/drawing/2014/main" id="{A0862BE3-DFDE-0A67-4ABA-DD07F3A067F7}"/>
              </a:ext>
            </a:extLst>
          </p:cNvPr>
          <p:cNvSpPr/>
          <p:nvPr/>
        </p:nvSpPr>
        <p:spPr>
          <a:xfrm>
            <a:off x="762000" y="4648547"/>
            <a:ext cx="10896574" cy="4558953"/>
          </a:xfrm>
          <a:prstGeom prst="roundRect">
            <a:avLst>
              <a:gd name="adj" fmla="val 3000"/>
            </a:avLst>
          </a:prstGeom>
          <a:solidFill>
            <a:srgbClr val="E9EFF7"/>
          </a:solidFill>
          <a:ln w="7937">
            <a:solidFill>
              <a:srgbClr val="000000">
                <a:alpha val="4000"/>
              </a:srgbClr>
            </a:solidFill>
            <a:prstDash val="solid"/>
          </a:ln>
        </p:spPr>
        <p:txBody>
          <a:bodyPr/>
          <a:lstStyle/>
          <a:p>
            <a:endParaRPr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62000" y="1866801"/>
            <a:ext cx="16764000" cy="9525"/>
          </a:xfrm>
          <a:prstGeom prst="rect">
            <a:avLst/>
          </a:prstGeom>
          <a:solidFill>
            <a:srgbClr val="D9D9D9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62000" y="2095500"/>
            <a:ext cx="17266920" cy="6458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Funnel del </a:t>
            </a:r>
            <a:r>
              <a:rPr lang="en-US" b="1" dirty="0" err="1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documento</a:t>
            </a:r>
            <a:r>
              <a:rPr lang="en-US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71 </a:t>
            </a:r>
            <a:r>
              <a:rPr lang="en-US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menciones</a:t>
            </a:r>
            <a:r>
              <a:rPr lang="en-US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brutas</a:t>
            </a:r>
            <a:r>
              <a:rPr lang="en-US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se </a:t>
            </a:r>
            <a:r>
              <a:rPr lang="en-US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reducen</a:t>
            </a:r>
            <a:r>
              <a:rPr lang="en-US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 31 </a:t>
            </a:r>
            <a:r>
              <a:rPr lang="en-US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activos</a:t>
            </a:r>
            <a:r>
              <a:rPr lang="en-US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puntuados</a:t>
            </a:r>
            <a:r>
              <a:rPr lang="en-US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con tier. La </a:t>
            </a:r>
            <a:r>
              <a:rPr lang="en-US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deduplicación</a:t>
            </a:r>
            <a:r>
              <a:rPr lang="en-US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por</a:t>
            </a:r>
            <a:r>
              <a:rPr lang="en-US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similitud</a:t>
            </a:r>
            <a:r>
              <a:rPr lang="en-US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y </a:t>
            </a:r>
            <a:r>
              <a:rPr lang="en-US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</a:t>
            </a:r>
            <a:r>
              <a:rPr lang="en-US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geocoding son </a:t>
            </a:r>
            <a:r>
              <a:rPr lang="en-US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los</a:t>
            </a:r>
            <a:r>
              <a:rPr lang="en-US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puntos </a:t>
            </a:r>
            <a:r>
              <a:rPr lang="en-US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donde</a:t>
            </a:r>
            <a:r>
              <a:rPr lang="en-US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más</a:t>
            </a:r>
            <a:r>
              <a:rPr lang="en-US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activos</a:t>
            </a:r>
            <a:r>
              <a:rPr lang="en-US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se </a:t>
            </a:r>
            <a:r>
              <a:rPr lang="en-US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pierden</a:t>
            </a:r>
            <a:r>
              <a:rPr lang="en-US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— </a:t>
            </a:r>
            <a:r>
              <a:rPr lang="en-US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pero</a:t>
            </a:r>
            <a:r>
              <a:rPr lang="en-US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pierden</a:t>
            </a:r>
            <a:r>
              <a:rPr lang="en-US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poco </a:t>
            </a:r>
            <a:r>
              <a:rPr lang="en-US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</a:t>
            </a:r>
            <a:r>
              <a:rPr lang="en-US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</a:t>
            </a:r>
            <a:r>
              <a:rPr lang="en-US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documento</a:t>
            </a:r>
            <a:r>
              <a:rPr lang="en-US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es bueno.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762000" y="2950766"/>
            <a:ext cx="1257226" cy="364505"/>
          </a:xfrm>
          <a:prstGeom prst="rect">
            <a:avLst/>
          </a:prstGeom>
          <a:solidFill>
            <a:srgbClr val="B8C2D8">
              <a:alpha val="55000"/>
            </a:srgbClr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895325" y="3026916"/>
            <a:ext cx="209476" cy="209476"/>
          </a:xfrm>
          <a:prstGeom prst="ellipse">
            <a:avLst/>
          </a:prstGeom>
          <a:solidFill>
            <a:srgbClr val="FFFFFF"/>
          </a:solidFill>
          <a:ln/>
          <a:effectLst>
            <a:outerShdw blurRad="101600" dist="9525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857225" y="3026916"/>
            <a:ext cx="285676" cy="2475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kern="0" spc="39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endParaRPr lang="en-US" sz="9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110853" y="3026891"/>
            <a:ext cx="534740" cy="1741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kern="0" spc="2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Parse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2076276" y="2950766"/>
            <a:ext cx="1257226" cy="364505"/>
          </a:xfrm>
          <a:prstGeom prst="rect">
            <a:avLst/>
          </a:prstGeom>
          <a:solidFill>
            <a:srgbClr val="B8C2D8">
              <a:alpha val="55000"/>
            </a:srgbClr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2209601" y="3026916"/>
            <a:ext cx="209476" cy="209476"/>
          </a:xfrm>
          <a:prstGeom prst="ellipse">
            <a:avLst/>
          </a:prstGeom>
          <a:solidFill>
            <a:srgbClr val="FFFFFF"/>
          </a:solidFill>
          <a:ln/>
          <a:effectLst>
            <a:outerShdw blurRad="101600" dist="9525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2171501" y="3026916"/>
            <a:ext cx="285676" cy="2475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kern="0" spc="39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  <a:endParaRPr lang="en-US" sz="9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2439392" y="3026891"/>
            <a:ext cx="594668" cy="1741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kern="0" spc="2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Chunk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3390553" y="2950766"/>
            <a:ext cx="1257226" cy="364505"/>
          </a:xfrm>
          <a:prstGeom prst="rect">
            <a:avLst/>
          </a:prstGeom>
          <a:solidFill>
            <a:srgbClr val="B8C2D8">
              <a:alpha val="55000"/>
            </a:srgbClr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3523878" y="3026916"/>
            <a:ext cx="209476" cy="209476"/>
          </a:xfrm>
          <a:prstGeom prst="ellipse">
            <a:avLst/>
          </a:prstGeom>
          <a:solidFill>
            <a:srgbClr val="FFFFFF"/>
          </a:solidFill>
          <a:ln/>
          <a:effectLst>
            <a:outerShdw blurRad="101600" dist="9525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3485778" y="3026916"/>
            <a:ext cx="285676" cy="2475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kern="0" spc="39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</a:t>
            </a:r>
            <a:endParaRPr lang="en-US" sz="9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3733825" y="3026891"/>
            <a:ext cx="644323" cy="1741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kern="0" spc="2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Extract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704829" y="2950766"/>
            <a:ext cx="1257226" cy="364505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4838154" y="3026916"/>
            <a:ext cx="209476" cy="209476"/>
          </a:xfrm>
          <a:prstGeom prst="ellipse">
            <a:avLst/>
          </a:prstGeom>
          <a:solidFill>
            <a:srgbClr val="FFFFFF"/>
          </a:solidFill>
          <a:ln/>
          <a:effectLst>
            <a:outerShdw blurRad="101600" dist="9525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4800054" y="3026916"/>
            <a:ext cx="285676" cy="2475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/>
            <a:r>
              <a:rPr lang="en-US" sz="900" b="1" kern="0" spc="39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</a:t>
            </a:r>
          </a:p>
        </p:txBody>
      </p:sp>
      <p:sp>
        <p:nvSpPr>
          <p:cNvPr id="25" name="Text 23"/>
          <p:cNvSpPr/>
          <p:nvPr/>
        </p:nvSpPr>
        <p:spPr>
          <a:xfrm>
            <a:off x="5067945" y="3026891"/>
            <a:ext cx="594668" cy="1741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kern="0" spc="20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Dedup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6019105" y="2950766"/>
            <a:ext cx="1257226" cy="364505"/>
          </a:xfrm>
          <a:prstGeom prst="rect">
            <a:avLst/>
          </a:prstGeom>
          <a:solidFill>
            <a:srgbClr val="BF9000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6152430" y="3026916"/>
            <a:ext cx="209476" cy="209476"/>
          </a:xfrm>
          <a:prstGeom prst="ellipse">
            <a:avLst/>
          </a:prstGeom>
          <a:solidFill>
            <a:srgbClr val="FFFFFF"/>
          </a:solidFill>
          <a:ln/>
          <a:effectLst>
            <a:outerShdw blurRad="101600" dist="9525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6114330" y="3026916"/>
            <a:ext cx="285676" cy="2475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kern="0" spc="39" dirty="0">
                <a:solidFill>
                  <a:srgbClr val="BF9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</a:t>
            </a:r>
            <a:endParaRPr lang="en-US" sz="9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6307435" y="3026891"/>
            <a:ext cx="782389" cy="1741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kern="0" spc="2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Geocode</a:t>
            </a:r>
            <a:endParaRPr lang="en-US" sz="12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7333381" y="2950766"/>
            <a:ext cx="1257226" cy="364505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7466707" y="3026916"/>
            <a:ext cx="209476" cy="209476"/>
          </a:xfrm>
          <a:prstGeom prst="ellipse">
            <a:avLst/>
          </a:prstGeom>
          <a:solidFill>
            <a:srgbClr val="FFFFFF"/>
          </a:solidFill>
          <a:ln/>
          <a:effectLst>
            <a:outerShdw blurRad="101600" dist="9525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7428607" y="3026916"/>
            <a:ext cx="285676" cy="2475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en-US" sz="900" b="1" kern="0" spc="39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6</a:t>
            </a:r>
          </a:p>
        </p:txBody>
      </p:sp>
      <p:sp>
        <p:nvSpPr>
          <p:cNvPr id="35" name="Text 33"/>
          <p:cNvSpPr/>
          <p:nvPr/>
        </p:nvSpPr>
        <p:spPr>
          <a:xfrm>
            <a:off x="7716962" y="3026891"/>
            <a:ext cx="543146" cy="1741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kern="0" spc="2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Score</a:t>
            </a:r>
            <a:endParaRPr lang="en-US" sz="12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16695290" y="3217565"/>
            <a:ext cx="716409" cy="18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b="1">
                <a:solidFill>
                  <a:srgbClr val="FFFFFF">
                    <a:alpha val="95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71 ítems</a:t>
            </a:r>
            <a:endParaRPr lang="en-US" sz="105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762000" y="3543746"/>
            <a:ext cx="15087574" cy="47625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</p:spPr>
        <p:txBody>
          <a:bodyPr/>
          <a:lstStyle/>
          <a:p>
            <a:endParaRPr lang="es-ES_tradnl" sz="13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952499" y="3722340"/>
            <a:ext cx="862013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300" b="1" kern="0" spc="149" dirty="0">
                <a:solidFill>
                  <a:srgbClr val="FFFFFF">
                    <a:alpha val="8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PASO 4</a:t>
            </a:r>
            <a:endParaRPr lang="en-US" sz="13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1879575" y="3698528"/>
            <a:ext cx="13444432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300" b="1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Deduplicación</a:t>
            </a: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300" b="1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por</a:t>
            </a: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300" b="1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similitud</a:t>
            </a:r>
            <a:endParaRPr lang="en-US" sz="13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14714220" y="3706465"/>
            <a:ext cx="1021054" cy="18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>
                    <a:alpha val="95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38 </a:t>
            </a:r>
            <a:r>
              <a:rPr lang="en-US" sz="1300" b="1" dirty="0" err="1">
                <a:solidFill>
                  <a:srgbClr val="FFFFFF">
                    <a:alpha val="95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únicos</a:t>
            </a:r>
            <a:endParaRPr lang="en-US" sz="13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762000" y="4096147"/>
            <a:ext cx="13075915" cy="476250"/>
          </a:xfrm>
          <a:prstGeom prst="roundRect">
            <a:avLst>
              <a:gd name="adj" fmla="val 8000"/>
            </a:avLst>
          </a:prstGeom>
          <a:solidFill>
            <a:srgbClr val="BF9000"/>
          </a:solidFill>
          <a:ln/>
        </p:spPr>
        <p:txBody>
          <a:bodyPr/>
          <a:lstStyle/>
          <a:p>
            <a:endParaRPr lang="es-ES_tradnl" sz="13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952499" y="4274741"/>
            <a:ext cx="862013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300" b="1" kern="0" spc="149" dirty="0">
                <a:solidFill>
                  <a:srgbClr val="FFFFFF">
                    <a:alpha val="8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PASO 5</a:t>
            </a:r>
            <a:endParaRPr lang="en-US" sz="13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1879575" y="4250928"/>
            <a:ext cx="10960319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Geocoded + enriched</a:t>
            </a:r>
            <a:endParaRPr lang="en-US" sz="13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12252960" y="4258866"/>
            <a:ext cx="1470655" cy="18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>
                    <a:alpha val="95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35 con </a:t>
            </a:r>
            <a:r>
              <a:rPr lang="en-US" sz="1300" b="1" dirty="0" err="1">
                <a:solidFill>
                  <a:srgbClr val="FFFFFF">
                    <a:alpha val="95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lat</a:t>
            </a:r>
            <a:r>
              <a:rPr lang="en-US" sz="1300" b="1" dirty="0">
                <a:solidFill>
                  <a:srgbClr val="FFFFFF">
                    <a:alpha val="95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/</a:t>
            </a:r>
            <a:r>
              <a:rPr lang="en-US" sz="1300" b="1" dirty="0" err="1">
                <a:solidFill>
                  <a:srgbClr val="FFFFFF">
                    <a:alpha val="95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lon</a:t>
            </a:r>
            <a:endParaRPr lang="en-US" sz="13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762000" y="4648547"/>
            <a:ext cx="10896574" cy="47625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</p:spPr>
        <p:txBody>
          <a:bodyPr/>
          <a:lstStyle/>
          <a:p>
            <a:endParaRPr lang="es-ES_tradnl" sz="13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0" name="Text 48"/>
          <p:cNvSpPr/>
          <p:nvPr/>
        </p:nvSpPr>
        <p:spPr>
          <a:xfrm>
            <a:off x="952499" y="4827141"/>
            <a:ext cx="862013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300" b="1" kern="0" spc="149" dirty="0">
                <a:solidFill>
                  <a:srgbClr val="FFFFFF">
                    <a:alpha val="8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PASO 6</a:t>
            </a:r>
            <a:endParaRPr lang="en-US" sz="13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1879575" y="4803328"/>
            <a:ext cx="7973789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300" b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Scored &amp; tiered</a:t>
            </a:r>
            <a:endParaRPr lang="en-US" sz="13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9144000" y="4811266"/>
            <a:ext cx="2400275" cy="18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>
                    <a:alpha val="95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22 HIGH · 9 MED · 4 LOW</a:t>
            </a:r>
            <a:endParaRPr lang="en-US" sz="13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11" name="MS Header Group">
            <a:extLst>
              <a:ext uri="{FF2B5EF4-FFF2-40B4-BE49-F238E27FC236}">
                <a16:creationId xmlns:a16="http://schemas.microsoft.com/office/drawing/2014/main" id="{BB935411-8E67-0F01-914C-278CAAF0E88A}"/>
              </a:ext>
            </a:extLst>
          </p:cNvPr>
          <p:cNvGrpSpPr/>
          <p:nvPr/>
        </p:nvGrpSpPr>
        <p:grpSpPr>
          <a:xfrm>
            <a:off x="282819" y="579094"/>
            <a:ext cx="13786134" cy="1057874"/>
            <a:chOff x="92172" y="275827"/>
            <a:chExt cx="9190756" cy="705249"/>
          </a:xfrm>
        </p:grpSpPr>
        <p:sp>
          <p:nvSpPr>
            <p:cNvPr id="16" name="MS Title Box">
              <a:extLst>
                <a:ext uri="{FF2B5EF4-FFF2-40B4-BE49-F238E27FC236}">
                  <a16:creationId xmlns:a16="http://schemas.microsoft.com/office/drawing/2014/main" id="{4A3F17AA-6D08-874A-93A6-9FFAAD5244A8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776292" y="404814"/>
              <a:ext cx="8506636" cy="576262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37160" tIns="68580" rIns="137160" bIns="68580" anchor="ctr"/>
            <a:lstStyle/>
            <a:p>
              <a:pPr>
                <a:lnSpc>
                  <a:spcPts val="3150"/>
                </a:lnSpc>
              </a:pPr>
              <a:r>
                <a:rPr lang="es-ES_tradnl" sz="3000" b="1" dirty="0">
                  <a:solidFill>
                    <a:srgbClr val="002569"/>
                  </a:solidFill>
                  <a:latin typeface="Arial"/>
                </a:rPr>
                <a:t>Pipeline Documento · Pasos 4–6</a:t>
              </a:r>
            </a:p>
            <a:p>
              <a:r>
                <a:rPr lang="es-ES_tradnl" sz="2700" dirty="0" err="1">
                  <a:solidFill>
                    <a:srgbClr val="E0D399">
                      <a:lumMod val="75000"/>
                    </a:srgbClr>
                  </a:solidFill>
                  <a:latin typeface="Arial"/>
                </a:rPr>
                <a:t>Deduplicar</a:t>
              </a:r>
              <a:r>
                <a:rPr lang="es-ES_tradnl" sz="2700" dirty="0">
                  <a:solidFill>
                    <a:srgbClr val="E0D399">
                      <a:lumMod val="75000"/>
                    </a:srgbClr>
                  </a:solidFill>
                  <a:latin typeface="Arial"/>
                </a:rPr>
                <a:t>, </a:t>
              </a:r>
              <a:r>
                <a:rPr lang="es-ES_tradnl" sz="2700" dirty="0" err="1">
                  <a:solidFill>
                    <a:srgbClr val="E0D399">
                      <a:lumMod val="75000"/>
                    </a:srgbClr>
                  </a:solidFill>
                  <a:latin typeface="Arial"/>
                </a:rPr>
                <a:t>geocodificar</a:t>
              </a:r>
              <a:r>
                <a:rPr lang="es-ES_tradnl" sz="2700" dirty="0">
                  <a:solidFill>
                    <a:srgbClr val="E0D399">
                      <a:lumMod val="75000"/>
                    </a:srgbClr>
                  </a:solidFill>
                  <a:latin typeface="Arial"/>
                </a:rPr>
                <a:t>, puntuar</a:t>
              </a:r>
            </a:p>
          </p:txBody>
        </p:sp>
        <p:sp>
          <p:nvSpPr>
            <p:cNvPr id="21" name="MS Number">
              <a:extLst>
                <a:ext uri="{FF2B5EF4-FFF2-40B4-BE49-F238E27FC236}">
                  <a16:creationId xmlns:a16="http://schemas.microsoft.com/office/drawing/2014/main" id="{AC785C07-CE79-F63E-A2A7-1E98E6F5230A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2172" y="275827"/>
              <a:ext cx="477819" cy="70014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148523" tIns="74261" rIns="148523" bIns="74261">
              <a:spAutoFit/>
            </a:bodyPr>
            <a:lstStyle/>
            <a:p>
              <a:pPr algn="ctr"/>
              <a:r>
                <a:rPr lang="es-ES" sz="5850" b="1" kern="0" dirty="0">
                  <a:solidFill>
                    <a:srgbClr val="002569"/>
                  </a:solidFill>
                  <a:latin typeface="Arial"/>
                </a:rPr>
                <a:t>4</a:t>
              </a:r>
            </a:p>
          </p:txBody>
        </p:sp>
        <p:cxnSp>
          <p:nvCxnSpPr>
            <p:cNvPr id="26" name="MS Header Bar">
              <a:extLst>
                <a:ext uri="{FF2B5EF4-FFF2-40B4-BE49-F238E27FC236}">
                  <a16:creationId xmlns:a16="http://schemas.microsoft.com/office/drawing/2014/main" id="{2466205E-0B29-050F-A224-CAFF3ACB3C51}"/>
                </a:ext>
              </a:extLst>
            </p:cNvPr>
            <p:cNvCxnSpPr/>
            <p:nvPr/>
          </p:nvCxnSpPr>
          <p:spPr>
            <a:xfrm>
              <a:off x="570525" y="404814"/>
              <a:ext cx="0" cy="526647"/>
            </a:xfrm>
            <a:prstGeom prst="line">
              <a:avLst/>
            </a:prstGeom>
            <a:ln>
              <a:solidFill>
                <a:schemeClr val="tx2"/>
              </a:solidFill>
            </a:ln>
          </p:spPr>
        </p:cxnSp>
      </p:grpSp>
      <p:sp>
        <p:nvSpPr>
          <p:cNvPr id="80" name="TextBox 79">
            <a:extLst>
              <a:ext uri="{FF2B5EF4-FFF2-40B4-BE49-F238E27FC236}">
                <a16:creationId xmlns:a16="http://schemas.microsoft.com/office/drawing/2014/main" id="{60499C0D-CEAC-A874-77AD-32DE2E52C093}"/>
              </a:ext>
            </a:extLst>
          </p:cNvPr>
          <p:cNvSpPr txBox="1"/>
          <p:nvPr/>
        </p:nvSpPr>
        <p:spPr>
          <a:xfrm>
            <a:off x="1887220" y="5382608"/>
            <a:ext cx="256032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200" b="1" dirty="0" err="1">
                <a:solidFill>
                  <a:srgbClr val="1F3864"/>
                </a:solidFill>
                <a:latin typeface="Consolas"/>
              </a:rPr>
              <a:t>evidence_strength</a:t>
            </a:r>
            <a:endParaRPr sz="1200" b="1" dirty="0">
              <a:solidFill>
                <a:srgbClr val="1F3864"/>
              </a:solidFill>
              <a:latin typeface="Consolas"/>
            </a:endParaRPr>
          </a:p>
        </p:txBody>
      </p:sp>
      <p:sp>
        <p:nvSpPr>
          <p:cNvPr id="81" name="Rounded Rectangle 9041">
            <a:extLst>
              <a:ext uri="{FF2B5EF4-FFF2-40B4-BE49-F238E27FC236}">
                <a16:creationId xmlns:a16="http://schemas.microsoft.com/office/drawing/2014/main" id="{E7FABD72-F3AC-4285-D583-7F5D2E46C191}"/>
              </a:ext>
            </a:extLst>
          </p:cNvPr>
          <p:cNvSpPr/>
          <p:nvPr/>
        </p:nvSpPr>
        <p:spPr>
          <a:xfrm>
            <a:off x="4538980" y="5428327"/>
            <a:ext cx="2194560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ounded Rectangle 9042">
            <a:extLst>
              <a:ext uri="{FF2B5EF4-FFF2-40B4-BE49-F238E27FC236}">
                <a16:creationId xmlns:a16="http://schemas.microsoft.com/office/drawing/2014/main" id="{6D81A911-FB96-0E3E-3D5C-33C063DCD29C}"/>
              </a:ext>
            </a:extLst>
          </p:cNvPr>
          <p:cNvSpPr/>
          <p:nvPr/>
        </p:nvSpPr>
        <p:spPr>
          <a:xfrm>
            <a:off x="4538980" y="5428327"/>
            <a:ext cx="658368" cy="182880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172DE923-2C7B-C942-E2B8-3C212FAD0358}"/>
              </a:ext>
            </a:extLst>
          </p:cNvPr>
          <p:cNvSpPr txBox="1"/>
          <p:nvPr/>
        </p:nvSpPr>
        <p:spPr>
          <a:xfrm>
            <a:off x="6824980" y="5382608"/>
            <a:ext cx="77724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500" b="1">
                <a:solidFill>
                  <a:srgbClr val="1F3864"/>
                </a:solidFill>
                <a:latin typeface="Calibri"/>
              </a:rPr>
              <a:t>30%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03AB4D41-68FC-958E-5B56-1842AB744B59}"/>
              </a:ext>
            </a:extLst>
          </p:cNvPr>
          <p:cNvSpPr txBox="1"/>
          <p:nvPr/>
        </p:nvSpPr>
        <p:spPr>
          <a:xfrm>
            <a:off x="1887220" y="5694265"/>
            <a:ext cx="6922008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dirty="0" err="1">
                <a:solidFill>
                  <a:srgbClr val="404040"/>
                </a:solidFill>
                <a:latin typeface="Calibri"/>
              </a:rPr>
              <a:t>Número</a:t>
            </a:r>
            <a:r>
              <a:rPr sz="1100" dirty="0">
                <a:solidFill>
                  <a:srgbClr val="404040"/>
                </a:solidFill>
                <a:latin typeface="Calibri"/>
              </a:rPr>
              <a:t> de </a:t>
            </a:r>
            <a:r>
              <a:rPr sz="1100" dirty="0" err="1">
                <a:solidFill>
                  <a:srgbClr val="404040"/>
                </a:solidFill>
                <a:latin typeface="Calibri"/>
              </a:rPr>
              <a:t>menciones</a:t>
            </a:r>
            <a:r>
              <a:rPr sz="1100" dirty="0">
                <a:solidFill>
                  <a:srgbClr val="404040"/>
                </a:solidFill>
                <a:latin typeface="Calibri"/>
              </a:rPr>
              <a:t> del </a:t>
            </a:r>
            <a:r>
              <a:rPr sz="1100" dirty="0" err="1">
                <a:solidFill>
                  <a:srgbClr val="404040"/>
                </a:solidFill>
                <a:latin typeface="Calibri"/>
              </a:rPr>
              <a:t>activo</a:t>
            </a:r>
            <a:r>
              <a:rPr sz="1100" dirty="0">
                <a:solidFill>
                  <a:srgbClr val="404040"/>
                </a:solidFill>
                <a:latin typeface="Calibri"/>
              </a:rPr>
              <a:t> </a:t>
            </a:r>
            <a:r>
              <a:rPr sz="1100" dirty="0" err="1">
                <a:solidFill>
                  <a:srgbClr val="404040"/>
                </a:solidFill>
                <a:latin typeface="Calibri"/>
              </a:rPr>
              <a:t>en</a:t>
            </a:r>
            <a:r>
              <a:rPr sz="1100" dirty="0">
                <a:solidFill>
                  <a:srgbClr val="404040"/>
                </a:solidFill>
                <a:latin typeface="Calibri"/>
              </a:rPr>
              <a:t> </a:t>
            </a:r>
            <a:r>
              <a:rPr sz="1100" dirty="0" err="1">
                <a:solidFill>
                  <a:srgbClr val="404040"/>
                </a:solidFill>
                <a:latin typeface="Calibri"/>
              </a:rPr>
              <a:t>el</a:t>
            </a:r>
            <a:r>
              <a:rPr sz="1100" dirty="0">
                <a:solidFill>
                  <a:srgbClr val="404040"/>
                </a:solidFill>
                <a:latin typeface="Calibri"/>
              </a:rPr>
              <a:t> </a:t>
            </a:r>
            <a:r>
              <a:rPr sz="1100" dirty="0" err="1">
                <a:solidFill>
                  <a:srgbClr val="404040"/>
                </a:solidFill>
                <a:latin typeface="Calibri"/>
              </a:rPr>
              <a:t>documento</a:t>
            </a:r>
            <a:r>
              <a:rPr sz="1100" dirty="0">
                <a:solidFill>
                  <a:srgbClr val="404040"/>
                </a:solidFill>
                <a:latin typeface="Calibri"/>
              </a:rPr>
              <a:t>. 1.0 con ≥3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16210CE9-BC4E-9B14-78F1-FD2BA54C5B80}"/>
              </a:ext>
            </a:extLst>
          </p:cNvPr>
          <p:cNvSpPr txBox="1"/>
          <p:nvPr/>
        </p:nvSpPr>
        <p:spPr>
          <a:xfrm>
            <a:off x="1887220" y="6170515"/>
            <a:ext cx="256032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200" b="1" dirty="0" err="1">
                <a:solidFill>
                  <a:srgbClr val="1F3864"/>
                </a:solidFill>
                <a:latin typeface="Consolas"/>
              </a:rPr>
              <a:t>address_specificity</a:t>
            </a:r>
            <a:endParaRPr sz="1200" b="1" dirty="0">
              <a:solidFill>
                <a:srgbClr val="1F3864"/>
              </a:solidFill>
              <a:latin typeface="Consolas"/>
            </a:endParaRPr>
          </a:p>
        </p:txBody>
      </p:sp>
      <p:sp>
        <p:nvSpPr>
          <p:cNvPr id="86" name="Rounded Rectangle 9046">
            <a:extLst>
              <a:ext uri="{FF2B5EF4-FFF2-40B4-BE49-F238E27FC236}">
                <a16:creationId xmlns:a16="http://schemas.microsoft.com/office/drawing/2014/main" id="{C33596CF-52B7-1147-13EB-AF20C81B3E53}"/>
              </a:ext>
            </a:extLst>
          </p:cNvPr>
          <p:cNvSpPr/>
          <p:nvPr/>
        </p:nvSpPr>
        <p:spPr>
          <a:xfrm>
            <a:off x="4538980" y="6178136"/>
            <a:ext cx="2194560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Rounded Rectangle 9047">
            <a:extLst>
              <a:ext uri="{FF2B5EF4-FFF2-40B4-BE49-F238E27FC236}">
                <a16:creationId xmlns:a16="http://schemas.microsoft.com/office/drawing/2014/main" id="{A20E9D4E-2401-A85B-A0DD-8995D48211FB}"/>
              </a:ext>
            </a:extLst>
          </p:cNvPr>
          <p:cNvSpPr/>
          <p:nvPr/>
        </p:nvSpPr>
        <p:spPr>
          <a:xfrm>
            <a:off x="4538980" y="6178136"/>
            <a:ext cx="438912" cy="182880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CDA8EC5D-7780-008C-3DCA-2BE3827F1A3C}"/>
              </a:ext>
            </a:extLst>
          </p:cNvPr>
          <p:cNvSpPr txBox="1"/>
          <p:nvPr/>
        </p:nvSpPr>
        <p:spPr>
          <a:xfrm>
            <a:off x="6824980" y="6132415"/>
            <a:ext cx="77724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500" b="1">
                <a:solidFill>
                  <a:srgbClr val="1F3864"/>
                </a:solidFill>
                <a:latin typeface="Calibri"/>
              </a:rPr>
              <a:t>20%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B67432CB-4E1E-2F4D-AF3B-B54C515F6CC7}"/>
              </a:ext>
            </a:extLst>
          </p:cNvPr>
          <p:cNvSpPr txBox="1"/>
          <p:nvPr/>
        </p:nvSpPr>
        <p:spPr>
          <a:xfrm>
            <a:off x="1887220" y="6425024"/>
            <a:ext cx="6922008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>
                <a:solidFill>
                  <a:srgbClr val="404040"/>
                </a:solidFill>
                <a:latin typeface="Calibri"/>
              </a:rPr>
              <a:t>Granularidad de la dirección extraída. Base 0.4; suma 0.2 si ciudad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3A8BCCF2-D726-6C9E-8C58-2086E8B02FC1}"/>
              </a:ext>
            </a:extLst>
          </p:cNvPr>
          <p:cNvSpPr txBox="1"/>
          <p:nvPr/>
        </p:nvSpPr>
        <p:spPr>
          <a:xfrm>
            <a:off x="1887220" y="6882224"/>
            <a:ext cx="256032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200" b="1">
                <a:solidFill>
                  <a:srgbClr val="1F3864"/>
                </a:solidFill>
                <a:latin typeface="Consolas"/>
              </a:rPr>
              <a:t>coordinate_source</a:t>
            </a:r>
          </a:p>
        </p:txBody>
      </p:sp>
      <p:sp>
        <p:nvSpPr>
          <p:cNvPr id="91" name="Rounded Rectangle 9051">
            <a:extLst>
              <a:ext uri="{FF2B5EF4-FFF2-40B4-BE49-F238E27FC236}">
                <a16:creationId xmlns:a16="http://schemas.microsoft.com/office/drawing/2014/main" id="{C8AF2016-8783-C94C-A0D6-C3A26D6AF7D8}"/>
              </a:ext>
            </a:extLst>
          </p:cNvPr>
          <p:cNvSpPr/>
          <p:nvPr/>
        </p:nvSpPr>
        <p:spPr>
          <a:xfrm>
            <a:off x="4538980" y="6927944"/>
            <a:ext cx="2194560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Rounded Rectangle 9052">
            <a:extLst>
              <a:ext uri="{FF2B5EF4-FFF2-40B4-BE49-F238E27FC236}">
                <a16:creationId xmlns:a16="http://schemas.microsoft.com/office/drawing/2014/main" id="{78DF5123-AA06-BB46-F45F-49BF70A64BEB}"/>
              </a:ext>
            </a:extLst>
          </p:cNvPr>
          <p:cNvSpPr/>
          <p:nvPr/>
        </p:nvSpPr>
        <p:spPr>
          <a:xfrm>
            <a:off x="4538980" y="6927944"/>
            <a:ext cx="438912" cy="182880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9701EF96-A484-86EB-7576-9F5B876C6E98}"/>
              </a:ext>
            </a:extLst>
          </p:cNvPr>
          <p:cNvSpPr txBox="1"/>
          <p:nvPr/>
        </p:nvSpPr>
        <p:spPr>
          <a:xfrm>
            <a:off x="6824980" y="6882224"/>
            <a:ext cx="77724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500" b="1">
                <a:solidFill>
                  <a:srgbClr val="1F3864"/>
                </a:solidFill>
                <a:latin typeface="Calibri"/>
              </a:rPr>
              <a:t>20%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CC1CD5C0-140A-4355-8012-D0C231C5E1D0}"/>
              </a:ext>
            </a:extLst>
          </p:cNvPr>
          <p:cNvSpPr txBox="1"/>
          <p:nvPr/>
        </p:nvSpPr>
        <p:spPr>
          <a:xfrm>
            <a:off x="1887220" y="7174832"/>
            <a:ext cx="6922008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>
                <a:solidFill>
                  <a:srgbClr val="404040"/>
                </a:solidFill>
                <a:latin typeface="Calibri"/>
              </a:rPr>
              <a:t>Procedencia de coordenadas. 1.0 si reportadas en el documento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43FB3E1E-17CF-781C-9ACE-6D181B738E25}"/>
              </a:ext>
            </a:extLst>
          </p:cNvPr>
          <p:cNvSpPr txBox="1"/>
          <p:nvPr/>
        </p:nvSpPr>
        <p:spPr>
          <a:xfrm>
            <a:off x="1887220" y="7632032"/>
            <a:ext cx="256032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200" b="1">
                <a:solidFill>
                  <a:srgbClr val="1F3864"/>
                </a:solidFill>
                <a:latin typeface="Consolas"/>
              </a:rPr>
              <a:t>name_quality</a:t>
            </a:r>
          </a:p>
        </p:txBody>
      </p:sp>
      <p:sp>
        <p:nvSpPr>
          <p:cNvPr id="96" name="Rounded Rectangle 9056">
            <a:extLst>
              <a:ext uri="{FF2B5EF4-FFF2-40B4-BE49-F238E27FC236}">
                <a16:creationId xmlns:a16="http://schemas.microsoft.com/office/drawing/2014/main" id="{6F79154F-CFDD-54AF-9473-1074BDE9E86B}"/>
              </a:ext>
            </a:extLst>
          </p:cNvPr>
          <p:cNvSpPr/>
          <p:nvPr/>
        </p:nvSpPr>
        <p:spPr>
          <a:xfrm>
            <a:off x="4538980" y="7677752"/>
            <a:ext cx="2194560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Rounded Rectangle 9057">
            <a:extLst>
              <a:ext uri="{FF2B5EF4-FFF2-40B4-BE49-F238E27FC236}">
                <a16:creationId xmlns:a16="http://schemas.microsoft.com/office/drawing/2014/main" id="{3FF28C40-DA2B-2818-EC09-B5B984EF1057}"/>
              </a:ext>
            </a:extLst>
          </p:cNvPr>
          <p:cNvSpPr/>
          <p:nvPr/>
        </p:nvSpPr>
        <p:spPr>
          <a:xfrm>
            <a:off x="4538980" y="7677752"/>
            <a:ext cx="329184" cy="182880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A644963E-0F9D-64B3-F20D-E21534C91CE5}"/>
              </a:ext>
            </a:extLst>
          </p:cNvPr>
          <p:cNvSpPr txBox="1"/>
          <p:nvPr/>
        </p:nvSpPr>
        <p:spPr>
          <a:xfrm>
            <a:off x="6824980" y="7632032"/>
            <a:ext cx="77724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500" b="1">
                <a:solidFill>
                  <a:srgbClr val="1F3864"/>
                </a:solidFill>
                <a:latin typeface="Calibri"/>
              </a:rPr>
              <a:t>15%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6F727193-3ABB-1B91-0E44-9B9C6FEE8080}"/>
              </a:ext>
            </a:extLst>
          </p:cNvPr>
          <p:cNvSpPr txBox="1"/>
          <p:nvPr/>
        </p:nvSpPr>
        <p:spPr>
          <a:xfrm>
            <a:off x="1887220" y="7924640"/>
            <a:ext cx="6922008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>
                <a:solidFill>
                  <a:srgbClr val="404040"/>
                </a:solidFill>
                <a:latin typeface="Calibri"/>
              </a:rPr>
              <a:t>Calidad léxica del nombre. Penaliza nombres &lt;4 caracteres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35E8E31D-AD34-25E9-821E-614E39164DA7}"/>
              </a:ext>
            </a:extLst>
          </p:cNvPr>
          <p:cNvSpPr txBox="1"/>
          <p:nvPr/>
        </p:nvSpPr>
        <p:spPr>
          <a:xfrm>
            <a:off x="1887220" y="8381840"/>
            <a:ext cx="256032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200" b="1">
                <a:solidFill>
                  <a:srgbClr val="1F3864"/>
                </a:solidFill>
                <a:latin typeface="Consolas"/>
              </a:rPr>
              <a:t>llm_confidence</a:t>
            </a:r>
          </a:p>
        </p:txBody>
      </p:sp>
      <p:sp>
        <p:nvSpPr>
          <p:cNvPr id="101" name="Rounded Rectangle 9061">
            <a:extLst>
              <a:ext uri="{FF2B5EF4-FFF2-40B4-BE49-F238E27FC236}">
                <a16:creationId xmlns:a16="http://schemas.microsoft.com/office/drawing/2014/main" id="{BF535156-3762-03E1-CC99-5EEDB92C1542}"/>
              </a:ext>
            </a:extLst>
          </p:cNvPr>
          <p:cNvSpPr/>
          <p:nvPr/>
        </p:nvSpPr>
        <p:spPr>
          <a:xfrm>
            <a:off x="4538980" y="8427560"/>
            <a:ext cx="2194560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Rounded Rectangle 9062">
            <a:extLst>
              <a:ext uri="{FF2B5EF4-FFF2-40B4-BE49-F238E27FC236}">
                <a16:creationId xmlns:a16="http://schemas.microsoft.com/office/drawing/2014/main" id="{0AAF6B78-39F2-7A69-5BDD-E39BC4C6625A}"/>
              </a:ext>
            </a:extLst>
          </p:cNvPr>
          <p:cNvSpPr/>
          <p:nvPr/>
        </p:nvSpPr>
        <p:spPr>
          <a:xfrm>
            <a:off x="4538980" y="8427560"/>
            <a:ext cx="329184" cy="182880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E4972809-1289-9C60-8D9B-72CEC34BFB97}"/>
              </a:ext>
            </a:extLst>
          </p:cNvPr>
          <p:cNvSpPr txBox="1"/>
          <p:nvPr/>
        </p:nvSpPr>
        <p:spPr>
          <a:xfrm>
            <a:off x="6824980" y="8381840"/>
            <a:ext cx="77724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500" b="1">
                <a:solidFill>
                  <a:srgbClr val="1F3864"/>
                </a:solidFill>
                <a:latin typeface="Calibri"/>
              </a:rPr>
              <a:t>15%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E25DCF17-07FA-C889-01C9-10D92B6A5B77}"/>
              </a:ext>
            </a:extLst>
          </p:cNvPr>
          <p:cNvSpPr txBox="1"/>
          <p:nvPr/>
        </p:nvSpPr>
        <p:spPr>
          <a:xfrm>
            <a:off x="1887220" y="8674448"/>
            <a:ext cx="6922008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>
                <a:solidFill>
                  <a:srgbClr val="404040"/>
                </a:solidFill>
                <a:latin typeface="Calibri"/>
              </a:rPr>
              <a:t>Confianza autorreportada por el LLM en la extracción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3"/>
          <p:cNvSpPr/>
          <p:nvPr/>
        </p:nvSpPr>
        <p:spPr>
          <a:xfrm>
            <a:off x="762000" y="1866801"/>
            <a:ext cx="16764000" cy="9525"/>
          </a:xfrm>
          <a:prstGeom prst="rect">
            <a:avLst/>
          </a:prstGeom>
          <a:solidFill>
            <a:srgbClr val="D9D9D9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6" name="Text 4"/>
          <p:cNvSpPr/>
          <p:nvPr/>
        </p:nvSpPr>
        <p:spPr>
          <a:xfrm>
            <a:off x="762000" y="2095500"/>
            <a:ext cx="17266920" cy="6458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Construimos</a:t>
            </a:r>
            <a:r>
              <a:rPr lang="en-US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un </a:t>
            </a:r>
            <a:r>
              <a:rPr lang="en-US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agente</a:t>
            </a:r>
            <a:r>
              <a:rPr lang="en-US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autónomo</a:t>
            </a:r>
            <a:r>
              <a:rPr lang="en-US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que</a:t>
            </a:r>
            <a:r>
              <a:rPr lang="en-US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navega</a:t>
            </a:r>
            <a:r>
              <a:rPr lang="en-US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la web </a:t>
            </a:r>
            <a:r>
              <a:rPr lang="en-US" b="1" dirty="0" err="1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como</a:t>
            </a:r>
            <a:r>
              <a:rPr lang="en-US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lo </a:t>
            </a:r>
            <a:r>
              <a:rPr lang="en-US" b="1" dirty="0" err="1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haría</a:t>
            </a:r>
            <a:r>
              <a:rPr lang="en-US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un </a:t>
            </a:r>
            <a:r>
              <a:rPr lang="en-US" b="1" dirty="0" err="1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analista</a:t>
            </a:r>
            <a:r>
              <a:rPr lang="en-US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humano</a:t>
            </a:r>
            <a:r>
              <a:rPr lang="en-US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busca</a:t>
            </a:r>
            <a:r>
              <a:rPr lang="en-US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evalúa</a:t>
            </a:r>
            <a:r>
              <a:rPr lang="en-US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descarga</a:t>
            </a:r>
            <a:r>
              <a:rPr lang="en-US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y </a:t>
            </a:r>
            <a:r>
              <a:rPr lang="en-US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delega</a:t>
            </a:r>
            <a:r>
              <a:rPr lang="en-US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</a:t>
            </a:r>
            <a:r>
              <a:rPr lang="en-US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procesamiento</a:t>
            </a:r>
            <a:r>
              <a:rPr lang="en-US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al pipeline de </a:t>
            </a:r>
            <a:r>
              <a:rPr lang="en-US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documentos</a:t>
            </a:r>
            <a:r>
              <a:rPr lang="en-US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Mismo</a:t>
            </a:r>
            <a:r>
              <a:rPr lang="en-US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proceso</a:t>
            </a:r>
            <a:r>
              <a:rPr lang="en-US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dos </a:t>
            </a:r>
            <a:r>
              <a:rPr lang="en-US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órdenes</a:t>
            </a:r>
            <a:r>
              <a:rPr lang="en-US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n-US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magnitud</a:t>
            </a:r>
            <a:r>
              <a:rPr lang="en-US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menos</a:t>
            </a:r>
            <a:r>
              <a:rPr lang="en-US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tiempo</a:t>
            </a:r>
            <a:r>
              <a:rPr lang="en-US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762000" y="2950766"/>
            <a:ext cx="1257226" cy="364505"/>
          </a:xfrm>
          <a:prstGeom prst="rect">
            <a:avLst/>
          </a:prstGeom>
          <a:solidFill>
            <a:srgbClr val="B8C2D8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895325" y="3026916"/>
            <a:ext cx="209476" cy="209476"/>
          </a:xfrm>
          <a:prstGeom prst="ellipse">
            <a:avLst/>
          </a:prstGeom>
          <a:solidFill>
            <a:srgbClr val="FFFFFF"/>
          </a:solidFill>
          <a:ln/>
          <a:effectLst>
            <a:outerShdw blurRad="101600" dist="9525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857225" y="3026916"/>
            <a:ext cx="285676" cy="2475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kern="0" spc="39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endParaRPr lang="en-US" sz="9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071910" y="3009746"/>
            <a:ext cx="590171" cy="1741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kern="0" spc="2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Search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2076276" y="2950766"/>
            <a:ext cx="1257226" cy="364505"/>
          </a:xfrm>
          <a:prstGeom prst="rect">
            <a:avLst/>
          </a:prstGeom>
          <a:solidFill>
            <a:srgbClr val="B8C2D8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2209601" y="3026916"/>
            <a:ext cx="209476" cy="209476"/>
          </a:xfrm>
          <a:prstGeom prst="ellipse">
            <a:avLst/>
          </a:prstGeom>
          <a:solidFill>
            <a:srgbClr val="FFFFFF"/>
          </a:solidFill>
          <a:ln/>
          <a:effectLst>
            <a:outerShdw blurRad="101600" dist="9525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2171501" y="3026916"/>
            <a:ext cx="285676" cy="2475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kern="0" spc="39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  <a:endParaRPr lang="en-US" sz="9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2466801" y="3009746"/>
            <a:ext cx="490416" cy="1741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kern="0" spc="2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Fetch</a:t>
            </a:r>
            <a:endParaRPr lang="en-US" sz="12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3390553" y="2950766"/>
            <a:ext cx="1257226" cy="364505"/>
          </a:xfrm>
          <a:prstGeom prst="rect">
            <a:avLst/>
          </a:prstGeom>
          <a:solidFill>
            <a:srgbClr val="B8C2D8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3523878" y="3026916"/>
            <a:ext cx="209476" cy="209476"/>
          </a:xfrm>
          <a:prstGeom prst="ellipse">
            <a:avLst/>
          </a:prstGeom>
          <a:solidFill>
            <a:srgbClr val="FFFFFF"/>
          </a:solidFill>
          <a:ln/>
          <a:effectLst>
            <a:outerShdw blurRad="101600" dist="9525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3485778" y="3026916"/>
            <a:ext cx="285676" cy="2475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kern="0" spc="39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</a:t>
            </a:r>
            <a:endParaRPr lang="en-US" sz="9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3731592" y="3009746"/>
            <a:ext cx="606288" cy="1741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kern="0" spc="2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Review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704829" y="2950766"/>
            <a:ext cx="1257226" cy="364505"/>
          </a:xfrm>
          <a:prstGeom prst="rect">
            <a:avLst/>
          </a:prstGeom>
          <a:solidFill>
            <a:srgbClr val="B8C2D8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838154" y="3026916"/>
            <a:ext cx="209476" cy="209476"/>
          </a:xfrm>
          <a:prstGeom prst="ellipse">
            <a:avLst/>
          </a:prstGeom>
          <a:solidFill>
            <a:srgbClr val="FFFFFF"/>
          </a:solidFill>
          <a:ln/>
          <a:effectLst>
            <a:outerShdw blurRad="101600" dist="9525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800054" y="3026916"/>
            <a:ext cx="285676" cy="2475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kern="0" spc="39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</a:t>
            </a:r>
            <a:endParaRPr lang="en-US" sz="9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5022800" y="3009746"/>
            <a:ext cx="660450" cy="1741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kern="0" spc="2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Validate</a:t>
            </a:r>
            <a:endParaRPr lang="en-US" sz="12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019105" y="2950766"/>
            <a:ext cx="1257226" cy="364505"/>
          </a:xfrm>
          <a:prstGeom prst="rect">
            <a:avLst/>
          </a:prstGeom>
          <a:solidFill>
            <a:srgbClr val="B8C2D8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6152430" y="3026916"/>
            <a:ext cx="209476" cy="209476"/>
          </a:xfrm>
          <a:prstGeom prst="ellipse">
            <a:avLst/>
          </a:prstGeom>
          <a:solidFill>
            <a:srgbClr val="FFFFFF"/>
          </a:solidFill>
          <a:ln/>
          <a:effectLst>
            <a:outerShdw blurRad="101600" dist="9525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114330" y="3026916"/>
            <a:ext cx="285676" cy="2475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kern="0" spc="39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</a:t>
            </a:r>
            <a:endParaRPr lang="en-US" sz="9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6355918" y="3009746"/>
            <a:ext cx="379769" cy="1741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kern="0" spc="2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Run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754063" y="3524722"/>
            <a:ext cx="8296299" cy="5384327"/>
          </a:xfrm>
          <a:prstGeom prst="roundRect">
            <a:avLst>
              <a:gd name="adj" fmla="val 1250"/>
            </a:avLst>
          </a:prstGeom>
          <a:solidFill>
            <a:srgbClr val="E9E9E9"/>
          </a:solidFill>
          <a:ln w="7937">
            <a:solidFill>
              <a:srgbClr val="000000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769937" y="3532683"/>
            <a:ext cx="8280425" cy="857250"/>
          </a:xfrm>
          <a:prstGeom prst="rect">
            <a:avLst/>
          </a:prstGeom>
          <a:solidFill>
            <a:srgbClr val="595959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979413" y="3751771"/>
            <a:ext cx="419075" cy="419075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941313" y="3751771"/>
            <a:ext cx="495275" cy="4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</a:t>
            </a:r>
            <a:endParaRPr lang="en-US" sz="135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1512838" y="3749353"/>
            <a:ext cx="305168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100" b="1" kern="0" spc="156" dirty="0">
                <a:solidFill>
                  <a:srgbClr val="FFFFFF">
                    <a:alpha val="85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ANALISTA HUMANO · AS IS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1512838" y="3911203"/>
            <a:ext cx="305168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r>
              <a:rPr lang="en-US" sz="1800" b="1" kern="0" spc="18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Proceso</a:t>
            </a:r>
            <a:r>
              <a:rPr lang="en-US" sz="1800" b="1" kern="0" spc="18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b="1" kern="0" spc="18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clásico</a:t>
            </a:r>
            <a:r>
              <a:rPr lang="en-US" sz="1800" b="1" kern="0" spc="18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s-ES_tradnl" dirty="0">
                <a:solidFill>
                  <a:schemeClr val="bg1"/>
                </a:solidFill>
              </a:rPr>
              <a:t>~</a:t>
            </a:r>
            <a:r>
              <a:rPr lang="en-US" sz="1800" b="1" kern="0" spc="18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 horas)</a:t>
            </a: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1252513" y="4840709"/>
            <a:ext cx="8001074" cy="12220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Buscar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Google con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varias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variantes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del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nombre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sz="13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l">
              <a:lnSpc>
                <a:spcPct val="145000"/>
              </a:lnSpc>
              <a:buNone/>
            </a:pP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Abrir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las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primeras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10 URLs y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juzgar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relevancia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sz="13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l">
              <a:lnSpc>
                <a:spcPct val="145000"/>
              </a:lnSpc>
              <a:buNone/>
            </a:pP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Descargar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memorias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informes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y landings de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filiales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sz="13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l">
              <a:lnSpc>
                <a:spcPct val="145000"/>
              </a:lnSpc>
              <a:buNone/>
            </a:pP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Leer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cada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documento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y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extraer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activos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 mano.</a:t>
            </a:r>
            <a:endParaRPr lang="en-US" sz="13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998513" y="6488479"/>
            <a:ext cx="7823274" cy="69043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998513" y="6488479"/>
            <a:ext cx="23813" cy="690438"/>
          </a:xfrm>
          <a:prstGeom prst="rect">
            <a:avLst/>
          </a:prstGeom>
          <a:solidFill>
            <a:srgbClr val="595959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1193726" y="6621804"/>
            <a:ext cx="7680361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b="1" kern="0" spc="149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TIEMPO MEDIO</a:t>
            </a:r>
            <a:endParaRPr lang="en-US" sz="825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1193726" y="6778943"/>
            <a:ext cx="7680361" cy="304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~3 h</a:t>
            </a:r>
            <a:endParaRPr lang="en-US" sz="2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998513" y="7605588"/>
            <a:ext cx="8057972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400" b="1" kern="0" spc="149" dirty="0">
                <a:solidFill>
                  <a:srgbClr val="BF9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PROBLEMAS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998513" y="7953176"/>
            <a:ext cx="8057972" cy="2447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 reproducible · sin scoring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objetivo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·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escala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mal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lotes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empresas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sz="13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9229700" y="3524746"/>
            <a:ext cx="8296299" cy="5384303"/>
          </a:xfrm>
          <a:prstGeom prst="roundRect">
            <a:avLst>
              <a:gd name="adj" fmla="val 1250"/>
            </a:avLst>
          </a:prstGeom>
          <a:solidFill>
            <a:srgbClr val="E5E9F1"/>
          </a:solidFill>
          <a:ln w="7937">
            <a:solidFill>
              <a:srgbClr val="000000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9237637" y="3532683"/>
            <a:ext cx="8280425" cy="857250"/>
          </a:xfrm>
          <a:prstGeom prst="rect">
            <a:avLst/>
          </a:prstGeom>
          <a:solidFill>
            <a:srgbClr val="14284D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9447113" y="3751771"/>
            <a:ext cx="419075" cy="419075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9409013" y="3751771"/>
            <a:ext cx="495275" cy="4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>
                <a:solidFill>
                  <a:srgbClr val="14284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endParaRPr lang="en-US" sz="135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9980537" y="3749353"/>
            <a:ext cx="3166266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100" b="1" kern="0" spc="156" dirty="0">
                <a:solidFill>
                  <a:srgbClr val="FFFFFF">
                    <a:alpha val="85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AGENTE IA · TO BE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9980537" y="3911203"/>
            <a:ext cx="3166266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r>
              <a:rPr lang="en-US" sz="1800" b="1" kern="0" spc="18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Mismo</a:t>
            </a:r>
            <a:r>
              <a:rPr lang="en-US" sz="1800" b="1" kern="0" spc="18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b="1" kern="0" spc="18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proceso</a:t>
            </a:r>
            <a:r>
              <a:rPr lang="en-US" sz="1800" b="1" kern="0" spc="18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s-ES_tradnl" dirty="0">
                <a:solidFill>
                  <a:schemeClr val="bg1"/>
                </a:solidFill>
              </a:rPr>
              <a:t>~</a:t>
            </a:r>
            <a:r>
              <a:rPr lang="en-US" sz="1800" b="1" kern="0" spc="18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 </a:t>
            </a:r>
            <a:r>
              <a:rPr lang="en-US" sz="1800" b="1" kern="0" spc="18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minutos</a:t>
            </a: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9466213" y="4574000"/>
            <a:ext cx="8057972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400" b="1" kern="0" spc="149" dirty="0">
                <a:solidFill>
                  <a:srgbClr val="BF9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STACK DEL AGENTE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9624715" y="4839022"/>
            <a:ext cx="544885" cy="2313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00" b="1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CrewAI</a:t>
            </a:r>
            <a:endParaRPr lang="en-US" sz="13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10257228" y="4854897"/>
            <a:ext cx="4229751" cy="188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45000"/>
              </a:lnSpc>
            </a:pP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—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orquesta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los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roles del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agente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y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planifica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acciones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sz="13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9624715" y="5108401"/>
            <a:ext cx="1828145" cy="2313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00" b="1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DuckDuckGo MCP</a:t>
            </a:r>
            <a:endParaRPr lang="en-US" sz="13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0" name="Text 48"/>
          <p:cNvSpPr/>
          <p:nvPr/>
        </p:nvSpPr>
        <p:spPr>
          <a:xfrm>
            <a:off x="10981649" y="5124276"/>
            <a:ext cx="4939733" cy="188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—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búsqueda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web sin API key,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vía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Model Context Protocol.</a:t>
            </a:r>
            <a:endParaRPr lang="en-US" sz="13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9624714" y="5377780"/>
            <a:ext cx="2468226" cy="2313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00" b="1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OpenAI GPT-4o </a:t>
            </a:r>
            <a:r>
              <a:rPr lang="en-US" sz="1300" b="1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vía</a:t>
            </a:r>
            <a:r>
              <a:rPr lang="en-US" sz="1300" b="1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300" b="1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LiteLLM</a:t>
            </a:r>
            <a:endParaRPr lang="en-US" sz="13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11579566" y="5393655"/>
            <a:ext cx="4148113" cy="188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45000"/>
              </a:lnSpc>
            </a:pP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—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razona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sobre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relevancia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cada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URL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candidata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sz="13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9624715" y="5647159"/>
            <a:ext cx="1630733" cy="2313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00" b="1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Document pipeline</a:t>
            </a:r>
            <a:endParaRPr lang="en-US" sz="13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4" name="Text 52"/>
          <p:cNvSpPr/>
          <p:nvPr/>
        </p:nvSpPr>
        <p:spPr>
          <a:xfrm>
            <a:off x="11011168" y="5663034"/>
            <a:ext cx="2692200" cy="188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45000"/>
              </a:lnSpc>
            </a:pP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—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reutilizado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para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análisis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final.</a:t>
            </a:r>
            <a:endParaRPr lang="en-US" sz="13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5" name="Shape 53"/>
          <p:cNvSpPr/>
          <p:nvPr/>
        </p:nvSpPr>
        <p:spPr>
          <a:xfrm>
            <a:off x="9466213" y="6494413"/>
            <a:ext cx="7823274" cy="690438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6" name="Shape 54"/>
          <p:cNvSpPr/>
          <p:nvPr/>
        </p:nvSpPr>
        <p:spPr>
          <a:xfrm>
            <a:off x="9466213" y="6494413"/>
            <a:ext cx="23813" cy="690438"/>
          </a:xfrm>
          <a:prstGeom prst="rect">
            <a:avLst/>
          </a:prstGeom>
          <a:solidFill>
            <a:srgbClr val="14284D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7" name="Text 55"/>
          <p:cNvSpPr/>
          <p:nvPr/>
        </p:nvSpPr>
        <p:spPr>
          <a:xfrm>
            <a:off x="9661425" y="6627738"/>
            <a:ext cx="7680361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b="1" kern="0" spc="149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TIEMPO MEDIO</a:t>
            </a:r>
            <a:endParaRPr lang="en-US" sz="825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8" name="Text 56"/>
          <p:cNvSpPr/>
          <p:nvPr/>
        </p:nvSpPr>
        <p:spPr>
          <a:xfrm>
            <a:off x="9661425" y="6784876"/>
            <a:ext cx="7680361" cy="304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14284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~3 min</a:t>
            </a:r>
            <a:endParaRPr lang="en-US" sz="2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9" name="Text 57"/>
          <p:cNvSpPr/>
          <p:nvPr/>
        </p:nvSpPr>
        <p:spPr>
          <a:xfrm>
            <a:off x="9466213" y="7605588"/>
            <a:ext cx="8057972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400" b="1" kern="0" spc="149" dirty="0">
                <a:solidFill>
                  <a:srgbClr val="BF9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DECISIÓN CLAVE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0" name="Text 58"/>
          <p:cNvSpPr/>
          <p:nvPr/>
        </p:nvSpPr>
        <p:spPr>
          <a:xfrm>
            <a:off x="9466213" y="7953176"/>
            <a:ext cx="8057972" cy="2526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Reutilizar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pipeline de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documentos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vez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duplicarlo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—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agente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sólo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tiene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que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300" b="1" dirty="0" err="1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encontrar</a:t>
            </a:r>
            <a:r>
              <a:rPr lang="en-US" sz="13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documentos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válidos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sz="13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2" name="Text 60"/>
          <p:cNvSpPr/>
          <p:nvPr/>
        </p:nvSpPr>
        <p:spPr>
          <a:xfrm>
            <a:off x="17128380" y="9893350"/>
            <a:ext cx="473819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00" kern="0" spc="54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 / 41</a:t>
            </a:r>
            <a:endParaRPr lang="en-US" sz="900"/>
          </a:p>
        </p:txBody>
      </p:sp>
      <p:grpSp>
        <p:nvGrpSpPr>
          <p:cNvPr id="63" name="MS Header Group">
            <a:extLst>
              <a:ext uri="{FF2B5EF4-FFF2-40B4-BE49-F238E27FC236}">
                <a16:creationId xmlns:a16="http://schemas.microsoft.com/office/drawing/2014/main" id="{5AEFDA78-079D-086E-F03D-E8D6B1BA9B4D}"/>
              </a:ext>
            </a:extLst>
          </p:cNvPr>
          <p:cNvGrpSpPr/>
          <p:nvPr/>
        </p:nvGrpSpPr>
        <p:grpSpPr>
          <a:xfrm>
            <a:off x="282819" y="579094"/>
            <a:ext cx="13786134" cy="1057874"/>
            <a:chOff x="92172" y="275827"/>
            <a:chExt cx="9190756" cy="705249"/>
          </a:xfrm>
        </p:grpSpPr>
        <p:sp>
          <p:nvSpPr>
            <p:cNvPr id="64" name="MS Title Box">
              <a:extLst>
                <a:ext uri="{FF2B5EF4-FFF2-40B4-BE49-F238E27FC236}">
                  <a16:creationId xmlns:a16="http://schemas.microsoft.com/office/drawing/2014/main" id="{33F0CF4D-6994-AA09-FA24-91254F47458A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776292" y="404814"/>
              <a:ext cx="8506636" cy="576262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37160" tIns="68580" rIns="137160" bIns="68580" anchor="ctr"/>
            <a:lstStyle/>
            <a:p>
              <a:pPr>
                <a:lnSpc>
                  <a:spcPts val="3150"/>
                </a:lnSpc>
              </a:pPr>
              <a:r>
                <a:rPr lang="es-ES_tradnl" sz="3000" b="1" dirty="0">
                  <a:solidFill>
                    <a:srgbClr val="002569"/>
                  </a:solidFill>
                  <a:latin typeface="Arial"/>
                </a:rPr>
                <a:t>Pipeline Agente · Introducción</a:t>
              </a:r>
            </a:p>
            <a:p>
              <a:r>
                <a:rPr lang="es-ES_tradnl" sz="2700" dirty="0">
                  <a:solidFill>
                    <a:srgbClr val="E0D399">
                      <a:lumMod val="75000"/>
                    </a:srgbClr>
                  </a:solidFill>
                  <a:latin typeface="Arial"/>
                </a:rPr>
                <a:t>¿Y si la empresa no está en </a:t>
              </a:r>
              <a:r>
                <a:rPr lang="es-ES_tradnl" sz="2700" dirty="0" err="1">
                  <a:solidFill>
                    <a:srgbClr val="E0D399">
                      <a:lumMod val="75000"/>
                    </a:srgbClr>
                  </a:solidFill>
                  <a:latin typeface="Arial"/>
                </a:rPr>
                <a:t>Maps</a:t>
              </a:r>
              <a:r>
                <a:rPr lang="es-ES_tradnl" sz="2700" dirty="0">
                  <a:solidFill>
                    <a:srgbClr val="E0D399">
                      <a:lumMod val="75000"/>
                    </a:srgbClr>
                  </a:solidFill>
                  <a:latin typeface="Arial"/>
                </a:rPr>
                <a:t> ni hay documento?</a:t>
              </a:r>
            </a:p>
          </p:txBody>
        </p:sp>
        <p:sp>
          <p:nvSpPr>
            <p:cNvPr id="65" name="MS Number">
              <a:extLst>
                <a:ext uri="{FF2B5EF4-FFF2-40B4-BE49-F238E27FC236}">
                  <a16:creationId xmlns:a16="http://schemas.microsoft.com/office/drawing/2014/main" id="{4730389D-F208-E953-32C2-B5010DC45484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2172" y="275827"/>
              <a:ext cx="477819" cy="70014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148523" tIns="74261" rIns="148523" bIns="74261">
              <a:spAutoFit/>
            </a:bodyPr>
            <a:lstStyle/>
            <a:p>
              <a:pPr algn="ctr"/>
              <a:r>
                <a:rPr lang="es-ES" sz="5850" b="1" kern="0" dirty="0">
                  <a:solidFill>
                    <a:srgbClr val="002569"/>
                  </a:solidFill>
                  <a:latin typeface="Arial"/>
                </a:rPr>
                <a:t>4</a:t>
              </a:r>
            </a:p>
          </p:txBody>
        </p:sp>
        <p:cxnSp>
          <p:nvCxnSpPr>
            <p:cNvPr id="66" name="MS Header Bar">
              <a:extLst>
                <a:ext uri="{FF2B5EF4-FFF2-40B4-BE49-F238E27FC236}">
                  <a16:creationId xmlns:a16="http://schemas.microsoft.com/office/drawing/2014/main" id="{F6CE0882-2024-1710-8528-4BAF6AE07644}"/>
                </a:ext>
              </a:extLst>
            </p:cNvPr>
            <p:cNvCxnSpPr/>
            <p:nvPr/>
          </p:nvCxnSpPr>
          <p:spPr>
            <a:xfrm>
              <a:off x="570525" y="404814"/>
              <a:ext cx="0" cy="526647"/>
            </a:xfrm>
            <a:prstGeom prst="line">
              <a:avLst/>
            </a:prstGeom>
            <a:ln>
              <a:solidFill>
                <a:schemeClr val="tx2"/>
              </a:solidFill>
            </a:ln>
          </p:spPr>
        </p:cxnSp>
      </p:grpSp>
      <p:sp>
        <p:nvSpPr>
          <p:cNvPr id="68" name="Text 44">
            <a:extLst>
              <a:ext uri="{FF2B5EF4-FFF2-40B4-BE49-F238E27FC236}">
                <a16:creationId xmlns:a16="http://schemas.microsoft.com/office/drawing/2014/main" id="{25EC235B-8753-B4AC-F1FE-18BDBFDBC517}"/>
              </a:ext>
            </a:extLst>
          </p:cNvPr>
          <p:cNvSpPr/>
          <p:nvPr/>
        </p:nvSpPr>
        <p:spPr>
          <a:xfrm>
            <a:off x="979413" y="4574000"/>
            <a:ext cx="8057972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400" b="1" kern="0" spc="149" dirty="0">
                <a:solidFill>
                  <a:srgbClr val="BF9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TAREAS ACTUALES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3"/>
          <p:cNvSpPr/>
          <p:nvPr/>
        </p:nvSpPr>
        <p:spPr>
          <a:xfrm>
            <a:off x="762000" y="1866801"/>
            <a:ext cx="16764000" cy="9525"/>
          </a:xfrm>
          <a:prstGeom prst="rect">
            <a:avLst/>
          </a:prstGeom>
          <a:solidFill>
            <a:srgbClr val="D9D9D9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6" name="Text 4"/>
          <p:cNvSpPr/>
          <p:nvPr/>
        </p:nvSpPr>
        <p:spPr>
          <a:xfrm>
            <a:off x="762000" y="2095500"/>
            <a:ext cx="17266920" cy="6458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Streaming SSE. </a:t>
            </a:r>
            <a:r>
              <a:rPr lang="en-US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Cada </a:t>
            </a:r>
            <a:r>
              <a:rPr lang="en-US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decisión</a:t>
            </a:r>
            <a:r>
              <a:rPr lang="en-US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del </a:t>
            </a:r>
            <a:r>
              <a:rPr lang="en-US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agente</a:t>
            </a:r>
            <a:r>
              <a:rPr lang="en-US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se </a:t>
            </a:r>
            <a:r>
              <a:rPr lang="en-US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emite</a:t>
            </a:r>
            <a:r>
              <a:rPr lang="en-US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como</a:t>
            </a:r>
            <a:r>
              <a:rPr lang="en-US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evento</a:t>
            </a:r>
            <a:r>
              <a:rPr lang="en-US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</a:t>
            </a:r>
            <a:r>
              <a:rPr lang="en-US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frontend </a:t>
            </a:r>
            <a:r>
              <a:rPr lang="en-US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muestra</a:t>
            </a:r>
            <a:r>
              <a:rPr lang="en-US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la </a:t>
            </a:r>
            <a:r>
              <a:rPr lang="en-US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cadena</a:t>
            </a:r>
            <a:r>
              <a:rPr lang="en-US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n-US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pensamiento</a:t>
            </a:r>
            <a:r>
              <a:rPr lang="en-US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las URLs </a:t>
            </a:r>
            <a:r>
              <a:rPr lang="en-US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encontradas</a:t>
            </a:r>
            <a:r>
              <a:rPr lang="en-US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los</a:t>
            </a:r>
            <a:r>
              <a:rPr lang="en-US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aceptados</a:t>
            </a:r>
            <a:r>
              <a:rPr lang="en-US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y </a:t>
            </a:r>
            <a:r>
              <a:rPr lang="en-US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los</a:t>
            </a:r>
            <a:r>
              <a:rPr lang="en-US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rechazados</a:t>
            </a:r>
            <a:r>
              <a:rPr lang="en-US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Sin </a:t>
            </a:r>
            <a:r>
              <a:rPr lang="en-US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caja</a:t>
            </a:r>
            <a:r>
              <a:rPr lang="en-US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negra</a:t>
            </a:r>
            <a:r>
              <a:rPr lang="en-US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762001" y="3562821"/>
            <a:ext cx="7961222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400" b="1" kern="0" spc="149" dirty="0">
                <a:solidFill>
                  <a:srgbClr val="BF9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EVENTOS DEL AGENTE · VÍA SSE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762001" y="3891359"/>
            <a:ext cx="7729342" cy="383977"/>
          </a:xfrm>
          <a:prstGeom prst="roundRect">
            <a:avLst>
              <a:gd name="adj" fmla="val 744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s-ES_tradnl" sz="11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762001" y="4267398"/>
            <a:ext cx="7729342" cy="9525"/>
          </a:xfrm>
          <a:prstGeom prst="rect">
            <a:avLst/>
          </a:prstGeom>
          <a:solidFill>
            <a:srgbClr val="ECECEC"/>
          </a:solidFill>
          <a:ln/>
        </p:spPr>
        <p:txBody>
          <a:bodyPr/>
          <a:lstStyle/>
          <a:p>
            <a:endParaRPr lang="es-ES_tradnl" sz="11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762001" y="3891359"/>
            <a:ext cx="7729342" cy="9525"/>
          </a:xfrm>
          <a:prstGeom prst="rect">
            <a:avLst/>
          </a:prstGeom>
          <a:solidFill>
            <a:srgbClr val="ECECEC"/>
          </a:solidFill>
          <a:ln/>
        </p:spPr>
        <p:txBody>
          <a:bodyPr/>
          <a:lstStyle/>
          <a:p>
            <a:endParaRPr lang="es-ES_tradnl" sz="11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762000" y="3891359"/>
            <a:ext cx="51489" cy="383977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es-ES_tradnl" sz="11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8452966" y="3891359"/>
            <a:ext cx="51489" cy="383977"/>
          </a:xfrm>
          <a:prstGeom prst="rect">
            <a:avLst/>
          </a:prstGeom>
          <a:solidFill>
            <a:srgbClr val="ECECEC"/>
          </a:solidFill>
          <a:ln/>
        </p:spPr>
        <p:txBody>
          <a:bodyPr/>
          <a:lstStyle/>
          <a:p>
            <a:endParaRPr lang="es-ES_tradnl" sz="11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938113" y="3981748"/>
            <a:ext cx="1154028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100" b="1" kern="0" spc="36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thinking</a:t>
            </a:r>
            <a:endParaRPr lang="en-US" sz="11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2309688" y="3965872"/>
            <a:ext cx="6416755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1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Planifica</a:t>
            </a:r>
            <a:r>
              <a:rPr lang="en-US" sz="11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1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próximas</a:t>
            </a:r>
            <a:r>
              <a:rPr lang="en-US" sz="11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queries y </a:t>
            </a:r>
            <a:r>
              <a:rPr lang="en-US" sz="11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razona</a:t>
            </a:r>
            <a:r>
              <a:rPr lang="en-US" sz="11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1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sobre</a:t>
            </a:r>
            <a:r>
              <a:rPr lang="en-US" sz="11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lo </a:t>
            </a:r>
            <a:r>
              <a:rPr lang="en-US" sz="11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que</a:t>
            </a:r>
            <a:r>
              <a:rPr lang="en-US" sz="11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1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ya</a:t>
            </a:r>
            <a:r>
              <a:rPr lang="en-US" sz="11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ha </a:t>
            </a:r>
            <a:r>
              <a:rPr lang="en-US" sz="11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encontrado</a:t>
            </a:r>
            <a:r>
              <a:rPr lang="en-US" sz="11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762001" y="4408661"/>
            <a:ext cx="7729342" cy="383977"/>
          </a:xfrm>
          <a:prstGeom prst="roundRect">
            <a:avLst>
              <a:gd name="adj" fmla="val 744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s-ES_tradnl" sz="11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762001" y="4784700"/>
            <a:ext cx="7729342" cy="9525"/>
          </a:xfrm>
          <a:prstGeom prst="rect">
            <a:avLst/>
          </a:prstGeom>
          <a:solidFill>
            <a:srgbClr val="ECECEC"/>
          </a:solidFill>
          <a:ln/>
        </p:spPr>
        <p:txBody>
          <a:bodyPr/>
          <a:lstStyle/>
          <a:p>
            <a:endParaRPr lang="es-ES_tradnl" sz="11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762001" y="4408661"/>
            <a:ext cx="7729342" cy="9525"/>
          </a:xfrm>
          <a:prstGeom prst="rect">
            <a:avLst/>
          </a:prstGeom>
          <a:solidFill>
            <a:srgbClr val="ECECEC"/>
          </a:solidFill>
          <a:ln/>
        </p:spPr>
        <p:txBody>
          <a:bodyPr/>
          <a:lstStyle/>
          <a:p>
            <a:endParaRPr lang="es-ES_tradnl" sz="11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762000" y="4408661"/>
            <a:ext cx="51489" cy="383977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es-ES_tradnl" sz="11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8452966" y="4408661"/>
            <a:ext cx="51489" cy="383977"/>
          </a:xfrm>
          <a:prstGeom prst="rect">
            <a:avLst/>
          </a:prstGeom>
          <a:solidFill>
            <a:srgbClr val="ECECEC"/>
          </a:solidFill>
          <a:ln/>
        </p:spPr>
        <p:txBody>
          <a:bodyPr/>
          <a:lstStyle/>
          <a:p>
            <a:endParaRPr lang="es-ES_tradnl" sz="11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938113" y="4499049"/>
            <a:ext cx="1154028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100" b="1" kern="0" spc="36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searching</a:t>
            </a:r>
            <a:endParaRPr lang="en-US" sz="11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2309688" y="4483174"/>
            <a:ext cx="6416755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Lanza </a:t>
            </a:r>
            <a:r>
              <a:rPr lang="en-US" sz="11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búsqueda</a:t>
            </a:r>
            <a:r>
              <a:rPr lang="en-US" sz="11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web </a:t>
            </a:r>
            <a:r>
              <a:rPr lang="en-US" sz="11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vía</a:t>
            </a:r>
            <a:r>
              <a:rPr lang="en-US" sz="11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DuckDuckGo MCP.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762001" y="4925963"/>
            <a:ext cx="7729342" cy="383977"/>
          </a:xfrm>
          <a:prstGeom prst="roundRect">
            <a:avLst>
              <a:gd name="adj" fmla="val 744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s-ES_tradnl" sz="11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762001" y="5302002"/>
            <a:ext cx="7729342" cy="9525"/>
          </a:xfrm>
          <a:prstGeom prst="rect">
            <a:avLst/>
          </a:prstGeom>
          <a:solidFill>
            <a:srgbClr val="ECECEC"/>
          </a:solidFill>
          <a:ln/>
        </p:spPr>
        <p:txBody>
          <a:bodyPr/>
          <a:lstStyle/>
          <a:p>
            <a:endParaRPr lang="es-ES_tradnl" sz="11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762001" y="4925963"/>
            <a:ext cx="7729342" cy="9525"/>
          </a:xfrm>
          <a:prstGeom prst="rect">
            <a:avLst/>
          </a:prstGeom>
          <a:solidFill>
            <a:srgbClr val="ECECEC"/>
          </a:solidFill>
          <a:ln/>
        </p:spPr>
        <p:txBody>
          <a:bodyPr/>
          <a:lstStyle/>
          <a:p>
            <a:endParaRPr lang="es-ES_tradnl" sz="11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762000" y="4925963"/>
            <a:ext cx="51489" cy="383977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es-ES_tradnl" sz="11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8452966" y="4925963"/>
            <a:ext cx="51489" cy="383977"/>
          </a:xfrm>
          <a:prstGeom prst="rect">
            <a:avLst/>
          </a:prstGeom>
          <a:solidFill>
            <a:srgbClr val="ECECEC"/>
          </a:solidFill>
          <a:ln/>
        </p:spPr>
        <p:txBody>
          <a:bodyPr/>
          <a:lstStyle/>
          <a:p>
            <a:endParaRPr lang="es-ES_tradnl" sz="11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0" name="Text 48"/>
          <p:cNvSpPr/>
          <p:nvPr/>
        </p:nvSpPr>
        <p:spPr>
          <a:xfrm>
            <a:off x="938113" y="5016351"/>
            <a:ext cx="1154028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100" b="1" kern="0" spc="36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found_urls</a:t>
            </a:r>
            <a:endParaRPr lang="en-US" sz="11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2309688" y="5000476"/>
            <a:ext cx="6416755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1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Devuelve</a:t>
            </a:r>
            <a:r>
              <a:rPr lang="en-US" sz="11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URLs </a:t>
            </a:r>
            <a:r>
              <a:rPr lang="en-US" sz="11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candidatas</a:t>
            </a:r>
            <a:r>
              <a:rPr lang="en-US" sz="11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con </a:t>
            </a:r>
            <a:r>
              <a:rPr lang="en-US" sz="11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título</a:t>
            </a:r>
            <a:r>
              <a:rPr lang="en-US" sz="11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y snippet.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2" name="Shape 50"/>
          <p:cNvSpPr/>
          <p:nvPr/>
        </p:nvSpPr>
        <p:spPr>
          <a:xfrm>
            <a:off x="762001" y="5443264"/>
            <a:ext cx="7729342" cy="383977"/>
          </a:xfrm>
          <a:prstGeom prst="roundRect">
            <a:avLst>
              <a:gd name="adj" fmla="val 744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s-ES_tradnl" sz="11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3" name="Shape 51"/>
          <p:cNvSpPr/>
          <p:nvPr/>
        </p:nvSpPr>
        <p:spPr>
          <a:xfrm>
            <a:off x="762001" y="5819303"/>
            <a:ext cx="7729342" cy="9525"/>
          </a:xfrm>
          <a:prstGeom prst="rect">
            <a:avLst/>
          </a:prstGeom>
          <a:solidFill>
            <a:srgbClr val="ECECEC"/>
          </a:solidFill>
          <a:ln/>
        </p:spPr>
        <p:txBody>
          <a:bodyPr/>
          <a:lstStyle/>
          <a:p>
            <a:endParaRPr lang="es-ES_tradnl" sz="11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4" name="Shape 52"/>
          <p:cNvSpPr/>
          <p:nvPr/>
        </p:nvSpPr>
        <p:spPr>
          <a:xfrm>
            <a:off x="762001" y="5443264"/>
            <a:ext cx="7729342" cy="9525"/>
          </a:xfrm>
          <a:prstGeom prst="rect">
            <a:avLst/>
          </a:prstGeom>
          <a:solidFill>
            <a:srgbClr val="ECECEC"/>
          </a:solidFill>
          <a:ln/>
        </p:spPr>
        <p:txBody>
          <a:bodyPr/>
          <a:lstStyle/>
          <a:p>
            <a:endParaRPr lang="es-ES_tradnl" sz="11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5" name="Shape 53"/>
          <p:cNvSpPr/>
          <p:nvPr/>
        </p:nvSpPr>
        <p:spPr>
          <a:xfrm>
            <a:off x="762000" y="5443264"/>
            <a:ext cx="51489" cy="383977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es-ES_tradnl" sz="11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6" name="Shape 54"/>
          <p:cNvSpPr/>
          <p:nvPr/>
        </p:nvSpPr>
        <p:spPr>
          <a:xfrm>
            <a:off x="8452966" y="5443264"/>
            <a:ext cx="51489" cy="383977"/>
          </a:xfrm>
          <a:prstGeom prst="rect">
            <a:avLst/>
          </a:prstGeom>
          <a:solidFill>
            <a:srgbClr val="ECECEC"/>
          </a:solidFill>
          <a:ln/>
        </p:spPr>
        <p:txBody>
          <a:bodyPr/>
          <a:lstStyle/>
          <a:p>
            <a:endParaRPr lang="es-ES_tradnl" sz="11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7" name="Text 55"/>
          <p:cNvSpPr/>
          <p:nvPr/>
        </p:nvSpPr>
        <p:spPr>
          <a:xfrm>
            <a:off x="938113" y="5533653"/>
            <a:ext cx="1154028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100" b="1" kern="0" spc="36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downloading</a:t>
            </a:r>
            <a:endParaRPr lang="en-US" sz="11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8" name="Text 56"/>
          <p:cNvSpPr/>
          <p:nvPr/>
        </p:nvSpPr>
        <p:spPr>
          <a:xfrm>
            <a:off x="2309688" y="5517778"/>
            <a:ext cx="6416755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10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Descarga los documentos relevantes seleccionados.</a:t>
            </a:r>
            <a:endParaRPr lang="en-US" sz="11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9" name="Shape 57"/>
          <p:cNvSpPr/>
          <p:nvPr/>
        </p:nvSpPr>
        <p:spPr>
          <a:xfrm>
            <a:off x="762001" y="5960566"/>
            <a:ext cx="7729342" cy="383977"/>
          </a:xfrm>
          <a:prstGeom prst="roundRect">
            <a:avLst>
              <a:gd name="adj" fmla="val 7442"/>
            </a:avLst>
          </a:prstGeom>
          <a:solidFill>
            <a:srgbClr val="F1F8F1"/>
          </a:solidFill>
          <a:ln/>
        </p:spPr>
        <p:txBody>
          <a:bodyPr/>
          <a:lstStyle/>
          <a:p>
            <a:endParaRPr lang="es-ES_tradnl" sz="11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0" name="Shape 58"/>
          <p:cNvSpPr/>
          <p:nvPr/>
        </p:nvSpPr>
        <p:spPr>
          <a:xfrm>
            <a:off x="762001" y="6336605"/>
            <a:ext cx="7729342" cy="9525"/>
          </a:xfrm>
          <a:prstGeom prst="rect">
            <a:avLst/>
          </a:prstGeom>
          <a:solidFill>
            <a:srgbClr val="ECECEC"/>
          </a:solidFill>
          <a:ln/>
        </p:spPr>
        <p:txBody>
          <a:bodyPr/>
          <a:lstStyle/>
          <a:p>
            <a:endParaRPr lang="es-ES_tradnl" sz="11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1" name="Shape 59"/>
          <p:cNvSpPr/>
          <p:nvPr/>
        </p:nvSpPr>
        <p:spPr>
          <a:xfrm>
            <a:off x="762001" y="5960566"/>
            <a:ext cx="7729342" cy="9525"/>
          </a:xfrm>
          <a:prstGeom prst="rect">
            <a:avLst/>
          </a:prstGeom>
          <a:solidFill>
            <a:srgbClr val="ECECEC"/>
          </a:solidFill>
          <a:ln/>
        </p:spPr>
        <p:txBody>
          <a:bodyPr/>
          <a:lstStyle/>
          <a:p>
            <a:endParaRPr lang="es-ES_tradnl" sz="11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2" name="Shape 60"/>
          <p:cNvSpPr/>
          <p:nvPr/>
        </p:nvSpPr>
        <p:spPr>
          <a:xfrm>
            <a:off x="762000" y="5960566"/>
            <a:ext cx="51489" cy="383977"/>
          </a:xfrm>
          <a:prstGeom prst="rect">
            <a:avLst/>
          </a:prstGeom>
          <a:solidFill>
            <a:srgbClr val="4F814F"/>
          </a:solidFill>
          <a:ln/>
        </p:spPr>
        <p:txBody>
          <a:bodyPr/>
          <a:lstStyle/>
          <a:p>
            <a:endParaRPr lang="es-ES_tradnl" sz="11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3" name="Shape 61"/>
          <p:cNvSpPr/>
          <p:nvPr/>
        </p:nvSpPr>
        <p:spPr>
          <a:xfrm>
            <a:off x="8452966" y="5960566"/>
            <a:ext cx="51489" cy="383977"/>
          </a:xfrm>
          <a:prstGeom prst="rect">
            <a:avLst/>
          </a:prstGeom>
          <a:solidFill>
            <a:srgbClr val="ECECEC"/>
          </a:solidFill>
          <a:ln/>
        </p:spPr>
        <p:txBody>
          <a:bodyPr/>
          <a:lstStyle/>
          <a:p>
            <a:endParaRPr lang="es-ES_tradnl" sz="11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4" name="Text 62"/>
          <p:cNvSpPr/>
          <p:nvPr/>
        </p:nvSpPr>
        <p:spPr>
          <a:xfrm>
            <a:off x="938113" y="6050954"/>
            <a:ext cx="1154028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100" b="1" kern="0" spc="36">
                <a:solidFill>
                  <a:srgbClr val="4F814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accepted</a:t>
            </a:r>
            <a:endParaRPr lang="en-US" sz="11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5" name="Text 63"/>
          <p:cNvSpPr/>
          <p:nvPr/>
        </p:nvSpPr>
        <p:spPr>
          <a:xfrm>
            <a:off x="2309688" y="6035079"/>
            <a:ext cx="6416755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10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Documento pasa los criterios y queda listo para revisión.</a:t>
            </a:r>
            <a:endParaRPr lang="en-US" sz="11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6" name="Shape 64"/>
          <p:cNvSpPr/>
          <p:nvPr/>
        </p:nvSpPr>
        <p:spPr>
          <a:xfrm>
            <a:off x="762001" y="6477868"/>
            <a:ext cx="7729342" cy="383977"/>
          </a:xfrm>
          <a:prstGeom prst="roundRect">
            <a:avLst>
              <a:gd name="adj" fmla="val 7442"/>
            </a:avLst>
          </a:prstGeom>
          <a:solidFill>
            <a:srgbClr val="FBEEF0"/>
          </a:solidFill>
          <a:ln/>
        </p:spPr>
        <p:txBody>
          <a:bodyPr/>
          <a:lstStyle/>
          <a:p>
            <a:endParaRPr lang="es-ES_tradnl" sz="11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7" name="Shape 65"/>
          <p:cNvSpPr/>
          <p:nvPr/>
        </p:nvSpPr>
        <p:spPr>
          <a:xfrm>
            <a:off x="762001" y="6853907"/>
            <a:ext cx="7729342" cy="9525"/>
          </a:xfrm>
          <a:prstGeom prst="rect">
            <a:avLst/>
          </a:prstGeom>
          <a:solidFill>
            <a:srgbClr val="ECECEC"/>
          </a:solidFill>
          <a:ln/>
        </p:spPr>
        <p:txBody>
          <a:bodyPr/>
          <a:lstStyle/>
          <a:p>
            <a:endParaRPr lang="es-ES_tradnl" sz="11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8" name="Shape 66"/>
          <p:cNvSpPr/>
          <p:nvPr/>
        </p:nvSpPr>
        <p:spPr>
          <a:xfrm>
            <a:off x="762001" y="6477868"/>
            <a:ext cx="7729342" cy="9525"/>
          </a:xfrm>
          <a:prstGeom prst="rect">
            <a:avLst/>
          </a:prstGeom>
          <a:solidFill>
            <a:srgbClr val="ECECEC"/>
          </a:solidFill>
          <a:ln/>
        </p:spPr>
        <p:txBody>
          <a:bodyPr/>
          <a:lstStyle/>
          <a:p>
            <a:endParaRPr lang="es-ES_tradnl" sz="11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9" name="Shape 67"/>
          <p:cNvSpPr/>
          <p:nvPr/>
        </p:nvSpPr>
        <p:spPr>
          <a:xfrm>
            <a:off x="762000" y="6477868"/>
            <a:ext cx="51489" cy="383977"/>
          </a:xfrm>
          <a:prstGeom prst="rect">
            <a:avLst/>
          </a:prstGeom>
          <a:solidFill>
            <a:srgbClr val="B9384A"/>
          </a:solidFill>
          <a:ln/>
        </p:spPr>
        <p:txBody>
          <a:bodyPr/>
          <a:lstStyle/>
          <a:p>
            <a:endParaRPr lang="es-ES_tradnl" sz="11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0" name="Shape 68"/>
          <p:cNvSpPr/>
          <p:nvPr/>
        </p:nvSpPr>
        <p:spPr>
          <a:xfrm>
            <a:off x="8452966" y="6477868"/>
            <a:ext cx="51489" cy="383977"/>
          </a:xfrm>
          <a:prstGeom prst="rect">
            <a:avLst/>
          </a:prstGeom>
          <a:solidFill>
            <a:srgbClr val="ECECEC"/>
          </a:solidFill>
          <a:ln/>
        </p:spPr>
        <p:txBody>
          <a:bodyPr/>
          <a:lstStyle/>
          <a:p>
            <a:endParaRPr lang="es-ES_tradnl" sz="11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1" name="Text 69"/>
          <p:cNvSpPr/>
          <p:nvPr/>
        </p:nvSpPr>
        <p:spPr>
          <a:xfrm>
            <a:off x="938113" y="6568256"/>
            <a:ext cx="1154028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100" b="1" kern="0" spc="36">
                <a:solidFill>
                  <a:srgbClr val="B9384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rejected</a:t>
            </a:r>
            <a:endParaRPr lang="en-US" sz="11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2" name="Text 70"/>
          <p:cNvSpPr/>
          <p:nvPr/>
        </p:nvSpPr>
        <p:spPr>
          <a:xfrm>
            <a:off x="2309688" y="6552381"/>
            <a:ext cx="6416755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 </a:t>
            </a:r>
            <a:r>
              <a:rPr lang="en-US" sz="11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relevante</a:t>
            </a:r>
            <a:r>
              <a:rPr lang="en-US" sz="11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n-US" sz="11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artículo</a:t>
            </a:r>
            <a:r>
              <a:rPr lang="en-US" sz="11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n-US" sz="11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prensa</a:t>
            </a:r>
            <a:r>
              <a:rPr lang="en-US" sz="11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blog, etc.) — se </a:t>
            </a:r>
            <a:r>
              <a:rPr lang="en-US" sz="11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descarta</a:t>
            </a:r>
            <a:r>
              <a:rPr lang="en-US" sz="11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3" name="Shape 71"/>
          <p:cNvSpPr/>
          <p:nvPr/>
        </p:nvSpPr>
        <p:spPr>
          <a:xfrm>
            <a:off x="785812" y="6958584"/>
            <a:ext cx="7710487" cy="2293441"/>
          </a:xfrm>
          <a:prstGeom prst="roundRect">
            <a:avLst>
              <a:gd name="adj" fmla="val 3323"/>
            </a:avLst>
          </a:prstGeom>
          <a:solidFill>
            <a:srgbClr val="E5E9F1"/>
          </a:solidFill>
          <a:ln w="7937">
            <a:solidFill>
              <a:srgbClr val="000000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4" name="Shape 72"/>
          <p:cNvSpPr/>
          <p:nvPr/>
        </p:nvSpPr>
        <p:spPr>
          <a:xfrm>
            <a:off x="793751" y="6966521"/>
            <a:ext cx="7694497" cy="857250"/>
          </a:xfrm>
          <a:prstGeom prst="rect">
            <a:avLst/>
          </a:prstGeom>
          <a:solidFill>
            <a:srgbClr val="14284D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5" name="Shape 73"/>
          <p:cNvSpPr/>
          <p:nvPr/>
        </p:nvSpPr>
        <p:spPr>
          <a:xfrm>
            <a:off x="1003226" y="7185609"/>
            <a:ext cx="422086" cy="419075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6" name="Text 74"/>
          <p:cNvSpPr/>
          <p:nvPr/>
        </p:nvSpPr>
        <p:spPr>
          <a:xfrm>
            <a:off x="965126" y="7185609"/>
            <a:ext cx="498835" cy="4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>
                <a:solidFill>
                  <a:srgbClr val="14284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✓</a:t>
            </a:r>
            <a:endParaRPr lang="en-US" sz="135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7" name="Text 75"/>
          <p:cNvSpPr/>
          <p:nvPr/>
        </p:nvSpPr>
        <p:spPr>
          <a:xfrm>
            <a:off x="1536651" y="7183191"/>
            <a:ext cx="386861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b="1" kern="0" spc="156">
                <a:solidFill>
                  <a:srgbClr val="FFFFFF">
                    <a:alpha val="85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CRITERIOS DE ACEPTACIÓN</a:t>
            </a:r>
            <a:endParaRPr lang="en-US" sz="975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8" name="Text 76"/>
          <p:cNvSpPr/>
          <p:nvPr/>
        </p:nvSpPr>
        <p:spPr>
          <a:xfrm>
            <a:off x="1536651" y="7345041"/>
            <a:ext cx="3868615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18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¿Qué cuenta como fuente válida?</a:t>
            </a:r>
            <a:endParaRPr lang="en-US" sz="18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9" name="Text 77"/>
          <p:cNvSpPr/>
          <p:nvPr/>
        </p:nvSpPr>
        <p:spPr>
          <a:xfrm>
            <a:off x="1180827" y="8033247"/>
            <a:ext cx="997431" cy="2313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00" b="1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Relevancia</a:t>
            </a:r>
            <a:r>
              <a:rPr lang="en-US" sz="1300" b="1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  <a:endParaRPr lang="en-US" sz="13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0" name="Text 78"/>
          <p:cNvSpPr/>
          <p:nvPr/>
        </p:nvSpPr>
        <p:spPr>
          <a:xfrm>
            <a:off x="2035142" y="8049122"/>
            <a:ext cx="4951438" cy="188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documento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menciona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activos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productivos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la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empresa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objetivo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sz="13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1" name="Text 79"/>
          <p:cNvSpPr/>
          <p:nvPr/>
        </p:nvSpPr>
        <p:spPr>
          <a:xfrm>
            <a:off x="1180827" y="8302626"/>
            <a:ext cx="1847788" cy="2313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00" b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Formato estructurado:</a:t>
            </a:r>
            <a:endParaRPr lang="en-US" sz="13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2" name="Text 80"/>
          <p:cNvSpPr/>
          <p:nvPr/>
        </p:nvSpPr>
        <p:spPr>
          <a:xfrm>
            <a:off x="2795580" y="8318501"/>
            <a:ext cx="5180032" cy="18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PDFs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corporativos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memorias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informes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— no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notas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prensa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sueltas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sz="13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3" name="Text 81"/>
          <p:cNvSpPr/>
          <p:nvPr/>
        </p:nvSpPr>
        <p:spPr>
          <a:xfrm>
            <a:off x="1180827" y="8572005"/>
            <a:ext cx="832245" cy="2313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00" b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Frescura:</a:t>
            </a:r>
            <a:endParaRPr lang="en-US" sz="13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4" name="Text 82"/>
          <p:cNvSpPr/>
          <p:nvPr/>
        </p:nvSpPr>
        <p:spPr>
          <a:xfrm>
            <a:off x="1869024" y="8587880"/>
            <a:ext cx="3401908" cy="18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publicado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los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últimos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3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años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(configurable).</a:t>
            </a:r>
            <a:endParaRPr lang="en-US" sz="13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5" name="Text 83"/>
          <p:cNvSpPr/>
          <p:nvPr/>
        </p:nvSpPr>
        <p:spPr>
          <a:xfrm>
            <a:off x="1180827" y="8841384"/>
            <a:ext cx="671676" cy="2313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00" b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Idioma:</a:t>
            </a:r>
            <a:endParaRPr lang="en-US" sz="13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6" name="Text 84"/>
          <p:cNvSpPr/>
          <p:nvPr/>
        </p:nvSpPr>
        <p:spPr>
          <a:xfrm>
            <a:off x="1778185" y="8857259"/>
            <a:ext cx="2064659" cy="18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ES, EN o PT (configurable).</a:t>
            </a:r>
            <a:endParaRPr lang="en-US" sz="13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6" name="Text 94"/>
          <p:cNvSpPr/>
          <p:nvPr/>
        </p:nvSpPr>
        <p:spPr>
          <a:xfrm>
            <a:off x="17128380" y="9550450"/>
            <a:ext cx="473819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00" kern="0" spc="54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 / 41</a:t>
            </a:r>
            <a:endParaRPr lang="en-US" sz="900"/>
          </a:p>
        </p:txBody>
      </p:sp>
      <p:grpSp>
        <p:nvGrpSpPr>
          <p:cNvPr id="11" name="MS Header Group">
            <a:extLst>
              <a:ext uri="{FF2B5EF4-FFF2-40B4-BE49-F238E27FC236}">
                <a16:creationId xmlns:a16="http://schemas.microsoft.com/office/drawing/2014/main" id="{88330C99-EB26-CE6D-9B11-C9E10CAC3E8B}"/>
              </a:ext>
            </a:extLst>
          </p:cNvPr>
          <p:cNvGrpSpPr/>
          <p:nvPr/>
        </p:nvGrpSpPr>
        <p:grpSpPr>
          <a:xfrm>
            <a:off x="282819" y="579094"/>
            <a:ext cx="13786134" cy="1057874"/>
            <a:chOff x="92172" y="275827"/>
            <a:chExt cx="9190756" cy="705249"/>
          </a:xfrm>
        </p:grpSpPr>
        <p:sp>
          <p:nvSpPr>
            <p:cNvPr id="16" name="MS Title Box">
              <a:extLst>
                <a:ext uri="{FF2B5EF4-FFF2-40B4-BE49-F238E27FC236}">
                  <a16:creationId xmlns:a16="http://schemas.microsoft.com/office/drawing/2014/main" id="{20C5B0F3-DF00-764C-8DE6-0128C876BB91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776292" y="404814"/>
              <a:ext cx="8506636" cy="576262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37160" tIns="68580" rIns="137160" bIns="68580" anchor="ctr"/>
            <a:lstStyle/>
            <a:p>
              <a:pPr>
                <a:lnSpc>
                  <a:spcPts val="3150"/>
                </a:lnSpc>
              </a:pPr>
              <a:r>
                <a:rPr lang="es-ES_tradnl" sz="3000" b="1" dirty="0">
                  <a:solidFill>
                    <a:srgbClr val="002569"/>
                  </a:solidFill>
                  <a:latin typeface="Arial"/>
                </a:rPr>
                <a:t>Pipeline Agente · Flujo de búsqueda</a:t>
              </a:r>
            </a:p>
            <a:p>
              <a:r>
                <a:rPr lang="es-ES_tradnl" sz="2700" dirty="0">
                  <a:solidFill>
                    <a:srgbClr val="E0D399">
                      <a:lumMod val="75000"/>
                    </a:srgbClr>
                  </a:solidFill>
                  <a:latin typeface="Arial"/>
                </a:rPr>
                <a:t>Eventos en tiempo real durante la navegación del agente</a:t>
              </a:r>
            </a:p>
          </p:txBody>
        </p:sp>
        <p:sp>
          <p:nvSpPr>
            <p:cNvPr id="21" name="MS Number">
              <a:extLst>
                <a:ext uri="{FF2B5EF4-FFF2-40B4-BE49-F238E27FC236}">
                  <a16:creationId xmlns:a16="http://schemas.microsoft.com/office/drawing/2014/main" id="{DF76FCDD-2CD6-5A93-C00D-37BDAF67C6B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2172" y="275827"/>
              <a:ext cx="477819" cy="70014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148523" tIns="74261" rIns="148523" bIns="74261">
              <a:spAutoFit/>
            </a:bodyPr>
            <a:lstStyle/>
            <a:p>
              <a:pPr algn="ctr"/>
              <a:r>
                <a:rPr lang="es-ES" sz="5850" b="1" kern="0" dirty="0">
                  <a:solidFill>
                    <a:srgbClr val="002569"/>
                  </a:solidFill>
                  <a:latin typeface="Arial"/>
                </a:rPr>
                <a:t>4</a:t>
              </a:r>
            </a:p>
          </p:txBody>
        </p:sp>
        <p:cxnSp>
          <p:nvCxnSpPr>
            <p:cNvPr id="97" name="MS Header Bar">
              <a:extLst>
                <a:ext uri="{FF2B5EF4-FFF2-40B4-BE49-F238E27FC236}">
                  <a16:creationId xmlns:a16="http://schemas.microsoft.com/office/drawing/2014/main" id="{C391197E-B390-F8E6-D928-C84AEA30B0EB}"/>
                </a:ext>
              </a:extLst>
            </p:cNvPr>
            <p:cNvCxnSpPr/>
            <p:nvPr/>
          </p:nvCxnSpPr>
          <p:spPr>
            <a:xfrm>
              <a:off x="570525" y="404814"/>
              <a:ext cx="0" cy="526647"/>
            </a:xfrm>
            <a:prstGeom prst="line">
              <a:avLst/>
            </a:prstGeom>
            <a:ln>
              <a:solidFill>
                <a:schemeClr val="tx2"/>
              </a:solidFill>
            </a:ln>
          </p:spPr>
        </p:cxnSp>
      </p:grpSp>
      <p:sp>
        <p:nvSpPr>
          <p:cNvPr id="103" name="Shape 5">
            <a:extLst>
              <a:ext uri="{FF2B5EF4-FFF2-40B4-BE49-F238E27FC236}">
                <a16:creationId xmlns:a16="http://schemas.microsoft.com/office/drawing/2014/main" id="{D17ACB3F-0AF9-7E65-4DA4-AA4778A75A91}"/>
              </a:ext>
            </a:extLst>
          </p:cNvPr>
          <p:cNvSpPr/>
          <p:nvPr/>
        </p:nvSpPr>
        <p:spPr>
          <a:xfrm>
            <a:off x="762000" y="2950766"/>
            <a:ext cx="1257226" cy="364505"/>
          </a:xfrm>
          <a:prstGeom prst="rect">
            <a:avLst/>
          </a:prstGeom>
          <a:solidFill>
            <a:srgbClr val="14284D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4" name="Shape 6">
            <a:extLst>
              <a:ext uri="{FF2B5EF4-FFF2-40B4-BE49-F238E27FC236}">
                <a16:creationId xmlns:a16="http://schemas.microsoft.com/office/drawing/2014/main" id="{2375959A-F677-F9A9-455B-52367D69F776}"/>
              </a:ext>
            </a:extLst>
          </p:cNvPr>
          <p:cNvSpPr/>
          <p:nvPr/>
        </p:nvSpPr>
        <p:spPr>
          <a:xfrm>
            <a:off x="895325" y="3026916"/>
            <a:ext cx="209476" cy="209476"/>
          </a:xfrm>
          <a:prstGeom prst="ellipse">
            <a:avLst/>
          </a:prstGeom>
          <a:solidFill>
            <a:srgbClr val="FFFFFF"/>
          </a:solidFill>
          <a:ln/>
          <a:effectLst>
            <a:outerShdw blurRad="101600" dist="9525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5" name="Text 7">
            <a:extLst>
              <a:ext uri="{FF2B5EF4-FFF2-40B4-BE49-F238E27FC236}">
                <a16:creationId xmlns:a16="http://schemas.microsoft.com/office/drawing/2014/main" id="{7C1E74D7-E22B-BE46-FD1A-7AA8F45C1C08}"/>
              </a:ext>
            </a:extLst>
          </p:cNvPr>
          <p:cNvSpPr/>
          <p:nvPr/>
        </p:nvSpPr>
        <p:spPr>
          <a:xfrm>
            <a:off x="857225" y="3026916"/>
            <a:ext cx="285676" cy="2475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kern="0" spc="39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endParaRPr lang="en-US" sz="9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6" name="Text 8">
            <a:extLst>
              <a:ext uri="{FF2B5EF4-FFF2-40B4-BE49-F238E27FC236}">
                <a16:creationId xmlns:a16="http://schemas.microsoft.com/office/drawing/2014/main" id="{622C9578-F352-4DE6-2E10-E64EB490BA3D}"/>
              </a:ext>
            </a:extLst>
          </p:cNvPr>
          <p:cNvSpPr/>
          <p:nvPr/>
        </p:nvSpPr>
        <p:spPr>
          <a:xfrm>
            <a:off x="1071910" y="3009746"/>
            <a:ext cx="590171" cy="1741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kern="0" spc="2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Search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7" name="Shape 9">
            <a:extLst>
              <a:ext uri="{FF2B5EF4-FFF2-40B4-BE49-F238E27FC236}">
                <a16:creationId xmlns:a16="http://schemas.microsoft.com/office/drawing/2014/main" id="{837B1757-DA14-4DD7-9AC3-409657E62C84}"/>
              </a:ext>
            </a:extLst>
          </p:cNvPr>
          <p:cNvSpPr/>
          <p:nvPr/>
        </p:nvSpPr>
        <p:spPr>
          <a:xfrm>
            <a:off x="2076276" y="2950766"/>
            <a:ext cx="1257226" cy="364505"/>
          </a:xfrm>
          <a:prstGeom prst="rect">
            <a:avLst/>
          </a:prstGeom>
          <a:solidFill>
            <a:srgbClr val="14284D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8" name="Shape 10">
            <a:extLst>
              <a:ext uri="{FF2B5EF4-FFF2-40B4-BE49-F238E27FC236}">
                <a16:creationId xmlns:a16="http://schemas.microsoft.com/office/drawing/2014/main" id="{45C696D8-A414-FC9A-5E1A-69649ABD02F7}"/>
              </a:ext>
            </a:extLst>
          </p:cNvPr>
          <p:cNvSpPr/>
          <p:nvPr/>
        </p:nvSpPr>
        <p:spPr>
          <a:xfrm>
            <a:off x="2209601" y="3026916"/>
            <a:ext cx="209476" cy="209476"/>
          </a:xfrm>
          <a:prstGeom prst="ellipse">
            <a:avLst/>
          </a:prstGeom>
          <a:solidFill>
            <a:srgbClr val="FFFFFF"/>
          </a:solidFill>
          <a:ln/>
          <a:effectLst>
            <a:outerShdw blurRad="101600" dist="9525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_tradnl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9" name="Text 11">
            <a:extLst>
              <a:ext uri="{FF2B5EF4-FFF2-40B4-BE49-F238E27FC236}">
                <a16:creationId xmlns:a16="http://schemas.microsoft.com/office/drawing/2014/main" id="{F7673F06-687B-24F3-5AB2-50932B506264}"/>
              </a:ext>
            </a:extLst>
          </p:cNvPr>
          <p:cNvSpPr/>
          <p:nvPr/>
        </p:nvSpPr>
        <p:spPr>
          <a:xfrm>
            <a:off x="2171501" y="3026916"/>
            <a:ext cx="285676" cy="2475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kern="0" spc="39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  <a:endParaRPr lang="en-US" sz="9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0" name="Text 12">
            <a:extLst>
              <a:ext uri="{FF2B5EF4-FFF2-40B4-BE49-F238E27FC236}">
                <a16:creationId xmlns:a16="http://schemas.microsoft.com/office/drawing/2014/main" id="{A7B889B5-FC2F-7783-E881-4F697B83FBE5}"/>
              </a:ext>
            </a:extLst>
          </p:cNvPr>
          <p:cNvSpPr/>
          <p:nvPr/>
        </p:nvSpPr>
        <p:spPr>
          <a:xfrm>
            <a:off x="2466801" y="3009746"/>
            <a:ext cx="490416" cy="1741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kern="0" spc="2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Fetch</a:t>
            </a:r>
            <a:endParaRPr lang="en-US" sz="12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1" name="Shape 13">
            <a:extLst>
              <a:ext uri="{FF2B5EF4-FFF2-40B4-BE49-F238E27FC236}">
                <a16:creationId xmlns:a16="http://schemas.microsoft.com/office/drawing/2014/main" id="{076A8CFE-7DE7-68FD-8C33-2D9740854B97}"/>
              </a:ext>
            </a:extLst>
          </p:cNvPr>
          <p:cNvSpPr/>
          <p:nvPr/>
        </p:nvSpPr>
        <p:spPr>
          <a:xfrm>
            <a:off x="3390553" y="2950766"/>
            <a:ext cx="1257226" cy="364505"/>
          </a:xfrm>
          <a:prstGeom prst="rect">
            <a:avLst/>
          </a:prstGeom>
          <a:solidFill>
            <a:srgbClr val="14284D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2" name="Shape 14">
            <a:extLst>
              <a:ext uri="{FF2B5EF4-FFF2-40B4-BE49-F238E27FC236}">
                <a16:creationId xmlns:a16="http://schemas.microsoft.com/office/drawing/2014/main" id="{4D88452E-E74E-8012-E777-4D226BED5169}"/>
              </a:ext>
            </a:extLst>
          </p:cNvPr>
          <p:cNvSpPr/>
          <p:nvPr/>
        </p:nvSpPr>
        <p:spPr>
          <a:xfrm>
            <a:off x="3523878" y="3026916"/>
            <a:ext cx="209476" cy="209476"/>
          </a:xfrm>
          <a:prstGeom prst="ellipse">
            <a:avLst/>
          </a:prstGeom>
          <a:solidFill>
            <a:srgbClr val="FFFFFF"/>
          </a:solidFill>
          <a:ln/>
          <a:effectLst>
            <a:outerShdw blurRad="101600" dist="9525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3" name="Text 15">
            <a:extLst>
              <a:ext uri="{FF2B5EF4-FFF2-40B4-BE49-F238E27FC236}">
                <a16:creationId xmlns:a16="http://schemas.microsoft.com/office/drawing/2014/main" id="{4B24807E-4584-338C-4C69-514EDFD0A857}"/>
              </a:ext>
            </a:extLst>
          </p:cNvPr>
          <p:cNvSpPr/>
          <p:nvPr/>
        </p:nvSpPr>
        <p:spPr>
          <a:xfrm>
            <a:off x="3485778" y="3026916"/>
            <a:ext cx="285676" cy="2475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kern="0" spc="39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</a:t>
            </a:r>
            <a:endParaRPr lang="en-US" sz="9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4" name="Text 16">
            <a:extLst>
              <a:ext uri="{FF2B5EF4-FFF2-40B4-BE49-F238E27FC236}">
                <a16:creationId xmlns:a16="http://schemas.microsoft.com/office/drawing/2014/main" id="{9BE693CC-8EC0-F7D1-0914-A683446ED3C8}"/>
              </a:ext>
            </a:extLst>
          </p:cNvPr>
          <p:cNvSpPr/>
          <p:nvPr/>
        </p:nvSpPr>
        <p:spPr>
          <a:xfrm>
            <a:off x="3731592" y="3009746"/>
            <a:ext cx="606288" cy="1741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kern="0" spc="2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Review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5" name="Shape 17">
            <a:extLst>
              <a:ext uri="{FF2B5EF4-FFF2-40B4-BE49-F238E27FC236}">
                <a16:creationId xmlns:a16="http://schemas.microsoft.com/office/drawing/2014/main" id="{E6EF36AF-B959-953C-A345-F6AC7D20154A}"/>
              </a:ext>
            </a:extLst>
          </p:cNvPr>
          <p:cNvSpPr/>
          <p:nvPr/>
        </p:nvSpPr>
        <p:spPr>
          <a:xfrm>
            <a:off x="4704829" y="2950766"/>
            <a:ext cx="1257226" cy="364505"/>
          </a:xfrm>
          <a:prstGeom prst="rect">
            <a:avLst/>
          </a:prstGeom>
          <a:solidFill>
            <a:srgbClr val="14284D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6" name="Shape 18">
            <a:extLst>
              <a:ext uri="{FF2B5EF4-FFF2-40B4-BE49-F238E27FC236}">
                <a16:creationId xmlns:a16="http://schemas.microsoft.com/office/drawing/2014/main" id="{4D18AFBC-4517-A375-B1A5-562A36CA69BF}"/>
              </a:ext>
            </a:extLst>
          </p:cNvPr>
          <p:cNvSpPr/>
          <p:nvPr/>
        </p:nvSpPr>
        <p:spPr>
          <a:xfrm>
            <a:off x="4838154" y="3026916"/>
            <a:ext cx="209476" cy="209476"/>
          </a:xfrm>
          <a:prstGeom prst="ellipse">
            <a:avLst/>
          </a:prstGeom>
          <a:solidFill>
            <a:srgbClr val="FFFFFF"/>
          </a:solidFill>
          <a:ln/>
          <a:effectLst>
            <a:outerShdw blurRad="101600" dist="9525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7" name="Text 19">
            <a:extLst>
              <a:ext uri="{FF2B5EF4-FFF2-40B4-BE49-F238E27FC236}">
                <a16:creationId xmlns:a16="http://schemas.microsoft.com/office/drawing/2014/main" id="{5AE23634-3B13-4F51-435E-1B790264E427}"/>
              </a:ext>
            </a:extLst>
          </p:cNvPr>
          <p:cNvSpPr/>
          <p:nvPr/>
        </p:nvSpPr>
        <p:spPr>
          <a:xfrm>
            <a:off x="4800054" y="3026916"/>
            <a:ext cx="285676" cy="2475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kern="0" spc="39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</a:t>
            </a:r>
            <a:endParaRPr lang="en-US" sz="9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8" name="Text 20">
            <a:extLst>
              <a:ext uri="{FF2B5EF4-FFF2-40B4-BE49-F238E27FC236}">
                <a16:creationId xmlns:a16="http://schemas.microsoft.com/office/drawing/2014/main" id="{0FCD3671-7B42-F32A-6D93-BF87808C965D}"/>
              </a:ext>
            </a:extLst>
          </p:cNvPr>
          <p:cNvSpPr/>
          <p:nvPr/>
        </p:nvSpPr>
        <p:spPr>
          <a:xfrm>
            <a:off x="5022800" y="3009746"/>
            <a:ext cx="660450" cy="1741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kern="0" spc="2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Validate</a:t>
            </a:r>
            <a:endParaRPr lang="en-US" sz="12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9" name="Shape 21">
            <a:extLst>
              <a:ext uri="{FF2B5EF4-FFF2-40B4-BE49-F238E27FC236}">
                <a16:creationId xmlns:a16="http://schemas.microsoft.com/office/drawing/2014/main" id="{EDE471BF-B39A-A838-020F-262CE0ABBCEC}"/>
              </a:ext>
            </a:extLst>
          </p:cNvPr>
          <p:cNvSpPr/>
          <p:nvPr/>
        </p:nvSpPr>
        <p:spPr>
          <a:xfrm>
            <a:off x="6019105" y="2950766"/>
            <a:ext cx="1257226" cy="364505"/>
          </a:xfrm>
          <a:prstGeom prst="rect">
            <a:avLst/>
          </a:prstGeom>
          <a:solidFill>
            <a:srgbClr val="14284D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0" name="Shape 22">
            <a:extLst>
              <a:ext uri="{FF2B5EF4-FFF2-40B4-BE49-F238E27FC236}">
                <a16:creationId xmlns:a16="http://schemas.microsoft.com/office/drawing/2014/main" id="{644F5064-F43F-9718-C022-387B37CCE0CE}"/>
              </a:ext>
            </a:extLst>
          </p:cNvPr>
          <p:cNvSpPr/>
          <p:nvPr/>
        </p:nvSpPr>
        <p:spPr>
          <a:xfrm>
            <a:off x="6152430" y="3026916"/>
            <a:ext cx="209476" cy="209476"/>
          </a:xfrm>
          <a:prstGeom prst="ellipse">
            <a:avLst/>
          </a:prstGeom>
          <a:solidFill>
            <a:srgbClr val="FFFFFF"/>
          </a:solidFill>
          <a:ln/>
          <a:effectLst>
            <a:outerShdw blurRad="101600" dist="9525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1" name="Text 23">
            <a:extLst>
              <a:ext uri="{FF2B5EF4-FFF2-40B4-BE49-F238E27FC236}">
                <a16:creationId xmlns:a16="http://schemas.microsoft.com/office/drawing/2014/main" id="{A2CD34EF-8BBE-D1E8-05CA-7D54169D70E8}"/>
              </a:ext>
            </a:extLst>
          </p:cNvPr>
          <p:cNvSpPr/>
          <p:nvPr/>
        </p:nvSpPr>
        <p:spPr>
          <a:xfrm>
            <a:off x="6114330" y="3026916"/>
            <a:ext cx="285676" cy="2475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kern="0" spc="39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</a:t>
            </a:r>
            <a:endParaRPr lang="en-US" sz="9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2" name="Text 24">
            <a:extLst>
              <a:ext uri="{FF2B5EF4-FFF2-40B4-BE49-F238E27FC236}">
                <a16:creationId xmlns:a16="http://schemas.microsoft.com/office/drawing/2014/main" id="{20E7463A-AE1C-3A4D-AA46-FF9DDBE54B91}"/>
              </a:ext>
            </a:extLst>
          </p:cNvPr>
          <p:cNvSpPr/>
          <p:nvPr/>
        </p:nvSpPr>
        <p:spPr>
          <a:xfrm>
            <a:off x="6355918" y="3009746"/>
            <a:ext cx="379769" cy="1741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kern="0" spc="2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Run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7D0BEED2-3564-A089-A3D4-4848BEDD1661}"/>
              </a:ext>
            </a:extLst>
          </p:cNvPr>
          <p:cNvGrpSpPr/>
          <p:nvPr/>
        </p:nvGrpSpPr>
        <p:grpSpPr>
          <a:xfrm>
            <a:off x="639433" y="3844565"/>
            <a:ext cx="250811" cy="247576"/>
            <a:chOff x="669231" y="3806465"/>
            <a:chExt cx="285676" cy="247576"/>
          </a:xfrm>
        </p:grpSpPr>
        <p:sp>
          <p:nvSpPr>
            <p:cNvPr id="131" name="Shape 6">
              <a:extLst>
                <a:ext uri="{FF2B5EF4-FFF2-40B4-BE49-F238E27FC236}">
                  <a16:creationId xmlns:a16="http://schemas.microsoft.com/office/drawing/2014/main" id="{E0C6BB30-FDEF-CB25-97B6-76740FA19744}"/>
                </a:ext>
              </a:extLst>
            </p:cNvPr>
            <p:cNvSpPr/>
            <p:nvPr/>
          </p:nvSpPr>
          <p:spPr>
            <a:xfrm>
              <a:off x="707331" y="3806465"/>
              <a:ext cx="209476" cy="209476"/>
            </a:xfrm>
            <a:prstGeom prst="ellipse">
              <a:avLst/>
            </a:prstGeom>
            <a:solidFill>
              <a:schemeClr val="bg2">
                <a:lumMod val="20000"/>
                <a:lumOff val="80000"/>
              </a:schemeClr>
            </a:solidFill>
            <a:ln/>
            <a:effectLst>
              <a:outerShdw blurRad="101600" dist="9525" dir="54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es-ES_tradnl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32" name="Text 7">
              <a:extLst>
                <a:ext uri="{FF2B5EF4-FFF2-40B4-BE49-F238E27FC236}">
                  <a16:creationId xmlns:a16="http://schemas.microsoft.com/office/drawing/2014/main" id="{E9F7FFC9-3222-8045-290D-5CE94CDF6977}"/>
                </a:ext>
              </a:extLst>
            </p:cNvPr>
            <p:cNvSpPr/>
            <p:nvPr/>
          </p:nvSpPr>
          <p:spPr>
            <a:xfrm>
              <a:off x="669231" y="3806465"/>
              <a:ext cx="285676" cy="247576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ctr">
                <a:lnSpc>
                  <a:spcPct val="100000"/>
                </a:lnSpc>
                <a:buNone/>
              </a:pPr>
              <a:r>
                <a:rPr lang="en-US" sz="900" b="1" kern="0" spc="39" dirty="0">
                  <a:solidFill>
                    <a:srgbClr val="1F3864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1</a:t>
              </a:r>
              <a:endParaRPr lang="en-US" sz="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134" name="Group 133">
            <a:extLst>
              <a:ext uri="{FF2B5EF4-FFF2-40B4-BE49-F238E27FC236}">
                <a16:creationId xmlns:a16="http://schemas.microsoft.com/office/drawing/2014/main" id="{9D46649A-EABB-685B-70CC-6385C3F05587}"/>
              </a:ext>
            </a:extLst>
          </p:cNvPr>
          <p:cNvGrpSpPr/>
          <p:nvPr/>
        </p:nvGrpSpPr>
        <p:grpSpPr>
          <a:xfrm>
            <a:off x="639433" y="4356735"/>
            <a:ext cx="250811" cy="247576"/>
            <a:chOff x="669231" y="3806465"/>
            <a:chExt cx="285676" cy="247576"/>
          </a:xfrm>
        </p:grpSpPr>
        <p:sp>
          <p:nvSpPr>
            <p:cNvPr id="135" name="Shape 6">
              <a:extLst>
                <a:ext uri="{FF2B5EF4-FFF2-40B4-BE49-F238E27FC236}">
                  <a16:creationId xmlns:a16="http://schemas.microsoft.com/office/drawing/2014/main" id="{E01B8638-692B-EA6F-2BAE-1802B0502062}"/>
                </a:ext>
              </a:extLst>
            </p:cNvPr>
            <p:cNvSpPr/>
            <p:nvPr/>
          </p:nvSpPr>
          <p:spPr>
            <a:xfrm>
              <a:off x="707331" y="3806465"/>
              <a:ext cx="209476" cy="209476"/>
            </a:xfrm>
            <a:prstGeom prst="ellipse">
              <a:avLst/>
            </a:prstGeom>
            <a:solidFill>
              <a:schemeClr val="bg2">
                <a:lumMod val="20000"/>
                <a:lumOff val="80000"/>
              </a:schemeClr>
            </a:solidFill>
            <a:ln/>
            <a:effectLst>
              <a:outerShdw blurRad="101600" dist="9525" dir="54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es-ES_tradnl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36" name="Text 7">
              <a:extLst>
                <a:ext uri="{FF2B5EF4-FFF2-40B4-BE49-F238E27FC236}">
                  <a16:creationId xmlns:a16="http://schemas.microsoft.com/office/drawing/2014/main" id="{58C4C056-5647-C49C-9C4C-8C9DA6ED0DC0}"/>
                </a:ext>
              </a:extLst>
            </p:cNvPr>
            <p:cNvSpPr/>
            <p:nvPr/>
          </p:nvSpPr>
          <p:spPr>
            <a:xfrm>
              <a:off x="669231" y="3806465"/>
              <a:ext cx="285676" cy="247576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ctr">
                <a:lnSpc>
                  <a:spcPct val="100000"/>
                </a:lnSpc>
                <a:buNone/>
              </a:pPr>
              <a:r>
                <a:rPr lang="en-US" sz="900" b="1" kern="0" spc="39" dirty="0">
                  <a:solidFill>
                    <a:srgbClr val="1F3864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1</a:t>
              </a:r>
              <a:endParaRPr lang="en-US" sz="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FFF8C87C-FA00-8CC1-2B66-94E3E6146CBB}"/>
              </a:ext>
            </a:extLst>
          </p:cNvPr>
          <p:cNvGrpSpPr/>
          <p:nvPr/>
        </p:nvGrpSpPr>
        <p:grpSpPr>
          <a:xfrm>
            <a:off x="639433" y="4868905"/>
            <a:ext cx="250811" cy="247576"/>
            <a:chOff x="669231" y="3806465"/>
            <a:chExt cx="285676" cy="247576"/>
          </a:xfrm>
        </p:grpSpPr>
        <p:sp>
          <p:nvSpPr>
            <p:cNvPr id="138" name="Shape 6">
              <a:extLst>
                <a:ext uri="{FF2B5EF4-FFF2-40B4-BE49-F238E27FC236}">
                  <a16:creationId xmlns:a16="http://schemas.microsoft.com/office/drawing/2014/main" id="{2DB7192C-4B7A-A085-B3B3-CE56C7C684F9}"/>
                </a:ext>
              </a:extLst>
            </p:cNvPr>
            <p:cNvSpPr/>
            <p:nvPr/>
          </p:nvSpPr>
          <p:spPr>
            <a:xfrm>
              <a:off x="707331" y="3806465"/>
              <a:ext cx="209476" cy="209476"/>
            </a:xfrm>
            <a:prstGeom prst="ellipse">
              <a:avLst/>
            </a:prstGeom>
            <a:solidFill>
              <a:schemeClr val="bg2">
                <a:lumMod val="20000"/>
                <a:lumOff val="80000"/>
              </a:schemeClr>
            </a:solidFill>
            <a:ln/>
            <a:effectLst>
              <a:outerShdw blurRad="101600" dist="9525" dir="54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es-ES_tradnl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39" name="Text 7">
              <a:extLst>
                <a:ext uri="{FF2B5EF4-FFF2-40B4-BE49-F238E27FC236}">
                  <a16:creationId xmlns:a16="http://schemas.microsoft.com/office/drawing/2014/main" id="{5B5FED6B-1037-C24D-ED35-71B1240C7E30}"/>
                </a:ext>
              </a:extLst>
            </p:cNvPr>
            <p:cNvSpPr/>
            <p:nvPr/>
          </p:nvSpPr>
          <p:spPr>
            <a:xfrm>
              <a:off x="669231" y="3806465"/>
              <a:ext cx="285676" cy="247576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ctr">
                <a:lnSpc>
                  <a:spcPct val="100000"/>
                </a:lnSpc>
                <a:buNone/>
              </a:pPr>
              <a:r>
                <a:rPr lang="en-US" sz="900" b="1" kern="0" spc="39" dirty="0">
                  <a:solidFill>
                    <a:srgbClr val="1F3864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1</a:t>
              </a:r>
              <a:endParaRPr lang="en-US" sz="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140" name="Group 139">
            <a:extLst>
              <a:ext uri="{FF2B5EF4-FFF2-40B4-BE49-F238E27FC236}">
                <a16:creationId xmlns:a16="http://schemas.microsoft.com/office/drawing/2014/main" id="{69AFFEEB-C4EB-D128-8E45-A658704038B8}"/>
              </a:ext>
            </a:extLst>
          </p:cNvPr>
          <p:cNvGrpSpPr/>
          <p:nvPr/>
        </p:nvGrpSpPr>
        <p:grpSpPr>
          <a:xfrm>
            <a:off x="639433" y="5381075"/>
            <a:ext cx="250811" cy="247576"/>
            <a:chOff x="669231" y="3806465"/>
            <a:chExt cx="285676" cy="247576"/>
          </a:xfrm>
        </p:grpSpPr>
        <p:sp>
          <p:nvSpPr>
            <p:cNvPr id="141" name="Shape 6">
              <a:extLst>
                <a:ext uri="{FF2B5EF4-FFF2-40B4-BE49-F238E27FC236}">
                  <a16:creationId xmlns:a16="http://schemas.microsoft.com/office/drawing/2014/main" id="{DEA820DC-A4B4-F42E-47F8-A14256A79EA9}"/>
                </a:ext>
              </a:extLst>
            </p:cNvPr>
            <p:cNvSpPr/>
            <p:nvPr/>
          </p:nvSpPr>
          <p:spPr>
            <a:xfrm>
              <a:off x="707331" y="3806465"/>
              <a:ext cx="209476" cy="209476"/>
            </a:xfrm>
            <a:prstGeom prst="ellipse">
              <a:avLst/>
            </a:prstGeom>
            <a:solidFill>
              <a:schemeClr val="bg2">
                <a:lumMod val="20000"/>
                <a:lumOff val="80000"/>
              </a:schemeClr>
            </a:solidFill>
            <a:ln/>
            <a:effectLst>
              <a:outerShdw blurRad="101600" dist="9525" dir="54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es-ES_tradnl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42" name="Text 7">
              <a:extLst>
                <a:ext uri="{FF2B5EF4-FFF2-40B4-BE49-F238E27FC236}">
                  <a16:creationId xmlns:a16="http://schemas.microsoft.com/office/drawing/2014/main" id="{AE0D26D8-BA2C-3C0E-B554-90FDC8B05DC8}"/>
                </a:ext>
              </a:extLst>
            </p:cNvPr>
            <p:cNvSpPr/>
            <p:nvPr/>
          </p:nvSpPr>
          <p:spPr>
            <a:xfrm>
              <a:off x="669231" y="3806465"/>
              <a:ext cx="285676" cy="247576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ctr">
                <a:lnSpc>
                  <a:spcPct val="100000"/>
                </a:lnSpc>
                <a:buNone/>
              </a:pPr>
              <a:r>
                <a:rPr lang="en-US" sz="900" b="1" kern="0" spc="39" dirty="0">
                  <a:solidFill>
                    <a:srgbClr val="1F3864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2</a:t>
              </a:r>
              <a:endParaRPr lang="en-US" sz="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143" name="Group 142">
            <a:extLst>
              <a:ext uri="{FF2B5EF4-FFF2-40B4-BE49-F238E27FC236}">
                <a16:creationId xmlns:a16="http://schemas.microsoft.com/office/drawing/2014/main" id="{DED53605-4A29-4D93-923E-0B73FAC4E015}"/>
              </a:ext>
            </a:extLst>
          </p:cNvPr>
          <p:cNvGrpSpPr/>
          <p:nvPr/>
        </p:nvGrpSpPr>
        <p:grpSpPr>
          <a:xfrm>
            <a:off x="639433" y="5893245"/>
            <a:ext cx="250811" cy="247576"/>
            <a:chOff x="669231" y="3806465"/>
            <a:chExt cx="285676" cy="247576"/>
          </a:xfrm>
        </p:grpSpPr>
        <p:sp>
          <p:nvSpPr>
            <p:cNvPr id="144" name="Shape 6">
              <a:extLst>
                <a:ext uri="{FF2B5EF4-FFF2-40B4-BE49-F238E27FC236}">
                  <a16:creationId xmlns:a16="http://schemas.microsoft.com/office/drawing/2014/main" id="{FCE7D552-3F38-804A-875C-350266690044}"/>
                </a:ext>
              </a:extLst>
            </p:cNvPr>
            <p:cNvSpPr/>
            <p:nvPr/>
          </p:nvSpPr>
          <p:spPr>
            <a:xfrm>
              <a:off x="707331" y="3806465"/>
              <a:ext cx="209476" cy="209476"/>
            </a:xfrm>
            <a:prstGeom prst="ellipse">
              <a:avLst/>
            </a:prstGeom>
            <a:solidFill>
              <a:schemeClr val="bg2">
                <a:lumMod val="20000"/>
                <a:lumOff val="80000"/>
              </a:schemeClr>
            </a:solidFill>
            <a:ln/>
            <a:effectLst>
              <a:outerShdw blurRad="101600" dist="9525" dir="54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es-ES_tradnl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45" name="Text 7">
              <a:extLst>
                <a:ext uri="{FF2B5EF4-FFF2-40B4-BE49-F238E27FC236}">
                  <a16:creationId xmlns:a16="http://schemas.microsoft.com/office/drawing/2014/main" id="{57F336AB-36B2-F5B8-8F4A-DA4679B49011}"/>
                </a:ext>
              </a:extLst>
            </p:cNvPr>
            <p:cNvSpPr/>
            <p:nvPr/>
          </p:nvSpPr>
          <p:spPr>
            <a:xfrm>
              <a:off x="669231" y="3806465"/>
              <a:ext cx="285676" cy="247576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ctr">
                <a:lnSpc>
                  <a:spcPct val="100000"/>
                </a:lnSpc>
                <a:buNone/>
              </a:pPr>
              <a:r>
                <a:rPr lang="en-US" sz="900" b="1" kern="0" spc="39" dirty="0">
                  <a:solidFill>
                    <a:srgbClr val="1F3864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3</a:t>
              </a:r>
              <a:endParaRPr lang="en-US" sz="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149" name="Group 148">
            <a:extLst>
              <a:ext uri="{FF2B5EF4-FFF2-40B4-BE49-F238E27FC236}">
                <a16:creationId xmlns:a16="http://schemas.microsoft.com/office/drawing/2014/main" id="{37E22355-0DAE-0D71-8A49-66929436FFC5}"/>
              </a:ext>
            </a:extLst>
          </p:cNvPr>
          <p:cNvGrpSpPr/>
          <p:nvPr/>
        </p:nvGrpSpPr>
        <p:grpSpPr>
          <a:xfrm>
            <a:off x="639433" y="6405413"/>
            <a:ext cx="250811" cy="247576"/>
            <a:chOff x="669231" y="3806465"/>
            <a:chExt cx="285676" cy="247576"/>
          </a:xfrm>
        </p:grpSpPr>
        <p:sp>
          <p:nvSpPr>
            <p:cNvPr id="150" name="Shape 6">
              <a:extLst>
                <a:ext uri="{FF2B5EF4-FFF2-40B4-BE49-F238E27FC236}">
                  <a16:creationId xmlns:a16="http://schemas.microsoft.com/office/drawing/2014/main" id="{7E7EE64E-8613-9EAA-DF03-0B8312DC4F85}"/>
                </a:ext>
              </a:extLst>
            </p:cNvPr>
            <p:cNvSpPr/>
            <p:nvPr/>
          </p:nvSpPr>
          <p:spPr>
            <a:xfrm>
              <a:off x="707331" y="3806465"/>
              <a:ext cx="209476" cy="209476"/>
            </a:xfrm>
            <a:prstGeom prst="ellipse">
              <a:avLst/>
            </a:prstGeom>
            <a:solidFill>
              <a:schemeClr val="bg2">
                <a:lumMod val="20000"/>
                <a:lumOff val="80000"/>
              </a:schemeClr>
            </a:solidFill>
            <a:ln/>
            <a:effectLst>
              <a:outerShdw blurRad="101600" dist="9525" dir="54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es-ES_tradnl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51" name="Text 7">
              <a:extLst>
                <a:ext uri="{FF2B5EF4-FFF2-40B4-BE49-F238E27FC236}">
                  <a16:creationId xmlns:a16="http://schemas.microsoft.com/office/drawing/2014/main" id="{4EC5F560-D9DF-DE01-995F-65892DEC874F}"/>
                </a:ext>
              </a:extLst>
            </p:cNvPr>
            <p:cNvSpPr/>
            <p:nvPr/>
          </p:nvSpPr>
          <p:spPr>
            <a:xfrm>
              <a:off x="669231" y="3806465"/>
              <a:ext cx="285676" cy="247576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ctr">
                <a:lnSpc>
                  <a:spcPct val="100000"/>
                </a:lnSpc>
                <a:buNone/>
              </a:pPr>
              <a:r>
                <a:rPr lang="en-US" sz="900" b="1" kern="0" spc="39" dirty="0">
                  <a:solidFill>
                    <a:srgbClr val="1F3864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3</a:t>
              </a:r>
              <a:endParaRPr lang="en-US" sz="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152" name="Group 151">
            <a:extLst>
              <a:ext uri="{FF2B5EF4-FFF2-40B4-BE49-F238E27FC236}">
                <a16:creationId xmlns:a16="http://schemas.microsoft.com/office/drawing/2014/main" id="{3653C6D4-4FBA-3857-30E9-0E3C35646FA2}"/>
              </a:ext>
            </a:extLst>
          </p:cNvPr>
          <p:cNvGrpSpPr/>
          <p:nvPr/>
        </p:nvGrpSpPr>
        <p:grpSpPr>
          <a:xfrm>
            <a:off x="616066" y="6908303"/>
            <a:ext cx="250811" cy="247576"/>
            <a:chOff x="669231" y="3806465"/>
            <a:chExt cx="285676" cy="247576"/>
          </a:xfrm>
        </p:grpSpPr>
        <p:sp>
          <p:nvSpPr>
            <p:cNvPr id="153" name="Shape 6">
              <a:extLst>
                <a:ext uri="{FF2B5EF4-FFF2-40B4-BE49-F238E27FC236}">
                  <a16:creationId xmlns:a16="http://schemas.microsoft.com/office/drawing/2014/main" id="{D8985DB1-F10E-422E-582B-739E9F36020E}"/>
                </a:ext>
              </a:extLst>
            </p:cNvPr>
            <p:cNvSpPr/>
            <p:nvPr/>
          </p:nvSpPr>
          <p:spPr>
            <a:xfrm>
              <a:off x="707331" y="3806465"/>
              <a:ext cx="209476" cy="209476"/>
            </a:xfrm>
            <a:prstGeom prst="ellipse">
              <a:avLst/>
            </a:prstGeom>
            <a:solidFill>
              <a:schemeClr val="bg2">
                <a:lumMod val="20000"/>
                <a:lumOff val="80000"/>
              </a:schemeClr>
            </a:solidFill>
            <a:ln/>
            <a:effectLst>
              <a:outerShdw blurRad="101600" dist="9525" dir="54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es-ES_tradnl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54" name="Text 7">
              <a:extLst>
                <a:ext uri="{FF2B5EF4-FFF2-40B4-BE49-F238E27FC236}">
                  <a16:creationId xmlns:a16="http://schemas.microsoft.com/office/drawing/2014/main" id="{8BBBD5A2-EA66-927B-158E-2DF2A9EEDA0F}"/>
                </a:ext>
              </a:extLst>
            </p:cNvPr>
            <p:cNvSpPr/>
            <p:nvPr/>
          </p:nvSpPr>
          <p:spPr>
            <a:xfrm>
              <a:off x="669231" y="3806465"/>
              <a:ext cx="285676" cy="247576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ctr">
                <a:lnSpc>
                  <a:spcPct val="100000"/>
                </a:lnSpc>
                <a:buNone/>
              </a:pPr>
              <a:r>
                <a:rPr lang="en-US" sz="900" b="1" kern="0" spc="39" dirty="0">
                  <a:solidFill>
                    <a:srgbClr val="1F3864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3</a:t>
              </a:r>
              <a:endParaRPr lang="en-US" sz="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191" name="Shape 30">
            <a:extLst>
              <a:ext uri="{FF2B5EF4-FFF2-40B4-BE49-F238E27FC236}">
                <a16:creationId xmlns:a16="http://schemas.microsoft.com/office/drawing/2014/main" id="{1B4D7249-792A-7636-365F-5D7AFAC83FB3}"/>
              </a:ext>
            </a:extLst>
          </p:cNvPr>
          <p:cNvSpPr/>
          <p:nvPr/>
        </p:nvSpPr>
        <p:spPr>
          <a:xfrm>
            <a:off x="9043445" y="3436984"/>
            <a:ext cx="8558754" cy="2980361"/>
          </a:xfrm>
          <a:prstGeom prst="roundRect">
            <a:avLst>
              <a:gd name="adj" fmla="val 2540"/>
            </a:avLst>
          </a:prstGeom>
          <a:solidFill>
            <a:srgbClr val="E5E9F1"/>
          </a:solidFill>
          <a:ln w="7937">
            <a:solidFill>
              <a:srgbClr val="000000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2" name="Shape 31">
            <a:extLst>
              <a:ext uri="{FF2B5EF4-FFF2-40B4-BE49-F238E27FC236}">
                <a16:creationId xmlns:a16="http://schemas.microsoft.com/office/drawing/2014/main" id="{DC2077BF-5DEA-9238-BBBA-7BAB9BD001A1}"/>
              </a:ext>
            </a:extLst>
          </p:cNvPr>
          <p:cNvSpPr/>
          <p:nvPr/>
        </p:nvSpPr>
        <p:spPr>
          <a:xfrm>
            <a:off x="9047517" y="3435396"/>
            <a:ext cx="8554681" cy="857250"/>
          </a:xfrm>
          <a:prstGeom prst="rect">
            <a:avLst/>
          </a:prstGeom>
          <a:solidFill>
            <a:srgbClr val="14284D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3" name="Shape 32">
            <a:extLst>
              <a:ext uri="{FF2B5EF4-FFF2-40B4-BE49-F238E27FC236}">
                <a16:creationId xmlns:a16="http://schemas.microsoft.com/office/drawing/2014/main" id="{2D4F9E1B-AE1E-84F4-6427-9332788CFD07}"/>
              </a:ext>
            </a:extLst>
          </p:cNvPr>
          <p:cNvSpPr/>
          <p:nvPr/>
        </p:nvSpPr>
        <p:spPr>
          <a:xfrm>
            <a:off x="9256994" y="3654484"/>
            <a:ext cx="419075" cy="419075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4" name="Text 33">
            <a:extLst>
              <a:ext uri="{FF2B5EF4-FFF2-40B4-BE49-F238E27FC236}">
                <a16:creationId xmlns:a16="http://schemas.microsoft.com/office/drawing/2014/main" id="{06B2B8BE-C41C-1E85-C2D9-3EBF1A3959C2}"/>
              </a:ext>
            </a:extLst>
          </p:cNvPr>
          <p:cNvSpPr/>
          <p:nvPr/>
        </p:nvSpPr>
        <p:spPr>
          <a:xfrm>
            <a:off x="9218894" y="3654484"/>
            <a:ext cx="495275" cy="4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>
                <a:solidFill>
                  <a:srgbClr val="14284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</a:t>
            </a:r>
            <a:endParaRPr lang="en-US" sz="135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6" name="Text 35">
            <a:extLst>
              <a:ext uri="{FF2B5EF4-FFF2-40B4-BE49-F238E27FC236}">
                <a16:creationId xmlns:a16="http://schemas.microsoft.com/office/drawing/2014/main" id="{B4FAB3D5-5FC9-3410-6C30-EF306748A9F8}"/>
              </a:ext>
            </a:extLst>
          </p:cNvPr>
          <p:cNvSpPr/>
          <p:nvPr/>
        </p:nvSpPr>
        <p:spPr>
          <a:xfrm>
            <a:off x="9790419" y="3725016"/>
            <a:ext cx="2882802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18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Human in the loop</a:t>
            </a: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7" name="Text 36">
            <a:extLst>
              <a:ext uri="{FF2B5EF4-FFF2-40B4-BE49-F238E27FC236}">
                <a16:creationId xmlns:a16="http://schemas.microsoft.com/office/drawing/2014/main" id="{B8FD90EB-82C5-71D8-4596-1D7A45F920A2}"/>
              </a:ext>
            </a:extLst>
          </p:cNvPr>
          <p:cNvSpPr/>
          <p:nvPr/>
        </p:nvSpPr>
        <p:spPr>
          <a:xfrm>
            <a:off x="9434595" y="4359247"/>
            <a:ext cx="5009525" cy="2313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00" b="1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Procesamiento</a:t>
            </a:r>
            <a:r>
              <a:rPr lang="en-US" sz="1300" b="1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300" b="1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paralelo</a:t>
            </a:r>
            <a:r>
              <a:rPr lang="en-US" sz="1300" b="1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con max concurrent configurable (default 3)</a:t>
            </a:r>
            <a:endParaRPr lang="en-US" sz="13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1" name="Text 40">
            <a:extLst>
              <a:ext uri="{FF2B5EF4-FFF2-40B4-BE49-F238E27FC236}">
                <a16:creationId xmlns:a16="http://schemas.microsoft.com/office/drawing/2014/main" id="{27D013AF-2ABE-16EB-8CD7-ABD5BD827C91}"/>
              </a:ext>
            </a:extLst>
          </p:cNvPr>
          <p:cNvSpPr/>
          <p:nvPr/>
        </p:nvSpPr>
        <p:spPr>
          <a:xfrm>
            <a:off x="9434595" y="4628626"/>
            <a:ext cx="1775637" cy="2313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00" b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Resultados fusionables</a:t>
            </a:r>
            <a:endParaRPr lang="en-US" sz="13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2" name="Text 41">
            <a:extLst>
              <a:ext uri="{FF2B5EF4-FFF2-40B4-BE49-F238E27FC236}">
                <a16:creationId xmlns:a16="http://schemas.microsoft.com/office/drawing/2014/main" id="{E9F42095-A7A5-1B92-07D8-9A828B05E16C}"/>
              </a:ext>
            </a:extLst>
          </p:cNvPr>
          <p:cNvSpPr/>
          <p:nvPr/>
        </p:nvSpPr>
        <p:spPr>
          <a:xfrm>
            <a:off x="11038358" y="4652121"/>
            <a:ext cx="5558002" cy="18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varios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documentos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cubren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la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misma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empresa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se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deduplican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antes de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mostrar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sz="13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3" name="Text 42">
            <a:extLst>
              <a:ext uri="{FF2B5EF4-FFF2-40B4-BE49-F238E27FC236}">
                <a16:creationId xmlns:a16="http://schemas.microsoft.com/office/drawing/2014/main" id="{B7B3E9B9-C780-4541-F2CC-AB71AB276A41}"/>
              </a:ext>
            </a:extLst>
          </p:cNvPr>
          <p:cNvSpPr/>
          <p:nvPr/>
        </p:nvSpPr>
        <p:spPr>
          <a:xfrm>
            <a:off x="9434595" y="4898005"/>
            <a:ext cx="975937" cy="2313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00" b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Trazabilidad</a:t>
            </a:r>
            <a:endParaRPr lang="en-US" sz="13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4" name="Text 43">
            <a:extLst>
              <a:ext uri="{FF2B5EF4-FFF2-40B4-BE49-F238E27FC236}">
                <a16:creationId xmlns:a16="http://schemas.microsoft.com/office/drawing/2014/main" id="{70D6C36E-097C-7C4E-5D3C-3B363D5F7BE7}"/>
              </a:ext>
            </a:extLst>
          </p:cNvPr>
          <p:cNvSpPr/>
          <p:nvPr/>
        </p:nvSpPr>
        <p:spPr>
          <a:xfrm>
            <a:off x="10298731" y="4921500"/>
            <a:ext cx="4423407" cy="18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cada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activo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final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apunta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al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documento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exacto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del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que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se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extrajo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sz="13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5" name="Text 44">
            <a:extLst>
              <a:ext uri="{FF2B5EF4-FFF2-40B4-BE49-F238E27FC236}">
                <a16:creationId xmlns:a16="http://schemas.microsoft.com/office/drawing/2014/main" id="{9E8AB02D-6FD3-8A9C-9659-85F327D78452}"/>
              </a:ext>
            </a:extLst>
          </p:cNvPr>
          <p:cNvSpPr/>
          <p:nvPr/>
        </p:nvSpPr>
        <p:spPr>
          <a:xfrm>
            <a:off x="9434596" y="5167384"/>
            <a:ext cx="751167" cy="2313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00" b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Auditoría</a:t>
            </a:r>
            <a:endParaRPr lang="en-US" sz="13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6" name="Text 45">
            <a:extLst>
              <a:ext uri="{FF2B5EF4-FFF2-40B4-BE49-F238E27FC236}">
                <a16:creationId xmlns:a16="http://schemas.microsoft.com/office/drawing/2014/main" id="{C8CEEE7E-02AC-B422-0021-F006EA2EFB8D}"/>
              </a:ext>
            </a:extLst>
          </p:cNvPr>
          <p:cNvSpPr/>
          <p:nvPr/>
        </p:nvSpPr>
        <p:spPr>
          <a:xfrm>
            <a:off x="10115251" y="5190879"/>
            <a:ext cx="3491402" cy="18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la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decisión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humana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queda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registrada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job log.</a:t>
            </a:r>
            <a:endParaRPr lang="en-US" sz="13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7" name="Text 46">
            <a:extLst>
              <a:ext uri="{FF2B5EF4-FFF2-40B4-BE49-F238E27FC236}">
                <a16:creationId xmlns:a16="http://schemas.microsoft.com/office/drawing/2014/main" id="{0576EC6F-D16B-85E8-14CF-FF930F049498}"/>
              </a:ext>
            </a:extLst>
          </p:cNvPr>
          <p:cNvSpPr/>
          <p:nvPr/>
        </p:nvSpPr>
        <p:spPr>
          <a:xfrm>
            <a:off x="9276094" y="5532012"/>
            <a:ext cx="7585703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200" b="1" kern="0" spc="149" dirty="0">
                <a:solidFill>
                  <a:srgbClr val="BF9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DECISIÓN CLAVE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8" name="Text 47">
            <a:extLst>
              <a:ext uri="{FF2B5EF4-FFF2-40B4-BE49-F238E27FC236}">
                <a16:creationId xmlns:a16="http://schemas.microsoft.com/office/drawing/2014/main" id="{AE398D49-8738-BD2E-7406-EB7BE876D93A}"/>
              </a:ext>
            </a:extLst>
          </p:cNvPr>
          <p:cNvSpPr/>
          <p:nvPr/>
        </p:nvSpPr>
        <p:spPr>
          <a:xfrm>
            <a:off x="9276094" y="5689101"/>
            <a:ext cx="7585703" cy="2447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procesar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automáticamente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—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coste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por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documento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es alto y un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falso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positivo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del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agente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contamina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resultado</a:t>
            </a:r>
            <a:r>
              <a:rPr lang="en-US" sz="13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final.</a:t>
            </a:r>
            <a:endParaRPr lang="en-US" sz="13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210" name="Group 209">
            <a:extLst>
              <a:ext uri="{FF2B5EF4-FFF2-40B4-BE49-F238E27FC236}">
                <a16:creationId xmlns:a16="http://schemas.microsoft.com/office/drawing/2014/main" id="{4645B1D4-3BD3-A1C0-4E28-735218A4149E}"/>
              </a:ext>
            </a:extLst>
          </p:cNvPr>
          <p:cNvGrpSpPr/>
          <p:nvPr/>
        </p:nvGrpSpPr>
        <p:grpSpPr>
          <a:xfrm>
            <a:off x="8945880" y="3332596"/>
            <a:ext cx="250811" cy="247576"/>
            <a:chOff x="669231" y="3806465"/>
            <a:chExt cx="285676" cy="247576"/>
          </a:xfrm>
        </p:grpSpPr>
        <p:sp>
          <p:nvSpPr>
            <p:cNvPr id="211" name="Shape 6">
              <a:extLst>
                <a:ext uri="{FF2B5EF4-FFF2-40B4-BE49-F238E27FC236}">
                  <a16:creationId xmlns:a16="http://schemas.microsoft.com/office/drawing/2014/main" id="{BF2C61A5-CB13-49F0-E2D2-B7540AE2B63C}"/>
                </a:ext>
              </a:extLst>
            </p:cNvPr>
            <p:cNvSpPr/>
            <p:nvPr/>
          </p:nvSpPr>
          <p:spPr>
            <a:xfrm>
              <a:off x="707331" y="3806465"/>
              <a:ext cx="209476" cy="209476"/>
            </a:xfrm>
            <a:prstGeom prst="ellipse">
              <a:avLst/>
            </a:prstGeom>
            <a:solidFill>
              <a:schemeClr val="bg2">
                <a:lumMod val="20000"/>
                <a:lumOff val="80000"/>
              </a:schemeClr>
            </a:solidFill>
            <a:ln/>
            <a:effectLst>
              <a:outerShdw blurRad="101600" dist="9525" dir="54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es-ES_tradnl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12" name="Text 7">
              <a:extLst>
                <a:ext uri="{FF2B5EF4-FFF2-40B4-BE49-F238E27FC236}">
                  <a16:creationId xmlns:a16="http://schemas.microsoft.com/office/drawing/2014/main" id="{21911BFB-25E1-91E0-D1F3-A7686F77374C}"/>
                </a:ext>
              </a:extLst>
            </p:cNvPr>
            <p:cNvSpPr/>
            <p:nvPr/>
          </p:nvSpPr>
          <p:spPr>
            <a:xfrm>
              <a:off x="669231" y="3806465"/>
              <a:ext cx="285676" cy="247576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ctr">
                <a:lnSpc>
                  <a:spcPct val="100000"/>
                </a:lnSpc>
                <a:buNone/>
              </a:pPr>
              <a:r>
                <a:rPr lang="en-US" sz="900" b="1" kern="0" spc="39" dirty="0">
                  <a:solidFill>
                    <a:srgbClr val="1F3864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4</a:t>
              </a:r>
              <a:endParaRPr lang="en-US" sz="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260" name="Shape 49">
            <a:extLst>
              <a:ext uri="{FF2B5EF4-FFF2-40B4-BE49-F238E27FC236}">
                <a16:creationId xmlns:a16="http://schemas.microsoft.com/office/drawing/2014/main" id="{9A37E7EA-C80F-CBA9-BA19-02773037FC7E}"/>
              </a:ext>
            </a:extLst>
          </p:cNvPr>
          <p:cNvSpPr/>
          <p:nvPr/>
        </p:nvSpPr>
        <p:spPr>
          <a:xfrm>
            <a:off x="9011007" y="6619256"/>
            <a:ext cx="8621489" cy="2617456"/>
          </a:xfrm>
          <a:prstGeom prst="roundRect">
            <a:avLst>
              <a:gd name="adj" fmla="val 998"/>
            </a:avLst>
          </a:prstGeom>
          <a:solidFill>
            <a:srgbClr val="FFFFFF"/>
          </a:solidFill>
          <a:ln w="7937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1" name="Shape 50">
            <a:extLst>
              <a:ext uri="{FF2B5EF4-FFF2-40B4-BE49-F238E27FC236}">
                <a16:creationId xmlns:a16="http://schemas.microsoft.com/office/drawing/2014/main" id="{40E1F085-C0A8-8309-3AEF-8DB3599A364F}"/>
              </a:ext>
            </a:extLst>
          </p:cNvPr>
          <p:cNvSpPr/>
          <p:nvPr/>
        </p:nvSpPr>
        <p:spPr>
          <a:xfrm>
            <a:off x="9018943" y="6627193"/>
            <a:ext cx="8617491" cy="442764"/>
          </a:xfrm>
          <a:prstGeom prst="rect">
            <a:avLst/>
          </a:prstGeom>
          <a:solidFill>
            <a:srgbClr val="002569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2" name="Shape 51">
            <a:extLst>
              <a:ext uri="{FF2B5EF4-FFF2-40B4-BE49-F238E27FC236}">
                <a16:creationId xmlns:a16="http://schemas.microsoft.com/office/drawing/2014/main" id="{14325518-BBDA-8954-D9B2-8CE9BBD0452D}"/>
              </a:ext>
            </a:extLst>
          </p:cNvPr>
          <p:cNvSpPr/>
          <p:nvPr/>
        </p:nvSpPr>
        <p:spPr>
          <a:xfrm>
            <a:off x="9209444" y="6760518"/>
            <a:ext cx="691307" cy="176113"/>
          </a:xfrm>
          <a:prstGeom prst="roundRect">
            <a:avLst>
              <a:gd name="adj" fmla="val 50000"/>
            </a:avLst>
          </a:prstGeom>
          <a:solidFill>
            <a:srgbClr val="BF9000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3" name="Text 52">
            <a:extLst>
              <a:ext uri="{FF2B5EF4-FFF2-40B4-BE49-F238E27FC236}">
                <a16:creationId xmlns:a16="http://schemas.microsoft.com/office/drawing/2014/main" id="{658CAB27-DA71-7823-D47F-816A277C829A}"/>
              </a:ext>
            </a:extLst>
          </p:cNvPr>
          <p:cNvSpPr/>
          <p:nvPr/>
        </p:nvSpPr>
        <p:spPr>
          <a:xfrm>
            <a:off x="9304694" y="6789093"/>
            <a:ext cx="577007" cy="1570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b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REVISIÓN</a:t>
            </a:r>
            <a:endParaRPr lang="en-US" sz="825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4" name="Text 53">
            <a:extLst>
              <a:ext uri="{FF2B5EF4-FFF2-40B4-BE49-F238E27FC236}">
                <a16:creationId xmlns:a16="http://schemas.microsoft.com/office/drawing/2014/main" id="{61AFEABA-7822-0B2B-9052-4F63151FD300}"/>
              </a:ext>
            </a:extLst>
          </p:cNvPr>
          <p:cNvSpPr/>
          <p:nvPr/>
        </p:nvSpPr>
        <p:spPr>
          <a:xfrm>
            <a:off x="10034076" y="6765231"/>
            <a:ext cx="2829660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 </a:t>
            </a:r>
            <a:r>
              <a:rPr lang="en-US" sz="1100" b="1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documentos</a:t>
            </a: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100" b="1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aceptados</a:t>
            </a: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· 1 </a:t>
            </a:r>
            <a:r>
              <a:rPr lang="en-US" sz="1100" b="1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rechazados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5" name="Shape 55">
            <a:extLst>
              <a:ext uri="{FF2B5EF4-FFF2-40B4-BE49-F238E27FC236}">
                <a16:creationId xmlns:a16="http://schemas.microsoft.com/office/drawing/2014/main" id="{3756D58C-6A1B-7321-9975-3B68F8ADD7CD}"/>
              </a:ext>
            </a:extLst>
          </p:cNvPr>
          <p:cNvSpPr/>
          <p:nvPr/>
        </p:nvSpPr>
        <p:spPr>
          <a:xfrm>
            <a:off x="9018944" y="7069957"/>
            <a:ext cx="8605614" cy="9525"/>
          </a:xfrm>
          <a:prstGeom prst="rect">
            <a:avLst/>
          </a:prstGeom>
          <a:solidFill>
            <a:srgbClr val="ECECEC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6" name="Shape 56">
            <a:extLst>
              <a:ext uri="{FF2B5EF4-FFF2-40B4-BE49-F238E27FC236}">
                <a16:creationId xmlns:a16="http://schemas.microsoft.com/office/drawing/2014/main" id="{9CE529C1-AF95-89F2-1892-2C4B17308BCD}"/>
              </a:ext>
            </a:extLst>
          </p:cNvPr>
          <p:cNvSpPr/>
          <p:nvPr/>
        </p:nvSpPr>
        <p:spPr>
          <a:xfrm>
            <a:off x="9209444" y="7354094"/>
            <a:ext cx="171400" cy="171400"/>
          </a:xfrm>
          <a:prstGeom prst="roundRect">
            <a:avLst>
              <a:gd name="adj" fmla="val 16672"/>
            </a:avLst>
          </a:prstGeom>
          <a:solidFill>
            <a:srgbClr val="4F814F"/>
          </a:solidFill>
          <a:ln w="15875">
            <a:solidFill>
              <a:srgbClr val="4F814F"/>
            </a:solidFill>
            <a:prstDash val="solid"/>
          </a:ln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7" name="Text 57">
            <a:extLst>
              <a:ext uri="{FF2B5EF4-FFF2-40B4-BE49-F238E27FC236}">
                <a16:creationId xmlns:a16="http://schemas.microsoft.com/office/drawing/2014/main" id="{F5CB7B29-2904-821C-0C1C-5A688A64BB21}"/>
              </a:ext>
            </a:extLst>
          </p:cNvPr>
          <p:cNvSpPr/>
          <p:nvPr/>
        </p:nvSpPr>
        <p:spPr>
          <a:xfrm>
            <a:off x="9187219" y="7369969"/>
            <a:ext cx="215850" cy="177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✓</a:t>
            </a:r>
            <a:endParaRPr lang="en-US" sz="9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8" name="Shape 58">
            <a:extLst>
              <a:ext uri="{FF2B5EF4-FFF2-40B4-BE49-F238E27FC236}">
                <a16:creationId xmlns:a16="http://schemas.microsoft.com/office/drawing/2014/main" id="{414BE130-8132-7DC5-65FB-F6449DA782B0}"/>
              </a:ext>
            </a:extLst>
          </p:cNvPr>
          <p:cNvSpPr/>
          <p:nvPr/>
        </p:nvSpPr>
        <p:spPr>
          <a:xfrm>
            <a:off x="9533145" y="7211219"/>
            <a:ext cx="361900" cy="457150"/>
          </a:xfrm>
          <a:prstGeom prst="roundRect">
            <a:avLst>
              <a:gd name="adj" fmla="val 5264"/>
            </a:avLst>
          </a:prstGeom>
          <a:solidFill>
            <a:srgbClr val="FBEEF0"/>
          </a:solidFill>
          <a:ln w="7937">
            <a:solidFill>
              <a:srgbClr val="B9384A"/>
            </a:solidFill>
            <a:prstDash val="solid"/>
          </a:ln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9" name="Text 59">
            <a:extLst>
              <a:ext uri="{FF2B5EF4-FFF2-40B4-BE49-F238E27FC236}">
                <a16:creationId xmlns:a16="http://schemas.microsoft.com/office/drawing/2014/main" id="{D417B08E-4A74-778D-AD74-0A76B2B2DB8D}"/>
              </a:ext>
            </a:extLst>
          </p:cNvPr>
          <p:cNvSpPr/>
          <p:nvPr/>
        </p:nvSpPr>
        <p:spPr>
          <a:xfrm>
            <a:off x="9502983" y="7219157"/>
            <a:ext cx="422225" cy="479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825" b="1">
                <a:solidFill>
                  <a:srgbClr val="B9384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PDF</a:t>
            </a:r>
            <a:endParaRPr lang="en-US" sz="825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0" name="Text 60">
            <a:extLst>
              <a:ext uri="{FF2B5EF4-FFF2-40B4-BE49-F238E27FC236}">
                <a16:creationId xmlns:a16="http://schemas.microsoft.com/office/drawing/2014/main" id="{A4596CB3-A547-32ED-9AFD-AF5FCFB203F0}"/>
              </a:ext>
            </a:extLst>
          </p:cNvPr>
          <p:cNvSpPr/>
          <p:nvPr/>
        </p:nvSpPr>
        <p:spPr>
          <a:xfrm>
            <a:off x="10047346" y="7287369"/>
            <a:ext cx="6527215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b="1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memoria-anual-2024.pdf</a:t>
            </a:r>
            <a:endParaRPr lang="en-US" sz="105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1" name="Text 61">
            <a:extLst>
              <a:ext uri="{FF2B5EF4-FFF2-40B4-BE49-F238E27FC236}">
                <a16:creationId xmlns:a16="http://schemas.microsoft.com/office/drawing/2014/main" id="{4A939B92-3F3F-33EA-D7F9-D23BE39B4010}"/>
              </a:ext>
            </a:extLst>
          </p:cNvPr>
          <p:cNvSpPr/>
          <p:nvPr/>
        </p:nvSpPr>
        <p:spPr>
          <a:xfrm>
            <a:off x="10047346" y="7465095"/>
            <a:ext cx="6527215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inditex.com · 240 p · ES · 2024</a:t>
            </a:r>
            <a:endParaRPr lang="en-US" sz="9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2" name="Shape 62">
            <a:extLst>
              <a:ext uri="{FF2B5EF4-FFF2-40B4-BE49-F238E27FC236}">
                <a16:creationId xmlns:a16="http://schemas.microsoft.com/office/drawing/2014/main" id="{A5BB5DF3-689D-FA04-AF5B-B64CA3F067A8}"/>
              </a:ext>
            </a:extLst>
          </p:cNvPr>
          <p:cNvSpPr/>
          <p:nvPr/>
        </p:nvSpPr>
        <p:spPr>
          <a:xfrm>
            <a:off x="16536749" y="7211219"/>
            <a:ext cx="897310" cy="225227"/>
          </a:xfrm>
          <a:prstGeom prst="roundRect">
            <a:avLst>
              <a:gd name="adj" fmla="val 50000"/>
            </a:avLst>
          </a:prstGeom>
          <a:solidFill>
            <a:srgbClr val="4F814F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3" name="Text 63">
            <a:extLst>
              <a:ext uri="{FF2B5EF4-FFF2-40B4-BE49-F238E27FC236}">
                <a16:creationId xmlns:a16="http://schemas.microsoft.com/office/drawing/2014/main" id="{63B931B3-E205-086D-DC7D-24FDF574DFE0}"/>
              </a:ext>
            </a:extLst>
          </p:cNvPr>
          <p:cNvSpPr/>
          <p:nvPr/>
        </p:nvSpPr>
        <p:spPr>
          <a:xfrm>
            <a:off x="16670099" y="7268369"/>
            <a:ext cx="706810" cy="1490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750" b="1" kern="0" spc="105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ACCEPTED</a:t>
            </a:r>
            <a:endParaRPr lang="en-US" sz="75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4" name="Shape 64">
            <a:extLst>
              <a:ext uri="{FF2B5EF4-FFF2-40B4-BE49-F238E27FC236}">
                <a16:creationId xmlns:a16="http://schemas.microsoft.com/office/drawing/2014/main" id="{7B87B41A-0561-78AD-6715-89F83944E947}"/>
              </a:ext>
            </a:extLst>
          </p:cNvPr>
          <p:cNvSpPr/>
          <p:nvPr/>
        </p:nvSpPr>
        <p:spPr>
          <a:xfrm>
            <a:off x="9018944" y="7801694"/>
            <a:ext cx="8605614" cy="9525"/>
          </a:xfrm>
          <a:prstGeom prst="rect">
            <a:avLst/>
          </a:prstGeom>
          <a:solidFill>
            <a:srgbClr val="ECECEC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5" name="Shape 65">
            <a:extLst>
              <a:ext uri="{FF2B5EF4-FFF2-40B4-BE49-F238E27FC236}">
                <a16:creationId xmlns:a16="http://schemas.microsoft.com/office/drawing/2014/main" id="{626F3DD1-47B3-F80C-2025-BD0CC5AB7E4B}"/>
              </a:ext>
            </a:extLst>
          </p:cNvPr>
          <p:cNvSpPr/>
          <p:nvPr/>
        </p:nvSpPr>
        <p:spPr>
          <a:xfrm>
            <a:off x="9209444" y="8085832"/>
            <a:ext cx="171400" cy="171400"/>
          </a:xfrm>
          <a:prstGeom prst="roundRect">
            <a:avLst>
              <a:gd name="adj" fmla="val 16672"/>
            </a:avLst>
          </a:prstGeom>
          <a:solidFill>
            <a:srgbClr val="4F814F"/>
          </a:solidFill>
          <a:ln w="15875">
            <a:solidFill>
              <a:srgbClr val="4F814F"/>
            </a:solidFill>
            <a:prstDash val="solid"/>
          </a:ln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6" name="Text 66">
            <a:extLst>
              <a:ext uri="{FF2B5EF4-FFF2-40B4-BE49-F238E27FC236}">
                <a16:creationId xmlns:a16="http://schemas.microsoft.com/office/drawing/2014/main" id="{D9CBB71E-5460-F129-B0FF-2792553ABEBE}"/>
              </a:ext>
            </a:extLst>
          </p:cNvPr>
          <p:cNvSpPr/>
          <p:nvPr/>
        </p:nvSpPr>
        <p:spPr>
          <a:xfrm>
            <a:off x="9187219" y="8101707"/>
            <a:ext cx="215850" cy="177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✓</a:t>
            </a:r>
            <a:endParaRPr lang="en-US" sz="9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7" name="Shape 67">
            <a:extLst>
              <a:ext uri="{FF2B5EF4-FFF2-40B4-BE49-F238E27FC236}">
                <a16:creationId xmlns:a16="http://schemas.microsoft.com/office/drawing/2014/main" id="{8540EFD1-CE1D-A58C-C761-F34EFFAC4953}"/>
              </a:ext>
            </a:extLst>
          </p:cNvPr>
          <p:cNvSpPr/>
          <p:nvPr/>
        </p:nvSpPr>
        <p:spPr>
          <a:xfrm>
            <a:off x="9533145" y="7942957"/>
            <a:ext cx="361900" cy="457150"/>
          </a:xfrm>
          <a:prstGeom prst="roundRect">
            <a:avLst>
              <a:gd name="adj" fmla="val 5264"/>
            </a:avLst>
          </a:prstGeom>
          <a:solidFill>
            <a:srgbClr val="FBEEF0"/>
          </a:solidFill>
          <a:ln w="7937">
            <a:solidFill>
              <a:srgbClr val="B9384A"/>
            </a:solidFill>
            <a:prstDash val="solid"/>
          </a:ln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8" name="Text 68">
            <a:extLst>
              <a:ext uri="{FF2B5EF4-FFF2-40B4-BE49-F238E27FC236}">
                <a16:creationId xmlns:a16="http://schemas.microsoft.com/office/drawing/2014/main" id="{42B59CE4-8506-EE21-432E-479621186B0B}"/>
              </a:ext>
            </a:extLst>
          </p:cNvPr>
          <p:cNvSpPr/>
          <p:nvPr/>
        </p:nvSpPr>
        <p:spPr>
          <a:xfrm>
            <a:off x="9502983" y="7950895"/>
            <a:ext cx="422225" cy="479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825" b="1">
                <a:solidFill>
                  <a:srgbClr val="B9384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PDF</a:t>
            </a:r>
            <a:endParaRPr lang="en-US" sz="825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9" name="Text 69">
            <a:extLst>
              <a:ext uri="{FF2B5EF4-FFF2-40B4-BE49-F238E27FC236}">
                <a16:creationId xmlns:a16="http://schemas.microsoft.com/office/drawing/2014/main" id="{8F03B266-79A3-A551-5769-CD380FD8B62C}"/>
              </a:ext>
            </a:extLst>
          </p:cNvPr>
          <p:cNvSpPr/>
          <p:nvPr/>
        </p:nvSpPr>
        <p:spPr>
          <a:xfrm>
            <a:off x="10047346" y="8019108"/>
            <a:ext cx="6527215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b="1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plan-estrategico-2025.pdf</a:t>
            </a:r>
            <a:endParaRPr lang="en-US" sz="105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80" name="Text 70">
            <a:extLst>
              <a:ext uri="{FF2B5EF4-FFF2-40B4-BE49-F238E27FC236}">
                <a16:creationId xmlns:a16="http://schemas.microsoft.com/office/drawing/2014/main" id="{8A78CD70-4BA3-82BF-6B69-A646B8D84F7B}"/>
              </a:ext>
            </a:extLst>
          </p:cNvPr>
          <p:cNvSpPr/>
          <p:nvPr/>
        </p:nvSpPr>
        <p:spPr>
          <a:xfrm>
            <a:off x="10047346" y="8196833"/>
            <a:ext cx="6527215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0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inditex.com · 52 p · ES · 2025</a:t>
            </a:r>
            <a:endParaRPr lang="en-US" sz="9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81" name="Shape 71">
            <a:extLst>
              <a:ext uri="{FF2B5EF4-FFF2-40B4-BE49-F238E27FC236}">
                <a16:creationId xmlns:a16="http://schemas.microsoft.com/office/drawing/2014/main" id="{77A40FDD-90CC-C218-4CD6-DD95AB9F433A}"/>
              </a:ext>
            </a:extLst>
          </p:cNvPr>
          <p:cNvSpPr/>
          <p:nvPr/>
        </p:nvSpPr>
        <p:spPr>
          <a:xfrm>
            <a:off x="16536749" y="7942957"/>
            <a:ext cx="897310" cy="225227"/>
          </a:xfrm>
          <a:prstGeom prst="roundRect">
            <a:avLst>
              <a:gd name="adj" fmla="val 50000"/>
            </a:avLst>
          </a:prstGeom>
          <a:solidFill>
            <a:srgbClr val="4F814F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82" name="Text 72">
            <a:extLst>
              <a:ext uri="{FF2B5EF4-FFF2-40B4-BE49-F238E27FC236}">
                <a16:creationId xmlns:a16="http://schemas.microsoft.com/office/drawing/2014/main" id="{879C10EF-CF10-66C5-E9AD-497D46D8D16B}"/>
              </a:ext>
            </a:extLst>
          </p:cNvPr>
          <p:cNvSpPr/>
          <p:nvPr/>
        </p:nvSpPr>
        <p:spPr>
          <a:xfrm>
            <a:off x="16670099" y="8000107"/>
            <a:ext cx="706810" cy="1490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750" b="1" kern="0" spc="105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ACCEPTED</a:t>
            </a:r>
            <a:endParaRPr lang="en-US" sz="75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83" name="Shape 73">
            <a:extLst>
              <a:ext uri="{FF2B5EF4-FFF2-40B4-BE49-F238E27FC236}">
                <a16:creationId xmlns:a16="http://schemas.microsoft.com/office/drawing/2014/main" id="{7189A9D1-F00C-F6E3-8EBB-6A5A6AE240F4}"/>
              </a:ext>
            </a:extLst>
          </p:cNvPr>
          <p:cNvSpPr/>
          <p:nvPr/>
        </p:nvSpPr>
        <p:spPr>
          <a:xfrm>
            <a:off x="9018944" y="8533433"/>
            <a:ext cx="8605614" cy="9525"/>
          </a:xfrm>
          <a:prstGeom prst="rect">
            <a:avLst/>
          </a:prstGeom>
          <a:solidFill>
            <a:srgbClr val="ECECEC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84" name="Shape 83">
            <a:extLst>
              <a:ext uri="{FF2B5EF4-FFF2-40B4-BE49-F238E27FC236}">
                <a16:creationId xmlns:a16="http://schemas.microsoft.com/office/drawing/2014/main" id="{A5393810-E648-FACA-1BA8-6222B2DBDB3E}"/>
              </a:ext>
            </a:extLst>
          </p:cNvPr>
          <p:cNvSpPr/>
          <p:nvPr/>
        </p:nvSpPr>
        <p:spPr>
          <a:xfrm>
            <a:off x="9209444" y="8787309"/>
            <a:ext cx="171400" cy="171400"/>
          </a:xfrm>
          <a:prstGeom prst="roundRect">
            <a:avLst>
              <a:gd name="adj" fmla="val 16672"/>
            </a:avLst>
          </a:prstGeom>
          <a:ln w="1587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85" name="Shape 84">
            <a:extLst>
              <a:ext uri="{FF2B5EF4-FFF2-40B4-BE49-F238E27FC236}">
                <a16:creationId xmlns:a16="http://schemas.microsoft.com/office/drawing/2014/main" id="{62794DD7-7B1C-0C79-3077-152C196777E0}"/>
              </a:ext>
            </a:extLst>
          </p:cNvPr>
          <p:cNvSpPr/>
          <p:nvPr/>
        </p:nvSpPr>
        <p:spPr>
          <a:xfrm>
            <a:off x="9533145" y="8644434"/>
            <a:ext cx="361900" cy="457150"/>
          </a:xfrm>
          <a:prstGeom prst="roundRect">
            <a:avLst>
              <a:gd name="adj" fmla="val 5264"/>
            </a:avLst>
          </a:prstGeom>
          <a:solidFill>
            <a:srgbClr val="FAFAFA"/>
          </a:solidFill>
          <a:ln w="7937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86" name="Text 85">
            <a:extLst>
              <a:ext uri="{FF2B5EF4-FFF2-40B4-BE49-F238E27FC236}">
                <a16:creationId xmlns:a16="http://schemas.microsoft.com/office/drawing/2014/main" id="{F9E0763E-74C6-F417-DDD8-F5C234379A7E}"/>
              </a:ext>
            </a:extLst>
          </p:cNvPr>
          <p:cNvSpPr/>
          <p:nvPr/>
        </p:nvSpPr>
        <p:spPr>
          <a:xfrm>
            <a:off x="9502983" y="8652371"/>
            <a:ext cx="422225" cy="479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825" b="1">
                <a:solidFill>
                  <a:srgbClr val="99999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HTML</a:t>
            </a:r>
            <a:endParaRPr lang="en-US" sz="825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87" name="Text 86">
            <a:extLst>
              <a:ext uri="{FF2B5EF4-FFF2-40B4-BE49-F238E27FC236}">
                <a16:creationId xmlns:a16="http://schemas.microsoft.com/office/drawing/2014/main" id="{925D51AB-2F2F-FE41-B96B-E5EFCC0302C8}"/>
              </a:ext>
            </a:extLst>
          </p:cNvPr>
          <p:cNvSpPr/>
          <p:nvPr/>
        </p:nvSpPr>
        <p:spPr>
          <a:xfrm>
            <a:off x="10047346" y="8720584"/>
            <a:ext cx="6543438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b="1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expansion.com — inditex-resultados.html</a:t>
            </a:r>
            <a:endParaRPr lang="en-US" sz="105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88" name="Text 87">
            <a:extLst>
              <a:ext uri="{FF2B5EF4-FFF2-40B4-BE49-F238E27FC236}">
                <a16:creationId xmlns:a16="http://schemas.microsoft.com/office/drawing/2014/main" id="{FC6D9773-F466-1F7B-EC45-5A5B961645DA}"/>
              </a:ext>
            </a:extLst>
          </p:cNvPr>
          <p:cNvSpPr/>
          <p:nvPr/>
        </p:nvSpPr>
        <p:spPr>
          <a:xfrm>
            <a:off x="10047346" y="8898310"/>
            <a:ext cx="6543438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0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prensa · sin estructura</a:t>
            </a:r>
            <a:endParaRPr lang="en-US" sz="9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89" name="Shape 88">
            <a:extLst>
              <a:ext uri="{FF2B5EF4-FFF2-40B4-BE49-F238E27FC236}">
                <a16:creationId xmlns:a16="http://schemas.microsoft.com/office/drawing/2014/main" id="{AE523054-345C-8C12-7A25-F9CB9C07CE86}"/>
              </a:ext>
            </a:extLst>
          </p:cNvPr>
          <p:cNvSpPr/>
          <p:nvPr/>
        </p:nvSpPr>
        <p:spPr>
          <a:xfrm>
            <a:off x="16552499" y="8644434"/>
            <a:ext cx="881559" cy="225227"/>
          </a:xfrm>
          <a:prstGeom prst="roundRect">
            <a:avLst>
              <a:gd name="adj" fmla="val 50000"/>
            </a:avLst>
          </a:prstGeom>
          <a:solidFill>
            <a:srgbClr val="595959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90" name="Text 89">
            <a:extLst>
              <a:ext uri="{FF2B5EF4-FFF2-40B4-BE49-F238E27FC236}">
                <a16:creationId xmlns:a16="http://schemas.microsoft.com/office/drawing/2014/main" id="{C4C8689F-F518-50F5-D72F-88BE78AA3F55}"/>
              </a:ext>
            </a:extLst>
          </p:cNvPr>
          <p:cNvSpPr/>
          <p:nvPr/>
        </p:nvSpPr>
        <p:spPr>
          <a:xfrm>
            <a:off x="16685849" y="8701584"/>
            <a:ext cx="691059" cy="1490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750" b="1" kern="0" spc="105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REJECTED</a:t>
            </a:r>
            <a:endParaRPr lang="en-US" sz="75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92" name="Shape 91">
            <a:extLst>
              <a:ext uri="{FF2B5EF4-FFF2-40B4-BE49-F238E27FC236}">
                <a16:creationId xmlns:a16="http://schemas.microsoft.com/office/drawing/2014/main" id="{74EF6B5D-06CD-A1B6-B3C4-56FB510107DD}"/>
              </a:ext>
            </a:extLst>
          </p:cNvPr>
          <p:cNvSpPr/>
          <p:nvPr/>
        </p:nvSpPr>
        <p:spPr>
          <a:xfrm>
            <a:off x="9018944" y="9234909"/>
            <a:ext cx="8605614" cy="9525"/>
          </a:xfrm>
          <a:prstGeom prst="rect">
            <a:avLst/>
          </a:prstGeom>
          <a:solidFill>
            <a:srgbClr val="ECECEC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97" name="Shape 92">
            <a:extLst>
              <a:ext uri="{FF2B5EF4-FFF2-40B4-BE49-F238E27FC236}">
                <a16:creationId xmlns:a16="http://schemas.microsoft.com/office/drawing/2014/main" id="{99606B19-0482-1C42-3CCD-A652F1983AA4}"/>
              </a:ext>
            </a:extLst>
          </p:cNvPr>
          <p:cNvSpPr/>
          <p:nvPr/>
        </p:nvSpPr>
        <p:spPr>
          <a:xfrm>
            <a:off x="15635295" y="6679282"/>
            <a:ext cx="1727354" cy="349250"/>
          </a:xfrm>
          <a:prstGeom prst="roundRect">
            <a:avLst>
              <a:gd name="adj" fmla="val 8182"/>
            </a:avLst>
          </a:prstGeom>
          <a:solidFill>
            <a:srgbClr val="BF9000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98" name="Text 93">
            <a:extLst>
              <a:ext uri="{FF2B5EF4-FFF2-40B4-BE49-F238E27FC236}">
                <a16:creationId xmlns:a16="http://schemas.microsoft.com/office/drawing/2014/main" id="{05154389-DFB5-5159-1525-EBE7C6A3AA2C}"/>
              </a:ext>
            </a:extLst>
          </p:cNvPr>
          <p:cNvSpPr/>
          <p:nvPr/>
        </p:nvSpPr>
        <p:spPr>
          <a:xfrm>
            <a:off x="15671584" y="6774532"/>
            <a:ext cx="1678212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975" b="1" kern="0" spc="59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CONFIRMAR Y PROCESAR →</a:t>
            </a:r>
            <a:endParaRPr lang="en-US" sz="975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99" name="Text 7">
            <a:extLst>
              <a:ext uri="{FF2B5EF4-FFF2-40B4-BE49-F238E27FC236}">
                <a16:creationId xmlns:a16="http://schemas.microsoft.com/office/drawing/2014/main" id="{48E6457F-F141-F112-FC50-6D13AF1A4FBB}"/>
              </a:ext>
            </a:extLst>
          </p:cNvPr>
          <p:cNvSpPr/>
          <p:nvPr/>
        </p:nvSpPr>
        <p:spPr>
          <a:xfrm>
            <a:off x="9098280" y="3484996"/>
            <a:ext cx="250811" cy="2475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kern="0" spc="39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</a:t>
            </a:r>
            <a:endParaRPr lang="en-US" sz="9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300" name="Group 299">
            <a:extLst>
              <a:ext uri="{FF2B5EF4-FFF2-40B4-BE49-F238E27FC236}">
                <a16:creationId xmlns:a16="http://schemas.microsoft.com/office/drawing/2014/main" id="{5D9E8097-1A05-07AF-20C1-32B58053D186}"/>
              </a:ext>
            </a:extLst>
          </p:cNvPr>
          <p:cNvGrpSpPr/>
          <p:nvPr/>
        </p:nvGrpSpPr>
        <p:grpSpPr>
          <a:xfrm>
            <a:off x="8909700" y="6520705"/>
            <a:ext cx="250811" cy="247576"/>
            <a:chOff x="669231" y="3806465"/>
            <a:chExt cx="285676" cy="247576"/>
          </a:xfrm>
        </p:grpSpPr>
        <p:sp>
          <p:nvSpPr>
            <p:cNvPr id="301" name="Shape 6">
              <a:extLst>
                <a:ext uri="{FF2B5EF4-FFF2-40B4-BE49-F238E27FC236}">
                  <a16:creationId xmlns:a16="http://schemas.microsoft.com/office/drawing/2014/main" id="{DA4160DA-ED97-BADC-A43C-7AD4FECF2D33}"/>
                </a:ext>
              </a:extLst>
            </p:cNvPr>
            <p:cNvSpPr/>
            <p:nvPr/>
          </p:nvSpPr>
          <p:spPr>
            <a:xfrm>
              <a:off x="707331" y="3806465"/>
              <a:ext cx="209476" cy="209476"/>
            </a:xfrm>
            <a:prstGeom prst="ellipse">
              <a:avLst/>
            </a:prstGeom>
            <a:solidFill>
              <a:schemeClr val="bg2">
                <a:lumMod val="20000"/>
                <a:lumOff val="80000"/>
              </a:schemeClr>
            </a:solidFill>
            <a:ln/>
            <a:effectLst>
              <a:outerShdw blurRad="101600" dist="9525" dir="54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es-ES_tradnl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02" name="Text 7">
              <a:extLst>
                <a:ext uri="{FF2B5EF4-FFF2-40B4-BE49-F238E27FC236}">
                  <a16:creationId xmlns:a16="http://schemas.microsoft.com/office/drawing/2014/main" id="{D8F77784-BA07-E241-3E39-6B5A46CD1C60}"/>
                </a:ext>
              </a:extLst>
            </p:cNvPr>
            <p:cNvSpPr/>
            <p:nvPr/>
          </p:nvSpPr>
          <p:spPr>
            <a:xfrm>
              <a:off x="669231" y="3806465"/>
              <a:ext cx="285676" cy="247576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ctr">
                <a:lnSpc>
                  <a:spcPct val="100000"/>
                </a:lnSpc>
                <a:buNone/>
              </a:pPr>
              <a:r>
                <a:rPr lang="en-US" sz="900" b="1" kern="0" spc="39" dirty="0">
                  <a:solidFill>
                    <a:srgbClr val="1F3864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4</a:t>
              </a:r>
              <a:endParaRPr lang="en-US" sz="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303" name="Group 302">
            <a:extLst>
              <a:ext uri="{FF2B5EF4-FFF2-40B4-BE49-F238E27FC236}">
                <a16:creationId xmlns:a16="http://schemas.microsoft.com/office/drawing/2014/main" id="{54EC32A2-25E2-0278-CF1B-2DB08212B087}"/>
              </a:ext>
            </a:extLst>
          </p:cNvPr>
          <p:cNvGrpSpPr/>
          <p:nvPr/>
        </p:nvGrpSpPr>
        <p:grpSpPr>
          <a:xfrm>
            <a:off x="15527655" y="6584280"/>
            <a:ext cx="250811" cy="247576"/>
            <a:chOff x="669231" y="3806465"/>
            <a:chExt cx="285676" cy="247576"/>
          </a:xfrm>
        </p:grpSpPr>
        <p:sp>
          <p:nvSpPr>
            <p:cNvPr id="304" name="Shape 6">
              <a:extLst>
                <a:ext uri="{FF2B5EF4-FFF2-40B4-BE49-F238E27FC236}">
                  <a16:creationId xmlns:a16="http://schemas.microsoft.com/office/drawing/2014/main" id="{95B05D98-E210-93AE-6B2D-27C200D13565}"/>
                </a:ext>
              </a:extLst>
            </p:cNvPr>
            <p:cNvSpPr/>
            <p:nvPr/>
          </p:nvSpPr>
          <p:spPr>
            <a:xfrm>
              <a:off x="707331" y="3806465"/>
              <a:ext cx="209476" cy="209476"/>
            </a:xfrm>
            <a:prstGeom prst="ellipse">
              <a:avLst/>
            </a:prstGeom>
            <a:solidFill>
              <a:schemeClr val="bg2">
                <a:lumMod val="20000"/>
                <a:lumOff val="80000"/>
              </a:schemeClr>
            </a:solidFill>
            <a:ln/>
            <a:effectLst>
              <a:outerShdw blurRad="101600" dist="9525" dir="54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es-ES_tradnl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05" name="Text 7">
              <a:extLst>
                <a:ext uri="{FF2B5EF4-FFF2-40B4-BE49-F238E27FC236}">
                  <a16:creationId xmlns:a16="http://schemas.microsoft.com/office/drawing/2014/main" id="{1877A454-3975-1683-0264-E97B81CA8AB1}"/>
                </a:ext>
              </a:extLst>
            </p:cNvPr>
            <p:cNvSpPr/>
            <p:nvPr/>
          </p:nvSpPr>
          <p:spPr>
            <a:xfrm>
              <a:off x="669231" y="3806465"/>
              <a:ext cx="285676" cy="247576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ctr">
                <a:lnSpc>
                  <a:spcPct val="100000"/>
                </a:lnSpc>
                <a:buNone/>
              </a:pPr>
              <a:r>
                <a:rPr lang="en-US" sz="900" b="1" kern="0" spc="39" dirty="0">
                  <a:solidFill>
                    <a:srgbClr val="1F3864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5</a:t>
              </a:r>
              <a:endParaRPr lang="en-US" sz="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26D4868-8701-1324-CB15-FBA257066D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6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255256"/>
            <a:ext cx="18288000" cy="9729788"/>
          </a:xfrm>
          <a:prstGeom prst="rect">
            <a:avLst/>
          </a:prstGeom>
        </p:spPr>
      </p:pic>
      <p:graphicFrame>
        <p:nvGraphicFramePr>
          <p:cNvPr id="6" name="Object 5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4369" y="3848"/>
          <a:ext cx="3176" cy="31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270" imgH="270" progId="TCLayout.ActiveDocument.1">
                  <p:embed/>
                </p:oleObj>
              </mc:Choice>
              <mc:Fallback>
                <p:oleObj name="think-cell Slide" r:id="rId5" imgW="270" imgH="270" progId="TCLayout.ActiveDocument.1">
                  <p:embed/>
                  <p:pic>
                    <p:nvPicPr>
                      <p:cNvPr id="6" name="Object 5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369" y="3848"/>
                        <a:ext cx="3176" cy="317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" name="TextBox 23">
            <a:extLst>
              <a:ext uri="{FF2B5EF4-FFF2-40B4-BE49-F238E27FC236}">
                <a16:creationId xmlns:a16="http://schemas.microsoft.com/office/drawing/2014/main" id="{25FFD7D5-7622-4CE1-9525-56F18FF62B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1327" y="812469"/>
            <a:ext cx="6823923" cy="901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60895" tIns="80445" rIns="160895" bIns="80445" anchor="t">
            <a:spAutoFit/>
          </a:bodyPr>
          <a:lstStyle>
            <a:defPPr>
              <a:defRPr lang="es-E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defRPr/>
            </a:pPr>
            <a:r>
              <a:rPr lang="es-ES" sz="4800" b="1" noProof="0">
                <a:solidFill>
                  <a:srgbClr val="FFFFFF"/>
                </a:solidFill>
                <a:latin typeface="+mj-lt"/>
                <a:cs typeface="Arial"/>
                <a:sym typeface="Arial"/>
              </a:rPr>
              <a:t>Índice</a:t>
            </a:r>
            <a:endParaRPr lang="es-ES" sz="4800" b="1" noProof="0">
              <a:solidFill>
                <a:srgbClr val="FFFFFF"/>
              </a:solidFill>
              <a:latin typeface="+mj-lt"/>
              <a:cs typeface="Arial"/>
            </a:endParaRPr>
          </a:p>
        </p:txBody>
      </p:sp>
      <p:grpSp>
        <p:nvGrpSpPr>
          <p:cNvPr id="2000" name="IdxGroup0"/>
          <p:cNvGrpSpPr/>
          <p:nvPr/>
        </p:nvGrpSpPr>
        <p:grpSpPr>
          <a:xfrm>
            <a:off x="2047897" y="2536436"/>
            <a:ext cx="8604329" cy="571050"/>
            <a:chOff x="969531" y="947475"/>
            <a:chExt cx="5736219" cy="380700"/>
          </a:xfrm>
        </p:grpSpPr>
        <p:sp>
          <p:nvSpPr>
            <p:cNvPr id="2001" name="IdxNum0"/>
            <p:cNvSpPr txBox="1"/>
            <p:nvPr/>
          </p:nvSpPr>
          <p:spPr>
            <a:xfrm>
              <a:off x="969531" y="947475"/>
              <a:ext cx="564600" cy="38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688" tIns="118688" rIns="118688" bIns="118688" anchor="ctr" anchorCtr="0">
              <a:noAutofit/>
            </a:bodyPr>
            <a:lstStyle/>
            <a:p>
              <a:pPr>
                <a:buClr>
                  <a:srgbClr val="000000"/>
                </a:buClr>
                <a:buSzPts val="1900"/>
              </a:pPr>
              <a:r>
                <a:rPr lang="es-ES" sz="2850" b="1">
                  <a:solidFill>
                    <a:schemeClr val="bg2">
                      <a:lumMod val="60000"/>
                      <a:lumOff val="40000"/>
                    </a:schemeClr>
                  </a:solidFill>
                  <a:latin typeface="+mj-lt"/>
                  <a:ea typeface="Lato Black"/>
                  <a:cs typeface="Lato Black"/>
                  <a:sym typeface="Lato Black"/>
                </a:rPr>
                <a:t>01</a:t>
              </a:r>
            </a:p>
          </p:txBody>
        </p:sp>
        <p:sp>
          <p:nvSpPr>
            <p:cNvPr id="2002" name="IdxTitle0"/>
            <p:cNvSpPr txBox="1"/>
            <p:nvPr/>
          </p:nvSpPr>
          <p:spPr>
            <a:xfrm>
              <a:off x="1708650" y="947475"/>
              <a:ext cx="4997100" cy="38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688" tIns="118688" rIns="118688" bIns="118688" anchor="ctr" anchorCtr="0">
              <a:noAutofit/>
            </a:bodyPr>
            <a:lstStyle/>
            <a:p>
              <a:r>
                <a:rPr lang="es-ES" sz="2400" b="1">
                  <a:solidFill>
                    <a:schemeClr val="bg2">
                      <a:lumMod val="60000"/>
                      <a:lumOff val="40000"/>
                    </a:schemeClr>
                  </a:solidFill>
                  <a:latin typeface="+mj-lt"/>
                  <a:ea typeface="Lato Black"/>
                  <a:cs typeface="Lato Black"/>
                  <a:sym typeface="Lato Black"/>
                </a:rPr>
                <a:t>Contexto y oportunidad</a:t>
              </a:r>
            </a:p>
          </p:txBody>
        </p:sp>
        <p:cxnSp>
          <p:nvCxnSpPr>
            <p:cNvPr id="2003" name="IdxBar0"/>
            <p:cNvCxnSpPr/>
            <p:nvPr/>
          </p:nvCxnSpPr>
          <p:spPr>
            <a:xfrm>
              <a:off x="1515900" y="952425"/>
              <a:ext cx="0" cy="370800"/>
            </a:xfrm>
            <a:prstGeom prst="straightConnector1">
              <a:avLst/>
            </a:prstGeom>
            <a:noFill/>
            <a:ln w="28575" cap="flat" cmpd="sng">
              <a:solidFill>
                <a:schemeClr val="bg2">
                  <a:lumMod val="60000"/>
                  <a:lumOff val="4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010" name="IdxGroup1"/>
          <p:cNvGrpSpPr/>
          <p:nvPr/>
        </p:nvGrpSpPr>
        <p:grpSpPr>
          <a:xfrm>
            <a:off x="2047897" y="3171436"/>
            <a:ext cx="8604329" cy="571050"/>
            <a:chOff x="969531" y="947475"/>
            <a:chExt cx="5736219" cy="380700"/>
          </a:xfrm>
        </p:grpSpPr>
        <p:sp>
          <p:nvSpPr>
            <p:cNvPr id="2011" name="IdxNum1"/>
            <p:cNvSpPr txBox="1"/>
            <p:nvPr/>
          </p:nvSpPr>
          <p:spPr>
            <a:xfrm>
              <a:off x="969531" y="947475"/>
              <a:ext cx="564600" cy="38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688" tIns="118688" rIns="118688" bIns="118688" anchor="ctr" anchorCtr="0">
              <a:noAutofit/>
            </a:bodyPr>
            <a:lstStyle/>
            <a:p>
              <a:pPr>
                <a:buClr>
                  <a:srgbClr val="000000"/>
                </a:buClr>
                <a:buSzPts val="1900"/>
              </a:pPr>
              <a:r>
                <a:rPr lang="es-ES" sz="2850" b="1">
                  <a:solidFill>
                    <a:schemeClr val="bg2">
                      <a:lumMod val="60000"/>
                      <a:lumOff val="40000"/>
                    </a:schemeClr>
                  </a:solidFill>
                  <a:latin typeface="+mj-lt"/>
                  <a:ea typeface="Lato Black"/>
                  <a:cs typeface="Lato Black"/>
                  <a:sym typeface="Lato Black"/>
                </a:rPr>
                <a:t>02</a:t>
              </a:r>
            </a:p>
          </p:txBody>
        </p:sp>
        <p:sp>
          <p:nvSpPr>
            <p:cNvPr id="2012" name="IdxTitle1"/>
            <p:cNvSpPr txBox="1"/>
            <p:nvPr/>
          </p:nvSpPr>
          <p:spPr>
            <a:xfrm>
              <a:off x="1708650" y="947475"/>
              <a:ext cx="4997100" cy="38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688" tIns="118688" rIns="118688" bIns="118688" anchor="ctr" anchorCtr="0">
              <a:noAutofit/>
            </a:bodyPr>
            <a:lstStyle/>
            <a:p>
              <a:r>
                <a:rPr lang="es-ES" sz="2400" b="1">
                  <a:solidFill>
                    <a:schemeClr val="bg2">
                      <a:lumMod val="60000"/>
                      <a:lumOff val="40000"/>
                    </a:schemeClr>
                  </a:solidFill>
                  <a:latin typeface="+mj-lt"/>
                  <a:ea typeface="Lato Black"/>
                  <a:cs typeface="Lato Black"/>
                  <a:sym typeface="Lato Black"/>
                </a:rPr>
                <a:t>La solución</a:t>
              </a:r>
            </a:p>
          </p:txBody>
        </p:sp>
        <p:cxnSp>
          <p:nvCxnSpPr>
            <p:cNvPr id="2013" name="IdxBar1"/>
            <p:cNvCxnSpPr/>
            <p:nvPr/>
          </p:nvCxnSpPr>
          <p:spPr>
            <a:xfrm>
              <a:off x="1515900" y="952425"/>
              <a:ext cx="0" cy="370800"/>
            </a:xfrm>
            <a:prstGeom prst="straightConnector1">
              <a:avLst/>
            </a:prstGeom>
            <a:noFill/>
            <a:ln w="28575" cap="flat" cmpd="sng">
              <a:solidFill>
                <a:schemeClr val="bg2">
                  <a:lumMod val="60000"/>
                  <a:lumOff val="4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020" name="IdxGroup2"/>
          <p:cNvGrpSpPr/>
          <p:nvPr/>
        </p:nvGrpSpPr>
        <p:grpSpPr>
          <a:xfrm>
            <a:off x="2047897" y="3806436"/>
            <a:ext cx="8604329" cy="571050"/>
            <a:chOff x="969531" y="947475"/>
            <a:chExt cx="5736219" cy="380700"/>
          </a:xfrm>
        </p:grpSpPr>
        <p:sp>
          <p:nvSpPr>
            <p:cNvPr id="2021" name="IdxNum2"/>
            <p:cNvSpPr txBox="1"/>
            <p:nvPr/>
          </p:nvSpPr>
          <p:spPr>
            <a:xfrm>
              <a:off x="969531" y="947475"/>
              <a:ext cx="564600" cy="38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688" tIns="118688" rIns="118688" bIns="118688" anchor="ctr" anchorCtr="0">
              <a:noAutofit/>
            </a:bodyPr>
            <a:lstStyle/>
            <a:p>
              <a:pPr>
                <a:buClr>
                  <a:srgbClr val="000000"/>
                </a:buClr>
                <a:buSzPts val="1900"/>
              </a:pPr>
              <a:r>
                <a:rPr lang="es-ES" sz="2850" b="1">
                  <a:solidFill>
                    <a:schemeClr val="bg2">
                      <a:lumMod val="60000"/>
                      <a:lumOff val="40000"/>
                    </a:schemeClr>
                  </a:solidFill>
                  <a:latin typeface="+mj-lt"/>
                  <a:ea typeface="Lato Black"/>
                  <a:cs typeface="Lato Black"/>
                  <a:sym typeface="Lato Black"/>
                </a:rPr>
                <a:t>03</a:t>
              </a:r>
            </a:p>
          </p:txBody>
        </p:sp>
        <p:sp>
          <p:nvSpPr>
            <p:cNvPr id="2022" name="IdxTitle2"/>
            <p:cNvSpPr txBox="1"/>
            <p:nvPr/>
          </p:nvSpPr>
          <p:spPr>
            <a:xfrm>
              <a:off x="1708650" y="947475"/>
              <a:ext cx="4997100" cy="38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688" tIns="118688" rIns="118688" bIns="118688" anchor="ctr" anchorCtr="0">
              <a:noAutofit/>
            </a:bodyPr>
            <a:lstStyle/>
            <a:p>
              <a:r>
                <a:rPr lang="es-ES" sz="2400" b="1">
                  <a:solidFill>
                    <a:schemeClr val="bg2">
                      <a:lumMod val="60000"/>
                      <a:lumOff val="40000"/>
                    </a:schemeClr>
                  </a:solidFill>
                  <a:latin typeface="+mj-lt"/>
                  <a:ea typeface="Lato Black"/>
                  <a:cs typeface="Lato Black"/>
                  <a:sym typeface="Lato Black"/>
                </a:rPr>
                <a:t>Arquitectura técnica</a:t>
              </a:r>
            </a:p>
          </p:txBody>
        </p:sp>
        <p:cxnSp>
          <p:nvCxnSpPr>
            <p:cNvPr id="2023" name="IdxBar2"/>
            <p:cNvCxnSpPr/>
            <p:nvPr/>
          </p:nvCxnSpPr>
          <p:spPr>
            <a:xfrm>
              <a:off x="1515900" y="952425"/>
              <a:ext cx="0" cy="370800"/>
            </a:xfrm>
            <a:prstGeom prst="straightConnector1">
              <a:avLst/>
            </a:prstGeom>
            <a:noFill/>
            <a:ln w="28575" cap="flat" cmpd="sng">
              <a:solidFill>
                <a:schemeClr val="bg2">
                  <a:lumMod val="60000"/>
                  <a:lumOff val="4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030" name="IdxGroup3"/>
          <p:cNvGrpSpPr/>
          <p:nvPr/>
        </p:nvGrpSpPr>
        <p:grpSpPr>
          <a:xfrm>
            <a:off x="2047897" y="4441436"/>
            <a:ext cx="8604329" cy="571050"/>
            <a:chOff x="969531" y="947475"/>
            <a:chExt cx="5736219" cy="380700"/>
          </a:xfrm>
        </p:grpSpPr>
        <p:sp>
          <p:nvSpPr>
            <p:cNvPr id="2031" name="IdxNum3"/>
            <p:cNvSpPr txBox="1"/>
            <p:nvPr/>
          </p:nvSpPr>
          <p:spPr>
            <a:xfrm>
              <a:off x="969531" y="947475"/>
              <a:ext cx="564600" cy="38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688" tIns="118688" rIns="118688" bIns="118688" anchor="ctr" anchorCtr="0">
              <a:noAutofit/>
            </a:bodyPr>
            <a:lstStyle/>
            <a:p>
              <a:pPr>
                <a:buClr>
                  <a:srgbClr val="000000"/>
                </a:buClr>
                <a:buSzPts val="1900"/>
              </a:pPr>
              <a:r>
                <a:rPr lang="es-ES" sz="2850" b="1">
                  <a:solidFill>
                    <a:schemeClr val="bg2">
                      <a:lumMod val="60000"/>
                      <a:lumOff val="40000"/>
                    </a:schemeClr>
                  </a:solidFill>
                  <a:latin typeface="+mj-lt"/>
                  <a:ea typeface="Lato Black"/>
                  <a:cs typeface="Lato Black"/>
                  <a:sym typeface="Lato Black"/>
                </a:rPr>
                <a:t>04</a:t>
              </a:r>
            </a:p>
          </p:txBody>
        </p:sp>
        <p:sp>
          <p:nvSpPr>
            <p:cNvPr id="2032" name="IdxTitle3"/>
            <p:cNvSpPr txBox="1"/>
            <p:nvPr/>
          </p:nvSpPr>
          <p:spPr>
            <a:xfrm>
              <a:off x="1708650" y="947475"/>
              <a:ext cx="4997100" cy="38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688" tIns="118688" rIns="118688" bIns="118688" anchor="ctr" anchorCtr="0">
              <a:noAutofit/>
            </a:bodyPr>
            <a:lstStyle/>
            <a:p>
              <a:r>
                <a:rPr lang="es-ES" sz="2400" b="1">
                  <a:solidFill>
                    <a:schemeClr val="bg2">
                      <a:lumMod val="60000"/>
                      <a:lumOff val="40000"/>
                    </a:schemeClr>
                  </a:solidFill>
                  <a:latin typeface="+mj-lt"/>
                  <a:ea typeface="Lato Black"/>
                  <a:cs typeface="Lato Black"/>
                  <a:sym typeface="Lato Black"/>
                </a:rPr>
                <a:t>Pipelines de análisis</a:t>
              </a:r>
            </a:p>
          </p:txBody>
        </p:sp>
        <p:cxnSp>
          <p:nvCxnSpPr>
            <p:cNvPr id="2033" name="IdxBar3"/>
            <p:cNvCxnSpPr/>
            <p:nvPr/>
          </p:nvCxnSpPr>
          <p:spPr>
            <a:xfrm>
              <a:off x="1515900" y="952425"/>
              <a:ext cx="0" cy="370800"/>
            </a:xfrm>
            <a:prstGeom prst="straightConnector1">
              <a:avLst/>
            </a:prstGeom>
            <a:noFill/>
            <a:ln w="28575" cap="flat" cmpd="sng">
              <a:solidFill>
                <a:schemeClr val="bg2">
                  <a:lumMod val="60000"/>
                  <a:lumOff val="4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040" name="IdxGroup4"/>
          <p:cNvGrpSpPr/>
          <p:nvPr/>
        </p:nvGrpSpPr>
        <p:grpSpPr>
          <a:xfrm>
            <a:off x="2047897" y="5076436"/>
            <a:ext cx="8604329" cy="571050"/>
            <a:chOff x="969531" y="947475"/>
            <a:chExt cx="5736219" cy="380700"/>
          </a:xfrm>
        </p:grpSpPr>
        <p:sp>
          <p:nvSpPr>
            <p:cNvPr id="2041" name="IdxNum4"/>
            <p:cNvSpPr txBox="1"/>
            <p:nvPr/>
          </p:nvSpPr>
          <p:spPr>
            <a:xfrm>
              <a:off x="969531" y="947475"/>
              <a:ext cx="564600" cy="38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688" tIns="118688" rIns="118688" bIns="118688" anchor="ctr" anchorCtr="0">
              <a:noAutofit/>
            </a:bodyPr>
            <a:lstStyle/>
            <a:p>
              <a:pPr>
                <a:buClr>
                  <a:srgbClr val="000000"/>
                </a:buClr>
                <a:buSzPts val="1900"/>
              </a:pPr>
              <a:r>
                <a:rPr lang="es-ES" sz="2850" b="1">
                  <a:solidFill>
                    <a:schemeClr val="bg1"/>
                  </a:solidFill>
                  <a:latin typeface="+mj-lt"/>
                  <a:ea typeface="Lato Black"/>
                  <a:cs typeface="Lato Black"/>
                  <a:sym typeface="Lato Black"/>
                </a:rPr>
                <a:t>05</a:t>
              </a:r>
            </a:p>
          </p:txBody>
        </p:sp>
        <p:sp>
          <p:nvSpPr>
            <p:cNvPr id="2042" name="IdxTitle4"/>
            <p:cNvSpPr txBox="1"/>
            <p:nvPr/>
          </p:nvSpPr>
          <p:spPr>
            <a:xfrm>
              <a:off x="1708650" y="947475"/>
              <a:ext cx="4997100" cy="38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688" tIns="118688" rIns="118688" bIns="118688" anchor="ctr" anchorCtr="0">
              <a:noAutofit/>
            </a:bodyPr>
            <a:lstStyle/>
            <a:p>
              <a:r>
                <a:rPr lang="es-ES" sz="2400" b="1">
                  <a:solidFill>
                    <a:schemeClr val="bg1"/>
                  </a:solidFill>
                  <a:latin typeface="+mj-lt"/>
                  <a:ea typeface="Lato Black"/>
                  <a:cs typeface="Lato Black"/>
                  <a:sym typeface="Lato Black"/>
                </a:rPr>
                <a:t>Demostración y resultados</a:t>
              </a:r>
            </a:p>
          </p:txBody>
        </p:sp>
        <p:cxnSp>
          <p:nvCxnSpPr>
            <p:cNvPr id="2043" name="IdxBar4"/>
            <p:cNvCxnSpPr/>
            <p:nvPr/>
          </p:nvCxnSpPr>
          <p:spPr>
            <a:xfrm>
              <a:off x="1515900" y="952425"/>
              <a:ext cx="0" cy="370800"/>
            </a:xfrm>
            <a:prstGeom prst="straightConnector1">
              <a:avLst/>
            </a:prstGeom>
            <a:noFill/>
            <a:ln w="28575" cap="flat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050" name="IdxGroup5"/>
          <p:cNvGrpSpPr/>
          <p:nvPr/>
        </p:nvGrpSpPr>
        <p:grpSpPr>
          <a:xfrm>
            <a:off x="2047897" y="5711436"/>
            <a:ext cx="8604329" cy="571050"/>
            <a:chOff x="969531" y="947475"/>
            <a:chExt cx="5736219" cy="380700"/>
          </a:xfrm>
        </p:grpSpPr>
        <p:sp>
          <p:nvSpPr>
            <p:cNvPr id="2051" name="IdxNum5"/>
            <p:cNvSpPr txBox="1"/>
            <p:nvPr/>
          </p:nvSpPr>
          <p:spPr>
            <a:xfrm>
              <a:off x="969531" y="947475"/>
              <a:ext cx="564600" cy="38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688" tIns="118688" rIns="118688" bIns="118688" anchor="ctr" anchorCtr="0">
              <a:noAutofit/>
            </a:bodyPr>
            <a:lstStyle/>
            <a:p>
              <a:pPr>
                <a:buClr>
                  <a:srgbClr val="000000"/>
                </a:buClr>
                <a:buSzPts val="1900"/>
              </a:pPr>
              <a:r>
                <a:rPr lang="es-ES" sz="2850" b="1">
                  <a:solidFill>
                    <a:schemeClr val="bg2">
                      <a:lumMod val="60000"/>
                      <a:lumOff val="40000"/>
                    </a:schemeClr>
                  </a:solidFill>
                  <a:latin typeface="+mj-lt"/>
                  <a:ea typeface="Lato Black"/>
                  <a:cs typeface="Lato Black"/>
                  <a:sym typeface="Lato Black"/>
                </a:rPr>
                <a:t>06</a:t>
              </a:r>
            </a:p>
          </p:txBody>
        </p:sp>
        <p:sp>
          <p:nvSpPr>
            <p:cNvPr id="2052" name="IdxTitle5"/>
            <p:cNvSpPr txBox="1"/>
            <p:nvPr/>
          </p:nvSpPr>
          <p:spPr>
            <a:xfrm>
              <a:off x="1708650" y="947475"/>
              <a:ext cx="4997100" cy="38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688" tIns="118688" rIns="118688" bIns="118688" anchor="ctr" anchorCtr="0">
              <a:noAutofit/>
            </a:bodyPr>
            <a:lstStyle/>
            <a:p>
              <a:r>
                <a:rPr lang="es-ES" sz="2400" b="1">
                  <a:solidFill>
                    <a:schemeClr val="bg2">
                      <a:lumMod val="60000"/>
                      <a:lumOff val="40000"/>
                    </a:schemeClr>
                  </a:solidFill>
                  <a:latin typeface="+mj-lt"/>
                  <a:ea typeface="Lato Black"/>
                  <a:cs typeface="Lato Black"/>
                  <a:sym typeface="Lato Black"/>
                </a:rPr>
                <a:t>Benchmarking</a:t>
              </a:r>
            </a:p>
          </p:txBody>
        </p:sp>
        <p:cxnSp>
          <p:nvCxnSpPr>
            <p:cNvPr id="2053" name="IdxBar5"/>
            <p:cNvCxnSpPr/>
            <p:nvPr/>
          </p:nvCxnSpPr>
          <p:spPr>
            <a:xfrm>
              <a:off x="1515900" y="952425"/>
              <a:ext cx="0" cy="370800"/>
            </a:xfrm>
            <a:prstGeom prst="straightConnector1">
              <a:avLst/>
            </a:prstGeom>
            <a:noFill/>
            <a:ln w="28575" cap="flat" cmpd="sng">
              <a:solidFill>
                <a:schemeClr val="bg2">
                  <a:lumMod val="60000"/>
                  <a:lumOff val="4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060" name="IdxGroup6"/>
          <p:cNvGrpSpPr/>
          <p:nvPr/>
        </p:nvGrpSpPr>
        <p:grpSpPr>
          <a:xfrm>
            <a:off x="2047897" y="6346436"/>
            <a:ext cx="8604329" cy="571050"/>
            <a:chOff x="969531" y="947475"/>
            <a:chExt cx="5736219" cy="380700"/>
          </a:xfrm>
        </p:grpSpPr>
        <p:sp>
          <p:nvSpPr>
            <p:cNvPr id="2061" name="IdxNum6"/>
            <p:cNvSpPr txBox="1"/>
            <p:nvPr/>
          </p:nvSpPr>
          <p:spPr>
            <a:xfrm>
              <a:off x="969531" y="947475"/>
              <a:ext cx="564600" cy="38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688" tIns="118688" rIns="118688" bIns="118688" anchor="ctr" anchorCtr="0">
              <a:noAutofit/>
            </a:bodyPr>
            <a:lstStyle/>
            <a:p>
              <a:pPr>
                <a:buClr>
                  <a:srgbClr val="000000"/>
                </a:buClr>
                <a:buSzPts val="1900"/>
              </a:pPr>
              <a:r>
                <a:rPr lang="es-ES" sz="2850" b="1">
                  <a:solidFill>
                    <a:schemeClr val="bg2">
                      <a:lumMod val="60000"/>
                      <a:lumOff val="40000"/>
                    </a:schemeClr>
                  </a:solidFill>
                  <a:latin typeface="+mj-lt"/>
                  <a:ea typeface="Lato Black"/>
                  <a:cs typeface="Lato Black"/>
                  <a:sym typeface="Lato Black"/>
                </a:rPr>
                <a:t>07</a:t>
              </a:r>
            </a:p>
          </p:txBody>
        </p:sp>
        <p:sp>
          <p:nvSpPr>
            <p:cNvPr id="2062" name="IdxTitle6"/>
            <p:cNvSpPr txBox="1"/>
            <p:nvPr/>
          </p:nvSpPr>
          <p:spPr>
            <a:xfrm>
              <a:off x="1708650" y="947475"/>
              <a:ext cx="4997100" cy="38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688" tIns="118688" rIns="118688" bIns="118688" anchor="ctr" anchorCtr="0">
              <a:noAutofit/>
            </a:bodyPr>
            <a:lstStyle/>
            <a:p>
              <a:r>
                <a:rPr lang="es-ES" sz="2400" b="1">
                  <a:solidFill>
                    <a:schemeClr val="bg2">
                      <a:lumMod val="60000"/>
                      <a:lumOff val="40000"/>
                    </a:schemeClr>
                  </a:solidFill>
                  <a:latin typeface="+mj-lt"/>
                  <a:ea typeface="Lato Black"/>
                  <a:cs typeface="Lato Black"/>
                  <a:sym typeface="Lato Black"/>
                </a:rPr>
                <a:t>Propuesta de valor y cierre</a:t>
              </a:r>
            </a:p>
          </p:txBody>
        </p:sp>
        <p:cxnSp>
          <p:nvCxnSpPr>
            <p:cNvPr id="2063" name="IdxBar6"/>
            <p:cNvCxnSpPr/>
            <p:nvPr/>
          </p:nvCxnSpPr>
          <p:spPr>
            <a:xfrm>
              <a:off x="1515900" y="952425"/>
              <a:ext cx="0" cy="370800"/>
            </a:xfrm>
            <a:prstGeom prst="straightConnector1">
              <a:avLst/>
            </a:prstGeom>
            <a:noFill/>
            <a:ln w="28575" cap="flat" cmpd="sng">
              <a:solidFill>
                <a:schemeClr val="bg2">
                  <a:lumMod val="60000"/>
                  <a:lumOff val="4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070" name="IdxGroup7"/>
          <p:cNvGrpSpPr/>
          <p:nvPr/>
        </p:nvGrpSpPr>
        <p:grpSpPr>
          <a:xfrm>
            <a:off x="2047897" y="6981436"/>
            <a:ext cx="8604329" cy="571050"/>
            <a:chOff x="969531" y="947475"/>
            <a:chExt cx="5736219" cy="380700"/>
          </a:xfrm>
        </p:grpSpPr>
        <p:sp>
          <p:nvSpPr>
            <p:cNvPr id="2071" name="IdxNum7"/>
            <p:cNvSpPr txBox="1"/>
            <p:nvPr/>
          </p:nvSpPr>
          <p:spPr>
            <a:xfrm>
              <a:off x="969531" y="947475"/>
              <a:ext cx="564600" cy="38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688" tIns="118688" rIns="118688" bIns="118688" anchor="ctr" anchorCtr="0">
              <a:noAutofit/>
            </a:bodyPr>
            <a:lstStyle/>
            <a:p>
              <a:pPr>
                <a:buClr>
                  <a:srgbClr val="000000"/>
                </a:buClr>
                <a:buSzPts val="1900"/>
              </a:pPr>
              <a:r>
                <a:rPr lang="es-ES" sz="2850" b="1">
                  <a:solidFill>
                    <a:schemeClr val="bg2">
                      <a:lumMod val="60000"/>
                      <a:lumOff val="40000"/>
                    </a:schemeClr>
                  </a:solidFill>
                  <a:latin typeface="+mj-lt"/>
                  <a:ea typeface="Lato Black"/>
                  <a:cs typeface="Lato Black"/>
                  <a:sym typeface="Lato Black"/>
                </a:rPr>
                <a:t>08</a:t>
              </a:r>
            </a:p>
          </p:txBody>
        </p:sp>
        <p:sp>
          <p:nvSpPr>
            <p:cNvPr id="2072" name="IdxTitle7"/>
            <p:cNvSpPr txBox="1"/>
            <p:nvPr/>
          </p:nvSpPr>
          <p:spPr>
            <a:xfrm>
              <a:off x="1708650" y="947475"/>
              <a:ext cx="4997100" cy="38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688" tIns="118688" rIns="118688" bIns="118688" anchor="ctr" anchorCtr="0">
              <a:noAutofit/>
            </a:bodyPr>
            <a:lstStyle/>
            <a:p>
              <a:r>
                <a:rPr lang="es-ES" sz="2400" b="1">
                  <a:solidFill>
                    <a:schemeClr val="bg2">
                      <a:lumMod val="60000"/>
                      <a:lumOff val="40000"/>
                    </a:schemeClr>
                  </a:solidFill>
                  <a:latin typeface="+mj-lt"/>
                  <a:ea typeface="Lato Black"/>
                  <a:cs typeface="Lato Black"/>
                  <a:sym typeface="Lato Black"/>
                </a:rPr>
                <a:t>Bibliografía y anexos</a:t>
              </a:r>
            </a:p>
          </p:txBody>
        </p:sp>
        <p:cxnSp>
          <p:nvCxnSpPr>
            <p:cNvPr id="2073" name="IdxBar7"/>
            <p:cNvCxnSpPr/>
            <p:nvPr/>
          </p:nvCxnSpPr>
          <p:spPr>
            <a:xfrm>
              <a:off x="1515900" y="952425"/>
              <a:ext cx="0" cy="370800"/>
            </a:xfrm>
            <a:prstGeom prst="straightConnector1">
              <a:avLst/>
            </a:prstGeom>
            <a:noFill/>
            <a:ln w="28575" cap="flat" cmpd="sng">
              <a:solidFill>
                <a:schemeClr val="bg2">
                  <a:lumMod val="60000"/>
                  <a:lumOff val="4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</p:spTree>
    <p:extLst>
      <p:ext uri="{BB962C8B-B14F-4D97-AF65-F5344CB8AC3E}">
        <p14:creationId xmlns:p14="http://schemas.microsoft.com/office/powerpoint/2010/main" val="175184790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00" name="MS Header Group"/>
          <p:cNvGrpSpPr/>
          <p:nvPr/>
        </p:nvGrpSpPr>
        <p:grpSpPr>
          <a:xfrm>
            <a:off x="282819" y="579094"/>
            <a:ext cx="13786134" cy="1057874"/>
            <a:chOff x="92172" y="275827"/>
            <a:chExt cx="9190756" cy="705249"/>
          </a:xfrm>
        </p:grpSpPr>
        <p:sp>
          <p:nvSpPr>
            <p:cNvPr id="9001" name="MS Title Box"/>
            <p:cNvSpPr>
              <a:spLocks noChangeArrowheads="1"/>
            </p:cNvSpPr>
            <p:nvPr/>
          </p:nvSpPr>
          <p:spPr bwMode="gray">
            <a:xfrm>
              <a:off x="776292" y="404814"/>
              <a:ext cx="8506636" cy="576262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37160" tIns="68580" rIns="137160" bIns="68580" anchor="ctr"/>
            <a:lstStyle/>
            <a:p>
              <a:pPr>
                <a:lnSpc>
                  <a:spcPts val="3150"/>
                </a:lnSpc>
              </a:pPr>
              <a:r>
                <a:rPr lang="es-ES" sz="3000" b="1">
                  <a:solidFill>
                    <a:srgbClr val="002569"/>
                  </a:solidFill>
                  <a:latin typeface="Arial"/>
                </a:rPr>
                <a:t>Demostración y resultados</a:t>
              </a:r>
            </a:p>
            <a:p>
              <a:r>
                <a:rPr lang="es-ES" sz="2700">
                  <a:solidFill>
                    <a:srgbClr val="E0D399">
                      <a:lumMod val="75000"/>
                    </a:srgbClr>
                  </a:solidFill>
                  <a:latin typeface="Arial"/>
                </a:rPr>
                <a:t>Tres casos, una matriz común de evaluación</a:t>
              </a:r>
            </a:p>
          </p:txBody>
        </p:sp>
        <p:sp>
          <p:nvSpPr>
            <p:cNvPr id="9002" name="MS Number"/>
            <p:cNvSpPr>
              <a:spLocks noChangeArrowheads="1"/>
            </p:cNvSpPr>
            <p:nvPr/>
          </p:nvSpPr>
          <p:spPr bwMode="gray">
            <a:xfrm>
              <a:off x="92172" y="275827"/>
              <a:ext cx="477819" cy="70014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148523" tIns="74261" rIns="148523" bIns="74261">
              <a:spAutoFit/>
            </a:bodyPr>
            <a:lstStyle/>
            <a:p>
              <a:pPr algn="ctr"/>
              <a:r>
                <a:rPr lang="es-ES" sz="5850" b="1" kern="0">
                  <a:solidFill>
                    <a:srgbClr val="002569"/>
                  </a:solidFill>
                  <a:latin typeface="Arial"/>
                </a:rPr>
                <a:t>5</a:t>
              </a:r>
            </a:p>
          </p:txBody>
        </p:sp>
        <p:cxnSp>
          <p:nvCxnSpPr>
            <p:cNvPr id="9003" name="MS Header Bar"/>
            <p:cNvCxnSpPr/>
            <p:nvPr/>
          </p:nvCxnSpPr>
          <p:spPr>
            <a:xfrm>
              <a:off x="570525" y="404814"/>
              <a:ext cx="0" cy="526647"/>
            </a:xfrm>
            <a:prstGeom prst="line">
              <a:avLst/>
            </a:prstGeom>
            <a:ln>
              <a:solidFill>
                <a:schemeClr val="tx2"/>
              </a:solidFill>
            </a:ln>
          </p:spPr>
        </p:cxnSp>
      </p:grpSp>
      <p:sp>
        <p:nvSpPr>
          <p:cNvPr id="9004" name="TextBox 9003"/>
          <p:cNvSpPr txBox="1"/>
          <p:nvPr/>
        </p:nvSpPr>
        <p:spPr>
          <a:xfrm>
            <a:off x="758952" y="2048256"/>
            <a:ext cx="16770096" cy="8412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800" b="1" dirty="0">
                <a:solidFill>
                  <a:srgbClr val="1F3864"/>
                </a:solidFill>
                <a:latin typeface="Calibri"/>
              </a:rPr>
              <a:t>Marco de </a:t>
            </a:r>
            <a:r>
              <a:rPr sz="1800" b="1" dirty="0" err="1">
                <a:solidFill>
                  <a:srgbClr val="1F3864"/>
                </a:solidFill>
                <a:latin typeface="Calibri"/>
              </a:rPr>
              <a:t>evaluación</a:t>
            </a:r>
            <a:r>
              <a:rPr sz="1800" b="1" dirty="0">
                <a:solidFill>
                  <a:srgbClr val="1F3864"/>
                </a:solidFill>
                <a:latin typeface="Calibri"/>
              </a:rPr>
              <a:t>.</a:t>
            </a:r>
            <a:r>
              <a:rPr sz="1800" dirty="0">
                <a:solidFill>
                  <a:srgbClr val="404040"/>
                </a:solidFill>
                <a:latin typeface="Calibri"/>
              </a:rPr>
              <a:t> Cada pipeline se </a:t>
            </a:r>
            <a:r>
              <a:rPr sz="1800" dirty="0" err="1">
                <a:solidFill>
                  <a:srgbClr val="404040"/>
                </a:solidFill>
                <a:latin typeface="Calibri"/>
              </a:rPr>
              <a:t>evalúa</a:t>
            </a:r>
            <a:r>
              <a:rPr sz="1800" dirty="0">
                <a:solidFill>
                  <a:srgbClr val="404040"/>
                </a:solidFill>
                <a:latin typeface="Calibri"/>
              </a:rPr>
              <a:t> con las </a:t>
            </a:r>
            <a:r>
              <a:rPr sz="1800" dirty="0" err="1">
                <a:solidFill>
                  <a:srgbClr val="404040"/>
                </a:solidFill>
                <a:latin typeface="Calibri"/>
              </a:rPr>
              <a:t>mismas</a:t>
            </a:r>
            <a:r>
              <a:rPr sz="1800" dirty="0">
                <a:solidFill>
                  <a:srgbClr val="404040"/>
                </a:solidFill>
                <a:latin typeface="Calibri"/>
              </a:rPr>
              <a:t> </a:t>
            </a:r>
            <a:r>
              <a:rPr sz="1800" dirty="0" err="1">
                <a:solidFill>
                  <a:srgbClr val="404040"/>
                </a:solidFill>
                <a:latin typeface="Calibri"/>
              </a:rPr>
              <a:t>dimensiones</a:t>
            </a:r>
            <a:r>
              <a:rPr sz="1800" dirty="0">
                <a:solidFill>
                  <a:srgbClr val="404040"/>
                </a:solidFill>
                <a:latin typeface="Calibri"/>
              </a:rPr>
              <a:t> —input, </a:t>
            </a:r>
            <a:r>
              <a:rPr sz="1800" dirty="0" err="1">
                <a:solidFill>
                  <a:srgbClr val="404040"/>
                </a:solidFill>
                <a:latin typeface="Calibri"/>
              </a:rPr>
              <a:t>salida</a:t>
            </a:r>
            <a:r>
              <a:rPr sz="1800" dirty="0">
                <a:solidFill>
                  <a:srgbClr val="404040"/>
                </a:solidFill>
                <a:latin typeface="Calibri"/>
              </a:rPr>
              <a:t> </a:t>
            </a:r>
            <a:r>
              <a:rPr sz="1800" dirty="0" err="1">
                <a:solidFill>
                  <a:srgbClr val="404040"/>
                </a:solidFill>
                <a:latin typeface="Calibri"/>
              </a:rPr>
              <a:t>persistida</a:t>
            </a:r>
            <a:r>
              <a:rPr sz="1800" dirty="0">
                <a:solidFill>
                  <a:srgbClr val="404040"/>
                </a:solidFill>
                <a:latin typeface="Calibri"/>
              </a:rPr>
              <a:t>, </a:t>
            </a:r>
            <a:r>
              <a:rPr sz="1800" dirty="0" err="1">
                <a:solidFill>
                  <a:srgbClr val="404040"/>
                </a:solidFill>
                <a:latin typeface="Calibri"/>
              </a:rPr>
              <a:t>distribución</a:t>
            </a:r>
            <a:r>
              <a:rPr sz="1800" dirty="0">
                <a:solidFill>
                  <a:srgbClr val="404040"/>
                </a:solidFill>
                <a:latin typeface="Calibri"/>
              </a:rPr>
              <a:t> de confianza y </a:t>
            </a:r>
            <a:r>
              <a:rPr sz="1800" dirty="0" err="1">
                <a:solidFill>
                  <a:srgbClr val="404040"/>
                </a:solidFill>
                <a:latin typeface="Calibri"/>
              </a:rPr>
              <a:t>latencia</a:t>
            </a:r>
            <a:r>
              <a:rPr sz="1800" dirty="0">
                <a:solidFill>
                  <a:srgbClr val="404040"/>
                </a:solidFill>
                <a:latin typeface="Calibri"/>
              </a:rPr>
              <a:t> </a:t>
            </a:r>
            <a:r>
              <a:rPr sz="1800" dirty="0" err="1">
                <a:solidFill>
                  <a:srgbClr val="404040"/>
                </a:solidFill>
                <a:latin typeface="Calibri"/>
              </a:rPr>
              <a:t>observada</a:t>
            </a:r>
            <a:r>
              <a:rPr sz="1800" dirty="0">
                <a:solidFill>
                  <a:srgbClr val="404040"/>
                </a:solidFill>
                <a:latin typeface="Calibri"/>
              </a:rPr>
              <a:t>— </a:t>
            </a:r>
            <a:r>
              <a:rPr sz="1800" dirty="0" err="1">
                <a:solidFill>
                  <a:srgbClr val="404040"/>
                </a:solidFill>
                <a:latin typeface="Calibri"/>
              </a:rPr>
              <a:t>sobre</a:t>
            </a:r>
            <a:r>
              <a:rPr sz="1800" dirty="0">
                <a:solidFill>
                  <a:srgbClr val="404040"/>
                </a:solidFill>
                <a:latin typeface="Calibri"/>
              </a:rPr>
              <a:t> corridas reales del </a:t>
            </a:r>
            <a:r>
              <a:rPr sz="1800" dirty="0" err="1">
                <a:solidFill>
                  <a:srgbClr val="404040"/>
                </a:solidFill>
                <a:latin typeface="Calibri"/>
              </a:rPr>
              <a:t>sistema</a:t>
            </a:r>
            <a:r>
              <a:rPr sz="1800" dirty="0">
                <a:solidFill>
                  <a:srgbClr val="404040"/>
                </a:solidFill>
                <a:latin typeface="Calibri"/>
              </a:rPr>
              <a:t>.</a:t>
            </a:r>
          </a:p>
        </p:txBody>
      </p:sp>
      <p:sp>
        <p:nvSpPr>
          <p:cNvPr id="9005" name="Rounded Rectangle 9004"/>
          <p:cNvSpPr/>
          <p:nvPr/>
        </p:nvSpPr>
        <p:spPr>
          <a:xfrm>
            <a:off x="758952" y="2916935"/>
            <a:ext cx="5407152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>
            <a:outerShdw blurRad="127000" dist="38100" dir="5400000" algn="tl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06" name="Rectangle 9005"/>
          <p:cNvSpPr/>
          <p:nvPr/>
        </p:nvSpPr>
        <p:spPr>
          <a:xfrm>
            <a:off x="758952" y="2916935"/>
            <a:ext cx="5407152" cy="8686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07" name="TextBox 9006"/>
          <p:cNvSpPr txBox="1"/>
          <p:nvPr/>
        </p:nvSpPr>
        <p:spPr>
          <a:xfrm>
            <a:off x="1033271" y="3081528"/>
            <a:ext cx="4858512" cy="6400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BF9000"/>
                </a:solidFill>
                <a:latin typeface="Calibri"/>
              </a:rPr>
              <a:t>CASO</a:t>
            </a:r>
          </a:p>
          <a:p>
            <a:r>
              <a:rPr sz="2800" b="1">
                <a:solidFill>
                  <a:srgbClr val="FFFFFF"/>
                </a:solidFill>
                <a:latin typeface="Calibri"/>
              </a:rPr>
              <a:t>Iberdrola</a:t>
            </a:r>
          </a:p>
        </p:txBody>
      </p:sp>
      <p:sp>
        <p:nvSpPr>
          <p:cNvPr id="9008" name="Rounded Rectangle 9007"/>
          <p:cNvSpPr/>
          <p:nvPr/>
        </p:nvSpPr>
        <p:spPr>
          <a:xfrm>
            <a:off x="4520184" y="3191253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09" name="TextBox 9008"/>
          <p:cNvSpPr txBox="1"/>
          <p:nvPr/>
        </p:nvSpPr>
        <p:spPr>
          <a:xfrm>
            <a:off x="4520184" y="3209542"/>
            <a:ext cx="13716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300" b="1">
                <a:solidFill>
                  <a:srgbClr val="1F3864"/>
                </a:solidFill>
                <a:latin typeface="Calibri"/>
              </a:rPr>
              <a:t>Maps</a:t>
            </a:r>
          </a:p>
        </p:txBody>
      </p:sp>
      <p:sp>
        <p:nvSpPr>
          <p:cNvPr id="9010" name="TextBox 9009"/>
          <p:cNvSpPr txBox="1"/>
          <p:nvPr/>
        </p:nvSpPr>
        <p:spPr>
          <a:xfrm>
            <a:off x="1033271" y="4014215"/>
            <a:ext cx="4858512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BF9000"/>
                </a:solidFill>
                <a:latin typeface="Calibri"/>
              </a:rPr>
              <a:t>INPUT</a:t>
            </a:r>
          </a:p>
        </p:txBody>
      </p:sp>
      <p:sp>
        <p:nvSpPr>
          <p:cNvPr id="9011" name="TextBox 9010"/>
          <p:cNvSpPr txBox="1"/>
          <p:nvPr/>
        </p:nvSpPr>
        <p:spPr>
          <a:xfrm>
            <a:off x="1033271" y="4197096"/>
            <a:ext cx="4858512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1F3864"/>
                </a:solidFill>
                <a:latin typeface="Calibri"/>
              </a:rPr>
              <a:t>Nombre de empresa</a:t>
            </a:r>
          </a:p>
        </p:txBody>
      </p:sp>
      <p:sp>
        <p:nvSpPr>
          <p:cNvPr id="9012" name="TextBox 9011"/>
          <p:cNvSpPr txBox="1"/>
          <p:nvPr/>
        </p:nvSpPr>
        <p:spPr>
          <a:xfrm>
            <a:off x="1033271" y="4517136"/>
            <a:ext cx="4858512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BF9000"/>
                </a:solidFill>
                <a:latin typeface="Calibri"/>
              </a:rPr>
              <a:t>PIPELINE</a:t>
            </a:r>
          </a:p>
        </p:txBody>
      </p:sp>
      <p:sp>
        <p:nvSpPr>
          <p:cNvPr id="9013" name="TextBox 9012"/>
          <p:cNvSpPr txBox="1"/>
          <p:nvPr/>
        </p:nvSpPr>
        <p:spPr>
          <a:xfrm>
            <a:off x="1033271" y="4700016"/>
            <a:ext cx="4858512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1F3864"/>
                </a:solidFill>
                <a:latin typeface="Calibri"/>
              </a:rPr>
              <a:t>Maps — Google Places + LLM</a:t>
            </a:r>
          </a:p>
        </p:txBody>
      </p:sp>
      <p:sp>
        <p:nvSpPr>
          <p:cNvPr id="9014" name="TextBox 9013"/>
          <p:cNvSpPr txBox="1"/>
          <p:nvPr/>
        </p:nvSpPr>
        <p:spPr>
          <a:xfrm>
            <a:off x="1033271" y="5020056"/>
            <a:ext cx="4858512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BF9000"/>
                </a:solidFill>
                <a:latin typeface="Calibri"/>
              </a:rPr>
              <a:t>SALIDA OBSERVADA</a:t>
            </a:r>
          </a:p>
        </p:txBody>
      </p:sp>
      <p:sp>
        <p:nvSpPr>
          <p:cNvPr id="9015" name="TextBox 9014"/>
          <p:cNvSpPr txBox="1"/>
          <p:nvPr/>
        </p:nvSpPr>
        <p:spPr>
          <a:xfrm>
            <a:off x="1033271" y="5202936"/>
            <a:ext cx="4858512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1F3864"/>
                </a:solidFill>
                <a:latin typeface="Calibri"/>
              </a:rPr>
              <a:t>76 activos · 70 HIGH</a:t>
            </a:r>
          </a:p>
        </p:txBody>
      </p:sp>
      <p:sp>
        <p:nvSpPr>
          <p:cNvPr id="9016" name="TextBox 9015"/>
          <p:cNvSpPr txBox="1"/>
          <p:nvPr/>
        </p:nvSpPr>
        <p:spPr>
          <a:xfrm>
            <a:off x="1033271" y="5522976"/>
            <a:ext cx="4858512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BF9000"/>
                </a:solidFill>
                <a:latin typeface="Calibri"/>
              </a:rPr>
              <a:t>LATENCIA</a:t>
            </a:r>
          </a:p>
        </p:txBody>
      </p:sp>
      <p:sp>
        <p:nvSpPr>
          <p:cNvPr id="9017" name="TextBox 9016"/>
          <p:cNvSpPr txBox="1"/>
          <p:nvPr/>
        </p:nvSpPr>
        <p:spPr>
          <a:xfrm>
            <a:off x="1033271" y="5705856"/>
            <a:ext cx="4858512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>
                <a:solidFill>
                  <a:srgbClr val="1F3864"/>
                </a:solidFill>
                <a:latin typeface="Calibri"/>
              </a:rPr>
              <a:t>~45 s</a:t>
            </a:r>
          </a:p>
        </p:txBody>
      </p:sp>
      <p:sp>
        <p:nvSpPr>
          <p:cNvPr id="9018" name="Rectangle 9017"/>
          <p:cNvSpPr/>
          <p:nvPr/>
        </p:nvSpPr>
        <p:spPr>
          <a:xfrm>
            <a:off x="1033271" y="6437376"/>
            <a:ext cx="4858512" cy="4572"/>
          </a:xfrm>
          <a:prstGeom prst="rect">
            <a:avLst/>
          </a:prstGeom>
          <a:solidFill>
            <a:srgbClr val="BF9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19" name="TextBox 9018"/>
          <p:cNvSpPr txBox="1"/>
          <p:nvPr/>
        </p:nvSpPr>
        <p:spPr>
          <a:xfrm>
            <a:off x="1033271" y="6528816"/>
            <a:ext cx="4858512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i="1">
                <a:solidFill>
                  <a:srgbClr val="404040"/>
                </a:solidFill>
                <a:latin typeface="Calibri"/>
              </a:rPr>
              <a:t>Cobertura amplia y rápida.</a:t>
            </a:r>
          </a:p>
        </p:txBody>
      </p:sp>
      <p:sp>
        <p:nvSpPr>
          <p:cNvPr id="9020" name="Rounded Rectangle 9019"/>
          <p:cNvSpPr/>
          <p:nvPr/>
        </p:nvSpPr>
        <p:spPr>
          <a:xfrm>
            <a:off x="6348984" y="2916935"/>
            <a:ext cx="5407152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>
            <a:outerShdw blurRad="127000" dist="38100" dir="5400000" algn="tl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21" name="Rectangle 9020"/>
          <p:cNvSpPr/>
          <p:nvPr/>
        </p:nvSpPr>
        <p:spPr>
          <a:xfrm>
            <a:off x="6348984" y="2916935"/>
            <a:ext cx="5407152" cy="868680"/>
          </a:xfrm>
          <a:prstGeom prst="rect">
            <a:avLst/>
          </a:prstGeom>
          <a:solidFill>
            <a:srgbClr val="BF9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22" name="TextBox 9021"/>
          <p:cNvSpPr txBox="1"/>
          <p:nvPr/>
        </p:nvSpPr>
        <p:spPr>
          <a:xfrm>
            <a:off x="6623304" y="3081528"/>
            <a:ext cx="4858512" cy="6400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BF9000"/>
                </a:solidFill>
                <a:latin typeface="Calibri"/>
              </a:rPr>
              <a:t>CASO</a:t>
            </a:r>
          </a:p>
          <a:p>
            <a:r>
              <a:rPr sz="2800" b="1">
                <a:solidFill>
                  <a:srgbClr val="FFFFFF"/>
                </a:solidFill>
                <a:latin typeface="Calibri"/>
              </a:rPr>
              <a:t>Repsol</a:t>
            </a:r>
          </a:p>
        </p:txBody>
      </p:sp>
      <p:sp>
        <p:nvSpPr>
          <p:cNvPr id="9023" name="Rounded Rectangle 9022"/>
          <p:cNvSpPr/>
          <p:nvPr/>
        </p:nvSpPr>
        <p:spPr>
          <a:xfrm>
            <a:off x="10110215" y="3191253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24" name="TextBox 9023"/>
          <p:cNvSpPr txBox="1"/>
          <p:nvPr/>
        </p:nvSpPr>
        <p:spPr>
          <a:xfrm>
            <a:off x="10110215" y="3209542"/>
            <a:ext cx="13716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300" b="1">
                <a:solidFill>
                  <a:srgbClr val="BF9000"/>
                </a:solidFill>
                <a:latin typeface="Calibri"/>
              </a:rPr>
              <a:t>Documento</a:t>
            </a:r>
          </a:p>
        </p:txBody>
      </p:sp>
      <p:sp>
        <p:nvSpPr>
          <p:cNvPr id="9025" name="TextBox 9024"/>
          <p:cNvSpPr txBox="1"/>
          <p:nvPr/>
        </p:nvSpPr>
        <p:spPr>
          <a:xfrm>
            <a:off x="6623304" y="4014215"/>
            <a:ext cx="4858512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BF9000"/>
                </a:solidFill>
                <a:latin typeface="Calibri"/>
              </a:rPr>
              <a:t>INPUT</a:t>
            </a:r>
          </a:p>
        </p:txBody>
      </p:sp>
      <p:sp>
        <p:nvSpPr>
          <p:cNvPr id="9026" name="TextBox 9025"/>
          <p:cNvSpPr txBox="1"/>
          <p:nvPr/>
        </p:nvSpPr>
        <p:spPr>
          <a:xfrm>
            <a:off x="6623304" y="4197096"/>
            <a:ext cx="4858512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1F3864"/>
                </a:solidFill>
                <a:latin typeface="Consolas"/>
              </a:rPr>
              <a:t>repsol_activos_productivos.docx</a:t>
            </a:r>
          </a:p>
        </p:txBody>
      </p:sp>
      <p:sp>
        <p:nvSpPr>
          <p:cNvPr id="9027" name="TextBox 9026"/>
          <p:cNvSpPr txBox="1"/>
          <p:nvPr/>
        </p:nvSpPr>
        <p:spPr>
          <a:xfrm>
            <a:off x="6623304" y="4517136"/>
            <a:ext cx="4858512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BF9000"/>
                </a:solidFill>
                <a:latin typeface="Calibri"/>
              </a:rPr>
              <a:t>PIPELINE</a:t>
            </a:r>
          </a:p>
        </p:txBody>
      </p:sp>
      <p:sp>
        <p:nvSpPr>
          <p:cNvPr id="9028" name="TextBox 9027"/>
          <p:cNvSpPr txBox="1"/>
          <p:nvPr/>
        </p:nvSpPr>
        <p:spPr>
          <a:xfrm>
            <a:off x="6623304" y="4700016"/>
            <a:ext cx="4858512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1F3864"/>
                </a:solidFill>
                <a:latin typeface="Calibri"/>
              </a:rPr>
              <a:t>Documento — extracción + dedup + geocoding</a:t>
            </a:r>
          </a:p>
        </p:txBody>
      </p:sp>
      <p:sp>
        <p:nvSpPr>
          <p:cNvPr id="9029" name="TextBox 9028"/>
          <p:cNvSpPr txBox="1"/>
          <p:nvPr/>
        </p:nvSpPr>
        <p:spPr>
          <a:xfrm>
            <a:off x="6623304" y="5020056"/>
            <a:ext cx="4858512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BF9000"/>
                </a:solidFill>
                <a:latin typeface="Calibri"/>
              </a:rPr>
              <a:t>SALIDA OBSERVADA</a:t>
            </a:r>
          </a:p>
        </p:txBody>
      </p:sp>
      <p:sp>
        <p:nvSpPr>
          <p:cNvPr id="9030" name="TextBox 9029"/>
          <p:cNvSpPr txBox="1"/>
          <p:nvPr/>
        </p:nvSpPr>
        <p:spPr>
          <a:xfrm>
            <a:off x="6623304" y="5202936"/>
            <a:ext cx="4858512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1F3864"/>
                </a:solidFill>
                <a:latin typeface="Calibri"/>
              </a:rPr>
              <a:t>18 activos · 18 HIGH</a:t>
            </a:r>
          </a:p>
        </p:txBody>
      </p:sp>
      <p:sp>
        <p:nvSpPr>
          <p:cNvPr id="9031" name="TextBox 9030"/>
          <p:cNvSpPr txBox="1"/>
          <p:nvPr/>
        </p:nvSpPr>
        <p:spPr>
          <a:xfrm>
            <a:off x="6623304" y="5522976"/>
            <a:ext cx="4858512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BF9000"/>
                </a:solidFill>
                <a:latin typeface="Calibri"/>
              </a:rPr>
              <a:t>LATENCIA</a:t>
            </a:r>
          </a:p>
        </p:txBody>
      </p:sp>
      <p:sp>
        <p:nvSpPr>
          <p:cNvPr id="9032" name="TextBox 9031"/>
          <p:cNvSpPr txBox="1"/>
          <p:nvPr/>
        </p:nvSpPr>
        <p:spPr>
          <a:xfrm>
            <a:off x="6623304" y="5705856"/>
            <a:ext cx="4858512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>
                <a:solidFill>
                  <a:srgbClr val="1F3864"/>
                </a:solidFill>
                <a:latin typeface="Calibri"/>
              </a:rPr>
              <a:t>~60 s</a:t>
            </a:r>
          </a:p>
        </p:txBody>
      </p:sp>
      <p:sp>
        <p:nvSpPr>
          <p:cNvPr id="9033" name="Rectangle 9032"/>
          <p:cNvSpPr/>
          <p:nvPr/>
        </p:nvSpPr>
        <p:spPr>
          <a:xfrm>
            <a:off x="6623304" y="6437376"/>
            <a:ext cx="4858512" cy="4572"/>
          </a:xfrm>
          <a:prstGeom prst="rect">
            <a:avLst/>
          </a:prstGeom>
          <a:solidFill>
            <a:srgbClr val="BF9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34" name="TextBox 9033"/>
          <p:cNvSpPr txBox="1"/>
          <p:nvPr/>
        </p:nvSpPr>
        <p:spPr>
          <a:xfrm>
            <a:off x="6623304" y="6528816"/>
            <a:ext cx="4858512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i="1">
                <a:solidFill>
                  <a:srgbClr val="404040"/>
                </a:solidFill>
                <a:latin typeface="Calibri"/>
              </a:rPr>
              <a:t>Cobertura casi total con score documental alto.</a:t>
            </a:r>
          </a:p>
        </p:txBody>
      </p:sp>
      <p:sp>
        <p:nvSpPr>
          <p:cNvPr id="9035" name="Rounded Rectangle 9034"/>
          <p:cNvSpPr/>
          <p:nvPr/>
        </p:nvSpPr>
        <p:spPr>
          <a:xfrm>
            <a:off x="11939016" y="2916935"/>
            <a:ext cx="5407152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>
            <a:outerShdw blurRad="127000" dist="38100" dir="5400000" algn="tl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36" name="Rectangle 9035"/>
          <p:cNvSpPr/>
          <p:nvPr/>
        </p:nvSpPr>
        <p:spPr>
          <a:xfrm>
            <a:off x="11939016" y="2916935"/>
            <a:ext cx="5407152" cy="868680"/>
          </a:xfrm>
          <a:prstGeom prst="rect">
            <a:avLst/>
          </a:prstGeom>
          <a:solidFill>
            <a:srgbClr val="142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37" name="TextBox 9036"/>
          <p:cNvSpPr txBox="1"/>
          <p:nvPr/>
        </p:nvSpPr>
        <p:spPr>
          <a:xfrm>
            <a:off x="12213336" y="3081528"/>
            <a:ext cx="4858512" cy="6400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BF9000"/>
                </a:solidFill>
                <a:latin typeface="Calibri"/>
              </a:rPr>
              <a:t>CASO</a:t>
            </a:r>
          </a:p>
          <a:p>
            <a:r>
              <a:rPr sz="2800" b="1">
                <a:solidFill>
                  <a:srgbClr val="FFFFFF"/>
                </a:solidFill>
                <a:latin typeface="Calibri"/>
              </a:rPr>
              <a:t>Agente IA</a:t>
            </a:r>
          </a:p>
        </p:txBody>
      </p:sp>
      <p:sp>
        <p:nvSpPr>
          <p:cNvPr id="9038" name="Rounded Rectangle 9037"/>
          <p:cNvSpPr/>
          <p:nvPr/>
        </p:nvSpPr>
        <p:spPr>
          <a:xfrm>
            <a:off x="15700247" y="3191253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39" name="TextBox 9038"/>
          <p:cNvSpPr txBox="1"/>
          <p:nvPr/>
        </p:nvSpPr>
        <p:spPr>
          <a:xfrm>
            <a:off x="15700247" y="3209542"/>
            <a:ext cx="13716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300" b="1">
                <a:solidFill>
                  <a:srgbClr val="14284D"/>
                </a:solidFill>
                <a:latin typeface="Calibri"/>
              </a:rPr>
              <a:t>Agente</a:t>
            </a:r>
          </a:p>
        </p:txBody>
      </p:sp>
      <p:sp>
        <p:nvSpPr>
          <p:cNvPr id="9040" name="TextBox 9039"/>
          <p:cNvSpPr txBox="1"/>
          <p:nvPr/>
        </p:nvSpPr>
        <p:spPr>
          <a:xfrm>
            <a:off x="12213336" y="4014215"/>
            <a:ext cx="4858512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BF9000"/>
                </a:solidFill>
                <a:latin typeface="Calibri"/>
              </a:rPr>
              <a:t>INPUT</a:t>
            </a:r>
          </a:p>
        </p:txBody>
      </p:sp>
      <p:sp>
        <p:nvSpPr>
          <p:cNvPr id="9041" name="TextBox 9040"/>
          <p:cNvSpPr txBox="1"/>
          <p:nvPr/>
        </p:nvSpPr>
        <p:spPr>
          <a:xfrm>
            <a:off x="12213336" y="4197096"/>
            <a:ext cx="4858512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1F3864"/>
                </a:solidFill>
                <a:latin typeface="Calibri"/>
              </a:rPr>
              <a:t>Mercadona</a:t>
            </a:r>
          </a:p>
        </p:txBody>
      </p:sp>
      <p:sp>
        <p:nvSpPr>
          <p:cNvPr id="9042" name="TextBox 9041"/>
          <p:cNvSpPr txBox="1"/>
          <p:nvPr/>
        </p:nvSpPr>
        <p:spPr>
          <a:xfrm>
            <a:off x="12213336" y="4517136"/>
            <a:ext cx="4858512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BF9000"/>
                </a:solidFill>
                <a:latin typeface="Calibri"/>
              </a:rPr>
              <a:t>PIPELINE</a:t>
            </a:r>
          </a:p>
        </p:txBody>
      </p:sp>
      <p:sp>
        <p:nvSpPr>
          <p:cNvPr id="9043" name="TextBox 9042"/>
          <p:cNvSpPr txBox="1"/>
          <p:nvPr/>
        </p:nvSpPr>
        <p:spPr>
          <a:xfrm>
            <a:off x="12213336" y="4700016"/>
            <a:ext cx="4858512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1F3864"/>
                </a:solidFill>
                <a:latin typeface="Calibri"/>
              </a:rPr>
              <a:t>Agente CrewAI + DuckDuckGo MCP</a:t>
            </a:r>
          </a:p>
        </p:txBody>
      </p:sp>
      <p:sp>
        <p:nvSpPr>
          <p:cNvPr id="9044" name="TextBox 9043"/>
          <p:cNvSpPr txBox="1"/>
          <p:nvPr/>
        </p:nvSpPr>
        <p:spPr>
          <a:xfrm>
            <a:off x="12213336" y="5020056"/>
            <a:ext cx="4858512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BF9000"/>
                </a:solidFill>
                <a:latin typeface="Calibri"/>
              </a:rPr>
              <a:t>SALIDA OBSERVADA</a:t>
            </a:r>
          </a:p>
        </p:txBody>
      </p:sp>
      <p:sp>
        <p:nvSpPr>
          <p:cNvPr id="9045" name="TextBox 9044"/>
          <p:cNvSpPr txBox="1"/>
          <p:nvPr/>
        </p:nvSpPr>
        <p:spPr>
          <a:xfrm>
            <a:off x="12213336" y="5202936"/>
            <a:ext cx="4858512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1F3864"/>
                </a:solidFill>
                <a:latin typeface="Calibri"/>
              </a:rPr>
              <a:t>Documentos validados manualmente</a:t>
            </a:r>
          </a:p>
        </p:txBody>
      </p:sp>
      <p:sp>
        <p:nvSpPr>
          <p:cNvPr id="9046" name="TextBox 9045"/>
          <p:cNvSpPr txBox="1"/>
          <p:nvPr/>
        </p:nvSpPr>
        <p:spPr>
          <a:xfrm>
            <a:off x="12213336" y="5522976"/>
            <a:ext cx="4858512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BF9000"/>
                </a:solidFill>
                <a:latin typeface="Calibri"/>
              </a:rPr>
              <a:t>LATENCIA</a:t>
            </a:r>
          </a:p>
        </p:txBody>
      </p:sp>
      <p:sp>
        <p:nvSpPr>
          <p:cNvPr id="9047" name="TextBox 9046"/>
          <p:cNvSpPr txBox="1"/>
          <p:nvPr/>
        </p:nvSpPr>
        <p:spPr>
          <a:xfrm>
            <a:off x="12213336" y="5705856"/>
            <a:ext cx="4858512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>
                <a:solidFill>
                  <a:srgbClr val="1F3864"/>
                </a:solidFill>
                <a:latin typeface="Calibri"/>
              </a:rPr>
              <a:t>~2 min</a:t>
            </a:r>
          </a:p>
        </p:txBody>
      </p:sp>
      <p:sp>
        <p:nvSpPr>
          <p:cNvPr id="9048" name="Rectangle 9047"/>
          <p:cNvSpPr/>
          <p:nvPr/>
        </p:nvSpPr>
        <p:spPr>
          <a:xfrm>
            <a:off x="12213336" y="6437376"/>
            <a:ext cx="4858512" cy="4572"/>
          </a:xfrm>
          <a:prstGeom prst="rect">
            <a:avLst/>
          </a:prstGeom>
          <a:solidFill>
            <a:srgbClr val="BF9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49" name="TextBox 9048"/>
          <p:cNvSpPr txBox="1"/>
          <p:nvPr/>
        </p:nvSpPr>
        <p:spPr>
          <a:xfrm>
            <a:off x="12213336" y="6528816"/>
            <a:ext cx="4858512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i="1">
                <a:solidFill>
                  <a:srgbClr val="404040"/>
                </a:solidFill>
                <a:latin typeface="Calibri"/>
              </a:rPr>
              <a:t>Recupera empresas opacas para los otros pipelines.</a:t>
            </a:r>
          </a:p>
        </p:txBody>
      </p:sp>
      <p:sp>
        <p:nvSpPr>
          <p:cNvPr id="9050" name="Rounded Rectangle 9049"/>
          <p:cNvSpPr/>
          <p:nvPr/>
        </p:nvSpPr>
        <p:spPr>
          <a:xfrm>
            <a:off x="758952" y="7306055"/>
            <a:ext cx="16770096" cy="1280160"/>
          </a:xfrm>
          <a:prstGeom prst="roundRect">
            <a:avLst>
              <a:gd name="adj" fmla="val 4000"/>
            </a:avLst>
          </a:prstGeom>
          <a:solidFill>
            <a:srgbClr val="F7F7F9"/>
          </a:solidFill>
          <a:ln w="6350">
            <a:solidFill>
              <a:srgbClr val="D9D9D9"/>
            </a:solidFill>
          </a:ln>
          <a:effectLst>
            <a:outerShdw blurRad="101600" dist="25400" dir="54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51" name="TextBox 9050"/>
          <p:cNvSpPr txBox="1"/>
          <p:nvPr/>
        </p:nvSpPr>
        <p:spPr>
          <a:xfrm>
            <a:off x="1033271" y="7415781"/>
            <a:ext cx="162214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BF9000"/>
                </a:solidFill>
                <a:latin typeface="Calibri"/>
              </a:rPr>
              <a:t>CRITERIOS DE EVALUACIÓN  ·  </a:t>
            </a:r>
            <a:r>
              <a:rPr sz="1300" b="1">
                <a:solidFill>
                  <a:srgbClr val="1F3864"/>
                </a:solidFill>
                <a:latin typeface="Calibri"/>
              </a:rPr>
              <a:t>Cuatro dimensiones comunes a todos los pipelines</a:t>
            </a:r>
          </a:p>
        </p:txBody>
      </p:sp>
      <p:sp>
        <p:nvSpPr>
          <p:cNvPr id="9052" name="Rounded Rectangle 9051"/>
          <p:cNvSpPr/>
          <p:nvPr/>
        </p:nvSpPr>
        <p:spPr>
          <a:xfrm>
            <a:off x="1033271" y="7763254"/>
            <a:ext cx="3849624" cy="7132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1F3864"/>
            </a:solidFill>
          </a:ln>
          <a:effectLst>
            <a:outerShdw blurRad="50800" dist="12700" dir="5400000" algn="tl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53" name="Oval 9052"/>
          <p:cNvSpPr/>
          <p:nvPr/>
        </p:nvSpPr>
        <p:spPr>
          <a:xfrm>
            <a:off x="1307592" y="7914131"/>
            <a:ext cx="411480" cy="411480"/>
          </a:xfrm>
          <a:prstGeom prst="ellipse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54" name="Right Arrow 9053"/>
          <p:cNvSpPr/>
          <p:nvPr/>
        </p:nvSpPr>
        <p:spPr>
          <a:xfrm>
            <a:off x="1394460" y="8074150"/>
            <a:ext cx="237744" cy="9144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55" name="TextBox 9054"/>
          <p:cNvSpPr txBox="1"/>
          <p:nvPr/>
        </p:nvSpPr>
        <p:spPr>
          <a:xfrm>
            <a:off x="1856232" y="7854693"/>
            <a:ext cx="2980944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1F3864"/>
                </a:solidFill>
                <a:latin typeface="Calibri"/>
              </a:rPr>
              <a:t>INPUT</a:t>
            </a:r>
          </a:p>
        </p:txBody>
      </p:sp>
      <p:sp>
        <p:nvSpPr>
          <p:cNvPr id="9056" name="TextBox 9055"/>
          <p:cNvSpPr txBox="1"/>
          <p:nvPr/>
        </p:nvSpPr>
        <p:spPr>
          <a:xfrm>
            <a:off x="1856232" y="8129014"/>
            <a:ext cx="2980944" cy="3017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>
                <a:solidFill>
                  <a:srgbClr val="404040"/>
                </a:solidFill>
                <a:latin typeface="Calibri"/>
              </a:rPr>
              <a:t>Qué necesita el pipeline para arrancar</a:t>
            </a:r>
          </a:p>
        </p:txBody>
      </p:sp>
      <p:sp>
        <p:nvSpPr>
          <p:cNvPr id="9057" name="Rounded Rectangle 9056"/>
          <p:cNvSpPr/>
          <p:nvPr/>
        </p:nvSpPr>
        <p:spPr>
          <a:xfrm>
            <a:off x="5157216" y="7763254"/>
            <a:ext cx="3849624" cy="7132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1F3864"/>
            </a:solidFill>
          </a:ln>
          <a:effectLst>
            <a:outerShdw blurRad="50800" dist="12700" dir="5400000" algn="tl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58" name="Oval 9057"/>
          <p:cNvSpPr/>
          <p:nvPr/>
        </p:nvSpPr>
        <p:spPr>
          <a:xfrm>
            <a:off x="5431536" y="7914131"/>
            <a:ext cx="411480" cy="411480"/>
          </a:xfrm>
          <a:prstGeom prst="ellipse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59" name="Sun 9058"/>
          <p:cNvSpPr/>
          <p:nvPr/>
        </p:nvSpPr>
        <p:spPr>
          <a:xfrm>
            <a:off x="5545836" y="8028431"/>
            <a:ext cx="182880" cy="182880"/>
          </a:xfrm>
          <a:prstGeom prst="sun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60" name="TextBox 9059"/>
          <p:cNvSpPr txBox="1"/>
          <p:nvPr/>
        </p:nvSpPr>
        <p:spPr>
          <a:xfrm>
            <a:off x="5980175" y="7854693"/>
            <a:ext cx="2980944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1F3864"/>
                </a:solidFill>
                <a:latin typeface="Calibri"/>
              </a:rPr>
              <a:t>PIPELINE</a:t>
            </a:r>
          </a:p>
        </p:txBody>
      </p:sp>
      <p:sp>
        <p:nvSpPr>
          <p:cNvPr id="9061" name="TextBox 9060"/>
          <p:cNvSpPr txBox="1"/>
          <p:nvPr/>
        </p:nvSpPr>
        <p:spPr>
          <a:xfrm>
            <a:off x="5980175" y="8129014"/>
            <a:ext cx="2980944" cy="3017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>
                <a:solidFill>
                  <a:srgbClr val="404040"/>
                </a:solidFill>
                <a:latin typeface="Calibri"/>
              </a:rPr>
              <a:t>Tecnologías y pasos ejecutados</a:t>
            </a:r>
          </a:p>
        </p:txBody>
      </p:sp>
      <p:sp>
        <p:nvSpPr>
          <p:cNvPr id="9062" name="Rounded Rectangle 9061"/>
          <p:cNvSpPr/>
          <p:nvPr/>
        </p:nvSpPr>
        <p:spPr>
          <a:xfrm>
            <a:off x="9281159" y="7763254"/>
            <a:ext cx="3849624" cy="7132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1F3864"/>
            </a:solidFill>
          </a:ln>
          <a:effectLst>
            <a:outerShdw blurRad="50800" dist="12700" dir="5400000" algn="tl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63" name="Oval 9062"/>
          <p:cNvSpPr/>
          <p:nvPr/>
        </p:nvSpPr>
        <p:spPr>
          <a:xfrm>
            <a:off x="9555480" y="7914131"/>
            <a:ext cx="411480" cy="411480"/>
          </a:xfrm>
          <a:prstGeom prst="ellipse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64" name="Right Arrow 9063"/>
          <p:cNvSpPr/>
          <p:nvPr/>
        </p:nvSpPr>
        <p:spPr>
          <a:xfrm>
            <a:off x="9715499" y="8074150"/>
            <a:ext cx="201168" cy="9144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65" name="TextBox 9064"/>
          <p:cNvSpPr txBox="1"/>
          <p:nvPr/>
        </p:nvSpPr>
        <p:spPr>
          <a:xfrm>
            <a:off x="10104119" y="7854693"/>
            <a:ext cx="2980944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1F3864"/>
                </a:solidFill>
                <a:latin typeface="Calibri"/>
              </a:rPr>
              <a:t>SALIDA</a:t>
            </a:r>
          </a:p>
        </p:txBody>
      </p:sp>
      <p:sp>
        <p:nvSpPr>
          <p:cNvPr id="9066" name="TextBox 9065"/>
          <p:cNvSpPr txBox="1"/>
          <p:nvPr/>
        </p:nvSpPr>
        <p:spPr>
          <a:xfrm>
            <a:off x="10104119" y="8129014"/>
            <a:ext cx="2980944" cy="3017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>
                <a:solidFill>
                  <a:srgbClr val="404040"/>
                </a:solidFill>
                <a:latin typeface="Calibri"/>
              </a:rPr>
              <a:t>Activos persistidos y distribución de tiers</a:t>
            </a:r>
          </a:p>
        </p:txBody>
      </p:sp>
      <p:sp>
        <p:nvSpPr>
          <p:cNvPr id="9067" name="Rounded Rectangle 9066"/>
          <p:cNvSpPr/>
          <p:nvPr/>
        </p:nvSpPr>
        <p:spPr>
          <a:xfrm>
            <a:off x="13405104" y="7763254"/>
            <a:ext cx="3849624" cy="7132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1F3864"/>
            </a:solidFill>
          </a:ln>
          <a:effectLst>
            <a:outerShdw blurRad="50800" dist="12700" dir="5400000" algn="tl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68" name="Oval 9067"/>
          <p:cNvSpPr/>
          <p:nvPr/>
        </p:nvSpPr>
        <p:spPr>
          <a:xfrm>
            <a:off x="13679424" y="7914131"/>
            <a:ext cx="411480" cy="411480"/>
          </a:xfrm>
          <a:prstGeom prst="ellipse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69" name="Oval 9068"/>
          <p:cNvSpPr/>
          <p:nvPr/>
        </p:nvSpPr>
        <p:spPr>
          <a:xfrm>
            <a:off x="13793724" y="8028431"/>
            <a:ext cx="182880" cy="1828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70" name="Rectangle 9069"/>
          <p:cNvSpPr/>
          <p:nvPr/>
        </p:nvSpPr>
        <p:spPr>
          <a:xfrm>
            <a:off x="13876020" y="8042145"/>
            <a:ext cx="18288" cy="77724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71" name="Rectangle 9070"/>
          <p:cNvSpPr/>
          <p:nvPr/>
        </p:nvSpPr>
        <p:spPr>
          <a:xfrm>
            <a:off x="13885164" y="8110727"/>
            <a:ext cx="64008" cy="1828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72" name="TextBox 9071"/>
          <p:cNvSpPr txBox="1"/>
          <p:nvPr/>
        </p:nvSpPr>
        <p:spPr>
          <a:xfrm>
            <a:off x="14228064" y="7854693"/>
            <a:ext cx="2980944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1F3864"/>
                </a:solidFill>
                <a:latin typeface="Calibri"/>
              </a:rPr>
              <a:t>LATENCIA</a:t>
            </a:r>
          </a:p>
        </p:txBody>
      </p:sp>
      <p:sp>
        <p:nvSpPr>
          <p:cNvPr id="9073" name="TextBox 9072"/>
          <p:cNvSpPr txBox="1"/>
          <p:nvPr/>
        </p:nvSpPr>
        <p:spPr>
          <a:xfrm>
            <a:off x="14228064" y="8129014"/>
            <a:ext cx="2980944" cy="3017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>
                <a:solidFill>
                  <a:srgbClr val="404040"/>
                </a:solidFill>
                <a:latin typeface="Calibri"/>
              </a:rPr>
              <a:t>Tiempo end-to-end por empresa</a:t>
            </a:r>
          </a:p>
        </p:txBody>
      </p:sp>
      <p:sp>
        <p:nvSpPr>
          <p:cNvPr id="9074" name="Rounded Rectangle 9073"/>
          <p:cNvSpPr/>
          <p:nvPr/>
        </p:nvSpPr>
        <p:spPr>
          <a:xfrm>
            <a:off x="758952" y="8677655"/>
            <a:ext cx="16770096" cy="292608"/>
          </a:xfrm>
          <a:prstGeom prst="roundRect">
            <a:avLst>
              <a:gd name="adj" fmla="val 20000"/>
            </a:avLst>
          </a:prstGeom>
          <a:solidFill>
            <a:srgbClr val="F7F7F9"/>
          </a:solidFill>
          <a:ln w="6350">
            <a:solidFill>
              <a:srgbClr val="BF9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75" name="TextBox 9074"/>
          <p:cNvSpPr txBox="1"/>
          <p:nvPr/>
        </p:nvSpPr>
        <p:spPr>
          <a:xfrm>
            <a:off x="941832" y="8714229"/>
            <a:ext cx="16404336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1F3864"/>
                </a:solidFill>
                <a:latin typeface="Calibri"/>
              </a:rPr>
              <a:t>Alcance de la evaluación. </a:t>
            </a:r>
            <a:r>
              <a:rPr sz="1300">
                <a:solidFill>
                  <a:srgbClr val="404040"/>
                </a:solidFill>
                <a:latin typeface="Calibri"/>
              </a:rPr>
              <a:t>Se reportan observaciones cualitativas sobre corridas reales. La validación de calidad se aporta como observación documentada por activo. No se incluye precision/recall numérico al no existir un ground truth público completo.</a:t>
            </a:r>
          </a:p>
        </p:txBody>
      </p:sp>
    </p:spTree>
    <p:extLst>
      <p:ext uri="{BB962C8B-B14F-4D97-AF65-F5344CB8AC3E}">
        <p14:creationId xmlns:p14="http://schemas.microsoft.com/office/powerpoint/2010/main" val="421067568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00" name="MS Header Group"/>
          <p:cNvGrpSpPr/>
          <p:nvPr/>
        </p:nvGrpSpPr>
        <p:grpSpPr>
          <a:xfrm>
            <a:off x="282819" y="579094"/>
            <a:ext cx="13786134" cy="1057874"/>
            <a:chOff x="92172" y="275827"/>
            <a:chExt cx="9190756" cy="705249"/>
          </a:xfrm>
        </p:grpSpPr>
        <p:sp>
          <p:nvSpPr>
            <p:cNvPr id="9001" name="MS Title Box"/>
            <p:cNvSpPr/>
            <p:nvPr/>
          </p:nvSpPr>
          <p:spPr>
            <a:xfrm>
              <a:off x="776292" y="404814"/>
              <a:ext cx="8506636" cy="576262"/>
            </a:xfrm>
            <a:prstGeom prst="rect">
              <a:avLst/>
            </a:prstGeom>
            <a:noFill/>
          </p:spPr>
          <p:txBody>
            <a:bodyPr lIns="137160" tIns="68580" rIns="137160" bIns="68580" anchor="ctr"/>
            <a:lstStyle/>
            <a:p>
              <a:pPr>
                <a:lnSpc>
                  <a:spcPts val="3150"/>
                </a:lnSpc>
              </a:pPr>
              <a:r>
                <a:rPr lang="es-ES" sz="3000" b="1">
                  <a:solidFill>
                    <a:srgbClr val="002569"/>
                  </a:solidFill>
                  <a:latin typeface="Arial"/>
                </a:rPr>
                <a:t>Demostración y resultados</a:t>
              </a:r>
            </a:p>
            <a:p>
              <a:r>
                <a:rPr lang="es-ES" sz="2700">
                  <a:solidFill>
                    <a:srgbClr val="E0D399">
                      <a:lumMod val="75000"/>
                    </a:srgbClr>
                  </a:solidFill>
                  <a:latin typeface="Arial"/>
                </a:rPr>
                <a:t>Iberdrola — 76 activos persistidos, 70 en tier HIGH</a:t>
              </a:r>
            </a:p>
          </p:txBody>
        </p:sp>
        <p:sp>
          <p:nvSpPr>
            <p:cNvPr id="9002" name="MS Number"/>
            <p:cNvSpPr/>
            <p:nvPr/>
          </p:nvSpPr>
          <p:spPr>
            <a:xfrm>
              <a:off x="92172" y="275827"/>
              <a:ext cx="477819" cy="700146"/>
            </a:xfrm>
            <a:prstGeom prst="rect">
              <a:avLst/>
            </a:prstGeom>
            <a:noFill/>
          </p:spPr>
          <p:txBody>
            <a:bodyPr wrap="none" lIns="148523" tIns="74261" rIns="148523" bIns="74261">
              <a:spAutoFit/>
            </a:bodyPr>
            <a:lstStyle/>
            <a:p>
              <a:pPr algn="ctr"/>
              <a:r>
                <a:rPr lang="es-ES" sz="5850" b="1" kern="0">
                  <a:solidFill>
                    <a:srgbClr val="002569"/>
                  </a:solidFill>
                  <a:latin typeface="Arial"/>
                </a:rPr>
                <a:t>5</a:t>
              </a:r>
            </a:p>
          </p:txBody>
        </p:sp>
        <p:cxnSp>
          <p:nvCxnSpPr>
            <p:cNvPr id="9003" name="MS Header Bar"/>
            <p:cNvCxnSpPr/>
            <p:nvPr/>
          </p:nvCxnSpPr>
          <p:spPr>
            <a:xfrm>
              <a:off x="570525" y="404814"/>
              <a:ext cx="0" cy="526647"/>
            </a:xfrm>
            <a:prstGeom prst="line">
              <a:avLst/>
            </a:prstGeom>
            <a:ln>
              <a:solidFill>
                <a:schemeClr val="tx2"/>
              </a:solidFill>
            </a:ln>
          </p:spPr>
        </p:cxnSp>
      </p:grpSp>
      <p:pic>
        <p:nvPicPr>
          <p:cNvPr id="9028" name="Picture 9027" descr="iberdrola_01_dashboard_fu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4422" y="2821686"/>
            <a:ext cx="8431128" cy="4754880"/>
          </a:xfrm>
          <a:prstGeom prst="rect">
            <a:avLst/>
          </a:prstGeom>
          <a:effectLst>
            <a:outerShdw blurRad="127000" dist="38100" dir="5400000" algn="tl" rotWithShape="0">
              <a:srgbClr val="000000">
                <a:alpha val="22000"/>
              </a:srgbClr>
            </a:outerShdw>
          </a:effectLst>
        </p:spPr>
      </p:pic>
      <p:sp>
        <p:nvSpPr>
          <p:cNvPr id="9004" name="TextBox 9003"/>
          <p:cNvSpPr txBox="1"/>
          <p:nvPr/>
        </p:nvSpPr>
        <p:spPr>
          <a:xfrm>
            <a:off x="758952" y="2048256"/>
            <a:ext cx="16770096" cy="8412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1">
                <a:solidFill>
                  <a:srgbClr val="1F3864"/>
                </a:solidFill>
                <a:latin typeface="Calibri"/>
              </a:rPr>
              <a:t>Filtrado LLM aplicado.</a:t>
            </a:r>
            <a:r>
              <a:rPr sz="1300">
                <a:solidFill>
                  <a:srgbClr val="4D4D4D"/>
                </a:solidFill>
                <a:latin typeface="Calibri"/>
              </a:rPr>
              <a:t> Sobre el corpus de Iberdrola — sede central en Hortaleza (Madrid), filiales productoras y red comercial Iberdrola Clientes — el sistema persiste 76 activos productivos en España y descarta candidatos brutos que no son patrimonio del grupo (oficinas comerciales sueltas, asesorías, etc.).</a:t>
            </a:r>
          </a:p>
        </p:txBody>
      </p:sp>
      <p:sp>
        <p:nvSpPr>
          <p:cNvPr id="9005" name="Rectangle 9004"/>
          <p:cNvSpPr/>
          <p:nvPr/>
        </p:nvSpPr>
        <p:spPr>
          <a:xfrm>
            <a:off x="11247120" y="2916935"/>
            <a:ext cx="6281928" cy="1280160"/>
          </a:xfrm>
          <a:prstGeom prst="rect">
            <a:avLst/>
          </a:prstGeom>
          <a:solidFill>
            <a:srgbClr val="1F3864"/>
          </a:solidFill>
          <a:ln>
            <a:noFill/>
          </a:ln>
          <a:effectLst>
            <a:outerShdw blurRad="127000" dist="38100" dir="5400000" algn="tl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06" name="TextBox 9005"/>
          <p:cNvSpPr txBox="1"/>
          <p:nvPr/>
        </p:nvSpPr>
        <p:spPr>
          <a:xfrm>
            <a:off x="11521440" y="2962656"/>
            <a:ext cx="2560320" cy="10972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6000" b="1">
                <a:solidFill>
                  <a:srgbClr val="FFFFFF"/>
                </a:solidFill>
                <a:latin typeface="Calibri"/>
              </a:rPr>
              <a:t>76</a:t>
            </a:r>
          </a:p>
        </p:txBody>
      </p:sp>
      <p:sp>
        <p:nvSpPr>
          <p:cNvPr id="9007" name="TextBox 9006"/>
          <p:cNvSpPr txBox="1"/>
          <p:nvPr/>
        </p:nvSpPr>
        <p:spPr>
          <a:xfrm>
            <a:off x="14081760" y="3054096"/>
            <a:ext cx="3172968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300" b="1">
                <a:solidFill>
                  <a:srgbClr val="BF9000"/>
                </a:solidFill>
                <a:latin typeface="Calibri"/>
              </a:rPr>
              <a:t>ACTIVOS PERSISTIDOS</a:t>
            </a:r>
          </a:p>
          <a:p>
            <a:r>
              <a:rPr sz="1300">
                <a:solidFill>
                  <a:srgbClr val="FFFFFF"/>
                </a:solidFill>
                <a:latin typeface="Calibri"/>
              </a:rPr>
              <a:t>Patrimonio productivo en España</a:t>
            </a:r>
          </a:p>
        </p:txBody>
      </p:sp>
      <p:sp>
        <p:nvSpPr>
          <p:cNvPr id="9008" name="Rectangle 9007"/>
          <p:cNvSpPr/>
          <p:nvPr/>
        </p:nvSpPr>
        <p:spPr>
          <a:xfrm>
            <a:off x="11247120" y="4334255"/>
            <a:ext cx="6281928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>
            <a:outerShdw blurRad="101600" dist="25400" dir="54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09" name="TextBox 9008"/>
          <p:cNvSpPr txBox="1"/>
          <p:nvPr/>
        </p:nvSpPr>
        <p:spPr>
          <a:xfrm>
            <a:off x="11430000" y="4498847"/>
            <a:ext cx="5916168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BF9000"/>
                </a:solidFill>
                <a:latin typeface="Calibri"/>
              </a:rPr>
              <a:t>DISTRIBUCIÓN POR TIER DE CONFIANZA</a:t>
            </a:r>
          </a:p>
        </p:txBody>
      </p:sp>
      <p:sp>
        <p:nvSpPr>
          <p:cNvPr id="9010" name="TextBox 9009"/>
          <p:cNvSpPr txBox="1"/>
          <p:nvPr/>
        </p:nvSpPr>
        <p:spPr>
          <a:xfrm>
            <a:off x="11430000" y="4974336"/>
            <a:ext cx="73152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4F814F"/>
                </a:solidFill>
                <a:latin typeface="Calibri"/>
              </a:rPr>
              <a:t>HIGH</a:t>
            </a:r>
          </a:p>
        </p:txBody>
      </p:sp>
      <p:sp>
        <p:nvSpPr>
          <p:cNvPr id="9011" name="Rectangle 9010"/>
          <p:cNvSpPr/>
          <p:nvPr/>
        </p:nvSpPr>
        <p:spPr>
          <a:xfrm>
            <a:off x="12207240" y="4992623"/>
            <a:ext cx="4773168" cy="237744"/>
          </a:xfrm>
          <a:prstGeom prst="rect">
            <a:avLst/>
          </a:prstGeom>
          <a:solidFill>
            <a:srgbClr val="F7F7F9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12" name="Rectangle 9011"/>
          <p:cNvSpPr/>
          <p:nvPr/>
        </p:nvSpPr>
        <p:spPr>
          <a:xfrm>
            <a:off x="12207240" y="4992623"/>
            <a:ext cx="4396338" cy="237744"/>
          </a:xfrm>
          <a:prstGeom prst="rect">
            <a:avLst/>
          </a:prstGeom>
          <a:solidFill>
            <a:srgbClr val="4F81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13" name="TextBox 9012"/>
          <p:cNvSpPr txBox="1"/>
          <p:nvPr/>
        </p:nvSpPr>
        <p:spPr>
          <a:xfrm>
            <a:off x="16843248" y="4974336"/>
            <a:ext cx="50292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300" b="1">
                <a:solidFill>
                  <a:srgbClr val="1F3864"/>
                </a:solidFill>
                <a:latin typeface="Calibri"/>
              </a:rPr>
              <a:t>70</a:t>
            </a:r>
          </a:p>
        </p:txBody>
      </p:sp>
      <p:sp>
        <p:nvSpPr>
          <p:cNvPr id="9014" name="TextBox 9013"/>
          <p:cNvSpPr txBox="1"/>
          <p:nvPr/>
        </p:nvSpPr>
        <p:spPr>
          <a:xfrm>
            <a:off x="11430000" y="5504688"/>
            <a:ext cx="73152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BF9000"/>
                </a:solidFill>
                <a:latin typeface="Calibri"/>
              </a:rPr>
              <a:t>MEDIUM</a:t>
            </a:r>
          </a:p>
        </p:txBody>
      </p:sp>
      <p:sp>
        <p:nvSpPr>
          <p:cNvPr id="9015" name="Rectangle 9014"/>
          <p:cNvSpPr/>
          <p:nvPr/>
        </p:nvSpPr>
        <p:spPr>
          <a:xfrm>
            <a:off x="12207240" y="5522975"/>
            <a:ext cx="4773168" cy="237744"/>
          </a:xfrm>
          <a:prstGeom prst="rect">
            <a:avLst/>
          </a:prstGeom>
          <a:solidFill>
            <a:srgbClr val="F7F7F9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16" name="Rectangle 9015"/>
          <p:cNvSpPr/>
          <p:nvPr/>
        </p:nvSpPr>
        <p:spPr>
          <a:xfrm>
            <a:off x="12207240" y="5522975"/>
            <a:ext cx="376829" cy="237744"/>
          </a:xfrm>
          <a:prstGeom prst="rect">
            <a:avLst/>
          </a:prstGeom>
          <a:solidFill>
            <a:srgbClr val="BF9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17" name="TextBox 9016"/>
          <p:cNvSpPr txBox="1"/>
          <p:nvPr/>
        </p:nvSpPr>
        <p:spPr>
          <a:xfrm>
            <a:off x="16843248" y="5504688"/>
            <a:ext cx="50292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300" b="1">
                <a:solidFill>
                  <a:srgbClr val="1F3864"/>
                </a:solidFill>
                <a:latin typeface="Calibri"/>
              </a:rPr>
              <a:t>6</a:t>
            </a:r>
          </a:p>
        </p:txBody>
      </p:sp>
      <p:sp>
        <p:nvSpPr>
          <p:cNvPr id="9018" name="TextBox 9017"/>
          <p:cNvSpPr txBox="1"/>
          <p:nvPr/>
        </p:nvSpPr>
        <p:spPr>
          <a:xfrm>
            <a:off x="11430000" y="6035040"/>
            <a:ext cx="73152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C0504D"/>
                </a:solidFill>
                <a:latin typeface="Calibri"/>
              </a:rPr>
              <a:t>LOW</a:t>
            </a:r>
          </a:p>
        </p:txBody>
      </p:sp>
      <p:sp>
        <p:nvSpPr>
          <p:cNvPr id="9019" name="Rectangle 9018"/>
          <p:cNvSpPr/>
          <p:nvPr/>
        </p:nvSpPr>
        <p:spPr>
          <a:xfrm>
            <a:off x="12207240" y="6053328"/>
            <a:ext cx="4773168" cy="237744"/>
          </a:xfrm>
          <a:prstGeom prst="rect">
            <a:avLst/>
          </a:prstGeom>
          <a:solidFill>
            <a:srgbClr val="F7F7F9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20" name="Rectangle 9019"/>
          <p:cNvSpPr/>
          <p:nvPr/>
        </p:nvSpPr>
        <p:spPr>
          <a:xfrm>
            <a:off x="12207240" y="6053328"/>
            <a:ext cx="914" cy="237744"/>
          </a:xfrm>
          <a:prstGeom prst="rect">
            <a:avLst/>
          </a:prstGeom>
          <a:solidFill>
            <a:srgbClr val="C05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21" name="TextBox 9020"/>
          <p:cNvSpPr txBox="1"/>
          <p:nvPr/>
        </p:nvSpPr>
        <p:spPr>
          <a:xfrm>
            <a:off x="16843248" y="6035040"/>
            <a:ext cx="50292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300" b="1">
                <a:solidFill>
                  <a:srgbClr val="1F3864"/>
                </a:solidFill>
                <a:latin typeface="Calibri"/>
              </a:rPr>
              <a:t>0</a:t>
            </a:r>
          </a:p>
        </p:txBody>
      </p:sp>
      <p:sp>
        <p:nvSpPr>
          <p:cNvPr id="9022" name="Rectangle 9021"/>
          <p:cNvSpPr/>
          <p:nvPr/>
        </p:nvSpPr>
        <p:spPr>
          <a:xfrm>
            <a:off x="11247120" y="6711696"/>
            <a:ext cx="6281928" cy="960120"/>
          </a:xfrm>
          <a:prstGeom prst="rect">
            <a:avLst/>
          </a:prstGeom>
          <a:solidFill>
            <a:srgbClr val="BF9000"/>
          </a:solidFill>
          <a:ln>
            <a:noFill/>
          </a:ln>
          <a:effectLst>
            <a:outerShdw blurRad="127000" dist="38100" dir="5400000" algn="t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23" name="TextBox 9022"/>
          <p:cNvSpPr txBox="1"/>
          <p:nvPr/>
        </p:nvSpPr>
        <p:spPr>
          <a:xfrm>
            <a:off x="11521440" y="6848856"/>
            <a:ext cx="2377440" cy="7315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~45 s</a:t>
            </a:r>
          </a:p>
        </p:txBody>
      </p:sp>
      <p:sp>
        <p:nvSpPr>
          <p:cNvPr id="9024" name="TextBox 9023"/>
          <p:cNvSpPr txBox="1"/>
          <p:nvPr/>
        </p:nvSpPr>
        <p:spPr>
          <a:xfrm>
            <a:off x="13990320" y="7053033"/>
            <a:ext cx="3355848" cy="3231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300" b="1" dirty="0">
                <a:solidFill>
                  <a:srgbClr val="1F3864"/>
                </a:solidFill>
                <a:latin typeface="Calibri"/>
              </a:rPr>
              <a:t>LATENCIA OBSERVADA</a:t>
            </a:r>
          </a:p>
          <a:p>
            <a:r>
              <a:rPr sz="1300" dirty="0">
                <a:solidFill>
                  <a:srgbClr val="FFFFFF"/>
                </a:solidFill>
                <a:latin typeface="Calibri"/>
              </a:rPr>
              <a:t>End-to-end · LLM </a:t>
            </a:r>
            <a:r>
              <a:rPr lang="es-ES_tradnl" sz="1300" dirty="0">
                <a:solidFill>
                  <a:srgbClr val="FFFFFF"/>
                </a:solidFill>
                <a:latin typeface="Calibri"/>
              </a:rPr>
              <a:t>Azure</a:t>
            </a:r>
            <a:endParaRPr sz="10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9025" name="Rectangle 9024"/>
          <p:cNvSpPr/>
          <p:nvPr/>
        </p:nvSpPr>
        <p:spPr>
          <a:xfrm>
            <a:off x="758952" y="7763254"/>
            <a:ext cx="16770096" cy="914400"/>
          </a:xfrm>
          <a:prstGeom prst="rect">
            <a:avLst/>
          </a:prstGeom>
          <a:solidFill>
            <a:srgbClr val="E9EEF7"/>
          </a:solidFill>
          <a:ln w="9525">
            <a:solidFill>
              <a:srgbClr val="1F3864"/>
            </a:solidFill>
          </a:ln>
          <a:effectLst>
            <a:outerShdw blurRad="101600" dist="25400" dir="54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26" name="Rectangle 9025"/>
          <p:cNvSpPr/>
          <p:nvPr/>
        </p:nvSpPr>
        <p:spPr>
          <a:xfrm>
            <a:off x="758952" y="7763254"/>
            <a:ext cx="45719" cy="914400"/>
          </a:xfrm>
          <a:prstGeom prst="rect">
            <a:avLst/>
          </a:prstGeom>
          <a:solidFill>
            <a:srgbClr val="BF9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27" name="TextBox 9026"/>
          <p:cNvSpPr txBox="1"/>
          <p:nvPr/>
        </p:nvSpPr>
        <p:spPr>
          <a:xfrm>
            <a:off x="960120" y="7927845"/>
            <a:ext cx="1645920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1F3864"/>
                </a:solidFill>
                <a:latin typeface="Calibri"/>
              </a:rPr>
              <a:t>Spot-check cualitativo.</a:t>
            </a:r>
            <a:r>
              <a:rPr sz="1300">
                <a:solidFill>
                  <a:srgbClr val="404040"/>
                </a:solidFill>
                <a:latin typeface="Calibri"/>
              </a:rPr>
              <a:t> Sede central en Hortaleza (Madrid), parques eólicos en Castilla y León, instalaciones fotovoltaicas en Andalucía, oficinas regionales y centros logísticos localizados correctamente. La masa de 76 activos refleja la verdadera escala del patrimonio productivo del grupo. </a:t>
            </a:r>
          </a:p>
          <a:p>
            <a:r>
              <a:rPr sz="1300" b="1">
                <a:solidFill>
                  <a:srgbClr val="1F3864"/>
                </a:solidFill>
                <a:latin typeface="Calibri"/>
              </a:rPr>
              <a:t>Caption del dashboard.</a:t>
            </a:r>
            <a:r>
              <a:rPr sz="1300">
                <a:solidFill>
                  <a:srgbClr val="4D4D4D"/>
                </a:solidFill>
                <a:latin typeface="Calibri"/>
              </a:rPr>
              <a:t> Vista del dashboard con marker HQ (Iberdrola, S.A., Hortaleza) — categoría Sede Central · 82 %.</a:t>
            </a:r>
          </a:p>
        </p:txBody>
      </p:sp>
    </p:spTree>
    <p:extLst>
      <p:ext uri="{BB962C8B-B14F-4D97-AF65-F5344CB8AC3E}">
        <p14:creationId xmlns:p14="http://schemas.microsoft.com/office/powerpoint/2010/main" val="398434203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00" name="MS Header Group"/>
          <p:cNvGrpSpPr/>
          <p:nvPr/>
        </p:nvGrpSpPr>
        <p:grpSpPr>
          <a:xfrm>
            <a:off x="282819" y="579094"/>
            <a:ext cx="13786134" cy="1057874"/>
            <a:chOff x="92172" y="275827"/>
            <a:chExt cx="9190756" cy="705249"/>
          </a:xfrm>
        </p:grpSpPr>
        <p:sp>
          <p:nvSpPr>
            <p:cNvPr id="9001" name="MS Title Box"/>
            <p:cNvSpPr/>
            <p:nvPr/>
          </p:nvSpPr>
          <p:spPr>
            <a:xfrm>
              <a:off x="776292" y="404814"/>
              <a:ext cx="8506636" cy="576262"/>
            </a:xfrm>
            <a:prstGeom prst="rect">
              <a:avLst/>
            </a:prstGeom>
            <a:noFill/>
          </p:spPr>
          <p:txBody>
            <a:bodyPr lIns="137160" tIns="68580" rIns="137160" bIns="68580" anchor="ctr"/>
            <a:lstStyle/>
            <a:p>
              <a:pPr>
                <a:lnSpc>
                  <a:spcPts val="3150"/>
                </a:lnSpc>
              </a:pPr>
              <a:r>
                <a:rPr lang="es-ES" sz="3000" b="1">
                  <a:solidFill>
                    <a:srgbClr val="002569"/>
                  </a:solidFill>
                  <a:latin typeface="Arial"/>
                </a:rPr>
                <a:t>Demostración y resultados</a:t>
              </a:r>
            </a:p>
            <a:p>
              <a:r>
                <a:rPr lang="es-ES" sz="2700">
                  <a:solidFill>
                    <a:srgbClr val="E0D399">
                      <a:lumMod val="75000"/>
                    </a:srgbClr>
                  </a:solidFill>
                  <a:latin typeface="Arial"/>
                </a:rPr>
                <a:t>Detalle de confianza · Trazabilidad por activo</a:t>
              </a:r>
            </a:p>
          </p:txBody>
        </p:sp>
        <p:sp>
          <p:nvSpPr>
            <p:cNvPr id="9002" name="MS Number"/>
            <p:cNvSpPr/>
            <p:nvPr/>
          </p:nvSpPr>
          <p:spPr>
            <a:xfrm>
              <a:off x="92172" y="275827"/>
              <a:ext cx="477819" cy="700146"/>
            </a:xfrm>
            <a:prstGeom prst="rect">
              <a:avLst/>
            </a:prstGeom>
            <a:noFill/>
          </p:spPr>
          <p:txBody>
            <a:bodyPr wrap="none" lIns="148523" tIns="74261" rIns="148523" bIns="74261">
              <a:spAutoFit/>
            </a:bodyPr>
            <a:lstStyle/>
            <a:p>
              <a:pPr algn="ctr"/>
              <a:r>
                <a:rPr lang="es-ES" sz="5850" b="1" kern="0">
                  <a:solidFill>
                    <a:srgbClr val="002569"/>
                  </a:solidFill>
                  <a:latin typeface="Arial"/>
                </a:rPr>
                <a:t>5</a:t>
              </a:r>
            </a:p>
          </p:txBody>
        </p:sp>
        <p:cxnSp>
          <p:nvCxnSpPr>
            <p:cNvPr id="9003" name="MS Header Bar"/>
            <p:cNvCxnSpPr/>
            <p:nvPr/>
          </p:nvCxnSpPr>
          <p:spPr>
            <a:xfrm>
              <a:off x="570525" y="404814"/>
              <a:ext cx="0" cy="526647"/>
            </a:xfrm>
            <a:prstGeom prst="line">
              <a:avLst/>
            </a:prstGeom>
            <a:ln>
              <a:solidFill>
                <a:schemeClr val="tx2"/>
              </a:solidFill>
            </a:ln>
          </p:spPr>
        </p:cxnSp>
      </p:grpSp>
      <p:sp>
        <p:nvSpPr>
          <p:cNvPr id="9004" name="TextBox 9003"/>
          <p:cNvSpPr txBox="1"/>
          <p:nvPr/>
        </p:nvSpPr>
        <p:spPr>
          <a:xfrm>
            <a:off x="758952" y="2048256"/>
            <a:ext cx="16770096" cy="8412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800" b="1">
                <a:solidFill>
                  <a:srgbClr val="1F3864"/>
                </a:solidFill>
                <a:latin typeface="Calibri"/>
              </a:rPr>
              <a:t>Auditoría reproducible.</a:t>
            </a:r>
            <a:r>
              <a:rPr sz="1800">
                <a:solidFill>
                  <a:srgbClr val="404040"/>
                </a:solidFill>
                <a:latin typeface="Calibri"/>
              </a:rPr>
              <a:t> Cualquier activo expone su descomposición de score en un dialog: la fuente del análisis, las señales utilizadas con sus pesos y valores, y la nota sobre el suavizado Beta. Dos analistas con el mismo input ven la misma evidencia.</a:t>
            </a:r>
          </a:p>
        </p:txBody>
      </p:sp>
      <p:sp>
        <p:nvSpPr>
          <p:cNvPr id="9005" name="Rounded Rectangle 9004"/>
          <p:cNvSpPr/>
          <p:nvPr/>
        </p:nvSpPr>
        <p:spPr>
          <a:xfrm>
            <a:off x="758952" y="2916936"/>
            <a:ext cx="8229600" cy="55778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E9EEF7"/>
            </a:solidFill>
          </a:ln>
          <a:effectLst>
            <a:outerShdw blurRad="127000" dist="25400" dir="5400000" algn="t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06" name="Rounded Rectangle 9005"/>
          <p:cNvSpPr/>
          <p:nvPr/>
        </p:nvSpPr>
        <p:spPr>
          <a:xfrm>
            <a:off x="9326880" y="2916936"/>
            <a:ext cx="8229600" cy="55778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E9EEF7"/>
            </a:solidFill>
          </a:ln>
          <a:effectLst>
            <a:outerShdw blurRad="127000" dist="25400" dir="5400000" algn="t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07" name="Rectangle 9006"/>
          <p:cNvSpPr/>
          <p:nvPr/>
        </p:nvSpPr>
        <p:spPr>
          <a:xfrm>
            <a:off x="758952" y="2916936"/>
            <a:ext cx="8229600" cy="4572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08" name="Rectangle 9007"/>
          <p:cNvSpPr/>
          <p:nvPr/>
        </p:nvSpPr>
        <p:spPr>
          <a:xfrm>
            <a:off x="9326880" y="2916936"/>
            <a:ext cx="8229600" cy="4572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09" name="Oval 9008"/>
          <p:cNvSpPr/>
          <p:nvPr/>
        </p:nvSpPr>
        <p:spPr>
          <a:xfrm>
            <a:off x="868680" y="2980944"/>
            <a:ext cx="329184" cy="329184"/>
          </a:xfrm>
          <a:prstGeom prst="ellipse">
            <a:avLst/>
          </a:prstGeom>
          <a:solidFill>
            <a:srgbClr val="BF9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10" name="TextBox 9009"/>
          <p:cNvSpPr txBox="1"/>
          <p:nvPr/>
        </p:nvSpPr>
        <p:spPr>
          <a:xfrm>
            <a:off x="868680" y="2999232"/>
            <a:ext cx="329184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300" b="1">
                <a:solidFill>
                  <a:srgbClr val="14284D"/>
                </a:solidFill>
                <a:latin typeface="Calibri"/>
              </a:rPr>
              <a:t>1</a:t>
            </a:r>
          </a:p>
        </p:txBody>
      </p:sp>
      <p:sp>
        <p:nvSpPr>
          <p:cNvPr id="9011" name="Oval 9010"/>
          <p:cNvSpPr/>
          <p:nvPr/>
        </p:nvSpPr>
        <p:spPr>
          <a:xfrm>
            <a:off x="9436608" y="2980944"/>
            <a:ext cx="329184" cy="329184"/>
          </a:xfrm>
          <a:prstGeom prst="ellipse">
            <a:avLst/>
          </a:prstGeom>
          <a:solidFill>
            <a:srgbClr val="BF9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12" name="TextBox 9011"/>
          <p:cNvSpPr txBox="1"/>
          <p:nvPr/>
        </p:nvSpPr>
        <p:spPr>
          <a:xfrm>
            <a:off x="9436608" y="2999232"/>
            <a:ext cx="329184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300" b="1">
                <a:solidFill>
                  <a:srgbClr val="14284D"/>
                </a:solidFill>
                <a:latin typeface="Calibri"/>
              </a:rPr>
              <a:t>2</a:t>
            </a:r>
          </a:p>
        </p:txBody>
      </p:sp>
      <p:sp>
        <p:nvSpPr>
          <p:cNvPr id="9013" name="TextBox 9012"/>
          <p:cNvSpPr txBox="1"/>
          <p:nvPr/>
        </p:nvSpPr>
        <p:spPr>
          <a:xfrm>
            <a:off x="1307592" y="3008376"/>
            <a:ext cx="75895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POPUP DEL MARKER · DASHBOARD GeoAssets</a:t>
            </a:r>
          </a:p>
        </p:txBody>
      </p:sp>
      <p:sp>
        <p:nvSpPr>
          <p:cNvPr id="9014" name="TextBox 9013"/>
          <p:cNvSpPr txBox="1"/>
          <p:nvPr/>
        </p:nvSpPr>
        <p:spPr>
          <a:xfrm>
            <a:off x="9875519" y="3008376"/>
            <a:ext cx="75895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DETALLE DE CONFIANZA · AUDITORÍA POR ACTIVO</a:t>
            </a:r>
          </a:p>
        </p:txBody>
      </p:sp>
      <p:pic>
        <p:nvPicPr>
          <p:cNvPr id="9015" name="Picture 90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4752" y="3511296"/>
            <a:ext cx="6858000" cy="4286250"/>
          </a:xfrm>
          <a:prstGeom prst="rect">
            <a:avLst/>
          </a:prstGeom>
          <a:effectLst>
            <a:outerShdw blurRad="101600" dist="25400" dir="5400000" algn="tl" rotWithShape="0">
              <a:srgbClr val="000000">
                <a:alpha val="18000"/>
              </a:srgbClr>
            </a:outerShdw>
          </a:effectLst>
        </p:spPr>
      </p:pic>
      <p:sp>
        <p:nvSpPr>
          <p:cNvPr id="9071" name="Rectangle 9070"/>
          <p:cNvSpPr/>
          <p:nvPr/>
        </p:nvSpPr>
        <p:spPr>
          <a:xfrm>
            <a:off x="758952" y="8677655"/>
            <a:ext cx="16770096" cy="594360"/>
          </a:xfrm>
          <a:prstGeom prst="rect">
            <a:avLst/>
          </a:prstGeom>
          <a:solidFill>
            <a:srgbClr val="1F3864"/>
          </a:solidFill>
          <a:ln>
            <a:noFill/>
          </a:ln>
          <a:effectLst>
            <a:outerShdw blurRad="101600" dist="25400" dir="54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72" name="Rectangle 9071"/>
          <p:cNvSpPr/>
          <p:nvPr/>
        </p:nvSpPr>
        <p:spPr>
          <a:xfrm>
            <a:off x="758952" y="8677655"/>
            <a:ext cx="91440" cy="594360"/>
          </a:xfrm>
          <a:prstGeom prst="rect">
            <a:avLst/>
          </a:prstGeom>
          <a:solidFill>
            <a:srgbClr val="BF9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73" name="TextBox 9072"/>
          <p:cNvSpPr txBox="1"/>
          <p:nvPr/>
        </p:nvSpPr>
        <p:spPr>
          <a:xfrm>
            <a:off x="1051560" y="8769095"/>
            <a:ext cx="164592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Trazabilidad por activo · 6 señales con pesos explícitos · Score final 83 % suavizado con distribución Beta · Misma evidencia para todos los analistas</a:t>
            </a:r>
          </a:p>
        </p:txBody>
      </p:sp>
      <p:sp>
        <p:nvSpPr>
          <p:cNvPr id="9074" name="TextBox 9073"/>
          <p:cNvSpPr txBox="1"/>
          <p:nvPr/>
        </p:nvSpPr>
        <p:spPr>
          <a:xfrm>
            <a:off x="1033271" y="7904225"/>
            <a:ext cx="76809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dirty="0">
                <a:solidFill>
                  <a:srgbClr val="1F3864"/>
                </a:solidFill>
                <a:latin typeface="Calibri"/>
              </a:rPr>
              <a:t>1 · Click marker  →  popup con </a:t>
            </a:r>
            <a:r>
              <a:rPr sz="1300" b="1" dirty="0" err="1">
                <a:solidFill>
                  <a:srgbClr val="1F3864"/>
                </a:solidFill>
                <a:latin typeface="Calibri"/>
              </a:rPr>
              <a:t>resumen</a:t>
            </a:r>
            <a:r>
              <a:rPr sz="1300" b="1" dirty="0">
                <a:solidFill>
                  <a:srgbClr val="1F3864"/>
                </a:solidFill>
                <a:latin typeface="Calibri"/>
              </a:rPr>
              <a:t> del </a:t>
            </a:r>
            <a:r>
              <a:rPr sz="1300" b="1" dirty="0" err="1">
                <a:solidFill>
                  <a:srgbClr val="1F3864"/>
                </a:solidFill>
                <a:latin typeface="Calibri"/>
              </a:rPr>
              <a:t>activo</a:t>
            </a:r>
            <a:endParaRPr sz="1300" b="1" dirty="0">
              <a:solidFill>
                <a:srgbClr val="1F3864"/>
              </a:solidFill>
              <a:latin typeface="Calibri"/>
            </a:endParaRPr>
          </a:p>
        </p:txBody>
      </p:sp>
      <p:sp>
        <p:nvSpPr>
          <p:cNvPr id="9075" name="TextBox 9074"/>
          <p:cNvSpPr txBox="1"/>
          <p:nvPr/>
        </p:nvSpPr>
        <p:spPr>
          <a:xfrm>
            <a:off x="1040893" y="8102346"/>
            <a:ext cx="7074408" cy="4008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i="1" dirty="0">
                <a:solidFill>
                  <a:srgbClr val="666666"/>
                </a:solidFill>
                <a:latin typeface="Calibri"/>
              </a:rPr>
              <a:t>Iberdrola, S.A. — </a:t>
            </a:r>
            <a:r>
              <a:rPr sz="1300" i="1" dirty="0" err="1">
                <a:solidFill>
                  <a:srgbClr val="666666"/>
                </a:solidFill>
                <a:latin typeface="Calibri"/>
              </a:rPr>
              <a:t>sede</a:t>
            </a:r>
            <a:r>
              <a:rPr sz="1300" i="1" dirty="0">
                <a:solidFill>
                  <a:srgbClr val="666666"/>
                </a:solidFill>
                <a:latin typeface="Calibri"/>
              </a:rPr>
              <a:t> central · C. de Tomás Redondo 1, </a:t>
            </a:r>
            <a:r>
              <a:rPr sz="1300" i="1" dirty="0" err="1">
                <a:solidFill>
                  <a:srgbClr val="666666"/>
                </a:solidFill>
                <a:latin typeface="Calibri"/>
              </a:rPr>
              <a:t>Hortaleza</a:t>
            </a:r>
            <a:r>
              <a:rPr sz="1300" i="1" dirty="0">
                <a:solidFill>
                  <a:srgbClr val="666666"/>
                </a:solidFill>
                <a:latin typeface="Calibri"/>
              </a:rPr>
              <a:t> (Madrid). Para </a:t>
            </a:r>
            <a:r>
              <a:rPr sz="1300" i="1" dirty="0" err="1">
                <a:solidFill>
                  <a:srgbClr val="666666"/>
                </a:solidFill>
                <a:latin typeface="Calibri"/>
              </a:rPr>
              <a:t>auditar</a:t>
            </a:r>
            <a:r>
              <a:rPr sz="1300" i="1" dirty="0">
                <a:solidFill>
                  <a:srgbClr val="666666"/>
                </a:solidFill>
                <a:latin typeface="Calibri"/>
              </a:rPr>
              <a:t> </a:t>
            </a:r>
            <a:r>
              <a:rPr sz="1300" i="1" dirty="0" err="1">
                <a:solidFill>
                  <a:srgbClr val="666666"/>
                </a:solidFill>
                <a:latin typeface="Calibri"/>
              </a:rPr>
              <a:t>el</a:t>
            </a:r>
            <a:r>
              <a:rPr sz="1300" i="1" dirty="0">
                <a:solidFill>
                  <a:srgbClr val="666666"/>
                </a:solidFill>
                <a:latin typeface="Calibri"/>
              </a:rPr>
              <a:t> </a:t>
            </a:r>
            <a:r>
              <a:rPr sz="1300" i="1" dirty="0" err="1">
                <a:solidFill>
                  <a:srgbClr val="666666"/>
                </a:solidFill>
                <a:latin typeface="Calibri"/>
              </a:rPr>
              <a:t>detalle</a:t>
            </a:r>
            <a:r>
              <a:rPr sz="1300" i="1" dirty="0">
                <a:solidFill>
                  <a:srgbClr val="666666"/>
                </a:solidFill>
                <a:latin typeface="Calibri"/>
              </a:rPr>
              <a:t>, </a:t>
            </a:r>
            <a:r>
              <a:rPr sz="1300" i="1" dirty="0" err="1">
                <a:solidFill>
                  <a:srgbClr val="666666"/>
                </a:solidFill>
                <a:latin typeface="Calibri"/>
              </a:rPr>
              <a:t>abre</a:t>
            </a:r>
            <a:r>
              <a:rPr sz="1300" i="1" dirty="0">
                <a:solidFill>
                  <a:srgbClr val="666666"/>
                </a:solidFill>
                <a:latin typeface="Calibri"/>
              </a:rPr>
              <a:t> </a:t>
            </a:r>
            <a:r>
              <a:rPr sz="1300" i="1" dirty="0" err="1">
                <a:solidFill>
                  <a:srgbClr val="666666"/>
                </a:solidFill>
                <a:latin typeface="Calibri"/>
              </a:rPr>
              <a:t>el</a:t>
            </a:r>
            <a:r>
              <a:rPr sz="1300" i="1" dirty="0">
                <a:solidFill>
                  <a:srgbClr val="666666"/>
                </a:solidFill>
                <a:latin typeface="Calibri"/>
              </a:rPr>
              <a:t> dialog de scoring</a:t>
            </a:r>
          </a:p>
        </p:txBody>
      </p:sp>
      <p:sp>
        <p:nvSpPr>
          <p:cNvPr id="9076" name="Rounded Rectangle 9075"/>
          <p:cNvSpPr/>
          <p:nvPr/>
        </p:nvSpPr>
        <p:spPr>
          <a:xfrm>
            <a:off x="13818218" y="3511296"/>
            <a:ext cx="3463941" cy="1508760"/>
          </a:xfrm>
          <a:prstGeom prst="roundRect">
            <a:avLst>
              <a:gd name="adj" fmla="val 5000"/>
            </a:avLst>
          </a:prstGeom>
          <a:solidFill>
            <a:srgbClr val="E9EEF7"/>
          </a:solidFill>
          <a:ln w="635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77" name="TextBox 9076"/>
          <p:cNvSpPr txBox="1"/>
          <p:nvPr/>
        </p:nvSpPr>
        <p:spPr>
          <a:xfrm>
            <a:off x="14001098" y="3602736"/>
            <a:ext cx="3098181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14284D"/>
                </a:solidFill>
                <a:latin typeface="Calibri"/>
              </a:rPr>
              <a:t>TIERS DE CONFIANZA</a:t>
            </a:r>
          </a:p>
        </p:txBody>
      </p:sp>
      <p:sp>
        <p:nvSpPr>
          <p:cNvPr id="9078" name="Oval 9077"/>
          <p:cNvSpPr/>
          <p:nvPr/>
        </p:nvSpPr>
        <p:spPr>
          <a:xfrm>
            <a:off x="14046818" y="3931920"/>
            <a:ext cx="164592" cy="164592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79" name="TextBox 9078"/>
          <p:cNvSpPr txBox="1"/>
          <p:nvPr/>
        </p:nvSpPr>
        <p:spPr>
          <a:xfrm>
            <a:off x="14275418" y="3913632"/>
            <a:ext cx="77724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Calibri"/>
              </a:rPr>
              <a:t>HIGH</a:t>
            </a:r>
          </a:p>
        </p:txBody>
      </p:sp>
      <p:sp>
        <p:nvSpPr>
          <p:cNvPr id="9080" name="TextBox 9079"/>
          <p:cNvSpPr txBox="1"/>
          <p:nvPr/>
        </p:nvSpPr>
        <p:spPr>
          <a:xfrm>
            <a:off x="15235538" y="3913632"/>
            <a:ext cx="1955181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4D4D4D"/>
                </a:solidFill>
                <a:latin typeface="Calibri"/>
              </a:rPr>
              <a:t>≥ 80 %</a:t>
            </a:r>
          </a:p>
        </p:txBody>
      </p:sp>
      <p:sp>
        <p:nvSpPr>
          <p:cNvPr id="9081" name="Oval 9080"/>
          <p:cNvSpPr/>
          <p:nvPr/>
        </p:nvSpPr>
        <p:spPr>
          <a:xfrm>
            <a:off x="14046818" y="4297680"/>
            <a:ext cx="164592" cy="164592"/>
          </a:xfrm>
          <a:prstGeom prst="ellipse">
            <a:avLst/>
          </a:prstGeom>
          <a:solidFill>
            <a:srgbClr val="BF9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82" name="TextBox 9081"/>
          <p:cNvSpPr txBox="1"/>
          <p:nvPr/>
        </p:nvSpPr>
        <p:spPr>
          <a:xfrm>
            <a:off x="14275418" y="4279392"/>
            <a:ext cx="77724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BF9000"/>
                </a:solidFill>
                <a:latin typeface="Calibri"/>
              </a:rPr>
              <a:t>MEDIUM</a:t>
            </a:r>
          </a:p>
        </p:txBody>
      </p:sp>
      <p:sp>
        <p:nvSpPr>
          <p:cNvPr id="9083" name="TextBox 9082"/>
          <p:cNvSpPr txBox="1"/>
          <p:nvPr/>
        </p:nvSpPr>
        <p:spPr>
          <a:xfrm>
            <a:off x="15235538" y="4279392"/>
            <a:ext cx="1955181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4D4D4D"/>
                </a:solidFill>
                <a:latin typeface="Calibri"/>
              </a:rPr>
              <a:t>50 – 79 %</a:t>
            </a:r>
          </a:p>
        </p:txBody>
      </p:sp>
      <p:sp>
        <p:nvSpPr>
          <p:cNvPr id="9084" name="Oval 9083"/>
          <p:cNvSpPr/>
          <p:nvPr/>
        </p:nvSpPr>
        <p:spPr>
          <a:xfrm>
            <a:off x="14046818" y="4663440"/>
            <a:ext cx="164592" cy="164592"/>
          </a:xfrm>
          <a:prstGeom prst="ellipse">
            <a:avLst/>
          </a:prstGeom>
          <a:solidFill>
            <a:srgbClr val="C04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85" name="TextBox 9084"/>
          <p:cNvSpPr txBox="1"/>
          <p:nvPr/>
        </p:nvSpPr>
        <p:spPr>
          <a:xfrm>
            <a:off x="14275418" y="4645152"/>
            <a:ext cx="77724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C04F4F"/>
                </a:solidFill>
                <a:latin typeface="Calibri"/>
              </a:rPr>
              <a:t>LOW</a:t>
            </a:r>
          </a:p>
        </p:txBody>
      </p:sp>
      <p:sp>
        <p:nvSpPr>
          <p:cNvPr id="9086" name="TextBox 9085"/>
          <p:cNvSpPr txBox="1"/>
          <p:nvPr/>
        </p:nvSpPr>
        <p:spPr>
          <a:xfrm>
            <a:off x="15235538" y="4645152"/>
            <a:ext cx="1955181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4D4D4D"/>
                </a:solidFill>
                <a:latin typeface="Calibri"/>
              </a:rPr>
              <a:t>&lt; 50 %</a:t>
            </a:r>
          </a:p>
        </p:txBody>
      </p:sp>
      <p:sp>
        <p:nvSpPr>
          <p:cNvPr id="9087" name="Rounded Rectangle 9086"/>
          <p:cNvSpPr/>
          <p:nvPr/>
        </p:nvSpPr>
        <p:spPr>
          <a:xfrm>
            <a:off x="13818218" y="5202936"/>
            <a:ext cx="3463941" cy="1691640"/>
          </a:xfrm>
          <a:prstGeom prst="roundRect">
            <a:avLst>
              <a:gd name="adj" fmla="val 5000"/>
            </a:avLst>
          </a:prstGeom>
          <a:solidFill>
            <a:srgbClr val="E9EEF7"/>
          </a:solidFill>
          <a:ln w="635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88" name="TextBox 9087"/>
          <p:cNvSpPr txBox="1"/>
          <p:nvPr/>
        </p:nvSpPr>
        <p:spPr>
          <a:xfrm>
            <a:off x="14001098" y="5294376"/>
            <a:ext cx="3098181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14284D"/>
                </a:solidFill>
                <a:latin typeface="Calibri"/>
              </a:rPr>
              <a:t>DISTRIBUCIÓN · 76 ACTIVOS</a:t>
            </a:r>
          </a:p>
        </p:txBody>
      </p:sp>
      <p:sp>
        <p:nvSpPr>
          <p:cNvPr id="9089" name="TextBox 9088"/>
          <p:cNvSpPr txBox="1"/>
          <p:nvPr/>
        </p:nvSpPr>
        <p:spPr>
          <a:xfrm>
            <a:off x="13909658" y="5650992"/>
            <a:ext cx="77724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4D4D4D"/>
                </a:solidFill>
                <a:latin typeface="Calibri"/>
              </a:rPr>
              <a:t>HIGH</a:t>
            </a:r>
          </a:p>
        </p:txBody>
      </p:sp>
      <p:sp>
        <p:nvSpPr>
          <p:cNvPr id="9090" name="Rectangle 9089"/>
          <p:cNvSpPr/>
          <p:nvPr/>
        </p:nvSpPr>
        <p:spPr>
          <a:xfrm>
            <a:off x="14721840" y="5705856"/>
            <a:ext cx="2103120" cy="91440"/>
          </a:xfrm>
          <a:prstGeom prst="rect">
            <a:avLst/>
          </a:prstGeom>
          <a:solidFill>
            <a:srgbClr val="F0F0F0"/>
          </a:solidFill>
          <a:ln w="317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91" name="Rectangle 9090"/>
          <p:cNvSpPr/>
          <p:nvPr/>
        </p:nvSpPr>
        <p:spPr>
          <a:xfrm>
            <a:off x="14721840" y="5705856"/>
            <a:ext cx="1932596" cy="914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92" name="TextBox 9091"/>
          <p:cNvSpPr txBox="1"/>
          <p:nvPr/>
        </p:nvSpPr>
        <p:spPr>
          <a:xfrm>
            <a:off x="16870680" y="5632704"/>
            <a:ext cx="36576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1" i="0">
                <a:solidFill>
                  <a:srgbClr val="2E7D32"/>
                </a:solidFill>
                <a:latin typeface="Calibri"/>
              </a:rPr>
              <a:t>70</a:t>
            </a:r>
          </a:p>
        </p:txBody>
      </p:sp>
      <p:sp>
        <p:nvSpPr>
          <p:cNvPr id="9093" name="TextBox 9092"/>
          <p:cNvSpPr txBox="1"/>
          <p:nvPr/>
        </p:nvSpPr>
        <p:spPr>
          <a:xfrm>
            <a:off x="13909658" y="6062472"/>
            <a:ext cx="77724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4D4D4D"/>
                </a:solidFill>
                <a:latin typeface="Calibri"/>
              </a:rPr>
              <a:t>MEDIUM</a:t>
            </a:r>
          </a:p>
        </p:txBody>
      </p:sp>
      <p:sp>
        <p:nvSpPr>
          <p:cNvPr id="9094" name="Rectangle 9093"/>
          <p:cNvSpPr/>
          <p:nvPr/>
        </p:nvSpPr>
        <p:spPr>
          <a:xfrm>
            <a:off x="14721840" y="6117336"/>
            <a:ext cx="2103120" cy="91440"/>
          </a:xfrm>
          <a:prstGeom prst="rect">
            <a:avLst/>
          </a:prstGeom>
          <a:solidFill>
            <a:srgbClr val="F0F0F0"/>
          </a:solidFill>
          <a:ln w="317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95" name="Rectangle 9094"/>
          <p:cNvSpPr/>
          <p:nvPr/>
        </p:nvSpPr>
        <p:spPr>
          <a:xfrm>
            <a:off x="14721840" y="6117336"/>
            <a:ext cx="162403" cy="91440"/>
          </a:xfrm>
          <a:prstGeom prst="rect">
            <a:avLst/>
          </a:prstGeom>
          <a:solidFill>
            <a:srgbClr val="BF9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96" name="TextBox 9095"/>
          <p:cNvSpPr txBox="1"/>
          <p:nvPr/>
        </p:nvSpPr>
        <p:spPr>
          <a:xfrm>
            <a:off x="16870680" y="6044184"/>
            <a:ext cx="36576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1" i="0">
                <a:solidFill>
                  <a:srgbClr val="BF9000"/>
                </a:solidFill>
                <a:latin typeface="Calibri"/>
              </a:rPr>
              <a:t>6</a:t>
            </a:r>
          </a:p>
        </p:txBody>
      </p:sp>
      <p:sp>
        <p:nvSpPr>
          <p:cNvPr id="9097" name="TextBox 9096"/>
          <p:cNvSpPr txBox="1"/>
          <p:nvPr/>
        </p:nvSpPr>
        <p:spPr>
          <a:xfrm>
            <a:off x="13909658" y="6473952"/>
            <a:ext cx="77724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4D4D4D"/>
                </a:solidFill>
                <a:latin typeface="Calibri"/>
              </a:rPr>
              <a:t>LOW</a:t>
            </a:r>
          </a:p>
        </p:txBody>
      </p:sp>
      <p:sp>
        <p:nvSpPr>
          <p:cNvPr id="9098" name="Rectangle 9097"/>
          <p:cNvSpPr/>
          <p:nvPr/>
        </p:nvSpPr>
        <p:spPr>
          <a:xfrm>
            <a:off x="14721840" y="6528816"/>
            <a:ext cx="2103120" cy="91440"/>
          </a:xfrm>
          <a:prstGeom prst="rect">
            <a:avLst/>
          </a:prstGeom>
          <a:solidFill>
            <a:srgbClr val="F0F0F0"/>
          </a:solidFill>
          <a:ln w="317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99" name="TextBox 9098"/>
          <p:cNvSpPr txBox="1"/>
          <p:nvPr/>
        </p:nvSpPr>
        <p:spPr>
          <a:xfrm>
            <a:off x="16870680" y="6455664"/>
            <a:ext cx="36576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1" i="0">
                <a:solidFill>
                  <a:srgbClr val="C04F4F"/>
                </a:solidFill>
                <a:latin typeface="Calibri"/>
              </a:rPr>
              <a:t>0</a:t>
            </a:r>
          </a:p>
        </p:txBody>
      </p:sp>
      <p:sp>
        <p:nvSpPr>
          <p:cNvPr id="9100" name="Rounded Rectangle 9099"/>
          <p:cNvSpPr/>
          <p:nvPr/>
        </p:nvSpPr>
        <p:spPr>
          <a:xfrm>
            <a:off x="13818218" y="7077456"/>
            <a:ext cx="3463941" cy="1097280"/>
          </a:xfrm>
          <a:prstGeom prst="roundRect">
            <a:avLst>
              <a:gd name="adj" fmla="val 5000"/>
            </a:avLst>
          </a:prstGeom>
          <a:solidFill>
            <a:srgbClr val="FAF1D9"/>
          </a:solidFill>
          <a:ln w="6350">
            <a:solidFill>
              <a:srgbClr val="BF9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01" name="TextBox 9100"/>
          <p:cNvSpPr txBox="1"/>
          <p:nvPr/>
        </p:nvSpPr>
        <p:spPr>
          <a:xfrm>
            <a:off x="14001098" y="7168896"/>
            <a:ext cx="3098181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14284D"/>
                </a:solidFill>
                <a:latin typeface="Calibri"/>
              </a:rPr>
              <a:t>SUAVIZADO BETA</a:t>
            </a:r>
          </a:p>
        </p:txBody>
      </p:sp>
      <p:sp>
        <p:nvSpPr>
          <p:cNvPr id="9102" name="TextBox 9101"/>
          <p:cNvSpPr txBox="1"/>
          <p:nvPr/>
        </p:nvSpPr>
        <p:spPr>
          <a:xfrm>
            <a:off x="14001098" y="7443216"/>
            <a:ext cx="3098181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1" i="0">
                <a:solidFill>
                  <a:srgbClr val="14284D"/>
                </a:solidFill>
                <a:latin typeface="Calibri"/>
              </a:rPr>
              <a:t>Σ (wᵢ × vᵢ)</a:t>
            </a:r>
          </a:p>
        </p:txBody>
      </p:sp>
      <p:sp>
        <p:nvSpPr>
          <p:cNvPr id="9103" name="Right Arrow 9102"/>
          <p:cNvSpPr/>
          <p:nvPr/>
        </p:nvSpPr>
        <p:spPr>
          <a:xfrm>
            <a:off x="14092538" y="7790688"/>
            <a:ext cx="502920" cy="182880"/>
          </a:xfrm>
          <a:prstGeom prst="rightArrow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04" name="TextBox 9103"/>
          <p:cNvSpPr txBox="1"/>
          <p:nvPr/>
        </p:nvSpPr>
        <p:spPr>
          <a:xfrm>
            <a:off x="14686898" y="775411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1" i="0">
                <a:solidFill>
                  <a:srgbClr val="14284D"/>
                </a:solidFill>
                <a:latin typeface="Calibri"/>
              </a:rPr>
              <a:t>β</a:t>
            </a:r>
          </a:p>
        </p:txBody>
      </p:sp>
      <p:sp>
        <p:nvSpPr>
          <p:cNvPr id="9105" name="Right Arrow 9104"/>
          <p:cNvSpPr/>
          <p:nvPr/>
        </p:nvSpPr>
        <p:spPr>
          <a:xfrm>
            <a:off x="15189818" y="7790688"/>
            <a:ext cx="502920" cy="182880"/>
          </a:xfrm>
          <a:prstGeom prst="rightArrow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06" name="TextBox 9105"/>
          <p:cNvSpPr txBox="1"/>
          <p:nvPr/>
        </p:nvSpPr>
        <p:spPr>
          <a:xfrm>
            <a:off x="15928958" y="7774686"/>
            <a:ext cx="137160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 dirty="0">
                <a:solidFill>
                  <a:srgbClr val="2E7D32"/>
                </a:solidFill>
                <a:latin typeface="Calibri"/>
              </a:rPr>
              <a:t>83 %</a:t>
            </a:r>
          </a:p>
        </p:txBody>
      </p:sp>
      <p:sp>
        <p:nvSpPr>
          <p:cNvPr id="9107" name="TextBox 9106"/>
          <p:cNvSpPr txBox="1"/>
          <p:nvPr/>
        </p:nvSpPr>
        <p:spPr>
          <a:xfrm>
            <a:off x="9601200" y="8140446"/>
            <a:ext cx="3942698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 dirty="0">
                <a:solidFill>
                  <a:srgbClr val="1F3864"/>
                </a:solidFill>
                <a:latin typeface="Calibri"/>
              </a:rPr>
              <a:t>2 · </a:t>
            </a:r>
            <a:r>
              <a:rPr sz="1300" b="1" i="0" dirty="0" err="1">
                <a:solidFill>
                  <a:srgbClr val="1F3864"/>
                </a:solidFill>
                <a:latin typeface="Calibri"/>
              </a:rPr>
              <a:t>Detalle</a:t>
            </a:r>
            <a:r>
              <a:rPr sz="1300" b="1" i="0" dirty="0">
                <a:solidFill>
                  <a:srgbClr val="1F3864"/>
                </a:solidFill>
                <a:latin typeface="Calibri"/>
              </a:rPr>
              <a:t> de confianza — dialog de </a:t>
            </a:r>
            <a:r>
              <a:rPr sz="1300" b="1" i="0" dirty="0" err="1">
                <a:solidFill>
                  <a:srgbClr val="1F3864"/>
                </a:solidFill>
                <a:latin typeface="Calibri"/>
              </a:rPr>
              <a:t>auditoría</a:t>
            </a:r>
            <a:endParaRPr sz="1300" b="1" i="0" dirty="0">
              <a:solidFill>
                <a:srgbClr val="1F3864"/>
              </a:solidFill>
              <a:latin typeface="Calibri"/>
            </a:endParaRPr>
          </a:p>
        </p:txBody>
      </p:sp>
      <p:pic>
        <p:nvPicPr>
          <p:cNvPr id="9108" name="Picture 910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0" y="3511296"/>
            <a:ext cx="3942698" cy="4462272"/>
          </a:xfrm>
          <a:prstGeom prst="rect">
            <a:avLst/>
          </a:prstGeom>
          <a:effectLst>
            <a:outerShdw blurRad="127000" dist="38100" dir="5400000" algn="tl" rotWithShape="0">
              <a:srgbClr val="000000">
                <a:alpha val="22000"/>
              </a:srgbClr>
            </a:outerShdw>
          </a:effectLst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58952" y="2878835"/>
            <a:ext cx="10058400" cy="4754880"/>
          </a:xfrm>
          <a:prstGeom prst="rect">
            <a:avLst/>
          </a:prstGeom>
          <a:effectLst>
            <a:outerShdw blurRad="152400" dist="38100" dir="5400000" algn="tl" rotWithShape="0">
              <a:srgbClr val="000000">
                <a:alpha val="22000"/>
              </a:srgbClr>
            </a:outerShdw>
          </a:effectLst>
        </p:spPr>
      </p:pic>
      <p:grpSp>
        <p:nvGrpSpPr>
          <p:cNvPr id="9000" name="MS Header Group"/>
          <p:cNvGrpSpPr/>
          <p:nvPr/>
        </p:nvGrpSpPr>
        <p:grpSpPr>
          <a:xfrm>
            <a:off x="282819" y="579094"/>
            <a:ext cx="13786134" cy="1057874"/>
            <a:chOff x="92172" y="275827"/>
            <a:chExt cx="9190756" cy="705249"/>
          </a:xfrm>
        </p:grpSpPr>
        <p:sp>
          <p:nvSpPr>
            <p:cNvPr id="9001" name="MS Title Box"/>
            <p:cNvSpPr/>
            <p:nvPr/>
          </p:nvSpPr>
          <p:spPr>
            <a:xfrm>
              <a:off x="776292" y="404814"/>
              <a:ext cx="8506636" cy="576262"/>
            </a:xfrm>
            <a:prstGeom prst="rect">
              <a:avLst/>
            </a:prstGeom>
            <a:noFill/>
          </p:spPr>
          <p:txBody>
            <a:bodyPr lIns="137160" tIns="68580" rIns="137160" bIns="68580" anchor="ctr"/>
            <a:lstStyle/>
            <a:p>
              <a:pPr>
                <a:lnSpc>
                  <a:spcPts val="3150"/>
                </a:lnSpc>
              </a:pPr>
              <a:r>
                <a:rPr lang="es-ES" sz="3000" b="1">
                  <a:solidFill>
                    <a:srgbClr val="002569"/>
                  </a:solidFill>
                  <a:latin typeface="Arial"/>
                </a:rPr>
                <a:t>Demostración y resultados</a:t>
              </a:r>
            </a:p>
            <a:p>
              <a:r>
                <a:rPr lang="es-ES" sz="2700">
                  <a:solidFill>
                    <a:srgbClr val="E0D399">
                      <a:lumMod val="75000"/>
                    </a:srgbClr>
                  </a:solidFill>
                  <a:latin typeface="Arial"/>
                </a:rPr>
                <a:t>Repsol — 18 activos extraídos, todos en tier HIGH</a:t>
              </a:r>
            </a:p>
          </p:txBody>
        </p:sp>
        <p:sp>
          <p:nvSpPr>
            <p:cNvPr id="9002" name="MS Number"/>
            <p:cNvSpPr/>
            <p:nvPr/>
          </p:nvSpPr>
          <p:spPr>
            <a:xfrm>
              <a:off x="92172" y="275827"/>
              <a:ext cx="477819" cy="700146"/>
            </a:xfrm>
            <a:prstGeom prst="rect">
              <a:avLst/>
            </a:prstGeom>
            <a:noFill/>
          </p:spPr>
          <p:txBody>
            <a:bodyPr wrap="none" lIns="148523" tIns="74261" rIns="148523" bIns="74261">
              <a:spAutoFit/>
            </a:bodyPr>
            <a:lstStyle/>
            <a:p>
              <a:pPr algn="ctr"/>
              <a:r>
                <a:rPr lang="es-ES" sz="5850" b="1" kern="0">
                  <a:solidFill>
                    <a:srgbClr val="002569"/>
                  </a:solidFill>
                  <a:latin typeface="Arial"/>
                </a:rPr>
                <a:t>5</a:t>
              </a:r>
            </a:p>
          </p:txBody>
        </p:sp>
        <p:cxnSp>
          <p:nvCxnSpPr>
            <p:cNvPr id="9003" name="MS Header Bar"/>
            <p:cNvCxnSpPr/>
            <p:nvPr/>
          </p:nvCxnSpPr>
          <p:spPr>
            <a:xfrm>
              <a:off x="570525" y="404814"/>
              <a:ext cx="0" cy="526647"/>
            </a:xfrm>
            <a:prstGeom prst="line">
              <a:avLst/>
            </a:prstGeom>
            <a:ln>
              <a:solidFill>
                <a:schemeClr val="tx2"/>
              </a:solidFill>
            </a:ln>
          </p:spPr>
        </p:cxnSp>
      </p:grpSp>
      <p:sp>
        <p:nvSpPr>
          <p:cNvPr id="9004" name="TextBox 9003"/>
          <p:cNvSpPr txBox="1"/>
          <p:nvPr/>
        </p:nvSpPr>
        <p:spPr>
          <a:xfrm>
            <a:off x="758952" y="2048256"/>
            <a:ext cx="16770096" cy="8412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800" b="1">
                <a:solidFill>
                  <a:srgbClr val="1F3864"/>
                </a:solidFill>
                <a:latin typeface="Calibri"/>
              </a:rPr>
              <a:t>Pipeline documento sobre un .docx corporativo:</a:t>
            </a:r>
            <a:r>
              <a:rPr sz="1800">
                <a:solidFill>
                  <a:srgbClr val="404040"/>
                </a:solidFill>
                <a:latin typeface="Calibri"/>
              </a:rPr>
              <a:t> extracción IA por chunks, deduplicación, geocoding y scoring sin paso por Maps. Los markers se concentran en la península (refinerías, sede, terminales, laboratorio I+D) más La Pampilla en Perú.</a:t>
            </a:r>
          </a:p>
        </p:txBody>
      </p:sp>
      <p:sp>
        <p:nvSpPr>
          <p:cNvPr id="9005" name="Rectangle 9004"/>
          <p:cNvSpPr/>
          <p:nvPr/>
        </p:nvSpPr>
        <p:spPr>
          <a:xfrm>
            <a:off x="11247120" y="2878835"/>
            <a:ext cx="6281928" cy="1280160"/>
          </a:xfrm>
          <a:prstGeom prst="rect">
            <a:avLst/>
          </a:prstGeom>
          <a:solidFill>
            <a:srgbClr val="1F3864"/>
          </a:solidFill>
          <a:ln>
            <a:noFill/>
          </a:ln>
          <a:effectLst>
            <a:outerShdw blurRad="127000" dist="38100" dir="5400000" algn="tl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06" name="TextBox 9005"/>
          <p:cNvSpPr txBox="1"/>
          <p:nvPr/>
        </p:nvSpPr>
        <p:spPr>
          <a:xfrm>
            <a:off x="11521440" y="2924556"/>
            <a:ext cx="2560320" cy="10972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6000" b="1">
                <a:solidFill>
                  <a:srgbClr val="FFFFFF"/>
                </a:solidFill>
                <a:latin typeface="Calibri"/>
              </a:rPr>
              <a:t>18</a:t>
            </a:r>
          </a:p>
        </p:txBody>
      </p:sp>
      <p:sp>
        <p:nvSpPr>
          <p:cNvPr id="9007" name="TextBox 9006"/>
          <p:cNvSpPr txBox="1"/>
          <p:nvPr/>
        </p:nvSpPr>
        <p:spPr>
          <a:xfrm>
            <a:off x="14081760" y="3015996"/>
            <a:ext cx="3172968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300" b="1">
                <a:solidFill>
                  <a:srgbClr val="BF9000"/>
                </a:solidFill>
                <a:latin typeface="Calibri"/>
              </a:rPr>
              <a:t>ACTIVOS EXTRAÍDOS</a:t>
            </a:r>
          </a:p>
          <a:p>
            <a:r>
              <a:rPr sz="1300">
                <a:solidFill>
                  <a:srgbClr val="FFFFFF"/>
                </a:solidFill>
                <a:latin typeface="Calibri"/>
              </a:rPr>
              <a:t>De 6 194 caracteres del .docx</a:t>
            </a:r>
          </a:p>
        </p:txBody>
      </p:sp>
      <p:sp>
        <p:nvSpPr>
          <p:cNvPr id="9008" name="Rectangle 9007"/>
          <p:cNvSpPr/>
          <p:nvPr/>
        </p:nvSpPr>
        <p:spPr>
          <a:xfrm>
            <a:off x="11247120" y="4296155"/>
            <a:ext cx="6281928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>
            <a:outerShdw blurRad="101600" dist="25400" dir="54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09" name="TextBox 9008"/>
          <p:cNvSpPr txBox="1"/>
          <p:nvPr/>
        </p:nvSpPr>
        <p:spPr>
          <a:xfrm>
            <a:off x="11430000" y="4460747"/>
            <a:ext cx="5916168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BF9000"/>
                </a:solidFill>
                <a:latin typeface="Calibri"/>
              </a:rPr>
              <a:t>DISTRIBUCIÓN POR TIER · 18/18 EN HIGH</a:t>
            </a:r>
          </a:p>
        </p:txBody>
      </p:sp>
      <p:sp>
        <p:nvSpPr>
          <p:cNvPr id="9010" name="TextBox 9009"/>
          <p:cNvSpPr txBox="1"/>
          <p:nvPr/>
        </p:nvSpPr>
        <p:spPr>
          <a:xfrm>
            <a:off x="11430000" y="4936236"/>
            <a:ext cx="73152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4F814F"/>
                </a:solidFill>
                <a:latin typeface="Calibri"/>
              </a:rPr>
              <a:t>HIGH</a:t>
            </a:r>
          </a:p>
        </p:txBody>
      </p:sp>
      <p:sp>
        <p:nvSpPr>
          <p:cNvPr id="9011" name="Rectangle 9010"/>
          <p:cNvSpPr/>
          <p:nvPr/>
        </p:nvSpPr>
        <p:spPr>
          <a:xfrm>
            <a:off x="12207240" y="4954523"/>
            <a:ext cx="4773168" cy="237744"/>
          </a:xfrm>
          <a:prstGeom prst="rect">
            <a:avLst/>
          </a:prstGeom>
          <a:solidFill>
            <a:srgbClr val="F7F7F9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12" name="Rectangle 9011"/>
          <p:cNvSpPr/>
          <p:nvPr/>
        </p:nvSpPr>
        <p:spPr>
          <a:xfrm>
            <a:off x="12207240" y="4954523"/>
            <a:ext cx="4773168" cy="237744"/>
          </a:xfrm>
          <a:prstGeom prst="rect">
            <a:avLst/>
          </a:prstGeom>
          <a:solidFill>
            <a:srgbClr val="4F81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13" name="TextBox 9012"/>
          <p:cNvSpPr txBox="1"/>
          <p:nvPr/>
        </p:nvSpPr>
        <p:spPr>
          <a:xfrm>
            <a:off x="16843248" y="4936236"/>
            <a:ext cx="50292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300" b="1">
                <a:solidFill>
                  <a:srgbClr val="1F3864"/>
                </a:solidFill>
                <a:latin typeface="Calibri"/>
              </a:rPr>
              <a:t>18</a:t>
            </a:r>
          </a:p>
        </p:txBody>
      </p:sp>
      <p:sp>
        <p:nvSpPr>
          <p:cNvPr id="9014" name="TextBox 9013"/>
          <p:cNvSpPr txBox="1"/>
          <p:nvPr/>
        </p:nvSpPr>
        <p:spPr>
          <a:xfrm>
            <a:off x="11430000" y="5466588"/>
            <a:ext cx="73152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BF9000"/>
                </a:solidFill>
                <a:latin typeface="Calibri"/>
              </a:rPr>
              <a:t>MEDIUM</a:t>
            </a:r>
          </a:p>
        </p:txBody>
      </p:sp>
      <p:sp>
        <p:nvSpPr>
          <p:cNvPr id="9015" name="Rectangle 9014"/>
          <p:cNvSpPr/>
          <p:nvPr/>
        </p:nvSpPr>
        <p:spPr>
          <a:xfrm>
            <a:off x="12207240" y="5484875"/>
            <a:ext cx="4773168" cy="237744"/>
          </a:xfrm>
          <a:prstGeom prst="rect">
            <a:avLst/>
          </a:prstGeom>
          <a:solidFill>
            <a:srgbClr val="F7F7F9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16" name="TextBox 9015"/>
          <p:cNvSpPr txBox="1"/>
          <p:nvPr/>
        </p:nvSpPr>
        <p:spPr>
          <a:xfrm>
            <a:off x="16843248" y="5466588"/>
            <a:ext cx="50292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300" b="1">
                <a:solidFill>
                  <a:srgbClr val="1F3864"/>
                </a:solidFill>
                <a:latin typeface="Calibri"/>
              </a:rPr>
              <a:t>0</a:t>
            </a:r>
          </a:p>
        </p:txBody>
      </p:sp>
      <p:sp>
        <p:nvSpPr>
          <p:cNvPr id="9017" name="TextBox 9016"/>
          <p:cNvSpPr txBox="1"/>
          <p:nvPr/>
        </p:nvSpPr>
        <p:spPr>
          <a:xfrm>
            <a:off x="11430000" y="5996940"/>
            <a:ext cx="73152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C0504D"/>
                </a:solidFill>
                <a:latin typeface="Calibri"/>
              </a:rPr>
              <a:t>LOW</a:t>
            </a:r>
          </a:p>
        </p:txBody>
      </p:sp>
      <p:sp>
        <p:nvSpPr>
          <p:cNvPr id="9018" name="Rectangle 9017"/>
          <p:cNvSpPr/>
          <p:nvPr/>
        </p:nvSpPr>
        <p:spPr>
          <a:xfrm>
            <a:off x="12207240" y="6015228"/>
            <a:ext cx="4773168" cy="237744"/>
          </a:xfrm>
          <a:prstGeom prst="rect">
            <a:avLst/>
          </a:prstGeom>
          <a:solidFill>
            <a:srgbClr val="F7F7F9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19" name="TextBox 9018"/>
          <p:cNvSpPr txBox="1"/>
          <p:nvPr/>
        </p:nvSpPr>
        <p:spPr>
          <a:xfrm>
            <a:off x="16843248" y="5996940"/>
            <a:ext cx="50292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300" b="1">
                <a:solidFill>
                  <a:srgbClr val="1F3864"/>
                </a:solidFill>
                <a:latin typeface="Calibri"/>
              </a:rPr>
              <a:t>0</a:t>
            </a:r>
          </a:p>
        </p:txBody>
      </p:sp>
      <p:sp>
        <p:nvSpPr>
          <p:cNvPr id="9020" name="Rectangle 9019"/>
          <p:cNvSpPr/>
          <p:nvPr/>
        </p:nvSpPr>
        <p:spPr>
          <a:xfrm>
            <a:off x="11247120" y="6673596"/>
            <a:ext cx="6281928" cy="960120"/>
          </a:xfrm>
          <a:prstGeom prst="rect">
            <a:avLst/>
          </a:prstGeom>
          <a:solidFill>
            <a:srgbClr val="BF9000"/>
          </a:solidFill>
          <a:ln>
            <a:noFill/>
          </a:ln>
          <a:effectLst>
            <a:outerShdw blurRad="127000" dist="38100" dir="5400000" algn="t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21" name="TextBox 9020"/>
          <p:cNvSpPr txBox="1"/>
          <p:nvPr/>
        </p:nvSpPr>
        <p:spPr>
          <a:xfrm>
            <a:off x="11521440" y="6810756"/>
            <a:ext cx="2377440" cy="7315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~60 s</a:t>
            </a:r>
          </a:p>
        </p:txBody>
      </p:sp>
      <p:sp>
        <p:nvSpPr>
          <p:cNvPr id="9022" name="TextBox 9021"/>
          <p:cNvSpPr txBox="1"/>
          <p:nvPr/>
        </p:nvSpPr>
        <p:spPr>
          <a:xfrm>
            <a:off x="13990320" y="6856476"/>
            <a:ext cx="3355848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300" b="1">
                <a:solidFill>
                  <a:srgbClr val="1F3864"/>
                </a:solidFill>
                <a:latin typeface="Calibri"/>
              </a:rPr>
              <a:t>LATENCIA OBSERVADA</a:t>
            </a:r>
          </a:p>
          <a:p>
            <a:r>
              <a:rPr sz="1300">
                <a:solidFill>
                  <a:srgbClr val="FFFFFF"/>
                </a:solidFill>
                <a:latin typeface="Calibri"/>
              </a:rPr>
              <a:t>Parsing + extracción + geocoding</a:t>
            </a:r>
          </a:p>
        </p:txBody>
      </p:sp>
      <p:sp>
        <p:nvSpPr>
          <p:cNvPr id="9023" name="Rectangle 9022"/>
          <p:cNvSpPr/>
          <p:nvPr/>
        </p:nvSpPr>
        <p:spPr>
          <a:xfrm>
            <a:off x="758952" y="7763254"/>
            <a:ext cx="16770096" cy="740662"/>
          </a:xfrm>
          <a:prstGeom prst="rect">
            <a:avLst/>
          </a:prstGeom>
          <a:solidFill>
            <a:srgbClr val="E9EEF7"/>
          </a:solidFill>
          <a:ln w="9525">
            <a:solidFill>
              <a:srgbClr val="1F3864"/>
            </a:solidFill>
          </a:ln>
          <a:effectLst>
            <a:outerShdw blurRad="101600" dist="25400" dir="54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24" name="Rectangle 9023"/>
          <p:cNvSpPr/>
          <p:nvPr/>
        </p:nvSpPr>
        <p:spPr>
          <a:xfrm>
            <a:off x="758952" y="7763254"/>
            <a:ext cx="45719" cy="740662"/>
          </a:xfrm>
          <a:prstGeom prst="rect">
            <a:avLst/>
          </a:prstGeom>
          <a:solidFill>
            <a:srgbClr val="BF9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25" name="TextBox 9024"/>
          <p:cNvSpPr txBox="1"/>
          <p:nvPr/>
        </p:nvSpPr>
        <p:spPr>
          <a:xfrm>
            <a:off x="960120" y="7927845"/>
            <a:ext cx="1645920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1F3864"/>
                </a:solidFill>
                <a:latin typeface="Calibri"/>
              </a:rPr>
              <a:t>Honestidad sobre alcance.</a:t>
            </a:r>
            <a:r>
              <a:rPr sz="1300">
                <a:solidFill>
                  <a:srgbClr val="404040"/>
                </a:solidFill>
                <a:latin typeface="Calibri"/>
              </a:rPr>
              <a:t> El pipeline no filtra geográficamente — los activos del documento fuera de España (p. ej. Refinería La Pampilla, Perú) aparecen igualmente. Limitación reconocida y trabajada en futuras mejoras.</a:t>
            </a:r>
          </a:p>
          <a:p>
            <a:r>
              <a:rPr sz="1300" b="1">
                <a:solidFill>
                  <a:srgbClr val="1F3864"/>
                </a:solidFill>
                <a:latin typeface="Calibri"/>
              </a:rPr>
              <a:t>Caption del dashboard.</a:t>
            </a:r>
            <a:r>
              <a:rPr sz="1300" i="1">
                <a:solidFill>
                  <a:srgbClr val="404040"/>
                </a:solidFill>
                <a:latin typeface="Calibri"/>
              </a:rPr>
              <a:t> Salida del pipeline documento sobre repsol_activos_productivos.docx.</a:t>
            </a:r>
          </a:p>
        </p:txBody>
      </p:sp>
    </p:spTree>
    <p:extLst>
      <p:ext uri="{BB962C8B-B14F-4D97-AF65-F5344CB8AC3E}">
        <p14:creationId xmlns:p14="http://schemas.microsoft.com/office/powerpoint/2010/main" val="423466437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58952" y="2861309"/>
            <a:ext cx="10058400" cy="4754880"/>
          </a:xfrm>
          <a:prstGeom prst="rect">
            <a:avLst/>
          </a:prstGeom>
          <a:effectLst>
            <a:outerShdw blurRad="152400" dist="38100" dir="5400000" algn="tl" rotWithShape="0">
              <a:srgbClr val="000000">
                <a:alpha val="22000"/>
              </a:srgbClr>
            </a:outerShdw>
          </a:effectLst>
        </p:spPr>
      </p:pic>
      <p:grpSp>
        <p:nvGrpSpPr>
          <p:cNvPr id="9000" name="MS Header Group"/>
          <p:cNvGrpSpPr/>
          <p:nvPr/>
        </p:nvGrpSpPr>
        <p:grpSpPr>
          <a:xfrm>
            <a:off x="282819" y="579094"/>
            <a:ext cx="13786134" cy="1057874"/>
            <a:chOff x="92172" y="275827"/>
            <a:chExt cx="9190756" cy="705249"/>
          </a:xfrm>
        </p:grpSpPr>
        <p:sp>
          <p:nvSpPr>
            <p:cNvPr id="9001" name="MS Title Box"/>
            <p:cNvSpPr/>
            <p:nvPr/>
          </p:nvSpPr>
          <p:spPr>
            <a:xfrm>
              <a:off x="776292" y="404814"/>
              <a:ext cx="8506636" cy="576262"/>
            </a:xfrm>
            <a:prstGeom prst="rect">
              <a:avLst/>
            </a:prstGeom>
            <a:noFill/>
          </p:spPr>
          <p:txBody>
            <a:bodyPr lIns="137160" tIns="68580" rIns="137160" bIns="68580" anchor="ctr"/>
            <a:lstStyle/>
            <a:p>
              <a:pPr>
                <a:lnSpc>
                  <a:spcPts val="3150"/>
                </a:lnSpc>
              </a:pPr>
              <a:r>
                <a:rPr lang="es-ES" sz="3000" b="1">
                  <a:solidFill>
                    <a:srgbClr val="002569"/>
                  </a:solidFill>
                  <a:latin typeface="Arial"/>
                </a:rPr>
                <a:t>Demostración y resultados</a:t>
              </a:r>
            </a:p>
            <a:p>
              <a:r>
                <a:rPr lang="es-ES" sz="2700">
                  <a:solidFill>
                    <a:srgbClr val="E0D399">
                      <a:lumMod val="75000"/>
                    </a:srgbClr>
                  </a:solidFill>
                  <a:latin typeface="Arial"/>
                </a:rPr>
                <a:t>El agente razona, busca y filtra documentos públicos</a:t>
              </a:r>
            </a:p>
          </p:txBody>
        </p:sp>
        <p:sp>
          <p:nvSpPr>
            <p:cNvPr id="9002" name="MS Number"/>
            <p:cNvSpPr/>
            <p:nvPr/>
          </p:nvSpPr>
          <p:spPr>
            <a:xfrm>
              <a:off x="92172" y="275827"/>
              <a:ext cx="477819" cy="700146"/>
            </a:xfrm>
            <a:prstGeom prst="rect">
              <a:avLst/>
            </a:prstGeom>
            <a:noFill/>
          </p:spPr>
          <p:txBody>
            <a:bodyPr wrap="none" lIns="148523" tIns="74261" rIns="148523" bIns="74261">
              <a:spAutoFit/>
            </a:bodyPr>
            <a:lstStyle/>
            <a:p>
              <a:pPr algn="ctr"/>
              <a:r>
                <a:rPr lang="es-ES" sz="5850" b="1" kern="0">
                  <a:solidFill>
                    <a:srgbClr val="002569"/>
                  </a:solidFill>
                  <a:latin typeface="Arial"/>
                </a:rPr>
                <a:t>5</a:t>
              </a:r>
            </a:p>
          </p:txBody>
        </p:sp>
        <p:cxnSp>
          <p:nvCxnSpPr>
            <p:cNvPr id="9003" name="MS Header Bar"/>
            <p:cNvCxnSpPr/>
            <p:nvPr/>
          </p:nvCxnSpPr>
          <p:spPr>
            <a:xfrm>
              <a:off x="570525" y="404814"/>
              <a:ext cx="0" cy="526647"/>
            </a:xfrm>
            <a:prstGeom prst="line">
              <a:avLst/>
            </a:prstGeom>
            <a:ln>
              <a:solidFill>
                <a:schemeClr val="tx2"/>
              </a:solidFill>
            </a:ln>
          </p:spPr>
        </p:cxnSp>
      </p:grpSp>
      <p:sp>
        <p:nvSpPr>
          <p:cNvPr id="9004" name="TextBox 9003"/>
          <p:cNvSpPr txBox="1"/>
          <p:nvPr/>
        </p:nvSpPr>
        <p:spPr>
          <a:xfrm>
            <a:off x="758952" y="2048256"/>
            <a:ext cx="16770096" cy="5539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b="1">
                <a:solidFill>
                  <a:srgbClr val="1F3864"/>
                </a:solidFill>
                <a:latin typeface="Calibri"/>
              </a:rPr>
              <a:t>El </a:t>
            </a:r>
            <a:r>
              <a:rPr b="1" err="1">
                <a:solidFill>
                  <a:srgbClr val="1F3864"/>
                </a:solidFill>
                <a:latin typeface="Calibri"/>
              </a:rPr>
              <a:t>agente</a:t>
            </a:r>
            <a:r>
              <a:rPr b="1">
                <a:solidFill>
                  <a:srgbClr val="1F3864"/>
                </a:solidFill>
                <a:latin typeface="Calibri"/>
              </a:rPr>
              <a:t> </a:t>
            </a:r>
            <a:r>
              <a:rPr b="1" err="1">
                <a:solidFill>
                  <a:srgbClr val="1F3864"/>
                </a:solidFill>
                <a:latin typeface="Calibri"/>
              </a:rPr>
              <a:t>razona</a:t>
            </a:r>
            <a:r>
              <a:rPr b="1">
                <a:solidFill>
                  <a:srgbClr val="1F3864"/>
                </a:solidFill>
                <a:latin typeface="Calibri"/>
              </a:rPr>
              <a:t>, </a:t>
            </a:r>
            <a:r>
              <a:rPr b="1" err="1">
                <a:solidFill>
                  <a:srgbClr val="1F3864"/>
                </a:solidFill>
                <a:latin typeface="Calibri"/>
              </a:rPr>
              <a:t>busca</a:t>
            </a:r>
            <a:r>
              <a:rPr b="1">
                <a:solidFill>
                  <a:srgbClr val="1F3864"/>
                </a:solidFill>
                <a:latin typeface="Calibri"/>
              </a:rPr>
              <a:t> y filtra </a:t>
            </a:r>
            <a:r>
              <a:rPr b="1" err="1">
                <a:solidFill>
                  <a:srgbClr val="1F3864"/>
                </a:solidFill>
                <a:latin typeface="Calibri"/>
              </a:rPr>
              <a:t>documentos</a:t>
            </a:r>
            <a:r>
              <a:rPr b="1">
                <a:solidFill>
                  <a:srgbClr val="1F3864"/>
                </a:solidFill>
                <a:latin typeface="Calibri"/>
              </a:rPr>
              <a:t> </a:t>
            </a:r>
            <a:r>
              <a:rPr b="1" err="1">
                <a:solidFill>
                  <a:srgbClr val="1F3864"/>
                </a:solidFill>
                <a:latin typeface="Calibri"/>
              </a:rPr>
              <a:t>públicos</a:t>
            </a:r>
            <a:r>
              <a:rPr b="1">
                <a:solidFill>
                  <a:srgbClr val="1F3864"/>
                </a:solidFill>
                <a:latin typeface="Calibri"/>
              </a:rPr>
              <a:t>.</a:t>
            </a:r>
            <a:r>
              <a:rPr>
                <a:solidFill>
                  <a:srgbClr val="404040"/>
                </a:solidFill>
                <a:latin typeface="Calibri"/>
              </a:rPr>
              <a:t> </a:t>
            </a:r>
            <a:r>
              <a:rPr err="1">
                <a:solidFill>
                  <a:srgbClr val="404040"/>
                </a:solidFill>
                <a:latin typeface="Calibri"/>
              </a:rPr>
              <a:t>Eventos</a:t>
            </a:r>
            <a:r>
              <a:rPr>
                <a:solidFill>
                  <a:srgbClr val="404040"/>
                </a:solidFill>
                <a:latin typeface="Calibri"/>
              </a:rPr>
              <a:t> del </a:t>
            </a:r>
            <a:r>
              <a:rPr err="1">
                <a:solidFill>
                  <a:srgbClr val="404040"/>
                </a:solidFill>
                <a:latin typeface="Calibri"/>
              </a:rPr>
              <a:t>agente</a:t>
            </a:r>
            <a:r>
              <a:rPr>
                <a:solidFill>
                  <a:srgbClr val="404040"/>
                </a:solidFill>
                <a:latin typeface="Calibri"/>
              </a:rPr>
              <a:t> </a:t>
            </a:r>
            <a:r>
              <a:rPr err="1">
                <a:solidFill>
                  <a:srgbClr val="404040"/>
                </a:solidFill>
                <a:latin typeface="Calibri"/>
              </a:rPr>
              <a:t>expuestos</a:t>
            </a:r>
            <a:r>
              <a:rPr>
                <a:solidFill>
                  <a:srgbClr val="404040"/>
                </a:solidFill>
                <a:latin typeface="Calibri"/>
              </a:rPr>
              <a:t> </a:t>
            </a:r>
            <a:r>
              <a:rPr err="1">
                <a:solidFill>
                  <a:srgbClr val="404040"/>
                </a:solidFill>
                <a:latin typeface="Calibri"/>
              </a:rPr>
              <a:t>en</a:t>
            </a:r>
            <a:r>
              <a:rPr>
                <a:solidFill>
                  <a:srgbClr val="404040"/>
                </a:solidFill>
                <a:latin typeface="Calibri"/>
              </a:rPr>
              <a:t> vivo </a:t>
            </a:r>
            <a:r>
              <a:rPr err="1">
                <a:solidFill>
                  <a:srgbClr val="404040"/>
                </a:solidFill>
                <a:latin typeface="Calibri"/>
              </a:rPr>
              <a:t>en</a:t>
            </a:r>
            <a:r>
              <a:rPr>
                <a:solidFill>
                  <a:srgbClr val="404040"/>
                </a:solidFill>
                <a:latin typeface="Calibri"/>
              </a:rPr>
              <a:t> la vista de </a:t>
            </a:r>
            <a:r>
              <a:rPr err="1">
                <a:solidFill>
                  <a:srgbClr val="404040"/>
                </a:solidFill>
                <a:latin typeface="Calibri"/>
              </a:rPr>
              <a:t>búsqueda</a:t>
            </a:r>
            <a:r>
              <a:rPr>
                <a:solidFill>
                  <a:srgbClr val="404040"/>
                </a:solidFill>
                <a:latin typeface="Calibri"/>
              </a:rPr>
              <a:t> — </a:t>
            </a:r>
            <a:r>
              <a:rPr err="1">
                <a:solidFill>
                  <a:srgbClr val="404040"/>
                </a:solidFill>
                <a:latin typeface="Calibri"/>
              </a:rPr>
              <a:t>trazabilidad</a:t>
            </a:r>
            <a:r>
              <a:rPr>
                <a:solidFill>
                  <a:srgbClr val="404040"/>
                </a:solidFill>
                <a:latin typeface="Calibri"/>
              </a:rPr>
              <a:t> completa del </a:t>
            </a:r>
            <a:r>
              <a:rPr err="1">
                <a:solidFill>
                  <a:srgbClr val="404040"/>
                </a:solidFill>
                <a:latin typeface="Calibri"/>
              </a:rPr>
              <a:t>razonamiento</a:t>
            </a:r>
            <a:r>
              <a:rPr>
                <a:solidFill>
                  <a:srgbClr val="404040"/>
                </a:solidFill>
                <a:latin typeface="Calibri"/>
              </a:rPr>
              <a:t>. </a:t>
            </a:r>
            <a:r>
              <a:rPr err="1">
                <a:solidFill>
                  <a:srgbClr val="404040"/>
                </a:solidFill>
                <a:latin typeface="Calibri"/>
              </a:rPr>
              <a:t>Mercadona</a:t>
            </a:r>
            <a:r>
              <a:rPr>
                <a:solidFill>
                  <a:srgbClr val="404040"/>
                </a:solidFill>
                <a:latin typeface="Calibri"/>
              </a:rPr>
              <a:t> e Iberdrola </a:t>
            </a:r>
            <a:r>
              <a:rPr err="1">
                <a:solidFill>
                  <a:srgbClr val="404040"/>
                </a:solidFill>
                <a:latin typeface="Calibri"/>
              </a:rPr>
              <a:t>usadas</a:t>
            </a:r>
            <a:r>
              <a:rPr>
                <a:solidFill>
                  <a:srgbClr val="404040"/>
                </a:solidFill>
                <a:latin typeface="Calibri"/>
              </a:rPr>
              <a:t> </a:t>
            </a:r>
            <a:r>
              <a:rPr err="1">
                <a:solidFill>
                  <a:srgbClr val="404040"/>
                </a:solidFill>
                <a:latin typeface="Calibri"/>
              </a:rPr>
              <a:t>como</a:t>
            </a:r>
            <a:r>
              <a:rPr>
                <a:solidFill>
                  <a:srgbClr val="404040"/>
                </a:solidFill>
                <a:latin typeface="Calibri"/>
              </a:rPr>
              <a:t> inputs.</a:t>
            </a:r>
          </a:p>
        </p:txBody>
      </p:sp>
      <p:sp>
        <p:nvSpPr>
          <p:cNvPr id="9005" name="Rectangle 9004"/>
          <p:cNvSpPr/>
          <p:nvPr/>
        </p:nvSpPr>
        <p:spPr>
          <a:xfrm>
            <a:off x="11247120" y="2861309"/>
            <a:ext cx="6281928" cy="1280160"/>
          </a:xfrm>
          <a:prstGeom prst="rect">
            <a:avLst/>
          </a:prstGeom>
          <a:solidFill>
            <a:srgbClr val="1F3864"/>
          </a:solidFill>
          <a:ln>
            <a:noFill/>
          </a:ln>
          <a:effectLst>
            <a:outerShdw blurRad="127000" dist="38100" dir="5400000" algn="tl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06" name="TextBox 9005"/>
          <p:cNvSpPr txBox="1"/>
          <p:nvPr/>
        </p:nvSpPr>
        <p:spPr>
          <a:xfrm>
            <a:off x="11521440" y="2907030"/>
            <a:ext cx="2560320" cy="10972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60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9007" name="TextBox 9006"/>
          <p:cNvSpPr txBox="1"/>
          <p:nvPr/>
        </p:nvSpPr>
        <p:spPr>
          <a:xfrm>
            <a:off x="14081760" y="2998470"/>
            <a:ext cx="3172968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300" b="1">
                <a:solidFill>
                  <a:srgbClr val="BF9000"/>
                </a:solidFill>
                <a:latin typeface="Calibri"/>
              </a:rPr>
              <a:t>TIPOS DE EVENTOS SSE</a:t>
            </a:r>
          </a:p>
          <a:p>
            <a:r>
              <a:rPr sz="1300">
                <a:solidFill>
                  <a:srgbClr val="FFFFFF"/>
                </a:solidFill>
                <a:latin typeface="Calibri"/>
              </a:rPr>
              <a:t>Trazabilidad completa del razonamiento</a:t>
            </a:r>
          </a:p>
        </p:txBody>
      </p:sp>
      <p:sp>
        <p:nvSpPr>
          <p:cNvPr id="9008" name="Rectangle 9007"/>
          <p:cNvSpPr/>
          <p:nvPr/>
        </p:nvSpPr>
        <p:spPr>
          <a:xfrm>
            <a:off x="11247120" y="4278629"/>
            <a:ext cx="6281928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>
            <a:outerShdw blurRad="101600" dist="25400" dir="54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09" name="TextBox 9008"/>
          <p:cNvSpPr txBox="1"/>
          <p:nvPr/>
        </p:nvSpPr>
        <p:spPr>
          <a:xfrm>
            <a:off x="11430000" y="4443221"/>
            <a:ext cx="5916168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BF9000"/>
                </a:solidFill>
                <a:latin typeface="Calibri"/>
              </a:rPr>
              <a:t>EVENTOS EN VIVO · SSE FEED</a:t>
            </a:r>
          </a:p>
        </p:txBody>
      </p:sp>
      <p:sp>
        <p:nvSpPr>
          <p:cNvPr id="9010" name="Rectangle 9009"/>
          <p:cNvSpPr/>
          <p:nvPr/>
        </p:nvSpPr>
        <p:spPr>
          <a:xfrm>
            <a:off x="11430000" y="4818126"/>
            <a:ext cx="1417320" cy="237744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11" name="TextBox 9010"/>
          <p:cNvSpPr txBox="1"/>
          <p:nvPr/>
        </p:nvSpPr>
        <p:spPr>
          <a:xfrm>
            <a:off x="11430000" y="4818126"/>
            <a:ext cx="1417320" cy="2377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onsolas"/>
              </a:rPr>
              <a:t>thinking</a:t>
            </a:r>
          </a:p>
        </p:txBody>
      </p:sp>
      <p:sp>
        <p:nvSpPr>
          <p:cNvPr id="9012" name="TextBox 9011"/>
          <p:cNvSpPr txBox="1"/>
          <p:nvPr/>
        </p:nvSpPr>
        <p:spPr>
          <a:xfrm>
            <a:off x="12938760" y="4836413"/>
            <a:ext cx="4407408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>
                <a:solidFill>
                  <a:srgbClr val="404040"/>
                </a:solidFill>
                <a:latin typeface="Calibri"/>
              </a:rPr>
              <a:t>Planifica los próximos pasos sobre la empresa</a:t>
            </a:r>
          </a:p>
        </p:txBody>
      </p:sp>
      <p:sp>
        <p:nvSpPr>
          <p:cNvPr id="9013" name="Rectangle 9012"/>
          <p:cNvSpPr/>
          <p:nvPr/>
        </p:nvSpPr>
        <p:spPr>
          <a:xfrm>
            <a:off x="11430000" y="5129021"/>
            <a:ext cx="1417320" cy="237744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14" name="TextBox 9013"/>
          <p:cNvSpPr txBox="1"/>
          <p:nvPr/>
        </p:nvSpPr>
        <p:spPr>
          <a:xfrm>
            <a:off x="11430000" y="5129021"/>
            <a:ext cx="1417320" cy="2377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onsolas"/>
              </a:rPr>
              <a:t>searching</a:t>
            </a:r>
          </a:p>
        </p:txBody>
      </p:sp>
      <p:sp>
        <p:nvSpPr>
          <p:cNvPr id="9015" name="TextBox 9014"/>
          <p:cNvSpPr txBox="1"/>
          <p:nvPr/>
        </p:nvSpPr>
        <p:spPr>
          <a:xfrm>
            <a:off x="12938760" y="5147309"/>
            <a:ext cx="4407408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>
                <a:solidFill>
                  <a:srgbClr val="404040"/>
                </a:solidFill>
                <a:latin typeface="Calibri"/>
              </a:rPr>
              <a:t>Lanza búsqueda web con DuckDuckGo MCP</a:t>
            </a:r>
          </a:p>
        </p:txBody>
      </p:sp>
      <p:sp>
        <p:nvSpPr>
          <p:cNvPr id="9016" name="Rectangle 9015"/>
          <p:cNvSpPr/>
          <p:nvPr/>
        </p:nvSpPr>
        <p:spPr>
          <a:xfrm>
            <a:off x="11430000" y="5439917"/>
            <a:ext cx="1417320" cy="237744"/>
          </a:xfrm>
          <a:prstGeom prst="rect">
            <a:avLst/>
          </a:prstGeom>
          <a:solidFill>
            <a:srgbClr val="BF9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17" name="TextBox 9016"/>
          <p:cNvSpPr txBox="1"/>
          <p:nvPr/>
        </p:nvSpPr>
        <p:spPr>
          <a:xfrm>
            <a:off x="11430000" y="5439917"/>
            <a:ext cx="1417320" cy="2377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onsolas"/>
              </a:rPr>
              <a:t>found_urls</a:t>
            </a:r>
          </a:p>
        </p:txBody>
      </p:sp>
      <p:sp>
        <p:nvSpPr>
          <p:cNvPr id="9018" name="TextBox 9017"/>
          <p:cNvSpPr txBox="1"/>
          <p:nvPr/>
        </p:nvSpPr>
        <p:spPr>
          <a:xfrm>
            <a:off x="12938760" y="5458205"/>
            <a:ext cx="4407408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>
                <a:solidFill>
                  <a:srgbClr val="404040"/>
                </a:solidFill>
                <a:latin typeface="Calibri"/>
              </a:rPr>
              <a:t>Reporta URLs candidatas y argumenta relevancia</a:t>
            </a:r>
          </a:p>
        </p:txBody>
      </p:sp>
      <p:sp>
        <p:nvSpPr>
          <p:cNvPr id="9019" name="Rectangle 9018"/>
          <p:cNvSpPr/>
          <p:nvPr/>
        </p:nvSpPr>
        <p:spPr>
          <a:xfrm>
            <a:off x="11430000" y="5750813"/>
            <a:ext cx="1417320" cy="237744"/>
          </a:xfrm>
          <a:prstGeom prst="rect">
            <a:avLst/>
          </a:prstGeom>
          <a:solidFill>
            <a:srgbClr val="9C6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20" name="TextBox 9019"/>
          <p:cNvSpPr txBox="1"/>
          <p:nvPr/>
        </p:nvSpPr>
        <p:spPr>
          <a:xfrm>
            <a:off x="11430000" y="5750813"/>
            <a:ext cx="1417320" cy="2377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onsolas"/>
              </a:rPr>
              <a:t>downloading</a:t>
            </a:r>
          </a:p>
        </p:txBody>
      </p:sp>
      <p:sp>
        <p:nvSpPr>
          <p:cNvPr id="9021" name="TextBox 9020"/>
          <p:cNvSpPr txBox="1"/>
          <p:nvPr/>
        </p:nvSpPr>
        <p:spPr>
          <a:xfrm>
            <a:off x="12938760" y="5769101"/>
            <a:ext cx="4407408" cy="138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dirty="0" err="1">
                <a:solidFill>
                  <a:srgbClr val="404040"/>
                </a:solidFill>
                <a:latin typeface="Calibri"/>
              </a:rPr>
              <a:t>Descarga</a:t>
            </a:r>
            <a:r>
              <a:rPr sz="900" dirty="0">
                <a:solidFill>
                  <a:srgbClr val="404040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404040"/>
                </a:solidFill>
                <a:latin typeface="Calibri"/>
              </a:rPr>
              <a:t>documentos</a:t>
            </a:r>
            <a:r>
              <a:rPr sz="900" dirty="0">
                <a:solidFill>
                  <a:srgbClr val="404040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404040"/>
                </a:solidFill>
                <a:latin typeface="Calibri"/>
              </a:rPr>
              <a:t>validado</a:t>
            </a:r>
            <a:r>
              <a:rPr lang="es-ES_tradnl" sz="1300" dirty="0">
                <a:solidFill>
                  <a:srgbClr val="404040"/>
                </a:solidFill>
                <a:latin typeface="Calibri"/>
              </a:rPr>
              <a:t>s</a:t>
            </a:r>
            <a:endParaRPr sz="900" dirty="0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9022" name="Rectangle 9021"/>
          <p:cNvSpPr/>
          <p:nvPr/>
        </p:nvSpPr>
        <p:spPr>
          <a:xfrm>
            <a:off x="11430000" y="6061709"/>
            <a:ext cx="1417320" cy="237744"/>
          </a:xfrm>
          <a:prstGeom prst="rect">
            <a:avLst/>
          </a:prstGeom>
          <a:solidFill>
            <a:srgbClr val="4F81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23" name="TextBox 9022"/>
          <p:cNvSpPr txBox="1"/>
          <p:nvPr/>
        </p:nvSpPr>
        <p:spPr>
          <a:xfrm>
            <a:off x="11430000" y="6061709"/>
            <a:ext cx="1417320" cy="2377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onsolas"/>
              </a:rPr>
              <a:t>accepted</a:t>
            </a:r>
          </a:p>
        </p:txBody>
      </p:sp>
      <p:sp>
        <p:nvSpPr>
          <p:cNvPr id="9024" name="TextBox 9023"/>
          <p:cNvSpPr txBox="1"/>
          <p:nvPr/>
        </p:nvSpPr>
        <p:spPr>
          <a:xfrm>
            <a:off x="12938760" y="6079997"/>
            <a:ext cx="4407408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>
                <a:solidFill>
                  <a:srgbClr val="404040"/>
                </a:solidFill>
                <a:latin typeface="Calibri"/>
              </a:rPr>
              <a:t>El humano confirma o rechaza antes de procesar</a:t>
            </a:r>
          </a:p>
        </p:txBody>
      </p:sp>
      <p:sp>
        <p:nvSpPr>
          <p:cNvPr id="9025" name="Rectangle 9024"/>
          <p:cNvSpPr/>
          <p:nvPr/>
        </p:nvSpPr>
        <p:spPr>
          <a:xfrm>
            <a:off x="11247120" y="6656070"/>
            <a:ext cx="6281928" cy="960120"/>
          </a:xfrm>
          <a:prstGeom prst="rect">
            <a:avLst/>
          </a:prstGeom>
          <a:solidFill>
            <a:srgbClr val="BF9000"/>
          </a:solidFill>
          <a:ln>
            <a:noFill/>
          </a:ln>
          <a:effectLst>
            <a:outerShdw blurRad="127000" dist="38100" dir="5400000" algn="t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26" name="TextBox 9025"/>
          <p:cNvSpPr txBox="1"/>
          <p:nvPr/>
        </p:nvSpPr>
        <p:spPr>
          <a:xfrm>
            <a:off x="11521440" y="6793230"/>
            <a:ext cx="2377440" cy="7315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~2 min</a:t>
            </a:r>
          </a:p>
        </p:txBody>
      </p:sp>
      <p:sp>
        <p:nvSpPr>
          <p:cNvPr id="9027" name="TextBox 9026"/>
          <p:cNvSpPr txBox="1"/>
          <p:nvPr/>
        </p:nvSpPr>
        <p:spPr>
          <a:xfrm>
            <a:off x="13990320" y="6838950"/>
            <a:ext cx="3355848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300" b="1">
                <a:solidFill>
                  <a:srgbClr val="1F3864"/>
                </a:solidFill>
                <a:latin typeface="Calibri"/>
              </a:rPr>
              <a:t>LATENCIA OBSERVADA</a:t>
            </a:r>
          </a:p>
          <a:p>
            <a:r>
              <a:rPr sz="1300">
                <a:solidFill>
                  <a:srgbClr val="FFFFFF"/>
                </a:solidFill>
                <a:latin typeface="Calibri"/>
              </a:rPr>
              <a:t>Búsqueda + descarga + validación humana</a:t>
            </a:r>
          </a:p>
        </p:txBody>
      </p:sp>
      <p:sp>
        <p:nvSpPr>
          <p:cNvPr id="9028" name="Rectangle 9027"/>
          <p:cNvSpPr/>
          <p:nvPr/>
        </p:nvSpPr>
        <p:spPr>
          <a:xfrm>
            <a:off x="758952" y="7764779"/>
            <a:ext cx="16770096" cy="740662"/>
          </a:xfrm>
          <a:prstGeom prst="rect">
            <a:avLst/>
          </a:prstGeom>
          <a:solidFill>
            <a:srgbClr val="E9EEF7"/>
          </a:solidFill>
          <a:ln w="9525">
            <a:solidFill>
              <a:srgbClr val="1F3864"/>
            </a:solidFill>
          </a:ln>
          <a:effectLst>
            <a:outerShdw blurRad="101600" dist="25400" dir="54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29" name="Rectangle 9028"/>
          <p:cNvSpPr/>
          <p:nvPr/>
        </p:nvSpPr>
        <p:spPr>
          <a:xfrm>
            <a:off x="758952" y="7764779"/>
            <a:ext cx="45719" cy="740662"/>
          </a:xfrm>
          <a:prstGeom prst="rect">
            <a:avLst/>
          </a:prstGeom>
          <a:solidFill>
            <a:srgbClr val="BF9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30" name="TextBox 9029"/>
          <p:cNvSpPr txBox="1"/>
          <p:nvPr/>
        </p:nvSpPr>
        <p:spPr>
          <a:xfrm>
            <a:off x="960120" y="7929370"/>
            <a:ext cx="1645920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1F3864"/>
                </a:solidFill>
                <a:latin typeface="Calibri"/>
              </a:rPr>
              <a:t>Validación humana en bucle.</a:t>
            </a:r>
            <a:r>
              <a:rPr sz="1300">
                <a:solidFill>
                  <a:srgbClr val="404040"/>
                </a:solidFill>
                <a:latin typeface="Calibri"/>
              </a:rPr>
              <a:t> Tras la búsqueda, AgentDocumentReviewView presenta al usuario los ficheros aceptados con sus metadatos extraídos. El analista valida o descarta cada uno antes de pasar al pipeline documento.</a:t>
            </a:r>
          </a:p>
          <a:p>
            <a:r>
              <a:rPr sz="1300" b="1">
                <a:solidFill>
                  <a:srgbClr val="1F3864"/>
                </a:solidFill>
                <a:latin typeface="Calibri"/>
              </a:rPr>
              <a:t>Caption del dashboard.</a:t>
            </a:r>
            <a:r>
              <a:rPr sz="1300" i="1">
                <a:solidFill>
                  <a:srgbClr val="404040"/>
                </a:solidFill>
                <a:latin typeface="Calibri"/>
              </a:rPr>
              <a:t> Vista AgentSearchView durante una corrida real (Iberdrola): el agente delibera, busca y reporta hallazgos.</a:t>
            </a:r>
          </a:p>
        </p:txBody>
      </p:sp>
    </p:spTree>
    <p:extLst>
      <p:ext uri="{BB962C8B-B14F-4D97-AF65-F5344CB8AC3E}">
        <p14:creationId xmlns:p14="http://schemas.microsoft.com/office/powerpoint/2010/main" val="164280500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00" name="MS Header Group"/>
          <p:cNvGrpSpPr/>
          <p:nvPr/>
        </p:nvGrpSpPr>
        <p:grpSpPr>
          <a:xfrm>
            <a:off x="282819" y="579094"/>
            <a:ext cx="13786134" cy="1057874"/>
            <a:chOff x="92172" y="275827"/>
            <a:chExt cx="9190756" cy="705249"/>
          </a:xfrm>
        </p:grpSpPr>
        <p:sp>
          <p:nvSpPr>
            <p:cNvPr id="9001" name="MS Title Box"/>
            <p:cNvSpPr>
              <a:spLocks noChangeArrowheads="1"/>
            </p:cNvSpPr>
            <p:nvPr/>
          </p:nvSpPr>
          <p:spPr bwMode="gray">
            <a:xfrm>
              <a:off x="776292" y="404814"/>
              <a:ext cx="8506636" cy="576262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37160" tIns="68580" rIns="137160" bIns="68580" anchor="ctr"/>
            <a:lstStyle/>
            <a:p>
              <a:pPr>
                <a:lnSpc>
                  <a:spcPts val="3150"/>
                </a:lnSpc>
              </a:pPr>
              <a:r>
                <a:rPr lang="es-ES" sz="3000" b="1">
                  <a:solidFill>
                    <a:srgbClr val="002569"/>
                  </a:solidFill>
                  <a:latin typeface="Arial"/>
                </a:rPr>
                <a:t>Demostración y resultados</a:t>
              </a:r>
            </a:p>
            <a:p>
              <a:r>
                <a:rPr lang="es-ES" sz="2700">
                  <a:solidFill>
                    <a:srgbClr val="E0D399">
                      <a:lumMod val="75000"/>
                    </a:srgbClr>
                  </a:solidFill>
                  <a:latin typeface="Arial"/>
                </a:rPr>
                <a:t>De 2-4 horas manuales a aproximadamente 2 minutos automatizados</a:t>
              </a:r>
            </a:p>
          </p:txBody>
        </p:sp>
        <p:sp>
          <p:nvSpPr>
            <p:cNvPr id="9002" name="MS Number"/>
            <p:cNvSpPr>
              <a:spLocks noChangeArrowheads="1"/>
            </p:cNvSpPr>
            <p:nvPr/>
          </p:nvSpPr>
          <p:spPr bwMode="gray">
            <a:xfrm>
              <a:off x="92172" y="275827"/>
              <a:ext cx="477819" cy="70014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148523" tIns="74261" rIns="148523" bIns="74261">
              <a:spAutoFit/>
            </a:bodyPr>
            <a:lstStyle/>
            <a:p>
              <a:pPr algn="ctr"/>
              <a:r>
                <a:rPr lang="es-ES" sz="5850" b="1" kern="0">
                  <a:solidFill>
                    <a:srgbClr val="002569"/>
                  </a:solidFill>
                  <a:latin typeface="Arial"/>
                </a:rPr>
                <a:t>5</a:t>
              </a:r>
            </a:p>
          </p:txBody>
        </p:sp>
        <p:cxnSp>
          <p:nvCxnSpPr>
            <p:cNvPr id="9003" name="MS Header Bar"/>
            <p:cNvCxnSpPr/>
            <p:nvPr/>
          </p:nvCxnSpPr>
          <p:spPr>
            <a:xfrm>
              <a:off x="570525" y="404814"/>
              <a:ext cx="0" cy="526647"/>
            </a:xfrm>
            <a:prstGeom prst="line">
              <a:avLst/>
            </a:prstGeom>
            <a:ln>
              <a:solidFill>
                <a:schemeClr val="tx2"/>
              </a:solidFill>
            </a:ln>
          </p:spPr>
        </p:cxnSp>
      </p:grpSp>
      <p:sp>
        <p:nvSpPr>
          <p:cNvPr id="9004" name="TextBox 9003"/>
          <p:cNvSpPr txBox="1"/>
          <p:nvPr/>
        </p:nvSpPr>
        <p:spPr>
          <a:xfrm>
            <a:off x="758952" y="2048256"/>
            <a:ext cx="16770096" cy="8412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800" b="1">
                <a:solidFill>
                  <a:srgbClr val="1F3864"/>
                </a:solidFill>
                <a:latin typeface="Calibri"/>
              </a:rPr>
              <a:t>Síntesis de la sección.</a:t>
            </a:r>
            <a:r>
              <a:rPr sz="1800">
                <a:solidFill>
                  <a:srgbClr val="404040"/>
                </a:solidFill>
                <a:latin typeface="Calibri"/>
              </a:rPr>
              <a:t> la ejecución automatizada de GeoAssets sobre una misma empresa reduce el tiempo del analista en un factor 60-120x manteniendo trazabilidad por fuente, score auditable y reproducibilidad — ganancias que el flujo manual no puede ofrecer.</a:t>
            </a:r>
          </a:p>
        </p:txBody>
      </p:sp>
      <p:sp>
        <p:nvSpPr>
          <p:cNvPr id="9005" name="Rounded Rectangle 9004"/>
          <p:cNvSpPr/>
          <p:nvPr/>
        </p:nvSpPr>
        <p:spPr>
          <a:xfrm>
            <a:off x="758952" y="2892552"/>
            <a:ext cx="8092440" cy="4023360"/>
          </a:xfrm>
          <a:prstGeom prst="roundRect">
            <a:avLst>
              <a:gd name="adj" fmla="val 4000"/>
            </a:avLst>
          </a:prstGeom>
          <a:solidFill>
            <a:srgbClr val="F7F7F9"/>
          </a:solidFill>
          <a:ln w="9525">
            <a:solidFill>
              <a:srgbClr val="D9D9D9"/>
            </a:solidFill>
          </a:ln>
          <a:effectLst>
            <a:outerShdw blurRad="127000" dist="38100" dir="5400000" algn="tl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06" name="TextBox 9005"/>
          <p:cNvSpPr txBox="1"/>
          <p:nvPr/>
        </p:nvSpPr>
        <p:spPr>
          <a:xfrm>
            <a:off x="1124712" y="3166870"/>
            <a:ext cx="7360919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BF9000"/>
                </a:solidFill>
                <a:latin typeface="Calibri"/>
              </a:rPr>
              <a:t>AS-IS · FLUJO MANUAL</a:t>
            </a:r>
          </a:p>
        </p:txBody>
      </p:sp>
      <p:sp>
        <p:nvSpPr>
          <p:cNvPr id="9007" name="TextBox 9006"/>
          <p:cNvSpPr txBox="1"/>
          <p:nvPr/>
        </p:nvSpPr>
        <p:spPr>
          <a:xfrm>
            <a:off x="1124712" y="3532632"/>
            <a:ext cx="7360919" cy="10972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7200" b="1">
                <a:solidFill>
                  <a:srgbClr val="1F3864"/>
                </a:solidFill>
                <a:latin typeface="Calibri"/>
              </a:rPr>
              <a:t>2-4 h</a:t>
            </a:r>
            <a:r>
              <a:rPr sz="2000">
                <a:solidFill>
                  <a:srgbClr val="1F3864"/>
                </a:solidFill>
                <a:latin typeface="Calibri"/>
              </a:rPr>
              <a:t>   por empresa</a:t>
            </a:r>
          </a:p>
        </p:txBody>
      </p:sp>
      <p:sp>
        <p:nvSpPr>
          <p:cNvPr id="9008" name="TextBox 9007"/>
          <p:cNvSpPr txBox="1"/>
          <p:nvPr/>
        </p:nvSpPr>
        <p:spPr>
          <a:xfrm>
            <a:off x="1124712" y="4904232"/>
            <a:ext cx="7360919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>
                <a:solidFill>
                  <a:srgbClr val="404040"/>
                </a:solidFill>
                <a:latin typeface="Calibri"/>
              </a:rPr>
              <a:t>•  Búsqueda manual en Maps, web corporativa y memoria anual.</a:t>
            </a:r>
          </a:p>
        </p:txBody>
      </p:sp>
      <p:sp>
        <p:nvSpPr>
          <p:cNvPr id="9009" name="TextBox 9008"/>
          <p:cNvSpPr txBox="1"/>
          <p:nvPr/>
        </p:nvSpPr>
        <p:spPr>
          <a:xfrm>
            <a:off x="1124712" y="5407152"/>
            <a:ext cx="7360919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>
                <a:solidFill>
                  <a:srgbClr val="404040"/>
                </a:solidFill>
                <a:latin typeface="Calibri"/>
              </a:rPr>
              <a:t>•  Dependiente del criterio del analista — no replicable.</a:t>
            </a:r>
          </a:p>
        </p:txBody>
      </p:sp>
      <p:sp>
        <p:nvSpPr>
          <p:cNvPr id="9010" name="TextBox 9009"/>
          <p:cNvSpPr txBox="1"/>
          <p:nvPr/>
        </p:nvSpPr>
        <p:spPr>
          <a:xfrm>
            <a:off x="1124712" y="5910072"/>
            <a:ext cx="7360919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>
                <a:solidFill>
                  <a:srgbClr val="404040"/>
                </a:solidFill>
                <a:latin typeface="Calibri"/>
              </a:rPr>
              <a:t>•  Sin trazabilidad de fuentes ni score por activo.</a:t>
            </a:r>
          </a:p>
        </p:txBody>
      </p:sp>
      <p:sp>
        <p:nvSpPr>
          <p:cNvPr id="9011" name="Rounded Rectangle 9010"/>
          <p:cNvSpPr/>
          <p:nvPr/>
        </p:nvSpPr>
        <p:spPr>
          <a:xfrm>
            <a:off x="9299448" y="2892552"/>
            <a:ext cx="8092440" cy="4023360"/>
          </a:xfrm>
          <a:prstGeom prst="roundRect">
            <a:avLst>
              <a:gd name="adj" fmla="val 4000"/>
            </a:avLst>
          </a:prstGeom>
          <a:solidFill>
            <a:srgbClr val="14284D"/>
          </a:solidFill>
          <a:ln>
            <a:noFill/>
          </a:ln>
          <a:effectLst>
            <a:outerShdw blurRad="127000" dist="38100" dir="5400000" algn="tl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12" name="TextBox 9011"/>
          <p:cNvSpPr txBox="1"/>
          <p:nvPr/>
        </p:nvSpPr>
        <p:spPr>
          <a:xfrm>
            <a:off x="9665208" y="3166870"/>
            <a:ext cx="7360919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BF9000"/>
                </a:solidFill>
                <a:latin typeface="Calibri"/>
              </a:rPr>
              <a:t>TO-BE · GEOASSETS INTELLIGENCE</a:t>
            </a:r>
          </a:p>
        </p:txBody>
      </p:sp>
      <p:sp>
        <p:nvSpPr>
          <p:cNvPr id="9013" name="TextBox 9012"/>
          <p:cNvSpPr txBox="1"/>
          <p:nvPr/>
        </p:nvSpPr>
        <p:spPr>
          <a:xfrm>
            <a:off x="9665208" y="3532632"/>
            <a:ext cx="7360919" cy="10972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7200" b="1">
                <a:solidFill>
                  <a:srgbClr val="FFFFFF"/>
                </a:solidFill>
                <a:latin typeface="Calibri"/>
              </a:rPr>
              <a:t>~2 min</a:t>
            </a:r>
            <a:r>
              <a:rPr sz="2000">
                <a:solidFill>
                  <a:srgbClr val="FFFFFF"/>
                </a:solidFill>
                <a:latin typeface="Calibri"/>
              </a:rPr>
              <a:t>   </a:t>
            </a:r>
            <a:r>
              <a:rPr sz="2000" err="1">
                <a:solidFill>
                  <a:srgbClr val="FFFFFF"/>
                </a:solidFill>
                <a:latin typeface="Calibri"/>
              </a:rPr>
              <a:t>por</a:t>
            </a:r>
            <a:r>
              <a:rPr sz="2000">
                <a:solidFill>
                  <a:srgbClr val="FFFFFF"/>
                </a:solidFill>
                <a:latin typeface="Calibri"/>
              </a:rPr>
              <a:t> </a:t>
            </a:r>
            <a:r>
              <a:rPr sz="2000" err="1">
                <a:solidFill>
                  <a:srgbClr val="FFFFFF"/>
                </a:solidFill>
                <a:latin typeface="Calibri"/>
              </a:rPr>
              <a:t>empresa</a:t>
            </a:r>
            <a:endParaRPr sz="20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9014" name="TextBox 9013"/>
          <p:cNvSpPr txBox="1"/>
          <p:nvPr/>
        </p:nvSpPr>
        <p:spPr>
          <a:xfrm>
            <a:off x="9665208" y="4904232"/>
            <a:ext cx="7360919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>
                <a:solidFill>
                  <a:srgbClr val="FFFFFF"/>
                </a:solidFill>
                <a:latin typeface="Calibri"/>
              </a:rPr>
              <a:t>•  Tres pipelines según el input disponible (nombre · documento · agente).</a:t>
            </a:r>
          </a:p>
        </p:txBody>
      </p:sp>
      <p:sp>
        <p:nvSpPr>
          <p:cNvPr id="9015" name="TextBox 9014"/>
          <p:cNvSpPr txBox="1"/>
          <p:nvPr/>
        </p:nvSpPr>
        <p:spPr>
          <a:xfrm>
            <a:off x="9665208" y="5407152"/>
            <a:ext cx="7360919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>
                <a:solidFill>
                  <a:srgbClr val="FFFFFF"/>
                </a:solidFill>
                <a:latin typeface="Calibri"/>
              </a:rPr>
              <a:t>•  Trazabilidad por fuente: Maps API, Document o Agente.</a:t>
            </a:r>
          </a:p>
        </p:txBody>
      </p:sp>
      <p:sp>
        <p:nvSpPr>
          <p:cNvPr id="9016" name="TextBox 9015"/>
          <p:cNvSpPr txBox="1"/>
          <p:nvPr/>
        </p:nvSpPr>
        <p:spPr>
          <a:xfrm>
            <a:off x="9665208" y="5910072"/>
            <a:ext cx="7360919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>
                <a:solidFill>
                  <a:srgbClr val="FFFFFF"/>
                </a:solidFill>
                <a:latin typeface="Calibri"/>
              </a:rPr>
              <a:t>•  Score Beta-smoothed auditable por activo y por señal.</a:t>
            </a:r>
          </a:p>
        </p:txBody>
      </p:sp>
      <p:sp>
        <p:nvSpPr>
          <p:cNvPr id="9017" name="Rounded Rectangle 9016"/>
          <p:cNvSpPr/>
          <p:nvPr/>
        </p:nvSpPr>
        <p:spPr>
          <a:xfrm>
            <a:off x="758952" y="7190232"/>
            <a:ext cx="16770096" cy="1280160"/>
          </a:xfrm>
          <a:prstGeom prst="roundRect">
            <a:avLst>
              <a:gd name="adj" fmla="val 4000"/>
            </a:avLst>
          </a:prstGeom>
          <a:solidFill>
            <a:srgbClr val="1F3864"/>
          </a:solidFill>
          <a:ln>
            <a:noFill/>
          </a:ln>
          <a:effectLst>
            <a:outerShdw blurRad="152400" dist="38100" dir="5400000" algn="tl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18" name="TextBox 9017"/>
          <p:cNvSpPr txBox="1"/>
          <p:nvPr/>
        </p:nvSpPr>
        <p:spPr>
          <a:xfrm>
            <a:off x="1097280" y="7373111"/>
            <a:ext cx="4572000" cy="9144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5600" b="1">
                <a:solidFill>
                  <a:srgbClr val="BF9000"/>
                </a:solidFill>
                <a:latin typeface="Calibri"/>
              </a:rPr>
              <a:t>×60-120</a:t>
            </a:r>
          </a:p>
        </p:txBody>
      </p:sp>
      <p:sp>
        <p:nvSpPr>
          <p:cNvPr id="9019" name="TextBox 9018"/>
          <p:cNvSpPr txBox="1"/>
          <p:nvPr/>
        </p:nvSpPr>
        <p:spPr>
          <a:xfrm>
            <a:off x="6400800" y="7464551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Calibri"/>
              </a:rPr>
              <a:t>Reducción de tiempo por empresa según el caso. </a:t>
            </a:r>
            <a:r>
              <a:rPr sz="1300">
                <a:solidFill>
                  <a:srgbClr val="FFFFFF"/>
                </a:solidFill>
                <a:latin typeface="Calibri"/>
              </a:rPr>
              <a:t>Banda explícita: extremo inferior con flujo manual rápido (cobertura parcial), extremo superior con análisis exhaustivo y reproducible.</a:t>
            </a:r>
          </a:p>
        </p:txBody>
      </p:sp>
      <p:sp>
        <p:nvSpPr>
          <p:cNvPr id="9020" name="TextBox 9019"/>
          <p:cNvSpPr txBox="1"/>
          <p:nvPr/>
        </p:nvSpPr>
        <p:spPr>
          <a:xfrm>
            <a:off x="758952" y="8653272"/>
            <a:ext cx="82296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4F814F"/>
                </a:solidFill>
                <a:latin typeface="Calibri"/>
              </a:rPr>
              <a:t>DEMOSTRADO</a:t>
            </a:r>
          </a:p>
        </p:txBody>
      </p:sp>
      <p:sp>
        <p:nvSpPr>
          <p:cNvPr id="9021" name="TextBox 9020"/>
          <p:cNvSpPr txBox="1"/>
          <p:nvPr/>
        </p:nvSpPr>
        <p:spPr>
          <a:xfrm>
            <a:off x="758952" y="8927591"/>
            <a:ext cx="822960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>
                <a:solidFill>
                  <a:srgbClr val="404040"/>
                </a:solidFill>
                <a:latin typeface="Calibri"/>
              </a:rPr>
              <a:t>✓  Tres pipelines funcionan extremo a extremo sobre empresas reales.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404040"/>
                </a:solidFill>
                <a:latin typeface="Calibri"/>
              </a:rPr>
              <a:t>✓  Tiempos del orden de minutos, frente a horas en el flujo manual.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404040"/>
                </a:solidFill>
                <a:latin typeface="Calibri"/>
              </a:rPr>
              <a:t>✓  Trazabilidad por activo: fuente, señales y score auditable.</a:t>
            </a:r>
          </a:p>
        </p:txBody>
      </p:sp>
      <p:sp>
        <p:nvSpPr>
          <p:cNvPr id="9022" name="TextBox 9021"/>
          <p:cNvSpPr txBox="1"/>
          <p:nvPr/>
        </p:nvSpPr>
        <p:spPr>
          <a:xfrm>
            <a:off x="9299448" y="8653272"/>
            <a:ext cx="82296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C0504D"/>
                </a:solidFill>
                <a:latin typeface="Calibri"/>
              </a:rPr>
              <a:t>NO AFIRMADO · PENDIENTE</a:t>
            </a:r>
          </a:p>
        </p:txBody>
      </p:sp>
      <p:sp>
        <p:nvSpPr>
          <p:cNvPr id="9023" name="TextBox 9022"/>
          <p:cNvSpPr txBox="1"/>
          <p:nvPr/>
        </p:nvSpPr>
        <p:spPr>
          <a:xfrm>
            <a:off x="9299448" y="8927591"/>
            <a:ext cx="822960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>
                <a:solidFill>
                  <a:srgbClr val="404040"/>
                </a:solidFill>
                <a:latin typeface="Calibri"/>
              </a:rPr>
              <a:t>✗  Precision/recall </a:t>
            </a:r>
            <a:r>
              <a:rPr sz="1300" err="1">
                <a:solidFill>
                  <a:srgbClr val="404040"/>
                </a:solidFill>
                <a:latin typeface="Calibri"/>
              </a:rPr>
              <a:t>numérico</a:t>
            </a:r>
            <a:r>
              <a:rPr sz="1300">
                <a:solidFill>
                  <a:srgbClr val="404040"/>
                </a:solidFill>
                <a:latin typeface="Calibri"/>
              </a:rPr>
              <a:t> — sin ground truth de </a:t>
            </a:r>
            <a:r>
              <a:rPr sz="1300" err="1">
                <a:solidFill>
                  <a:srgbClr val="404040"/>
                </a:solidFill>
                <a:latin typeface="Calibri"/>
              </a:rPr>
              <a:t>validación</a:t>
            </a:r>
            <a:r>
              <a:rPr sz="1300">
                <a:solidFill>
                  <a:srgbClr val="404040"/>
                </a:solidFill>
                <a:latin typeface="Calibri"/>
              </a:rPr>
              <a:t>.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404040"/>
                </a:solidFill>
                <a:latin typeface="Calibri"/>
              </a:rPr>
              <a:t>✗  </a:t>
            </a:r>
            <a:r>
              <a:rPr sz="1300" err="1">
                <a:solidFill>
                  <a:srgbClr val="404040"/>
                </a:solidFill>
                <a:latin typeface="Calibri"/>
              </a:rPr>
              <a:t>Filtrado</a:t>
            </a:r>
            <a:r>
              <a:rPr sz="1300">
                <a:solidFill>
                  <a:srgbClr val="404040"/>
                </a:solidFill>
                <a:latin typeface="Calibri"/>
              </a:rPr>
              <a:t> </a:t>
            </a:r>
            <a:r>
              <a:rPr sz="1300" err="1">
                <a:solidFill>
                  <a:srgbClr val="404040"/>
                </a:solidFill>
                <a:latin typeface="Calibri"/>
              </a:rPr>
              <a:t>geográfico</a:t>
            </a:r>
            <a:r>
              <a:rPr sz="1300">
                <a:solidFill>
                  <a:srgbClr val="404040"/>
                </a:solidFill>
                <a:latin typeface="Calibri"/>
              </a:rPr>
              <a:t> </a:t>
            </a:r>
            <a:r>
              <a:rPr sz="1300" err="1">
                <a:solidFill>
                  <a:srgbClr val="404040"/>
                </a:solidFill>
                <a:latin typeface="Calibri"/>
              </a:rPr>
              <a:t>por</a:t>
            </a:r>
            <a:r>
              <a:rPr sz="1300">
                <a:solidFill>
                  <a:srgbClr val="404040"/>
                </a:solidFill>
                <a:latin typeface="Calibri"/>
              </a:rPr>
              <a:t> </a:t>
            </a:r>
            <a:r>
              <a:rPr sz="1300" err="1">
                <a:solidFill>
                  <a:srgbClr val="404040"/>
                </a:solidFill>
                <a:latin typeface="Calibri"/>
              </a:rPr>
              <a:t>país</a:t>
            </a:r>
            <a:r>
              <a:rPr sz="1300">
                <a:solidFill>
                  <a:srgbClr val="404040"/>
                </a:solidFill>
                <a:latin typeface="Calibri"/>
              </a:rPr>
              <a:t> </a:t>
            </a:r>
            <a:r>
              <a:rPr sz="1300" err="1">
                <a:solidFill>
                  <a:srgbClr val="404040"/>
                </a:solidFill>
                <a:latin typeface="Calibri"/>
              </a:rPr>
              <a:t>en</a:t>
            </a:r>
            <a:r>
              <a:rPr sz="1300">
                <a:solidFill>
                  <a:srgbClr val="404040"/>
                </a:solidFill>
                <a:latin typeface="Calibri"/>
              </a:rPr>
              <a:t> pipeline </a:t>
            </a:r>
            <a:r>
              <a:rPr sz="1300" err="1">
                <a:solidFill>
                  <a:srgbClr val="404040"/>
                </a:solidFill>
                <a:latin typeface="Calibri"/>
              </a:rPr>
              <a:t>documento</a:t>
            </a:r>
            <a:r>
              <a:rPr sz="1300">
                <a:solidFill>
                  <a:srgbClr val="404040"/>
                </a:solidFill>
                <a:latin typeface="Calibri"/>
              </a:rPr>
              <a:t>.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404040"/>
                </a:solidFill>
                <a:latin typeface="Calibri"/>
              </a:rPr>
              <a:t>✗  </a:t>
            </a:r>
            <a:r>
              <a:rPr sz="1300" err="1">
                <a:solidFill>
                  <a:srgbClr val="404040"/>
                </a:solidFill>
                <a:latin typeface="Calibri"/>
              </a:rPr>
              <a:t>Cobertura</a:t>
            </a:r>
            <a:r>
              <a:rPr sz="1300">
                <a:solidFill>
                  <a:srgbClr val="404040"/>
                </a:solidFill>
                <a:latin typeface="Calibri"/>
              </a:rPr>
              <a:t> del </a:t>
            </a:r>
            <a:r>
              <a:rPr sz="1300" err="1">
                <a:solidFill>
                  <a:srgbClr val="404040"/>
                </a:solidFill>
                <a:latin typeface="Calibri"/>
              </a:rPr>
              <a:t>agente</a:t>
            </a:r>
            <a:r>
              <a:rPr sz="1300">
                <a:solidFill>
                  <a:srgbClr val="404040"/>
                </a:solidFill>
                <a:latin typeface="Calibri"/>
              </a:rPr>
              <a:t> </a:t>
            </a:r>
            <a:r>
              <a:rPr sz="1300" err="1">
                <a:solidFill>
                  <a:srgbClr val="404040"/>
                </a:solidFill>
                <a:latin typeface="Calibri"/>
              </a:rPr>
              <a:t>sobre</a:t>
            </a:r>
            <a:r>
              <a:rPr sz="1300">
                <a:solidFill>
                  <a:srgbClr val="404040"/>
                </a:solidFill>
                <a:latin typeface="Calibri"/>
              </a:rPr>
              <a:t> </a:t>
            </a:r>
            <a:r>
              <a:rPr sz="1300" err="1">
                <a:solidFill>
                  <a:srgbClr val="404040"/>
                </a:solidFill>
                <a:latin typeface="Calibri"/>
              </a:rPr>
              <a:t>empresas</a:t>
            </a:r>
            <a:r>
              <a:rPr sz="1300">
                <a:solidFill>
                  <a:srgbClr val="404040"/>
                </a:solidFill>
                <a:latin typeface="Calibri"/>
              </a:rPr>
              <a:t> </a:t>
            </a:r>
            <a:r>
              <a:rPr sz="1300" err="1">
                <a:solidFill>
                  <a:srgbClr val="404040"/>
                </a:solidFill>
                <a:latin typeface="Calibri"/>
              </a:rPr>
              <a:t>opacas</a:t>
            </a:r>
            <a:r>
              <a:rPr sz="1300">
                <a:solidFill>
                  <a:srgbClr val="404040"/>
                </a:solidFill>
                <a:latin typeface="Calibri"/>
              </a:rPr>
              <a:t> — no </a:t>
            </a:r>
            <a:r>
              <a:rPr sz="1300" err="1">
                <a:solidFill>
                  <a:srgbClr val="404040"/>
                </a:solidFill>
                <a:latin typeface="Calibri"/>
              </a:rPr>
              <a:t>probado</a:t>
            </a:r>
            <a:r>
              <a:rPr sz="1300">
                <a:solidFill>
                  <a:srgbClr val="404040"/>
                </a:solidFill>
                <a:latin typeface="Calibri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1115629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26D4868-8701-1324-CB15-FBA257066D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6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255256"/>
            <a:ext cx="18288000" cy="9729788"/>
          </a:xfrm>
          <a:prstGeom prst="rect">
            <a:avLst/>
          </a:prstGeom>
        </p:spPr>
      </p:pic>
      <p:graphicFrame>
        <p:nvGraphicFramePr>
          <p:cNvPr id="6" name="Object 5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4369" y="3848"/>
          <a:ext cx="3176" cy="31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270" imgH="270" progId="TCLayout.ActiveDocument.1">
                  <p:embed/>
                </p:oleObj>
              </mc:Choice>
              <mc:Fallback>
                <p:oleObj name="think-cell Slide" r:id="rId5" imgW="270" imgH="270" progId="TCLayout.ActiveDocument.1">
                  <p:embed/>
                  <p:pic>
                    <p:nvPicPr>
                      <p:cNvPr id="6" name="Object 5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369" y="3848"/>
                        <a:ext cx="3176" cy="317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" name="TextBox 23">
            <a:extLst>
              <a:ext uri="{FF2B5EF4-FFF2-40B4-BE49-F238E27FC236}">
                <a16:creationId xmlns:a16="http://schemas.microsoft.com/office/drawing/2014/main" id="{25FFD7D5-7622-4CE1-9525-56F18FF62B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1327" y="812469"/>
            <a:ext cx="6823923" cy="901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60895" tIns="80445" rIns="160895" bIns="80445" anchor="t">
            <a:spAutoFit/>
          </a:bodyPr>
          <a:lstStyle>
            <a:defPPr>
              <a:defRPr lang="es-E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defRPr/>
            </a:pPr>
            <a:r>
              <a:rPr lang="es-ES" sz="4800" b="1" noProof="0">
                <a:solidFill>
                  <a:srgbClr val="FFFFFF"/>
                </a:solidFill>
                <a:latin typeface="+mj-lt"/>
                <a:cs typeface="Arial"/>
                <a:sym typeface="Arial"/>
              </a:rPr>
              <a:t>Índice</a:t>
            </a:r>
            <a:endParaRPr lang="es-ES" sz="4800" b="1" noProof="0">
              <a:solidFill>
                <a:srgbClr val="FFFFFF"/>
              </a:solidFill>
              <a:latin typeface="+mj-lt"/>
              <a:cs typeface="Arial"/>
            </a:endParaRPr>
          </a:p>
        </p:txBody>
      </p:sp>
      <p:grpSp>
        <p:nvGrpSpPr>
          <p:cNvPr id="2000" name="IdxGroup0"/>
          <p:cNvGrpSpPr/>
          <p:nvPr/>
        </p:nvGrpSpPr>
        <p:grpSpPr>
          <a:xfrm>
            <a:off x="2047897" y="2536436"/>
            <a:ext cx="8604329" cy="571050"/>
            <a:chOff x="969531" y="947475"/>
            <a:chExt cx="5736219" cy="380700"/>
          </a:xfrm>
        </p:grpSpPr>
        <p:sp>
          <p:nvSpPr>
            <p:cNvPr id="2001" name="IdxNum0"/>
            <p:cNvSpPr txBox="1"/>
            <p:nvPr/>
          </p:nvSpPr>
          <p:spPr>
            <a:xfrm>
              <a:off x="969531" y="947475"/>
              <a:ext cx="564600" cy="38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688" tIns="118688" rIns="118688" bIns="118688" anchor="ctr" anchorCtr="0">
              <a:noAutofit/>
            </a:bodyPr>
            <a:lstStyle/>
            <a:p>
              <a:pPr>
                <a:buClr>
                  <a:srgbClr val="000000"/>
                </a:buClr>
                <a:buSzPts val="1900"/>
              </a:pPr>
              <a:r>
                <a:rPr lang="es-ES" sz="2850" b="1">
                  <a:solidFill>
                    <a:schemeClr val="bg2">
                      <a:lumMod val="60000"/>
                      <a:lumOff val="40000"/>
                    </a:schemeClr>
                  </a:solidFill>
                  <a:latin typeface="+mj-lt"/>
                  <a:ea typeface="Lato Black"/>
                  <a:cs typeface="Lato Black"/>
                  <a:sym typeface="Lato Black"/>
                </a:rPr>
                <a:t>01</a:t>
              </a:r>
            </a:p>
          </p:txBody>
        </p:sp>
        <p:sp>
          <p:nvSpPr>
            <p:cNvPr id="2002" name="IdxTitle0"/>
            <p:cNvSpPr txBox="1"/>
            <p:nvPr/>
          </p:nvSpPr>
          <p:spPr>
            <a:xfrm>
              <a:off x="1708650" y="947475"/>
              <a:ext cx="4997100" cy="38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688" tIns="118688" rIns="118688" bIns="118688" anchor="ctr" anchorCtr="0">
              <a:noAutofit/>
            </a:bodyPr>
            <a:lstStyle/>
            <a:p>
              <a:r>
                <a:rPr lang="es-ES" sz="2400" b="1">
                  <a:solidFill>
                    <a:schemeClr val="bg2">
                      <a:lumMod val="60000"/>
                      <a:lumOff val="40000"/>
                    </a:schemeClr>
                  </a:solidFill>
                  <a:latin typeface="+mj-lt"/>
                  <a:ea typeface="Lato Black"/>
                  <a:cs typeface="Lato Black"/>
                  <a:sym typeface="Lato Black"/>
                </a:rPr>
                <a:t>Contexto y oportunidad</a:t>
              </a:r>
            </a:p>
          </p:txBody>
        </p:sp>
        <p:cxnSp>
          <p:nvCxnSpPr>
            <p:cNvPr id="2003" name="IdxBar0"/>
            <p:cNvCxnSpPr/>
            <p:nvPr/>
          </p:nvCxnSpPr>
          <p:spPr>
            <a:xfrm>
              <a:off x="1515900" y="952425"/>
              <a:ext cx="0" cy="370800"/>
            </a:xfrm>
            <a:prstGeom prst="straightConnector1">
              <a:avLst/>
            </a:prstGeom>
            <a:noFill/>
            <a:ln w="28575" cap="flat" cmpd="sng">
              <a:solidFill>
                <a:schemeClr val="bg2">
                  <a:lumMod val="60000"/>
                  <a:lumOff val="4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010" name="IdxGroup1"/>
          <p:cNvGrpSpPr/>
          <p:nvPr/>
        </p:nvGrpSpPr>
        <p:grpSpPr>
          <a:xfrm>
            <a:off x="2047897" y="3171436"/>
            <a:ext cx="8604329" cy="571050"/>
            <a:chOff x="969531" y="947475"/>
            <a:chExt cx="5736219" cy="380700"/>
          </a:xfrm>
        </p:grpSpPr>
        <p:sp>
          <p:nvSpPr>
            <p:cNvPr id="2011" name="IdxNum1"/>
            <p:cNvSpPr txBox="1"/>
            <p:nvPr/>
          </p:nvSpPr>
          <p:spPr>
            <a:xfrm>
              <a:off x="969531" y="947475"/>
              <a:ext cx="564600" cy="38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688" tIns="118688" rIns="118688" bIns="118688" anchor="ctr" anchorCtr="0">
              <a:noAutofit/>
            </a:bodyPr>
            <a:lstStyle/>
            <a:p>
              <a:pPr>
                <a:buClr>
                  <a:srgbClr val="000000"/>
                </a:buClr>
                <a:buSzPts val="1900"/>
              </a:pPr>
              <a:r>
                <a:rPr lang="es-ES" sz="2850" b="1">
                  <a:solidFill>
                    <a:schemeClr val="bg2">
                      <a:lumMod val="60000"/>
                      <a:lumOff val="40000"/>
                    </a:schemeClr>
                  </a:solidFill>
                  <a:latin typeface="+mj-lt"/>
                  <a:ea typeface="Lato Black"/>
                  <a:cs typeface="Lato Black"/>
                  <a:sym typeface="Lato Black"/>
                </a:rPr>
                <a:t>02</a:t>
              </a:r>
            </a:p>
          </p:txBody>
        </p:sp>
        <p:sp>
          <p:nvSpPr>
            <p:cNvPr id="2012" name="IdxTitle1"/>
            <p:cNvSpPr txBox="1"/>
            <p:nvPr/>
          </p:nvSpPr>
          <p:spPr>
            <a:xfrm>
              <a:off x="1708650" y="947475"/>
              <a:ext cx="4997100" cy="38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688" tIns="118688" rIns="118688" bIns="118688" anchor="ctr" anchorCtr="0">
              <a:noAutofit/>
            </a:bodyPr>
            <a:lstStyle/>
            <a:p>
              <a:r>
                <a:rPr lang="es-ES" sz="2400" b="1">
                  <a:solidFill>
                    <a:schemeClr val="bg2">
                      <a:lumMod val="60000"/>
                      <a:lumOff val="40000"/>
                    </a:schemeClr>
                  </a:solidFill>
                  <a:latin typeface="+mj-lt"/>
                  <a:ea typeface="Lato Black"/>
                  <a:cs typeface="Lato Black"/>
                  <a:sym typeface="Lato Black"/>
                </a:rPr>
                <a:t>La solución</a:t>
              </a:r>
            </a:p>
          </p:txBody>
        </p:sp>
        <p:cxnSp>
          <p:nvCxnSpPr>
            <p:cNvPr id="2013" name="IdxBar1"/>
            <p:cNvCxnSpPr/>
            <p:nvPr/>
          </p:nvCxnSpPr>
          <p:spPr>
            <a:xfrm>
              <a:off x="1515900" y="952425"/>
              <a:ext cx="0" cy="370800"/>
            </a:xfrm>
            <a:prstGeom prst="straightConnector1">
              <a:avLst/>
            </a:prstGeom>
            <a:noFill/>
            <a:ln w="28575" cap="flat" cmpd="sng">
              <a:solidFill>
                <a:schemeClr val="bg2">
                  <a:lumMod val="60000"/>
                  <a:lumOff val="4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020" name="IdxGroup2"/>
          <p:cNvGrpSpPr/>
          <p:nvPr/>
        </p:nvGrpSpPr>
        <p:grpSpPr>
          <a:xfrm>
            <a:off x="2047897" y="3806436"/>
            <a:ext cx="8604329" cy="571050"/>
            <a:chOff x="969531" y="947475"/>
            <a:chExt cx="5736219" cy="380700"/>
          </a:xfrm>
        </p:grpSpPr>
        <p:sp>
          <p:nvSpPr>
            <p:cNvPr id="2021" name="IdxNum2"/>
            <p:cNvSpPr txBox="1"/>
            <p:nvPr/>
          </p:nvSpPr>
          <p:spPr>
            <a:xfrm>
              <a:off x="969531" y="947475"/>
              <a:ext cx="564600" cy="38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688" tIns="118688" rIns="118688" bIns="118688" anchor="ctr" anchorCtr="0">
              <a:noAutofit/>
            </a:bodyPr>
            <a:lstStyle/>
            <a:p>
              <a:pPr>
                <a:buClr>
                  <a:srgbClr val="000000"/>
                </a:buClr>
                <a:buSzPts val="1900"/>
              </a:pPr>
              <a:r>
                <a:rPr lang="es-ES" sz="2850" b="1">
                  <a:solidFill>
                    <a:schemeClr val="bg2">
                      <a:lumMod val="60000"/>
                      <a:lumOff val="40000"/>
                    </a:schemeClr>
                  </a:solidFill>
                  <a:latin typeface="+mj-lt"/>
                  <a:ea typeface="Lato Black"/>
                  <a:cs typeface="Lato Black"/>
                  <a:sym typeface="Lato Black"/>
                </a:rPr>
                <a:t>03</a:t>
              </a:r>
            </a:p>
          </p:txBody>
        </p:sp>
        <p:sp>
          <p:nvSpPr>
            <p:cNvPr id="2022" name="IdxTitle2"/>
            <p:cNvSpPr txBox="1"/>
            <p:nvPr/>
          </p:nvSpPr>
          <p:spPr>
            <a:xfrm>
              <a:off x="1708650" y="947475"/>
              <a:ext cx="4997100" cy="38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688" tIns="118688" rIns="118688" bIns="118688" anchor="ctr" anchorCtr="0">
              <a:noAutofit/>
            </a:bodyPr>
            <a:lstStyle/>
            <a:p>
              <a:r>
                <a:rPr lang="es-ES" sz="2400" b="1">
                  <a:solidFill>
                    <a:schemeClr val="bg2">
                      <a:lumMod val="60000"/>
                      <a:lumOff val="40000"/>
                    </a:schemeClr>
                  </a:solidFill>
                  <a:latin typeface="+mj-lt"/>
                  <a:ea typeface="Lato Black"/>
                  <a:cs typeface="Lato Black"/>
                  <a:sym typeface="Lato Black"/>
                </a:rPr>
                <a:t>Arquitectura técnica</a:t>
              </a:r>
            </a:p>
          </p:txBody>
        </p:sp>
        <p:cxnSp>
          <p:nvCxnSpPr>
            <p:cNvPr id="2023" name="IdxBar2"/>
            <p:cNvCxnSpPr/>
            <p:nvPr/>
          </p:nvCxnSpPr>
          <p:spPr>
            <a:xfrm>
              <a:off x="1515900" y="952425"/>
              <a:ext cx="0" cy="370800"/>
            </a:xfrm>
            <a:prstGeom prst="straightConnector1">
              <a:avLst/>
            </a:prstGeom>
            <a:noFill/>
            <a:ln w="28575" cap="flat" cmpd="sng">
              <a:solidFill>
                <a:schemeClr val="bg2">
                  <a:lumMod val="60000"/>
                  <a:lumOff val="4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030" name="IdxGroup3"/>
          <p:cNvGrpSpPr/>
          <p:nvPr/>
        </p:nvGrpSpPr>
        <p:grpSpPr>
          <a:xfrm>
            <a:off x="2047897" y="4441436"/>
            <a:ext cx="8604329" cy="571050"/>
            <a:chOff x="969531" y="947475"/>
            <a:chExt cx="5736219" cy="380700"/>
          </a:xfrm>
        </p:grpSpPr>
        <p:sp>
          <p:nvSpPr>
            <p:cNvPr id="2031" name="IdxNum3"/>
            <p:cNvSpPr txBox="1"/>
            <p:nvPr/>
          </p:nvSpPr>
          <p:spPr>
            <a:xfrm>
              <a:off x="969531" y="947475"/>
              <a:ext cx="564600" cy="38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688" tIns="118688" rIns="118688" bIns="118688" anchor="ctr" anchorCtr="0">
              <a:noAutofit/>
            </a:bodyPr>
            <a:lstStyle/>
            <a:p>
              <a:pPr>
                <a:buClr>
                  <a:srgbClr val="000000"/>
                </a:buClr>
                <a:buSzPts val="1900"/>
              </a:pPr>
              <a:r>
                <a:rPr lang="es-ES" sz="2850" b="1">
                  <a:solidFill>
                    <a:schemeClr val="bg2">
                      <a:lumMod val="60000"/>
                      <a:lumOff val="40000"/>
                    </a:schemeClr>
                  </a:solidFill>
                  <a:latin typeface="+mj-lt"/>
                  <a:ea typeface="Lato Black"/>
                  <a:cs typeface="Lato Black"/>
                  <a:sym typeface="Lato Black"/>
                </a:rPr>
                <a:t>04</a:t>
              </a:r>
            </a:p>
          </p:txBody>
        </p:sp>
        <p:sp>
          <p:nvSpPr>
            <p:cNvPr id="2032" name="IdxTitle3"/>
            <p:cNvSpPr txBox="1"/>
            <p:nvPr/>
          </p:nvSpPr>
          <p:spPr>
            <a:xfrm>
              <a:off x="1708650" y="947475"/>
              <a:ext cx="4997100" cy="38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688" tIns="118688" rIns="118688" bIns="118688" anchor="ctr" anchorCtr="0">
              <a:noAutofit/>
            </a:bodyPr>
            <a:lstStyle/>
            <a:p>
              <a:r>
                <a:rPr lang="es-ES" sz="2400" b="1">
                  <a:solidFill>
                    <a:schemeClr val="bg2">
                      <a:lumMod val="60000"/>
                      <a:lumOff val="40000"/>
                    </a:schemeClr>
                  </a:solidFill>
                  <a:latin typeface="+mj-lt"/>
                  <a:ea typeface="Lato Black"/>
                  <a:cs typeface="Lato Black"/>
                  <a:sym typeface="Lato Black"/>
                </a:rPr>
                <a:t>Pipelines de análisis</a:t>
              </a:r>
            </a:p>
          </p:txBody>
        </p:sp>
        <p:cxnSp>
          <p:nvCxnSpPr>
            <p:cNvPr id="2033" name="IdxBar3"/>
            <p:cNvCxnSpPr/>
            <p:nvPr/>
          </p:nvCxnSpPr>
          <p:spPr>
            <a:xfrm>
              <a:off x="1515900" y="952425"/>
              <a:ext cx="0" cy="370800"/>
            </a:xfrm>
            <a:prstGeom prst="straightConnector1">
              <a:avLst/>
            </a:prstGeom>
            <a:noFill/>
            <a:ln w="28575" cap="flat" cmpd="sng">
              <a:solidFill>
                <a:schemeClr val="bg2">
                  <a:lumMod val="60000"/>
                  <a:lumOff val="4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040" name="IdxGroup4"/>
          <p:cNvGrpSpPr/>
          <p:nvPr/>
        </p:nvGrpSpPr>
        <p:grpSpPr>
          <a:xfrm>
            <a:off x="2047897" y="5076436"/>
            <a:ext cx="8604329" cy="571050"/>
            <a:chOff x="969531" y="947475"/>
            <a:chExt cx="5736219" cy="380700"/>
          </a:xfrm>
        </p:grpSpPr>
        <p:sp>
          <p:nvSpPr>
            <p:cNvPr id="2041" name="IdxNum4"/>
            <p:cNvSpPr txBox="1"/>
            <p:nvPr/>
          </p:nvSpPr>
          <p:spPr>
            <a:xfrm>
              <a:off x="969531" y="947475"/>
              <a:ext cx="564600" cy="38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688" tIns="118688" rIns="118688" bIns="118688" anchor="ctr" anchorCtr="0">
              <a:noAutofit/>
            </a:bodyPr>
            <a:lstStyle/>
            <a:p>
              <a:pPr>
                <a:buClr>
                  <a:srgbClr val="000000"/>
                </a:buClr>
                <a:buSzPts val="1900"/>
              </a:pPr>
              <a:r>
                <a:rPr lang="es-ES" sz="2850" b="1">
                  <a:solidFill>
                    <a:schemeClr val="bg2">
                      <a:lumMod val="60000"/>
                      <a:lumOff val="40000"/>
                    </a:schemeClr>
                  </a:solidFill>
                  <a:latin typeface="+mj-lt"/>
                  <a:ea typeface="Lato Black"/>
                  <a:cs typeface="Lato Black"/>
                  <a:sym typeface="Lato Black"/>
                </a:rPr>
                <a:t>05</a:t>
              </a:r>
            </a:p>
          </p:txBody>
        </p:sp>
        <p:sp>
          <p:nvSpPr>
            <p:cNvPr id="2042" name="IdxTitle4"/>
            <p:cNvSpPr txBox="1"/>
            <p:nvPr/>
          </p:nvSpPr>
          <p:spPr>
            <a:xfrm>
              <a:off x="1708650" y="947475"/>
              <a:ext cx="4997100" cy="38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688" tIns="118688" rIns="118688" bIns="118688" anchor="ctr" anchorCtr="0">
              <a:noAutofit/>
            </a:bodyPr>
            <a:lstStyle/>
            <a:p>
              <a:r>
                <a:rPr lang="es-ES" sz="2400" b="1">
                  <a:solidFill>
                    <a:schemeClr val="bg2">
                      <a:lumMod val="60000"/>
                      <a:lumOff val="40000"/>
                    </a:schemeClr>
                  </a:solidFill>
                  <a:latin typeface="+mj-lt"/>
                  <a:ea typeface="Lato Black"/>
                  <a:cs typeface="Lato Black"/>
                  <a:sym typeface="Lato Black"/>
                </a:rPr>
                <a:t>Demostración y resultados</a:t>
              </a:r>
            </a:p>
          </p:txBody>
        </p:sp>
        <p:cxnSp>
          <p:nvCxnSpPr>
            <p:cNvPr id="2043" name="IdxBar4"/>
            <p:cNvCxnSpPr/>
            <p:nvPr/>
          </p:nvCxnSpPr>
          <p:spPr>
            <a:xfrm>
              <a:off x="1515900" y="952425"/>
              <a:ext cx="0" cy="370800"/>
            </a:xfrm>
            <a:prstGeom prst="straightConnector1">
              <a:avLst/>
            </a:prstGeom>
            <a:noFill/>
            <a:ln w="28575" cap="flat" cmpd="sng">
              <a:solidFill>
                <a:schemeClr val="bg2">
                  <a:lumMod val="60000"/>
                  <a:lumOff val="4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050" name="IdxGroup5"/>
          <p:cNvGrpSpPr/>
          <p:nvPr/>
        </p:nvGrpSpPr>
        <p:grpSpPr>
          <a:xfrm>
            <a:off x="2047897" y="5711436"/>
            <a:ext cx="8604329" cy="571050"/>
            <a:chOff x="969531" y="947475"/>
            <a:chExt cx="5736219" cy="380700"/>
          </a:xfrm>
        </p:grpSpPr>
        <p:sp>
          <p:nvSpPr>
            <p:cNvPr id="2051" name="IdxNum5"/>
            <p:cNvSpPr txBox="1"/>
            <p:nvPr/>
          </p:nvSpPr>
          <p:spPr>
            <a:xfrm>
              <a:off x="969531" y="947475"/>
              <a:ext cx="564600" cy="38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688" tIns="118688" rIns="118688" bIns="118688" anchor="ctr" anchorCtr="0">
              <a:noAutofit/>
            </a:bodyPr>
            <a:lstStyle/>
            <a:p>
              <a:pPr>
                <a:buClr>
                  <a:srgbClr val="000000"/>
                </a:buClr>
                <a:buSzPts val="1900"/>
              </a:pPr>
              <a:r>
                <a:rPr lang="es-ES" sz="2850" b="1">
                  <a:solidFill>
                    <a:schemeClr val="bg1"/>
                  </a:solidFill>
                  <a:latin typeface="+mj-lt"/>
                  <a:ea typeface="Lato Black"/>
                  <a:cs typeface="Lato Black"/>
                  <a:sym typeface="Lato Black"/>
                </a:rPr>
                <a:t>06</a:t>
              </a:r>
            </a:p>
          </p:txBody>
        </p:sp>
        <p:sp>
          <p:nvSpPr>
            <p:cNvPr id="2052" name="IdxTitle5"/>
            <p:cNvSpPr txBox="1"/>
            <p:nvPr/>
          </p:nvSpPr>
          <p:spPr>
            <a:xfrm>
              <a:off x="1708650" y="947475"/>
              <a:ext cx="4997100" cy="38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688" tIns="118688" rIns="118688" bIns="118688" anchor="ctr" anchorCtr="0">
              <a:noAutofit/>
            </a:bodyPr>
            <a:lstStyle/>
            <a:p>
              <a:r>
                <a:rPr lang="es-ES" sz="2400" b="1">
                  <a:solidFill>
                    <a:schemeClr val="bg1"/>
                  </a:solidFill>
                  <a:latin typeface="+mj-lt"/>
                  <a:ea typeface="Lato Black"/>
                  <a:cs typeface="Lato Black"/>
                  <a:sym typeface="Lato Black"/>
                </a:rPr>
                <a:t>Benchmarking</a:t>
              </a:r>
            </a:p>
          </p:txBody>
        </p:sp>
        <p:cxnSp>
          <p:nvCxnSpPr>
            <p:cNvPr id="2053" name="IdxBar5"/>
            <p:cNvCxnSpPr/>
            <p:nvPr/>
          </p:nvCxnSpPr>
          <p:spPr>
            <a:xfrm>
              <a:off x="1515900" y="952425"/>
              <a:ext cx="0" cy="370800"/>
            </a:xfrm>
            <a:prstGeom prst="straightConnector1">
              <a:avLst/>
            </a:prstGeom>
            <a:noFill/>
            <a:ln w="28575" cap="flat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060" name="IdxGroup6"/>
          <p:cNvGrpSpPr/>
          <p:nvPr/>
        </p:nvGrpSpPr>
        <p:grpSpPr>
          <a:xfrm>
            <a:off x="2047897" y="6346436"/>
            <a:ext cx="8604329" cy="571050"/>
            <a:chOff x="969531" y="947475"/>
            <a:chExt cx="5736219" cy="380700"/>
          </a:xfrm>
        </p:grpSpPr>
        <p:sp>
          <p:nvSpPr>
            <p:cNvPr id="2061" name="IdxNum6"/>
            <p:cNvSpPr txBox="1"/>
            <p:nvPr/>
          </p:nvSpPr>
          <p:spPr>
            <a:xfrm>
              <a:off x="969531" y="947475"/>
              <a:ext cx="564600" cy="38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688" tIns="118688" rIns="118688" bIns="118688" anchor="ctr" anchorCtr="0">
              <a:noAutofit/>
            </a:bodyPr>
            <a:lstStyle/>
            <a:p>
              <a:pPr>
                <a:buClr>
                  <a:srgbClr val="000000"/>
                </a:buClr>
                <a:buSzPts val="1900"/>
              </a:pPr>
              <a:r>
                <a:rPr lang="es-ES" sz="2850" b="1">
                  <a:solidFill>
                    <a:schemeClr val="bg2">
                      <a:lumMod val="60000"/>
                      <a:lumOff val="40000"/>
                    </a:schemeClr>
                  </a:solidFill>
                  <a:latin typeface="+mj-lt"/>
                  <a:ea typeface="Lato Black"/>
                  <a:cs typeface="Lato Black"/>
                  <a:sym typeface="Lato Black"/>
                </a:rPr>
                <a:t>07</a:t>
              </a:r>
            </a:p>
          </p:txBody>
        </p:sp>
        <p:sp>
          <p:nvSpPr>
            <p:cNvPr id="2062" name="IdxTitle6"/>
            <p:cNvSpPr txBox="1"/>
            <p:nvPr/>
          </p:nvSpPr>
          <p:spPr>
            <a:xfrm>
              <a:off x="1708650" y="947475"/>
              <a:ext cx="4997100" cy="38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688" tIns="118688" rIns="118688" bIns="118688" anchor="ctr" anchorCtr="0">
              <a:noAutofit/>
            </a:bodyPr>
            <a:lstStyle/>
            <a:p>
              <a:r>
                <a:rPr lang="es-ES" sz="2400" b="1">
                  <a:solidFill>
                    <a:schemeClr val="bg2">
                      <a:lumMod val="60000"/>
                      <a:lumOff val="40000"/>
                    </a:schemeClr>
                  </a:solidFill>
                  <a:latin typeface="+mj-lt"/>
                  <a:ea typeface="Lato Black"/>
                  <a:cs typeface="Lato Black"/>
                  <a:sym typeface="Lato Black"/>
                </a:rPr>
                <a:t>Propuesta de valor y cierre</a:t>
              </a:r>
            </a:p>
          </p:txBody>
        </p:sp>
        <p:cxnSp>
          <p:nvCxnSpPr>
            <p:cNvPr id="2063" name="IdxBar6"/>
            <p:cNvCxnSpPr/>
            <p:nvPr/>
          </p:nvCxnSpPr>
          <p:spPr>
            <a:xfrm>
              <a:off x="1515900" y="952425"/>
              <a:ext cx="0" cy="370800"/>
            </a:xfrm>
            <a:prstGeom prst="straightConnector1">
              <a:avLst/>
            </a:prstGeom>
            <a:noFill/>
            <a:ln w="28575" cap="flat" cmpd="sng">
              <a:solidFill>
                <a:schemeClr val="bg2">
                  <a:lumMod val="60000"/>
                  <a:lumOff val="4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070" name="IdxGroup7"/>
          <p:cNvGrpSpPr/>
          <p:nvPr/>
        </p:nvGrpSpPr>
        <p:grpSpPr>
          <a:xfrm>
            <a:off x="2047897" y="6981436"/>
            <a:ext cx="8604329" cy="571050"/>
            <a:chOff x="969531" y="947475"/>
            <a:chExt cx="5736219" cy="380700"/>
          </a:xfrm>
        </p:grpSpPr>
        <p:sp>
          <p:nvSpPr>
            <p:cNvPr id="2071" name="IdxNum7"/>
            <p:cNvSpPr txBox="1"/>
            <p:nvPr/>
          </p:nvSpPr>
          <p:spPr>
            <a:xfrm>
              <a:off x="969531" y="947475"/>
              <a:ext cx="564600" cy="38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688" tIns="118688" rIns="118688" bIns="118688" anchor="ctr" anchorCtr="0">
              <a:noAutofit/>
            </a:bodyPr>
            <a:lstStyle/>
            <a:p>
              <a:pPr>
                <a:buClr>
                  <a:srgbClr val="000000"/>
                </a:buClr>
                <a:buSzPts val="1900"/>
              </a:pPr>
              <a:r>
                <a:rPr lang="es-ES" sz="2850" b="1">
                  <a:solidFill>
                    <a:schemeClr val="bg2">
                      <a:lumMod val="60000"/>
                      <a:lumOff val="40000"/>
                    </a:schemeClr>
                  </a:solidFill>
                  <a:latin typeface="+mj-lt"/>
                  <a:ea typeface="Lato Black"/>
                  <a:cs typeface="Lato Black"/>
                  <a:sym typeface="Lato Black"/>
                </a:rPr>
                <a:t>08</a:t>
              </a:r>
            </a:p>
          </p:txBody>
        </p:sp>
        <p:sp>
          <p:nvSpPr>
            <p:cNvPr id="2072" name="IdxTitle7"/>
            <p:cNvSpPr txBox="1"/>
            <p:nvPr/>
          </p:nvSpPr>
          <p:spPr>
            <a:xfrm>
              <a:off x="1708650" y="947475"/>
              <a:ext cx="4997100" cy="38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688" tIns="118688" rIns="118688" bIns="118688" anchor="ctr" anchorCtr="0">
              <a:noAutofit/>
            </a:bodyPr>
            <a:lstStyle/>
            <a:p>
              <a:r>
                <a:rPr lang="es-ES" sz="2400" b="1">
                  <a:solidFill>
                    <a:schemeClr val="bg2">
                      <a:lumMod val="60000"/>
                      <a:lumOff val="40000"/>
                    </a:schemeClr>
                  </a:solidFill>
                  <a:latin typeface="+mj-lt"/>
                  <a:ea typeface="Lato Black"/>
                  <a:cs typeface="Lato Black"/>
                  <a:sym typeface="Lato Black"/>
                </a:rPr>
                <a:t>Bibliografía y anexos</a:t>
              </a:r>
            </a:p>
          </p:txBody>
        </p:sp>
        <p:cxnSp>
          <p:nvCxnSpPr>
            <p:cNvPr id="2073" name="IdxBar7"/>
            <p:cNvCxnSpPr/>
            <p:nvPr/>
          </p:nvCxnSpPr>
          <p:spPr>
            <a:xfrm>
              <a:off x="1515900" y="952425"/>
              <a:ext cx="0" cy="370800"/>
            </a:xfrm>
            <a:prstGeom prst="straightConnector1">
              <a:avLst/>
            </a:prstGeom>
            <a:noFill/>
            <a:ln w="28575" cap="flat" cmpd="sng">
              <a:solidFill>
                <a:schemeClr val="bg2">
                  <a:lumMod val="60000"/>
                  <a:lumOff val="4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</p:spTree>
    <p:extLst>
      <p:ext uri="{BB962C8B-B14F-4D97-AF65-F5344CB8AC3E}">
        <p14:creationId xmlns:p14="http://schemas.microsoft.com/office/powerpoint/2010/main" val="22752275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4A692-43FA-D502-E5B1-060CF6FB6E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00" name="MS Header Group">
            <a:extLst>
              <a:ext uri="{FF2B5EF4-FFF2-40B4-BE49-F238E27FC236}">
                <a16:creationId xmlns:a16="http://schemas.microsoft.com/office/drawing/2014/main" id="{58CBF546-5C9A-27D2-0CED-CFE44E70D7E3}"/>
              </a:ext>
            </a:extLst>
          </p:cNvPr>
          <p:cNvGrpSpPr/>
          <p:nvPr/>
        </p:nvGrpSpPr>
        <p:grpSpPr>
          <a:xfrm>
            <a:off x="282819" y="579094"/>
            <a:ext cx="13786134" cy="1057874"/>
            <a:chOff x="92172" y="275827"/>
            <a:chExt cx="9190756" cy="705249"/>
          </a:xfrm>
        </p:grpSpPr>
        <p:sp>
          <p:nvSpPr>
            <p:cNvPr id="9001" name="MS Title Box">
              <a:extLst>
                <a:ext uri="{FF2B5EF4-FFF2-40B4-BE49-F238E27FC236}">
                  <a16:creationId xmlns:a16="http://schemas.microsoft.com/office/drawing/2014/main" id="{9B42F179-249D-51F7-9A09-F4E8E0AC5BB9}"/>
                </a:ext>
              </a:extLst>
            </p:cNvPr>
            <p:cNvSpPr/>
            <p:nvPr/>
          </p:nvSpPr>
          <p:spPr>
            <a:xfrm>
              <a:off x="776292" y="404814"/>
              <a:ext cx="8506636" cy="576262"/>
            </a:xfrm>
            <a:prstGeom prst="rect">
              <a:avLst/>
            </a:prstGeom>
            <a:noFill/>
          </p:spPr>
          <p:txBody>
            <a:bodyPr lIns="137160" tIns="68580" rIns="137160" bIns="68580" anchor="ctr"/>
            <a:lstStyle/>
            <a:p>
              <a:pPr>
                <a:lnSpc>
                  <a:spcPts val="3150"/>
                </a:lnSpc>
              </a:pPr>
              <a:r>
                <a:rPr lang="es-ES" sz="3000" b="1" dirty="0">
                  <a:solidFill>
                    <a:srgbClr val="002569"/>
                  </a:solidFill>
                  <a:latin typeface="Arial"/>
                </a:rPr>
                <a:t>Benchmarking</a:t>
              </a:r>
            </a:p>
            <a:p>
              <a:r>
                <a:rPr lang="es-ES_tradnl" sz="2700" dirty="0">
                  <a:solidFill>
                    <a:srgbClr val="E0D399">
                      <a:lumMod val="75000"/>
                    </a:srgbClr>
                  </a:solidFill>
                  <a:latin typeface="Arial"/>
                </a:rPr>
                <a:t>El mapa que nadie tiene</a:t>
              </a:r>
            </a:p>
          </p:txBody>
        </p:sp>
        <p:sp>
          <p:nvSpPr>
            <p:cNvPr id="9002" name="MS Number">
              <a:extLst>
                <a:ext uri="{FF2B5EF4-FFF2-40B4-BE49-F238E27FC236}">
                  <a16:creationId xmlns:a16="http://schemas.microsoft.com/office/drawing/2014/main" id="{0E502C73-C962-86EC-2A9A-498F383D3EB8}"/>
                </a:ext>
              </a:extLst>
            </p:cNvPr>
            <p:cNvSpPr/>
            <p:nvPr/>
          </p:nvSpPr>
          <p:spPr>
            <a:xfrm>
              <a:off x="92172" y="275827"/>
              <a:ext cx="477819" cy="700146"/>
            </a:xfrm>
            <a:prstGeom prst="rect">
              <a:avLst/>
            </a:prstGeom>
            <a:noFill/>
          </p:spPr>
          <p:txBody>
            <a:bodyPr wrap="none" lIns="148523" tIns="74261" rIns="148523" bIns="74261">
              <a:spAutoFit/>
            </a:bodyPr>
            <a:lstStyle/>
            <a:p>
              <a:pPr algn="ctr"/>
              <a:r>
                <a:rPr lang="es-ES" sz="5850" b="1" kern="0" dirty="0">
                  <a:solidFill>
                    <a:srgbClr val="002569"/>
                  </a:solidFill>
                  <a:latin typeface="Arial"/>
                </a:rPr>
                <a:t>6</a:t>
              </a:r>
            </a:p>
          </p:txBody>
        </p:sp>
        <p:cxnSp>
          <p:nvCxnSpPr>
            <p:cNvPr id="9003" name="MS Header Bar">
              <a:extLst>
                <a:ext uri="{FF2B5EF4-FFF2-40B4-BE49-F238E27FC236}">
                  <a16:creationId xmlns:a16="http://schemas.microsoft.com/office/drawing/2014/main" id="{90A1B22E-AF58-4C5F-A653-AACA91DC5D43}"/>
                </a:ext>
              </a:extLst>
            </p:cNvPr>
            <p:cNvCxnSpPr/>
            <p:nvPr/>
          </p:nvCxnSpPr>
          <p:spPr>
            <a:xfrm>
              <a:off x="570525" y="404814"/>
              <a:ext cx="0" cy="526647"/>
            </a:xfrm>
            <a:prstGeom prst="line">
              <a:avLst/>
            </a:prstGeom>
            <a:ln>
              <a:solidFill>
                <a:schemeClr val="tx2"/>
              </a:solidFill>
            </a:ln>
          </p:spPr>
        </p:cxnSp>
      </p:grpSp>
      <p:sp>
        <p:nvSpPr>
          <p:cNvPr id="9004" name="TextBox 9003">
            <a:extLst>
              <a:ext uri="{FF2B5EF4-FFF2-40B4-BE49-F238E27FC236}">
                <a16:creationId xmlns:a16="http://schemas.microsoft.com/office/drawing/2014/main" id="{435C9762-36DC-7FD5-2BA8-0CD5D066D6F9}"/>
              </a:ext>
            </a:extLst>
          </p:cNvPr>
          <p:cNvSpPr txBox="1"/>
          <p:nvPr/>
        </p:nvSpPr>
        <p:spPr>
          <a:xfrm>
            <a:off x="758952" y="2048256"/>
            <a:ext cx="16770096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s-ES_tradnl" b="1" dirty="0">
                <a:solidFill>
                  <a:srgbClr val="1F3864"/>
                </a:solidFill>
                <a:latin typeface="Calibri"/>
              </a:rPr>
              <a:t>¿Dónde están los activos de Repsol en España? Nadie lo sabe con certeza.</a:t>
            </a:r>
          </a:p>
        </p:txBody>
      </p:sp>
      <p:sp>
        <p:nvSpPr>
          <p:cNvPr id="9074" name="Shape 10">
            <a:extLst>
              <a:ext uri="{FF2B5EF4-FFF2-40B4-BE49-F238E27FC236}">
                <a16:creationId xmlns:a16="http://schemas.microsoft.com/office/drawing/2014/main" id="{E2EBC793-791B-3ACB-A53F-639643B6DF68}"/>
              </a:ext>
            </a:extLst>
          </p:cNvPr>
          <p:cNvSpPr/>
          <p:nvPr/>
        </p:nvSpPr>
        <p:spPr>
          <a:xfrm>
            <a:off x="762000" y="2908300"/>
            <a:ext cx="5818250" cy="361652"/>
          </a:xfrm>
          <a:prstGeom prst="rect">
            <a:avLst/>
          </a:prstGeom>
          <a:solidFill>
            <a:srgbClr val="0A1F44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9075" name="Text 11">
            <a:extLst>
              <a:ext uri="{FF2B5EF4-FFF2-40B4-BE49-F238E27FC236}">
                <a16:creationId xmlns:a16="http://schemas.microsoft.com/office/drawing/2014/main" id="{01252D0A-B6AF-50EF-8B52-585E8C7F4C27}"/>
              </a:ext>
            </a:extLst>
          </p:cNvPr>
          <p:cNvSpPr/>
          <p:nvPr/>
        </p:nvSpPr>
        <p:spPr>
          <a:xfrm>
            <a:off x="876300" y="2994025"/>
            <a:ext cx="5764197" cy="2283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350" b="1" kern="0" spc="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Paso del analista</a:t>
            </a:r>
            <a:endParaRPr lang="en-US" sz="1350" dirty="0"/>
          </a:p>
        </p:txBody>
      </p:sp>
      <p:sp>
        <p:nvSpPr>
          <p:cNvPr id="9076" name="Shape 12">
            <a:extLst>
              <a:ext uri="{FF2B5EF4-FFF2-40B4-BE49-F238E27FC236}">
                <a16:creationId xmlns:a16="http://schemas.microsoft.com/office/drawing/2014/main" id="{B6C3C2E0-89D2-A265-7572-B13D8F4E42FE}"/>
              </a:ext>
            </a:extLst>
          </p:cNvPr>
          <p:cNvSpPr/>
          <p:nvPr/>
        </p:nvSpPr>
        <p:spPr>
          <a:xfrm>
            <a:off x="6580250" y="2908300"/>
            <a:ext cx="1695710" cy="361652"/>
          </a:xfrm>
          <a:prstGeom prst="rect">
            <a:avLst/>
          </a:prstGeom>
          <a:solidFill>
            <a:srgbClr val="0A1F44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9077" name="Text 13">
            <a:extLst>
              <a:ext uri="{FF2B5EF4-FFF2-40B4-BE49-F238E27FC236}">
                <a16:creationId xmlns:a16="http://schemas.microsoft.com/office/drawing/2014/main" id="{CE8CA72D-0497-58EF-CF8A-183C5DFF8B97}"/>
              </a:ext>
            </a:extLst>
          </p:cNvPr>
          <p:cNvSpPr/>
          <p:nvPr/>
        </p:nvSpPr>
        <p:spPr>
          <a:xfrm>
            <a:off x="6694550" y="2994025"/>
            <a:ext cx="1543310" cy="2283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350" b="1" kern="0" spc="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</a:t>
            </a:r>
            <a:endParaRPr lang="en-US" sz="1350" dirty="0"/>
          </a:p>
        </p:txBody>
      </p:sp>
      <p:sp>
        <p:nvSpPr>
          <p:cNvPr id="9078" name="Shape 14">
            <a:extLst>
              <a:ext uri="{FF2B5EF4-FFF2-40B4-BE49-F238E27FC236}">
                <a16:creationId xmlns:a16="http://schemas.microsoft.com/office/drawing/2014/main" id="{A7A96F11-F719-813B-8536-A3F56C23697B}"/>
              </a:ext>
            </a:extLst>
          </p:cNvPr>
          <p:cNvSpPr/>
          <p:nvPr/>
        </p:nvSpPr>
        <p:spPr>
          <a:xfrm>
            <a:off x="8275960" y="2908300"/>
            <a:ext cx="1789100" cy="361652"/>
          </a:xfrm>
          <a:prstGeom prst="rect">
            <a:avLst/>
          </a:prstGeom>
          <a:solidFill>
            <a:srgbClr val="0A1F44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9079" name="Text 15">
            <a:extLst>
              <a:ext uri="{FF2B5EF4-FFF2-40B4-BE49-F238E27FC236}">
                <a16:creationId xmlns:a16="http://schemas.microsoft.com/office/drawing/2014/main" id="{A5A2D382-DDDD-9114-228B-07BEC4E248D8}"/>
              </a:ext>
            </a:extLst>
          </p:cNvPr>
          <p:cNvSpPr/>
          <p:nvPr/>
        </p:nvSpPr>
        <p:spPr>
          <a:xfrm>
            <a:off x="8390260" y="2994025"/>
            <a:ext cx="1636700" cy="2283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350" b="1" kern="0" spc="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Tiempo</a:t>
            </a:r>
            <a:endParaRPr lang="en-US" sz="1350" dirty="0"/>
          </a:p>
        </p:txBody>
      </p:sp>
      <p:sp>
        <p:nvSpPr>
          <p:cNvPr id="9080" name="Shape 16">
            <a:extLst>
              <a:ext uri="{FF2B5EF4-FFF2-40B4-BE49-F238E27FC236}">
                <a16:creationId xmlns:a16="http://schemas.microsoft.com/office/drawing/2014/main" id="{CBF2DEBE-BE1C-FA55-2DB4-412748A177C3}"/>
              </a:ext>
            </a:extLst>
          </p:cNvPr>
          <p:cNvSpPr/>
          <p:nvPr/>
        </p:nvSpPr>
        <p:spPr>
          <a:xfrm>
            <a:off x="762000" y="3639046"/>
            <a:ext cx="5818250" cy="11906"/>
          </a:xfrm>
          <a:prstGeom prst="rect">
            <a:avLst/>
          </a:prstGeom>
          <a:solidFill>
            <a:srgbClr val="D8DEE9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9081" name="Text 17">
            <a:extLst>
              <a:ext uri="{FF2B5EF4-FFF2-40B4-BE49-F238E27FC236}">
                <a16:creationId xmlns:a16="http://schemas.microsoft.com/office/drawing/2014/main" id="{9CB1BE3A-59E3-899C-1FCD-49584E258D46}"/>
              </a:ext>
            </a:extLst>
          </p:cNvPr>
          <p:cNvSpPr/>
          <p:nvPr/>
        </p:nvSpPr>
        <p:spPr>
          <a:xfrm>
            <a:off x="876300" y="3346152"/>
            <a:ext cx="5764197" cy="2547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Buscar web corporativa</a:t>
            </a:r>
            <a:endParaRPr lang="en-US" sz="1350" dirty="0"/>
          </a:p>
        </p:txBody>
      </p:sp>
      <p:sp>
        <p:nvSpPr>
          <p:cNvPr id="9082" name="Shape 18">
            <a:extLst>
              <a:ext uri="{FF2B5EF4-FFF2-40B4-BE49-F238E27FC236}">
                <a16:creationId xmlns:a16="http://schemas.microsoft.com/office/drawing/2014/main" id="{BE5A0498-04D6-B7FD-E057-220048C39C15}"/>
              </a:ext>
            </a:extLst>
          </p:cNvPr>
          <p:cNvSpPr/>
          <p:nvPr/>
        </p:nvSpPr>
        <p:spPr>
          <a:xfrm>
            <a:off x="6580250" y="3639046"/>
            <a:ext cx="1695710" cy="11906"/>
          </a:xfrm>
          <a:prstGeom prst="rect">
            <a:avLst/>
          </a:prstGeom>
          <a:solidFill>
            <a:srgbClr val="D8DEE9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9083" name="Text 19">
            <a:extLst>
              <a:ext uri="{FF2B5EF4-FFF2-40B4-BE49-F238E27FC236}">
                <a16:creationId xmlns:a16="http://schemas.microsoft.com/office/drawing/2014/main" id="{502FF717-C24E-F740-FC72-2631EA5C9AB7}"/>
              </a:ext>
            </a:extLst>
          </p:cNvPr>
          <p:cNvSpPr/>
          <p:nvPr/>
        </p:nvSpPr>
        <p:spPr>
          <a:xfrm>
            <a:off x="6694550" y="3346152"/>
            <a:ext cx="1543310" cy="2547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5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</a:t>
            </a:r>
            <a:endParaRPr lang="en-US" sz="1350" dirty="0"/>
          </a:p>
        </p:txBody>
      </p:sp>
      <p:sp>
        <p:nvSpPr>
          <p:cNvPr id="9084" name="Shape 20">
            <a:extLst>
              <a:ext uri="{FF2B5EF4-FFF2-40B4-BE49-F238E27FC236}">
                <a16:creationId xmlns:a16="http://schemas.microsoft.com/office/drawing/2014/main" id="{8D47F499-222D-989D-ABF7-6ADC03CF9213}"/>
              </a:ext>
            </a:extLst>
          </p:cNvPr>
          <p:cNvSpPr/>
          <p:nvPr/>
        </p:nvSpPr>
        <p:spPr>
          <a:xfrm>
            <a:off x="8275960" y="3639046"/>
            <a:ext cx="1789100" cy="11906"/>
          </a:xfrm>
          <a:prstGeom prst="rect">
            <a:avLst/>
          </a:prstGeom>
          <a:solidFill>
            <a:srgbClr val="D8DEE9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9085" name="Text 21">
            <a:extLst>
              <a:ext uri="{FF2B5EF4-FFF2-40B4-BE49-F238E27FC236}">
                <a16:creationId xmlns:a16="http://schemas.microsoft.com/office/drawing/2014/main" id="{56783775-6BD7-B014-48E5-78223126AF6E}"/>
              </a:ext>
            </a:extLst>
          </p:cNvPr>
          <p:cNvSpPr/>
          <p:nvPr/>
        </p:nvSpPr>
        <p:spPr>
          <a:xfrm>
            <a:off x="8352160" y="3346152"/>
            <a:ext cx="1636700" cy="2547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35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2–4 h</a:t>
            </a:r>
            <a:endParaRPr lang="en-US" sz="1350" dirty="0"/>
          </a:p>
        </p:txBody>
      </p:sp>
      <p:sp>
        <p:nvSpPr>
          <p:cNvPr id="9086" name="Shape 22">
            <a:extLst>
              <a:ext uri="{FF2B5EF4-FFF2-40B4-BE49-F238E27FC236}">
                <a16:creationId xmlns:a16="http://schemas.microsoft.com/office/drawing/2014/main" id="{560A629E-C8AE-A59E-266D-733E969AA734}"/>
              </a:ext>
            </a:extLst>
          </p:cNvPr>
          <p:cNvSpPr/>
          <p:nvPr/>
        </p:nvSpPr>
        <p:spPr>
          <a:xfrm>
            <a:off x="762000" y="4025999"/>
            <a:ext cx="5818250" cy="11906"/>
          </a:xfrm>
          <a:prstGeom prst="rect">
            <a:avLst/>
          </a:prstGeom>
          <a:solidFill>
            <a:srgbClr val="D8DEE9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9087" name="Text 23">
            <a:extLst>
              <a:ext uri="{FF2B5EF4-FFF2-40B4-BE49-F238E27FC236}">
                <a16:creationId xmlns:a16="http://schemas.microsoft.com/office/drawing/2014/main" id="{4DB077BE-DB8F-B001-D512-4D6ADCFCA5A7}"/>
              </a:ext>
            </a:extLst>
          </p:cNvPr>
          <p:cNvSpPr/>
          <p:nvPr/>
        </p:nvSpPr>
        <p:spPr>
          <a:xfrm>
            <a:off x="876300" y="3727152"/>
            <a:ext cx="5764197" cy="2607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Leer informe anual (PDF ~200 págs.)</a:t>
            </a:r>
            <a:endParaRPr lang="en-US" sz="1350" dirty="0"/>
          </a:p>
        </p:txBody>
      </p:sp>
      <p:sp>
        <p:nvSpPr>
          <p:cNvPr id="9088" name="Shape 24">
            <a:extLst>
              <a:ext uri="{FF2B5EF4-FFF2-40B4-BE49-F238E27FC236}">
                <a16:creationId xmlns:a16="http://schemas.microsoft.com/office/drawing/2014/main" id="{411122CF-920F-4B41-B061-71BAAF7F3B0E}"/>
              </a:ext>
            </a:extLst>
          </p:cNvPr>
          <p:cNvSpPr/>
          <p:nvPr/>
        </p:nvSpPr>
        <p:spPr>
          <a:xfrm>
            <a:off x="6580250" y="4025999"/>
            <a:ext cx="1695710" cy="11906"/>
          </a:xfrm>
          <a:prstGeom prst="rect">
            <a:avLst/>
          </a:prstGeom>
          <a:solidFill>
            <a:srgbClr val="D8DEE9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9089" name="Text 25">
            <a:extLst>
              <a:ext uri="{FF2B5EF4-FFF2-40B4-BE49-F238E27FC236}">
                <a16:creationId xmlns:a16="http://schemas.microsoft.com/office/drawing/2014/main" id="{68358A8B-3146-95C5-8935-67341973D648}"/>
              </a:ext>
            </a:extLst>
          </p:cNvPr>
          <p:cNvSpPr/>
          <p:nvPr/>
        </p:nvSpPr>
        <p:spPr>
          <a:xfrm>
            <a:off x="6694550" y="3727152"/>
            <a:ext cx="1543310" cy="2607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5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</a:t>
            </a:r>
            <a:endParaRPr lang="en-US" sz="1350" dirty="0"/>
          </a:p>
        </p:txBody>
      </p:sp>
      <p:sp>
        <p:nvSpPr>
          <p:cNvPr id="9090" name="Shape 26">
            <a:extLst>
              <a:ext uri="{FF2B5EF4-FFF2-40B4-BE49-F238E27FC236}">
                <a16:creationId xmlns:a16="http://schemas.microsoft.com/office/drawing/2014/main" id="{09F4E355-1829-721A-F996-446CC9CD1ED5}"/>
              </a:ext>
            </a:extLst>
          </p:cNvPr>
          <p:cNvSpPr/>
          <p:nvPr/>
        </p:nvSpPr>
        <p:spPr>
          <a:xfrm>
            <a:off x="8275960" y="4025999"/>
            <a:ext cx="1789100" cy="11906"/>
          </a:xfrm>
          <a:prstGeom prst="rect">
            <a:avLst/>
          </a:prstGeom>
          <a:solidFill>
            <a:srgbClr val="D8DEE9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9091" name="Text 27">
            <a:extLst>
              <a:ext uri="{FF2B5EF4-FFF2-40B4-BE49-F238E27FC236}">
                <a16:creationId xmlns:a16="http://schemas.microsoft.com/office/drawing/2014/main" id="{C0965FA5-D350-B433-3436-A95F61274C3A}"/>
              </a:ext>
            </a:extLst>
          </p:cNvPr>
          <p:cNvSpPr/>
          <p:nvPr/>
        </p:nvSpPr>
        <p:spPr>
          <a:xfrm>
            <a:off x="8352160" y="3727152"/>
            <a:ext cx="1636700" cy="2607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35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4–8 h</a:t>
            </a:r>
            <a:endParaRPr lang="en-US" sz="1350" dirty="0"/>
          </a:p>
        </p:txBody>
      </p:sp>
      <p:sp>
        <p:nvSpPr>
          <p:cNvPr id="9092" name="Shape 28">
            <a:extLst>
              <a:ext uri="{FF2B5EF4-FFF2-40B4-BE49-F238E27FC236}">
                <a16:creationId xmlns:a16="http://schemas.microsoft.com/office/drawing/2014/main" id="{89AA581F-07A1-7317-884E-5E460B2F258E}"/>
              </a:ext>
            </a:extLst>
          </p:cNvPr>
          <p:cNvSpPr/>
          <p:nvPr/>
        </p:nvSpPr>
        <p:spPr>
          <a:xfrm>
            <a:off x="762000" y="4412952"/>
            <a:ext cx="5818250" cy="11906"/>
          </a:xfrm>
          <a:prstGeom prst="rect">
            <a:avLst/>
          </a:prstGeom>
          <a:solidFill>
            <a:srgbClr val="D8DEE9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9093" name="Text 29">
            <a:extLst>
              <a:ext uri="{FF2B5EF4-FFF2-40B4-BE49-F238E27FC236}">
                <a16:creationId xmlns:a16="http://schemas.microsoft.com/office/drawing/2014/main" id="{857B52EF-01D7-F2AC-DFA1-C9C3413568BD}"/>
              </a:ext>
            </a:extLst>
          </p:cNvPr>
          <p:cNvSpPr/>
          <p:nvPr/>
        </p:nvSpPr>
        <p:spPr>
          <a:xfrm>
            <a:off x="876300" y="4114105"/>
            <a:ext cx="5764197" cy="2607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Cruzar con Google Maps</a:t>
            </a:r>
            <a:endParaRPr lang="en-US" sz="1350" dirty="0"/>
          </a:p>
        </p:txBody>
      </p:sp>
      <p:sp>
        <p:nvSpPr>
          <p:cNvPr id="9094" name="Shape 30">
            <a:extLst>
              <a:ext uri="{FF2B5EF4-FFF2-40B4-BE49-F238E27FC236}">
                <a16:creationId xmlns:a16="http://schemas.microsoft.com/office/drawing/2014/main" id="{3BD0D134-BFF3-3270-4CEE-2633B7BD15C6}"/>
              </a:ext>
            </a:extLst>
          </p:cNvPr>
          <p:cNvSpPr/>
          <p:nvPr/>
        </p:nvSpPr>
        <p:spPr>
          <a:xfrm>
            <a:off x="6580250" y="4412952"/>
            <a:ext cx="1695710" cy="11906"/>
          </a:xfrm>
          <a:prstGeom prst="rect">
            <a:avLst/>
          </a:prstGeom>
          <a:solidFill>
            <a:srgbClr val="D8DEE9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9095" name="Text 31">
            <a:extLst>
              <a:ext uri="{FF2B5EF4-FFF2-40B4-BE49-F238E27FC236}">
                <a16:creationId xmlns:a16="http://schemas.microsoft.com/office/drawing/2014/main" id="{64ADE131-66FA-FB41-7AA9-D21353666595}"/>
              </a:ext>
            </a:extLst>
          </p:cNvPr>
          <p:cNvSpPr/>
          <p:nvPr/>
        </p:nvSpPr>
        <p:spPr>
          <a:xfrm>
            <a:off x="6694550" y="4114105"/>
            <a:ext cx="1543310" cy="2607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5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</a:t>
            </a:r>
            <a:endParaRPr lang="en-US" sz="1350" dirty="0"/>
          </a:p>
        </p:txBody>
      </p:sp>
      <p:sp>
        <p:nvSpPr>
          <p:cNvPr id="9096" name="Shape 32">
            <a:extLst>
              <a:ext uri="{FF2B5EF4-FFF2-40B4-BE49-F238E27FC236}">
                <a16:creationId xmlns:a16="http://schemas.microsoft.com/office/drawing/2014/main" id="{360426C9-A7AF-A401-DC2A-F0D048C3C8FF}"/>
              </a:ext>
            </a:extLst>
          </p:cNvPr>
          <p:cNvSpPr/>
          <p:nvPr/>
        </p:nvSpPr>
        <p:spPr>
          <a:xfrm>
            <a:off x="8275960" y="4412952"/>
            <a:ext cx="1789100" cy="11906"/>
          </a:xfrm>
          <a:prstGeom prst="rect">
            <a:avLst/>
          </a:prstGeom>
          <a:solidFill>
            <a:srgbClr val="D8DEE9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9097" name="Text 33">
            <a:extLst>
              <a:ext uri="{FF2B5EF4-FFF2-40B4-BE49-F238E27FC236}">
                <a16:creationId xmlns:a16="http://schemas.microsoft.com/office/drawing/2014/main" id="{B824731F-14D9-F611-2614-054CB5ED3283}"/>
              </a:ext>
            </a:extLst>
          </p:cNvPr>
          <p:cNvSpPr/>
          <p:nvPr/>
        </p:nvSpPr>
        <p:spPr>
          <a:xfrm>
            <a:off x="8352160" y="4114105"/>
            <a:ext cx="1636700" cy="2607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35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3–6 h</a:t>
            </a:r>
            <a:endParaRPr lang="en-US" sz="1350" dirty="0"/>
          </a:p>
        </p:txBody>
      </p:sp>
      <p:sp>
        <p:nvSpPr>
          <p:cNvPr id="9098" name="Shape 34">
            <a:extLst>
              <a:ext uri="{FF2B5EF4-FFF2-40B4-BE49-F238E27FC236}">
                <a16:creationId xmlns:a16="http://schemas.microsoft.com/office/drawing/2014/main" id="{9063D795-6F53-23BF-A37B-6BCB2F74CAC8}"/>
              </a:ext>
            </a:extLst>
          </p:cNvPr>
          <p:cNvSpPr/>
          <p:nvPr/>
        </p:nvSpPr>
        <p:spPr>
          <a:xfrm>
            <a:off x="762000" y="4799905"/>
            <a:ext cx="5818250" cy="11906"/>
          </a:xfrm>
          <a:prstGeom prst="rect">
            <a:avLst/>
          </a:prstGeom>
          <a:solidFill>
            <a:srgbClr val="D8DEE9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9099" name="Text 35">
            <a:extLst>
              <a:ext uri="{FF2B5EF4-FFF2-40B4-BE49-F238E27FC236}">
                <a16:creationId xmlns:a16="http://schemas.microsoft.com/office/drawing/2014/main" id="{3749A6FD-FBC6-8402-578F-F9FBA327AE09}"/>
              </a:ext>
            </a:extLst>
          </p:cNvPr>
          <p:cNvSpPr/>
          <p:nvPr/>
        </p:nvSpPr>
        <p:spPr>
          <a:xfrm>
            <a:off x="876300" y="4501059"/>
            <a:ext cx="5764197" cy="2607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Geocodificar y validar cada activo</a:t>
            </a:r>
            <a:endParaRPr lang="en-US" sz="1350" dirty="0"/>
          </a:p>
        </p:txBody>
      </p:sp>
      <p:sp>
        <p:nvSpPr>
          <p:cNvPr id="9100" name="Shape 36">
            <a:extLst>
              <a:ext uri="{FF2B5EF4-FFF2-40B4-BE49-F238E27FC236}">
                <a16:creationId xmlns:a16="http://schemas.microsoft.com/office/drawing/2014/main" id="{9C16A06D-2DCB-536F-E4C2-D952D9435464}"/>
              </a:ext>
            </a:extLst>
          </p:cNvPr>
          <p:cNvSpPr/>
          <p:nvPr/>
        </p:nvSpPr>
        <p:spPr>
          <a:xfrm>
            <a:off x="6580250" y="4799905"/>
            <a:ext cx="1695710" cy="11906"/>
          </a:xfrm>
          <a:prstGeom prst="rect">
            <a:avLst/>
          </a:prstGeom>
          <a:solidFill>
            <a:srgbClr val="D8DEE9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9101" name="Text 37">
            <a:extLst>
              <a:ext uri="{FF2B5EF4-FFF2-40B4-BE49-F238E27FC236}">
                <a16:creationId xmlns:a16="http://schemas.microsoft.com/office/drawing/2014/main" id="{A457D9EB-4C0E-F2FB-D526-14BCF3117596}"/>
              </a:ext>
            </a:extLst>
          </p:cNvPr>
          <p:cNvSpPr/>
          <p:nvPr/>
        </p:nvSpPr>
        <p:spPr>
          <a:xfrm>
            <a:off x="6694550" y="4501059"/>
            <a:ext cx="1543310" cy="2607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5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</a:t>
            </a:r>
            <a:endParaRPr lang="en-US" sz="1350" dirty="0"/>
          </a:p>
        </p:txBody>
      </p:sp>
      <p:sp>
        <p:nvSpPr>
          <p:cNvPr id="9102" name="Shape 38">
            <a:extLst>
              <a:ext uri="{FF2B5EF4-FFF2-40B4-BE49-F238E27FC236}">
                <a16:creationId xmlns:a16="http://schemas.microsoft.com/office/drawing/2014/main" id="{12A45FBC-2FD7-CE57-032C-AA72D08DDB50}"/>
              </a:ext>
            </a:extLst>
          </p:cNvPr>
          <p:cNvSpPr/>
          <p:nvPr/>
        </p:nvSpPr>
        <p:spPr>
          <a:xfrm>
            <a:off x="8275960" y="4799905"/>
            <a:ext cx="1789100" cy="11906"/>
          </a:xfrm>
          <a:prstGeom prst="rect">
            <a:avLst/>
          </a:prstGeom>
          <a:solidFill>
            <a:srgbClr val="D8DEE9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9103" name="Text 39">
            <a:extLst>
              <a:ext uri="{FF2B5EF4-FFF2-40B4-BE49-F238E27FC236}">
                <a16:creationId xmlns:a16="http://schemas.microsoft.com/office/drawing/2014/main" id="{53D1EE1E-A8CF-A905-2FA1-4B741D6365C5}"/>
              </a:ext>
            </a:extLst>
          </p:cNvPr>
          <p:cNvSpPr/>
          <p:nvPr/>
        </p:nvSpPr>
        <p:spPr>
          <a:xfrm>
            <a:off x="8352160" y="4501059"/>
            <a:ext cx="1636700" cy="2607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35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4–8 h</a:t>
            </a:r>
            <a:endParaRPr lang="en-US" sz="1350" dirty="0"/>
          </a:p>
        </p:txBody>
      </p:sp>
      <p:sp>
        <p:nvSpPr>
          <p:cNvPr id="9104" name="Shape 40">
            <a:extLst>
              <a:ext uri="{FF2B5EF4-FFF2-40B4-BE49-F238E27FC236}">
                <a16:creationId xmlns:a16="http://schemas.microsoft.com/office/drawing/2014/main" id="{75A03F2F-4C3A-1EC0-DB28-8346458180C9}"/>
              </a:ext>
            </a:extLst>
          </p:cNvPr>
          <p:cNvSpPr/>
          <p:nvPr/>
        </p:nvSpPr>
        <p:spPr>
          <a:xfrm>
            <a:off x="762000" y="5186859"/>
            <a:ext cx="5818250" cy="11906"/>
          </a:xfrm>
          <a:prstGeom prst="rect">
            <a:avLst/>
          </a:prstGeom>
          <a:solidFill>
            <a:srgbClr val="D8DEE9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9105" name="Text 41">
            <a:extLst>
              <a:ext uri="{FF2B5EF4-FFF2-40B4-BE49-F238E27FC236}">
                <a16:creationId xmlns:a16="http://schemas.microsoft.com/office/drawing/2014/main" id="{2944EE9C-0DEA-93E6-D716-00C4D5AB5B1D}"/>
              </a:ext>
            </a:extLst>
          </p:cNvPr>
          <p:cNvSpPr/>
          <p:nvPr/>
        </p:nvSpPr>
        <p:spPr>
          <a:xfrm>
            <a:off x="876300" y="4888012"/>
            <a:ext cx="5764197" cy="2607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Documentar con confianza mínima</a:t>
            </a:r>
            <a:endParaRPr lang="en-US" sz="1350" dirty="0"/>
          </a:p>
        </p:txBody>
      </p:sp>
      <p:sp>
        <p:nvSpPr>
          <p:cNvPr id="9106" name="Shape 42">
            <a:extLst>
              <a:ext uri="{FF2B5EF4-FFF2-40B4-BE49-F238E27FC236}">
                <a16:creationId xmlns:a16="http://schemas.microsoft.com/office/drawing/2014/main" id="{61E37A8E-AAE6-F121-8756-7EE7D06C5CC5}"/>
              </a:ext>
            </a:extLst>
          </p:cNvPr>
          <p:cNvSpPr/>
          <p:nvPr/>
        </p:nvSpPr>
        <p:spPr>
          <a:xfrm>
            <a:off x="6580250" y="5186859"/>
            <a:ext cx="1695710" cy="11906"/>
          </a:xfrm>
          <a:prstGeom prst="rect">
            <a:avLst/>
          </a:prstGeom>
          <a:solidFill>
            <a:srgbClr val="D8DEE9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9107" name="Text 43">
            <a:extLst>
              <a:ext uri="{FF2B5EF4-FFF2-40B4-BE49-F238E27FC236}">
                <a16:creationId xmlns:a16="http://schemas.microsoft.com/office/drawing/2014/main" id="{5AA944EE-43ED-7330-D9EB-98C586B536A3}"/>
              </a:ext>
            </a:extLst>
          </p:cNvPr>
          <p:cNvSpPr/>
          <p:nvPr/>
        </p:nvSpPr>
        <p:spPr>
          <a:xfrm>
            <a:off x="6694550" y="4888012"/>
            <a:ext cx="1543310" cy="2607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5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</a:t>
            </a:r>
            <a:endParaRPr lang="en-US" sz="1350" dirty="0"/>
          </a:p>
        </p:txBody>
      </p:sp>
      <p:sp>
        <p:nvSpPr>
          <p:cNvPr id="9108" name="Shape 44">
            <a:extLst>
              <a:ext uri="{FF2B5EF4-FFF2-40B4-BE49-F238E27FC236}">
                <a16:creationId xmlns:a16="http://schemas.microsoft.com/office/drawing/2014/main" id="{259EB745-EC5B-92F2-A1D9-B6AE08315BAB}"/>
              </a:ext>
            </a:extLst>
          </p:cNvPr>
          <p:cNvSpPr/>
          <p:nvPr/>
        </p:nvSpPr>
        <p:spPr>
          <a:xfrm>
            <a:off x="8275960" y="5186859"/>
            <a:ext cx="1789100" cy="11906"/>
          </a:xfrm>
          <a:prstGeom prst="rect">
            <a:avLst/>
          </a:prstGeom>
          <a:solidFill>
            <a:srgbClr val="D8DEE9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9109" name="Text 45">
            <a:extLst>
              <a:ext uri="{FF2B5EF4-FFF2-40B4-BE49-F238E27FC236}">
                <a16:creationId xmlns:a16="http://schemas.microsoft.com/office/drawing/2014/main" id="{81EFB3BF-FE8D-8D42-2493-80D70F8B1ECB}"/>
              </a:ext>
            </a:extLst>
          </p:cNvPr>
          <p:cNvSpPr/>
          <p:nvPr/>
        </p:nvSpPr>
        <p:spPr>
          <a:xfrm>
            <a:off x="8352160" y="4888012"/>
            <a:ext cx="1636700" cy="2607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35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2–4 h</a:t>
            </a:r>
            <a:endParaRPr lang="en-US" sz="1350" dirty="0"/>
          </a:p>
        </p:txBody>
      </p:sp>
      <p:sp>
        <p:nvSpPr>
          <p:cNvPr id="9110" name="Shape 46">
            <a:extLst>
              <a:ext uri="{FF2B5EF4-FFF2-40B4-BE49-F238E27FC236}">
                <a16:creationId xmlns:a16="http://schemas.microsoft.com/office/drawing/2014/main" id="{B2730E68-7F17-59CC-979B-B5D17381B97F}"/>
              </a:ext>
            </a:extLst>
          </p:cNvPr>
          <p:cNvSpPr/>
          <p:nvPr/>
        </p:nvSpPr>
        <p:spPr>
          <a:xfrm>
            <a:off x="762000" y="5198765"/>
            <a:ext cx="5818250" cy="386953"/>
          </a:xfrm>
          <a:prstGeom prst="rect">
            <a:avLst/>
          </a:prstGeom>
          <a:solidFill>
            <a:srgbClr val="F7F7F9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9111" name="Shape 47">
            <a:extLst>
              <a:ext uri="{FF2B5EF4-FFF2-40B4-BE49-F238E27FC236}">
                <a16:creationId xmlns:a16="http://schemas.microsoft.com/office/drawing/2014/main" id="{8AB7DDF6-C2B5-2E05-3220-FDB867987971}"/>
              </a:ext>
            </a:extLst>
          </p:cNvPr>
          <p:cNvSpPr/>
          <p:nvPr/>
        </p:nvSpPr>
        <p:spPr>
          <a:xfrm>
            <a:off x="762000" y="5573812"/>
            <a:ext cx="5818250" cy="11906"/>
          </a:xfrm>
          <a:prstGeom prst="rect">
            <a:avLst/>
          </a:prstGeom>
          <a:solidFill>
            <a:srgbClr val="D8DEE9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9112" name="Shape 48">
            <a:extLst>
              <a:ext uri="{FF2B5EF4-FFF2-40B4-BE49-F238E27FC236}">
                <a16:creationId xmlns:a16="http://schemas.microsoft.com/office/drawing/2014/main" id="{4C48F1D0-A6B6-AC5B-DCDA-57CC9DA04A74}"/>
              </a:ext>
            </a:extLst>
          </p:cNvPr>
          <p:cNvSpPr/>
          <p:nvPr/>
        </p:nvSpPr>
        <p:spPr>
          <a:xfrm>
            <a:off x="762000" y="5198765"/>
            <a:ext cx="5818250" cy="11906"/>
          </a:xfrm>
          <a:prstGeom prst="rect">
            <a:avLst/>
          </a:prstGeom>
          <a:solidFill>
            <a:srgbClr val="0A1F44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9113" name="Text 49">
            <a:extLst>
              <a:ext uri="{FF2B5EF4-FFF2-40B4-BE49-F238E27FC236}">
                <a16:creationId xmlns:a16="http://schemas.microsoft.com/office/drawing/2014/main" id="{2DFEB32C-09D5-3F89-1A38-43734E3DCD8F}"/>
              </a:ext>
            </a:extLst>
          </p:cNvPr>
          <p:cNvSpPr/>
          <p:nvPr/>
        </p:nvSpPr>
        <p:spPr>
          <a:xfrm>
            <a:off x="876300" y="5286871"/>
            <a:ext cx="5764197" cy="2488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por empresa</a:t>
            </a:r>
            <a:endParaRPr lang="en-US" sz="1350" dirty="0"/>
          </a:p>
        </p:txBody>
      </p:sp>
      <p:sp>
        <p:nvSpPr>
          <p:cNvPr id="9114" name="Shape 50">
            <a:extLst>
              <a:ext uri="{FF2B5EF4-FFF2-40B4-BE49-F238E27FC236}">
                <a16:creationId xmlns:a16="http://schemas.microsoft.com/office/drawing/2014/main" id="{226E9253-0E64-9E94-82AA-07C9B996E44D}"/>
              </a:ext>
            </a:extLst>
          </p:cNvPr>
          <p:cNvSpPr/>
          <p:nvPr/>
        </p:nvSpPr>
        <p:spPr>
          <a:xfrm>
            <a:off x="6580250" y="5198765"/>
            <a:ext cx="1695710" cy="386953"/>
          </a:xfrm>
          <a:prstGeom prst="rect">
            <a:avLst/>
          </a:prstGeom>
          <a:solidFill>
            <a:srgbClr val="F7F7F9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9115" name="Shape 51">
            <a:extLst>
              <a:ext uri="{FF2B5EF4-FFF2-40B4-BE49-F238E27FC236}">
                <a16:creationId xmlns:a16="http://schemas.microsoft.com/office/drawing/2014/main" id="{07906A0A-EBE8-6ADB-AC9D-6B6EB38256B0}"/>
              </a:ext>
            </a:extLst>
          </p:cNvPr>
          <p:cNvSpPr/>
          <p:nvPr/>
        </p:nvSpPr>
        <p:spPr>
          <a:xfrm>
            <a:off x="6580250" y="5573812"/>
            <a:ext cx="1695710" cy="11906"/>
          </a:xfrm>
          <a:prstGeom prst="rect">
            <a:avLst/>
          </a:prstGeom>
          <a:solidFill>
            <a:srgbClr val="D8DEE9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9116" name="Shape 52">
            <a:extLst>
              <a:ext uri="{FF2B5EF4-FFF2-40B4-BE49-F238E27FC236}">
                <a16:creationId xmlns:a16="http://schemas.microsoft.com/office/drawing/2014/main" id="{5E0548FB-47AE-96D8-704B-2E286D6F85E1}"/>
              </a:ext>
            </a:extLst>
          </p:cNvPr>
          <p:cNvSpPr/>
          <p:nvPr/>
        </p:nvSpPr>
        <p:spPr>
          <a:xfrm>
            <a:off x="6580250" y="5198765"/>
            <a:ext cx="1695710" cy="11906"/>
          </a:xfrm>
          <a:prstGeom prst="rect">
            <a:avLst/>
          </a:prstGeom>
          <a:solidFill>
            <a:srgbClr val="0A1F44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9117" name="Text 53">
            <a:extLst>
              <a:ext uri="{FF2B5EF4-FFF2-40B4-BE49-F238E27FC236}">
                <a16:creationId xmlns:a16="http://schemas.microsoft.com/office/drawing/2014/main" id="{63147DA7-E36E-2418-DF86-FB5C03DFD185}"/>
              </a:ext>
            </a:extLst>
          </p:cNvPr>
          <p:cNvSpPr/>
          <p:nvPr/>
        </p:nvSpPr>
        <p:spPr>
          <a:xfrm>
            <a:off x="6694550" y="5286871"/>
            <a:ext cx="1543310" cy="2488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50" dirty="0"/>
          </a:p>
        </p:txBody>
      </p:sp>
      <p:sp>
        <p:nvSpPr>
          <p:cNvPr id="9118" name="Shape 54">
            <a:extLst>
              <a:ext uri="{FF2B5EF4-FFF2-40B4-BE49-F238E27FC236}">
                <a16:creationId xmlns:a16="http://schemas.microsoft.com/office/drawing/2014/main" id="{D3FF0BB1-45EA-05BF-6046-0331B399C6B5}"/>
              </a:ext>
            </a:extLst>
          </p:cNvPr>
          <p:cNvSpPr/>
          <p:nvPr/>
        </p:nvSpPr>
        <p:spPr>
          <a:xfrm>
            <a:off x="8275960" y="5198765"/>
            <a:ext cx="1789100" cy="386953"/>
          </a:xfrm>
          <a:prstGeom prst="rect">
            <a:avLst/>
          </a:prstGeom>
          <a:solidFill>
            <a:srgbClr val="F7F7F9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9119" name="Shape 55">
            <a:extLst>
              <a:ext uri="{FF2B5EF4-FFF2-40B4-BE49-F238E27FC236}">
                <a16:creationId xmlns:a16="http://schemas.microsoft.com/office/drawing/2014/main" id="{9A91E8BF-19B0-965C-F023-514B715A6C67}"/>
              </a:ext>
            </a:extLst>
          </p:cNvPr>
          <p:cNvSpPr/>
          <p:nvPr/>
        </p:nvSpPr>
        <p:spPr>
          <a:xfrm>
            <a:off x="8275960" y="5573812"/>
            <a:ext cx="1789100" cy="11906"/>
          </a:xfrm>
          <a:prstGeom prst="rect">
            <a:avLst/>
          </a:prstGeom>
          <a:solidFill>
            <a:srgbClr val="D8DEE9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9120" name="Shape 56">
            <a:extLst>
              <a:ext uri="{FF2B5EF4-FFF2-40B4-BE49-F238E27FC236}">
                <a16:creationId xmlns:a16="http://schemas.microsoft.com/office/drawing/2014/main" id="{E5D3A359-CADA-9B15-FA20-A803AA5C8FBE}"/>
              </a:ext>
            </a:extLst>
          </p:cNvPr>
          <p:cNvSpPr/>
          <p:nvPr/>
        </p:nvSpPr>
        <p:spPr>
          <a:xfrm>
            <a:off x="8275960" y="5198765"/>
            <a:ext cx="1789100" cy="11906"/>
          </a:xfrm>
          <a:prstGeom prst="rect">
            <a:avLst/>
          </a:prstGeom>
          <a:solidFill>
            <a:srgbClr val="0A1F44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9121" name="Text 57">
            <a:extLst>
              <a:ext uri="{FF2B5EF4-FFF2-40B4-BE49-F238E27FC236}">
                <a16:creationId xmlns:a16="http://schemas.microsoft.com/office/drawing/2014/main" id="{A639E59E-ED16-1C5E-DD80-DC6057B3E6FC}"/>
              </a:ext>
            </a:extLst>
          </p:cNvPr>
          <p:cNvSpPr/>
          <p:nvPr/>
        </p:nvSpPr>
        <p:spPr>
          <a:xfrm>
            <a:off x="8352160" y="5286871"/>
            <a:ext cx="1636700" cy="2488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15–30 h</a:t>
            </a:r>
            <a:endParaRPr lang="en-US" sz="1350" dirty="0"/>
          </a:p>
        </p:txBody>
      </p:sp>
      <p:sp>
        <p:nvSpPr>
          <p:cNvPr id="9122" name="Shape 58">
            <a:extLst>
              <a:ext uri="{FF2B5EF4-FFF2-40B4-BE49-F238E27FC236}">
                <a16:creationId xmlns:a16="http://schemas.microsoft.com/office/drawing/2014/main" id="{5579F58B-7B8E-F172-2899-42283EBBFFB0}"/>
              </a:ext>
            </a:extLst>
          </p:cNvPr>
          <p:cNvSpPr/>
          <p:nvPr/>
        </p:nvSpPr>
        <p:spPr>
          <a:xfrm>
            <a:off x="10369786" y="2908300"/>
            <a:ext cx="7156214" cy="3810000"/>
          </a:xfrm>
          <a:prstGeom prst="rect">
            <a:avLst/>
          </a:prstGeom>
          <a:solidFill>
            <a:srgbClr val="F7F7F9"/>
          </a:solidFill>
          <a:ln w="11906">
            <a:solidFill>
              <a:srgbClr val="D8DEE9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9123" name="Text 59">
            <a:extLst>
              <a:ext uri="{FF2B5EF4-FFF2-40B4-BE49-F238E27FC236}">
                <a16:creationId xmlns:a16="http://schemas.microsoft.com/office/drawing/2014/main" id="{0262FFD2-DEF6-9599-1F2E-31EF1A4F79CF}"/>
              </a:ext>
            </a:extLst>
          </p:cNvPr>
          <p:cNvSpPr/>
          <p:nvPr/>
        </p:nvSpPr>
        <p:spPr>
          <a:xfrm>
            <a:off x="10667442" y="4037347"/>
            <a:ext cx="3297907" cy="8382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300" b="1" kern="0" spc="-150" dirty="0">
                <a:solidFill>
                  <a:srgbClr val="C050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– 30 h</a:t>
            </a:r>
            <a:endParaRPr lang="en-US" sz="6300" dirty="0"/>
          </a:p>
        </p:txBody>
      </p:sp>
      <p:sp>
        <p:nvSpPr>
          <p:cNvPr id="9124" name="Text 60">
            <a:extLst>
              <a:ext uri="{FF2B5EF4-FFF2-40B4-BE49-F238E27FC236}">
                <a16:creationId xmlns:a16="http://schemas.microsoft.com/office/drawing/2014/main" id="{839C0BD0-9F1B-9C64-510E-8E7658654C9D}"/>
              </a:ext>
            </a:extLst>
          </p:cNvPr>
          <p:cNvSpPr/>
          <p:nvPr/>
        </p:nvSpPr>
        <p:spPr>
          <a:xfrm>
            <a:off x="10667442" y="4894597"/>
            <a:ext cx="1380492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C050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empresa</a:t>
            </a:r>
            <a:endParaRPr lang="en-US" sz="2200" dirty="0"/>
          </a:p>
        </p:txBody>
      </p:sp>
      <p:sp>
        <p:nvSpPr>
          <p:cNvPr id="9125" name="Text 61">
            <a:extLst>
              <a:ext uri="{FF2B5EF4-FFF2-40B4-BE49-F238E27FC236}">
                <a16:creationId xmlns:a16="http://schemas.microsoft.com/office/drawing/2014/main" id="{DCEA5290-07E7-8EDC-64A0-2D54D03D0921}"/>
              </a:ext>
            </a:extLst>
          </p:cNvPr>
          <p:cNvSpPr/>
          <p:nvPr/>
        </p:nvSpPr>
        <p:spPr>
          <a:xfrm>
            <a:off x="10667442" y="5349267"/>
            <a:ext cx="4566214" cy="278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trabajo manual para localizar y validar activos productivos.</a:t>
            </a:r>
            <a:endParaRPr lang="en-US" sz="1400" dirty="0"/>
          </a:p>
        </p:txBody>
      </p:sp>
      <p:sp>
        <p:nvSpPr>
          <p:cNvPr id="9126" name="Shape 62">
            <a:extLst>
              <a:ext uri="{FF2B5EF4-FFF2-40B4-BE49-F238E27FC236}">
                <a16:creationId xmlns:a16="http://schemas.microsoft.com/office/drawing/2014/main" id="{E73E493D-B088-89F0-4D17-E24F0D22388F}"/>
              </a:ext>
            </a:extLst>
          </p:cNvPr>
          <p:cNvSpPr/>
          <p:nvPr/>
        </p:nvSpPr>
        <p:spPr>
          <a:xfrm>
            <a:off x="762000" y="7238640"/>
            <a:ext cx="4076588" cy="11941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9127" name="Shape 63">
            <a:extLst>
              <a:ext uri="{FF2B5EF4-FFF2-40B4-BE49-F238E27FC236}">
                <a16:creationId xmlns:a16="http://schemas.microsoft.com/office/drawing/2014/main" id="{4D8F34FB-E1C4-BA25-DFBB-F7FE245F5C4D}"/>
              </a:ext>
            </a:extLst>
          </p:cNvPr>
          <p:cNvSpPr/>
          <p:nvPr/>
        </p:nvSpPr>
        <p:spPr>
          <a:xfrm>
            <a:off x="762000" y="7238640"/>
            <a:ext cx="4076588" cy="23813"/>
          </a:xfrm>
          <a:prstGeom prst="rect">
            <a:avLst/>
          </a:prstGeom>
          <a:solidFill>
            <a:srgbClr val="B89455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9128" name="Text 64">
            <a:extLst>
              <a:ext uri="{FF2B5EF4-FFF2-40B4-BE49-F238E27FC236}">
                <a16:creationId xmlns:a16="http://schemas.microsoft.com/office/drawing/2014/main" id="{11069DB0-74D6-BF73-A7F2-7FC0D2F64DD8}"/>
              </a:ext>
            </a:extLst>
          </p:cNvPr>
          <p:cNvSpPr/>
          <p:nvPr/>
        </p:nvSpPr>
        <p:spPr>
          <a:xfrm>
            <a:off x="895201" y="7376678"/>
            <a:ext cx="392449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300" b="1" kern="0" spc="225" dirty="0">
                <a:solidFill>
                  <a:srgbClr val="BF9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</a:t>
            </a:r>
            <a:endParaRPr lang="en-US" sz="1300" dirty="0"/>
          </a:p>
        </p:txBody>
      </p:sp>
      <p:sp>
        <p:nvSpPr>
          <p:cNvPr id="9129" name="Text 65">
            <a:extLst>
              <a:ext uri="{FF2B5EF4-FFF2-40B4-BE49-F238E27FC236}">
                <a16:creationId xmlns:a16="http://schemas.microsoft.com/office/drawing/2014/main" id="{F597E2CC-B0B5-E216-A326-DE4944D426E8}"/>
              </a:ext>
            </a:extLst>
          </p:cNvPr>
          <p:cNvSpPr/>
          <p:nvPr/>
        </p:nvSpPr>
        <p:spPr>
          <a:xfrm>
            <a:off x="895201" y="7624291"/>
            <a:ext cx="3924492" cy="5009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35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3,2 M empresas </a:t>
            </a:r>
            <a:r>
              <a:rPr lang="en-US" sz="135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registradas </a:t>
            </a:r>
            <a:r>
              <a:rPr lang="en-US" sz="1350" dirty="0" err="1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35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España</a:t>
            </a:r>
            <a:endParaRPr lang="en-US" sz="1350" dirty="0"/>
          </a:p>
        </p:txBody>
      </p:sp>
      <p:sp>
        <p:nvSpPr>
          <p:cNvPr id="9130" name="Shape 66">
            <a:extLst>
              <a:ext uri="{FF2B5EF4-FFF2-40B4-BE49-F238E27FC236}">
                <a16:creationId xmlns:a16="http://schemas.microsoft.com/office/drawing/2014/main" id="{01934734-5F0E-0D2C-6CB9-61F4EAAAC3C1}"/>
              </a:ext>
            </a:extLst>
          </p:cNvPr>
          <p:cNvSpPr/>
          <p:nvPr/>
        </p:nvSpPr>
        <p:spPr>
          <a:xfrm>
            <a:off x="4990951" y="7238640"/>
            <a:ext cx="4076774" cy="11941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9131" name="Shape 67">
            <a:extLst>
              <a:ext uri="{FF2B5EF4-FFF2-40B4-BE49-F238E27FC236}">
                <a16:creationId xmlns:a16="http://schemas.microsoft.com/office/drawing/2014/main" id="{B33A096C-C0A8-6757-C458-980F2A3ED7CE}"/>
              </a:ext>
            </a:extLst>
          </p:cNvPr>
          <p:cNvSpPr/>
          <p:nvPr/>
        </p:nvSpPr>
        <p:spPr>
          <a:xfrm>
            <a:off x="4990951" y="7238640"/>
            <a:ext cx="4076774" cy="23813"/>
          </a:xfrm>
          <a:prstGeom prst="rect">
            <a:avLst/>
          </a:prstGeom>
          <a:solidFill>
            <a:srgbClr val="B89455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9132" name="Text 68">
            <a:extLst>
              <a:ext uri="{FF2B5EF4-FFF2-40B4-BE49-F238E27FC236}">
                <a16:creationId xmlns:a16="http://schemas.microsoft.com/office/drawing/2014/main" id="{C2BB649E-CB1C-807D-506D-1C36AFC10122}"/>
              </a:ext>
            </a:extLst>
          </p:cNvPr>
          <p:cNvSpPr/>
          <p:nvPr/>
        </p:nvSpPr>
        <p:spPr>
          <a:xfrm>
            <a:off x="5124152" y="7376678"/>
            <a:ext cx="392468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300" b="1" kern="0" spc="225" dirty="0">
                <a:solidFill>
                  <a:srgbClr val="BF9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COSTE</a:t>
            </a:r>
            <a:endParaRPr lang="en-US" sz="1300" dirty="0"/>
          </a:p>
        </p:txBody>
      </p:sp>
      <p:sp>
        <p:nvSpPr>
          <p:cNvPr id="9133" name="Text 69">
            <a:extLst>
              <a:ext uri="{FF2B5EF4-FFF2-40B4-BE49-F238E27FC236}">
                <a16:creationId xmlns:a16="http://schemas.microsoft.com/office/drawing/2014/main" id="{A9704A03-E56C-5EF4-A117-8FBDD603E621}"/>
              </a:ext>
            </a:extLst>
          </p:cNvPr>
          <p:cNvSpPr/>
          <p:nvPr/>
        </p:nvSpPr>
        <p:spPr>
          <a:xfrm>
            <a:off x="5124152" y="7624291"/>
            <a:ext cx="3924683" cy="5009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35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analista de due diligence dedica el </a:t>
            </a:r>
            <a:r>
              <a:rPr lang="en-US" sz="135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34 % de su tiempo </a:t>
            </a:r>
            <a:r>
              <a:rPr lang="en-US" sz="135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localizar activos (Deloitte M&amp;A 2024).</a:t>
            </a:r>
            <a:endParaRPr lang="en-US" sz="1350" dirty="0"/>
          </a:p>
        </p:txBody>
      </p:sp>
      <p:sp>
        <p:nvSpPr>
          <p:cNvPr id="9134" name="Shape 70">
            <a:extLst>
              <a:ext uri="{FF2B5EF4-FFF2-40B4-BE49-F238E27FC236}">
                <a16:creationId xmlns:a16="http://schemas.microsoft.com/office/drawing/2014/main" id="{DDDEC5ED-69A3-80FD-BB58-92A430DD6E33}"/>
              </a:ext>
            </a:extLst>
          </p:cNvPr>
          <p:cNvSpPr/>
          <p:nvPr/>
        </p:nvSpPr>
        <p:spPr>
          <a:xfrm>
            <a:off x="9220088" y="7238640"/>
            <a:ext cx="4076774" cy="11941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9135" name="Shape 71">
            <a:extLst>
              <a:ext uri="{FF2B5EF4-FFF2-40B4-BE49-F238E27FC236}">
                <a16:creationId xmlns:a16="http://schemas.microsoft.com/office/drawing/2014/main" id="{2DDE25EB-726F-EC96-7C05-A1710BF9736E}"/>
              </a:ext>
            </a:extLst>
          </p:cNvPr>
          <p:cNvSpPr/>
          <p:nvPr/>
        </p:nvSpPr>
        <p:spPr>
          <a:xfrm>
            <a:off x="9220088" y="7238640"/>
            <a:ext cx="4076774" cy="23813"/>
          </a:xfrm>
          <a:prstGeom prst="rect">
            <a:avLst/>
          </a:prstGeom>
          <a:solidFill>
            <a:srgbClr val="B89455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9136" name="Text 72">
            <a:extLst>
              <a:ext uri="{FF2B5EF4-FFF2-40B4-BE49-F238E27FC236}">
                <a16:creationId xmlns:a16="http://schemas.microsoft.com/office/drawing/2014/main" id="{1883EE09-D2B1-FCF1-1E89-BBCFB93EE078}"/>
              </a:ext>
            </a:extLst>
          </p:cNvPr>
          <p:cNvSpPr/>
          <p:nvPr/>
        </p:nvSpPr>
        <p:spPr>
          <a:xfrm>
            <a:off x="9353290" y="7376678"/>
            <a:ext cx="392468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300" b="1" kern="0" spc="225" dirty="0">
                <a:solidFill>
                  <a:srgbClr val="BF9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RIESGO</a:t>
            </a:r>
            <a:endParaRPr lang="en-US" sz="1300" dirty="0"/>
          </a:p>
        </p:txBody>
      </p:sp>
      <p:sp>
        <p:nvSpPr>
          <p:cNvPr id="9137" name="Text 73">
            <a:extLst>
              <a:ext uri="{FF2B5EF4-FFF2-40B4-BE49-F238E27FC236}">
                <a16:creationId xmlns:a16="http://schemas.microsoft.com/office/drawing/2014/main" id="{43AFD95B-A052-6CA3-063A-18BE29621201}"/>
              </a:ext>
            </a:extLst>
          </p:cNvPr>
          <p:cNvSpPr/>
          <p:nvPr/>
        </p:nvSpPr>
        <p:spPr>
          <a:xfrm>
            <a:off x="9353290" y="7624291"/>
            <a:ext cx="3924683" cy="5009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35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78 % </a:t>
            </a:r>
            <a:r>
              <a:rPr lang="en-US" sz="135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errores de valoración en deals industriales viene de activos no inventariados (KPMG 2023).</a:t>
            </a:r>
            <a:endParaRPr lang="en-US" sz="1350" dirty="0"/>
          </a:p>
        </p:txBody>
      </p:sp>
      <p:sp>
        <p:nvSpPr>
          <p:cNvPr id="9138" name="Shape 74">
            <a:extLst>
              <a:ext uri="{FF2B5EF4-FFF2-40B4-BE49-F238E27FC236}">
                <a16:creationId xmlns:a16="http://schemas.microsoft.com/office/drawing/2014/main" id="{7135FF16-8A49-D3E3-8AE7-82C712A6B5D4}"/>
              </a:ext>
            </a:extLst>
          </p:cNvPr>
          <p:cNvSpPr/>
          <p:nvPr/>
        </p:nvSpPr>
        <p:spPr>
          <a:xfrm>
            <a:off x="13449226" y="7238640"/>
            <a:ext cx="4076774" cy="11941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9139" name="Shape 75">
            <a:extLst>
              <a:ext uri="{FF2B5EF4-FFF2-40B4-BE49-F238E27FC236}">
                <a16:creationId xmlns:a16="http://schemas.microsoft.com/office/drawing/2014/main" id="{BF65B2C8-A96E-A979-7D6D-2F982766EA91}"/>
              </a:ext>
            </a:extLst>
          </p:cNvPr>
          <p:cNvSpPr/>
          <p:nvPr/>
        </p:nvSpPr>
        <p:spPr>
          <a:xfrm>
            <a:off x="13449226" y="7238640"/>
            <a:ext cx="4076774" cy="23813"/>
          </a:xfrm>
          <a:prstGeom prst="rect">
            <a:avLst/>
          </a:prstGeom>
          <a:solidFill>
            <a:srgbClr val="B89455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9140" name="Text 76">
            <a:extLst>
              <a:ext uri="{FF2B5EF4-FFF2-40B4-BE49-F238E27FC236}">
                <a16:creationId xmlns:a16="http://schemas.microsoft.com/office/drawing/2014/main" id="{0E207CE6-3522-0D66-1BE6-36ADE30271B4}"/>
              </a:ext>
            </a:extLst>
          </p:cNvPr>
          <p:cNvSpPr/>
          <p:nvPr/>
        </p:nvSpPr>
        <p:spPr>
          <a:xfrm>
            <a:off x="13582427" y="7376678"/>
            <a:ext cx="392468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300" b="1" kern="0" spc="225" dirty="0">
                <a:solidFill>
                  <a:srgbClr val="BF9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REGULACIÓN</a:t>
            </a:r>
            <a:endParaRPr lang="en-US" sz="1300" dirty="0"/>
          </a:p>
        </p:txBody>
      </p:sp>
      <p:sp>
        <p:nvSpPr>
          <p:cNvPr id="9141" name="Text 77">
            <a:extLst>
              <a:ext uri="{FF2B5EF4-FFF2-40B4-BE49-F238E27FC236}">
                <a16:creationId xmlns:a16="http://schemas.microsoft.com/office/drawing/2014/main" id="{23B7EF94-493C-F877-8B82-5123DE843803}"/>
              </a:ext>
            </a:extLst>
          </p:cNvPr>
          <p:cNvSpPr/>
          <p:nvPr/>
        </p:nvSpPr>
        <p:spPr>
          <a:xfrm>
            <a:off x="13582427" y="7624291"/>
            <a:ext cx="3924683" cy="7323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35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CSRD </a:t>
            </a:r>
            <a:r>
              <a:rPr lang="en-US" sz="135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(2025): empresas &gt;250 empleados deben reportar riesgo físico por activo. Casi nadie tiene el inventario.</a:t>
            </a:r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420292440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9E1D92-4228-9F25-4CF7-BE0173400B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00" name="MS Header Group">
            <a:extLst>
              <a:ext uri="{FF2B5EF4-FFF2-40B4-BE49-F238E27FC236}">
                <a16:creationId xmlns:a16="http://schemas.microsoft.com/office/drawing/2014/main" id="{9BD0D530-EF6D-FFFF-6E04-8BC61345DA2A}"/>
              </a:ext>
            </a:extLst>
          </p:cNvPr>
          <p:cNvGrpSpPr/>
          <p:nvPr/>
        </p:nvGrpSpPr>
        <p:grpSpPr>
          <a:xfrm>
            <a:off x="282819" y="579094"/>
            <a:ext cx="13786134" cy="1057874"/>
            <a:chOff x="92172" y="275827"/>
            <a:chExt cx="9190756" cy="705249"/>
          </a:xfrm>
        </p:grpSpPr>
        <p:sp>
          <p:nvSpPr>
            <p:cNvPr id="9001" name="MS Title Box">
              <a:extLst>
                <a:ext uri="{FF2B5EF4-FFF2-40B4-BE49-F238E27FC236}">
                  <a16:creationId xmlns:a16="http://schemas.microsoft.com/office/drawing/2014/main" id="{2DD8E65F-CE8B-1149-A958-76D0AE3E2887}"/>
                </a:ext>
              </a:extLst>
            </p:cNvPr>
            <p:cNvSpPr/>
            <p:nvPr/>
          </p:nvSpPr>
          <p:spPr>
            <a:xfrm>
              <a:off x="776292" y="404814"/>
              <a:ext cx="8506636" cy="576262"/>
            </a:xfrm>
            <a:prstGeom prst="rect">
              <a:avLst/>
            </a:prstGeom>
            <a:noFill/>
          </p:spPr>
          <p:txBody>
            <a:bodyPr lIns="137160" tIns="68580" rIns="137160" bIns="68580" anchor="ctr"/>
            <a:lstStyle/>
            <a:p>
              <a:pPr>
                <a:lnSpc>
                  <a:spcPts val="3150"/>
                </a:lnSpc>
              </a:pPr>
              <a:r>
                <a:rPr lang="es-ES" sz="3000" b="1" dirty="0">
                  <a:solidFill>
                    <a:srgbClr val="002569"/>
                  </a:solidFill>
                  <a:latin typeface="Arial"/>
                </a:rPr>
                <a:t>Benchmarking</a:t>
              </a:r>
            </a:p>
            <a:p>
              <a:r>
                <a:rPr lang="es-ES" sz="2700" dirty="0">
                  <a:solidFill>
                    <a:srgbClr val="E0D399">
                      <a:lumMod val="75000"/>
                    </a:srgbClr>
                  </a:solidFill>
                  <a:latin typeface="Arial"/>
                </a:rPr>
                <a:t>Cuatro familias, cuatro brechas</a:t>
              </a:r>
            </a:p>
          </p:txBody>
        </p:sp>
        <p:sp>
          <p:nvSpPr>
            <p:cNvPr id="9002" name="MS Number">
              <a:extLst>
                <a:ext uri="{FF2B5EF4-FFF2-40B4-BE49-F238E27FC236}">
                  <a16:creationId xmlns:a16="http://schemas.microsoft.com/office/drawing/2014/main" id="{36D9700A-9BB6-7879-45DF-D1AA9BB90319}"/>
                </a:ext>
              </a:extLst>
            </p:cNvPr>
            <p:cNvSpPr/>
            <p:nvPr/>
          </p:nvSpPr>
          <p:spPr>
            <a:xfrm>
              <a:off x="92172" y="275827"/>
              <a:ext cx="477819" cy="700146"/>
            </a:xfrm>
            <a:prstGeom prst="rect">
              <a:avLst/>
            </a:prstGeom>
            <a:noFill/>
          </p:spPr>
          <p:txBody>
            <a:bodyPr wrap="none" lIns="148523" tIns="74261" rIns="148523" bIns="74261">
              <a:spAutoFit/>
            </a:bodyPr>
            <a:lstStyle/>
            <a:p>
              <a:pPr algn="ctr"/>
              <a:r>
                <a:rPr lang="es-ES" sz="5850" b="1" kern="0" dirty="0">
                  <a:solidFill>
                    <a:srgbClr val="002569"/>
                  </a:solidFill>
                  <a:latin typeface="Arial"/>
                </a:rPr>
                <a:t>6</a:t>
              </a:r>
            </a:p>
          </p:txBody>
        </p:sp>
        <p:cxnSp>
          <p:nvCxnSpPr>
            <p:cNvPr id="9003" name="MS Header Bar">
              <a:extLst>
                <a:ext uri="{FF2B5EF4-FFF2-40B4-BE49-F238E27FC236}">
                  <a16:creationId xmlns:a16="http://schemas.microsoft.com/office/drawing/2014/main" id="{305F107C-51BA-0AD2-49A0-40A0AB3BBB98}"/>
                </a:ext>
              </a:extLst>
            </p:cNvPr>
            <p:cNvCxnSpPr/>
            <p:nvPr/>
          </p:nvCxnSpPr>
          <p:spPr>
            <a:xfrm>
              <a:off x="570525" y="404814"/>
              <a:ext cx="0" cy="526647"/>
            </a:xfrm>
            <a:prstGeom prst="line">
              <a:avLst/>
            </a:prstGeom>
            <a:ln>
              <a:solidFill>
                <a:schemeClr val="tx2"/>
              </a:solidFill>
            </a:ln>
          </p:spPr>
        </p:cxnSp>
      </p:grpSp>
      <p:sp>
        <p:nvSpPr>
          <p:cNvPr id="9004" name="TextBox 9003">
            <a:extLst>
              <a:ext uri="{FF2B5EF4-FFF2-40B4-BE49-F238E27FC236}">
                <a16:creationId xmlns:a16="http://schemas.microsoft.com/office/drawing/2014/main" id="{7513989E-D2B1-1156-A847-FB2785A78B63}"/>
              </a:ext>
            </a:extLst>
          </p:cNvPr>
          <p:cNvSpPr txBox="1"/>
          <p:nvPr/>
        </p:nvSpPr>
        <p:spPr>
          <a:xfrm>
            <a:off x="758952" y="2048256"/>
            <a:ext cx="16770096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s-ES_tradnl" b="1" dirty="0">
                <a:solidFill>
                  <a:srgbClr val="1F3864"/>
                </a:solidFill>
                <a:latin typeface="Calibri"/>
              </a:rPr>
              <a:t>Miles de millones invertidos en este espacio. </a:t>
            </a:r>
            <a:r>
              <a:rPr lang="es-ES_tradnl" dirty="0">
                <a:solidFill>
                  <a:srgbClr val="1F3864"/>
                </a:solidFill>
                <a:latin typeface="Calibri"/>
              </a:rPr>
              <a:t>Solo </a:t>
            </a:r>
            <a:r>
              <a:rPr lang="es-ES_tradnl" dirty="0" err="1">
                <a:solidFill>
                  <a:srgbClr val="1F3864"/>
                </a:solidFill>
                <a:latin typeface="Calibri"/>
              </a:rPr>
              <a:t>GeoAsset</a:t>
            </a:r>
            <a:r>
              <a:rPr lang="es-ES_tradnl" dirty="0">
                <a:solidFill>
                  <a:srgbClr val="1F3864"/>
                </a:solidFill>
                <a:latin typeface="Calibri"/>
              </a:rPr>
              <a:t> resuelve el caso de uso de geolocalización de activos productivos</a:t>
            </a:r>
            <a:endParaRPr dirty="0">
              <a:solidFill>
                <a:srgbClr val="1F3864"/>
              </a:solidFill>
              <a:latin typeface="Calibri"/>
            </a:endParaRPr>
          </a:p>
        </p:txBody>
      </p:sp>
      <p:sp>
        <p:nvSpPr>
          <p:cNvPr id="2" name="Shape 10">
            <a:extLst>
              <a:ext uri="{FF2B5EF4-FFF2-40B4-BE49-F238E27FC236}">
                <a16:creationId xmlns:a16="http://schemas.microsoft.com/office/drawing/2014/main" id="{4883CA04-907A-E71B-E5D1-DB4C3CDF0302}"/>
              </a:ext>
            </a:extLst>
          </p:cNvPr>
          <p:cNvSpPr/>
          <p:nvPr/>
        </p:nvSpPr>
        <p:spPr>
          <a:xfrm>
            <a:off x="762000" y="2827358"/>
            <a:ext cx="8296238" cy="3049717"/>
          </a:xfrm>
          <a:prstGeom prst="rect">
            <a:avLst/>
          </a:prstGeom>
          <a:solidFill>
            <a:srgbClr val="F7F7F9"/>
          </a:solidFill>
          <a:ln w="11906">
            <a:solidFill>
              <a:srgbClr val="D8DEE9"/>
            </a:solidFill>
            <a:prstDash val="solid"/>
          </a:ln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 11">
            <a:extLst>
              <a:ext uri="{FF2B5EF4-FFF2-40B4-BE49-F238E27FC236}">
                <a16:creationId xmlns:a16="http://schemas.microsoft.com/office/drawing/2014/main" id="{CAE02526-55C1-109D-75EA-BAC296407FF0}"/>
              </a:ext>
            </a:extLst>
          </p:cNvPr>
          <p:cNvSpPr/>
          <p:nvPr/>
        </p:nvSpPr>
        <p:spPr>
          <a:xfrm>
            <a:off x="945245" y="2972465"/>
            <a:ext cx="8167641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A1F4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 · Inteligencia satelital</a:t>
            </a:r>
            <a:endParaRPr lang="en-US" sz="1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Shape 13">
            <a:extLst>
              <a:ext uri="{FF2B5EF4-FFF2-40B4-BE49-F238E27FC236}">
                <a16:creationId xmlns:a16="http://schemas.microsoft.com/office/drawing/2014/main" id="{43742768-0580-C4AA-5058-2C290E0C218D}"/>
              </a:ext>
            </a:extLst>
          </p:cNvPr>
          <p:cNvSpPr/>
          <p:nvPr/>
        </p:nvSpPr>
        <p:spPr>
          <a:xfrm>
            <a:off x="945245" y="3591516"/>
            <a:ext cx="1971973" cy="261937"/>
          </a:xfrm>
          <a:prstGeom prst="rect">
            <a:avLst/>
          </a:prstGeom>
          <a:solidFill>
            <a:srgbClr val="0A1F44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 14">
            <a:extLst>
              <a:ext uri="{FF2B5EF4-FFF2-40B4-BE49-F238E27FC236}">
                <a16:creationId xmlns:a16="http://schemas.microsoft.com/office/drawing/2014/main" id="{EB936978-2B4B-8723-3C93-222A9195D932}"/>
              </a:ext>
            </a:extLst>
          </p:cNvPr>
          <p:cNvSpPr/>
          <p:nvPr/>
        </p:nvSpPr>
        <p:spPr>
          <a:xfrm>
            <a:off x="1021445" y="3639141"/>
            <a:ext cx="1895773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150" b="1" kern="0" spc="22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Empresa</a:t>
            </a:r>
            <a:endParaRPr lang="en-US" sz="11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Shape 15">
            <a:extLst>
              <a:ext uri="{FF2B5EF4-FFF2-40B4-BE49-F238E27FC236}">
                <a16:creationId xmlns:a16="http://schemas.microsoft.com/office/drawing/2014/main" id="{EF3152F6-98F3-718D-DAA2-4AB02AB9AA72}"/>
              </a:ext>
            </a:extLst>
          </p:cNvPr>
          <p:cNvSpPr/>
          <p:nvPr/>
        </p:nvSpPr>
        <p:spPr>
          <a:xfrm>
            <a:off x="2917217" y="3591516"/>
            <a:ext cx="2928379" cy="261937"/>
          </a:xfrm>
          <a:prstGeom prst="rect">
            <a:avLst/>
          </a:prstGeom>
          <a:solidFill>
            <a:srgbClr val="0A1F44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 16">
            <a:extLst>
              <a:ext uri="{FF2B5EF4-FFF2-40B4-BE49-F238E27FC236}">
                <a16:creationId xmlns:a16="http://schemas.microsoft.com/office/drawing/2014/main" id="{C0B76F76-BB11-7F4B-A0E8-12F2C406797A}"/>
              </a:ext>
            </a:extLst>
          </p:cNvPr>
          <p:cNvSpPr/>
          <p:nvPr/>
        </p:nvSpPr>
        <p:spPr>
          <a:xfrm>
            <a:off x="2993417" y="3639141"/>
            <a:ext cx="2863831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150" b="1" kern="0" spc="22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Financiación</a:t>
            </a:r>
            <a:endParaRPr lang="en-US" sz="11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Shape 17">
            <a:extLst>
              <a:ext uri="{FF2B5EF4-FFF2-40B4-BE49-F238E27FC236}">
                <a16:creationId xmlns:a16="http://schemas.microsoft.com/office/drawing/2014/main" id="{3F63815F-FB44-9228-DB60-8EF2191C7499}"/>
              </a:ext>
            </a:extLst>
          </p:cNvPr>
          <p:cNvSpPr/>
          <p:nvPr/>
        </p:nvSpPr>
        <p:spPr>
          <a:xfrm>
            <a:off x="5845597" y="3591516"/>
            <a:ext cx="3029396" cy="261937"/>
          </a:xfrm>
          <a:prstGeom prst="rect">
            <a:avLst/>
          </a:prstGeom>
          <a:solidFill>
            <a:srgbClr val="0A1F44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Text 18">
            <a:extLst>
              <a:ext uri="{FF2B5EF4-FFF2-40B4-BE49-F238E27FC236}">
                <a16:creationId xmlns:a16="http://schemas.microsoft.com/office/drawing/2014/main" id="{0825E0DD-5225-032E-93FD-EEED39ED67EE}"/>
              </a:ext>
            </a:extLst>
          </p:cNvPr>
          <p:cNvSpPr/>
          <p:nvPr/>
        </p:nvSpPr>
        <p:spPr>
          <a:xfrm>
            <a:off x="5921797" y="3639141"/>
            <a:ext cx="2967878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150" b="1" kern="0" spc="22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Foco</a:t>
            </a:r>
            <a:endParaRPr lang="en-US" sz="11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Shape 19">
            <a:extLst>
              <a:ext uri="{FF2B5EF4-FFF2-40B4-BE49-F238E27FC236}">
                <a16:creationId xmlns:a16="http://schemas.microsoft.com/office/drawing/2014/main" id="{20CFD465-4E88-37F9-CDD2-5EC88DE89374}"/>
              </a:ext>
            </a:extLst>
          </p:cNvPr>
          <p:cNvSpPr/>
          <p:nvPr/>
        </p:nvSpPr>
        <p:spPr>
          <a:xfrm>
            <a:off x="945245" y="4133064"/>
            <a:ext cx="1971973" cy="11906"/>
          </a:xfrm>
          <a:prstGeom prst="rect">
            <a:avLst/>
          </a:prstGeom>
          <a:solidFill>
            <a:srgbClr val="D8DEE9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ext 20">
            <a:extLst>
              <a:ext uri="{FF2B5EF4-FFF2-40B4-BE49-F238E27FC236}">
                <a16:creationId xmlns:a16="http://schemas.microsoft.com/office/drawing/2014/main" id="{7433945A-AD7F-2F48-2F5E-02ABC2FEA5C8}"/>
              </a:ext>
            </a:extLst>
          </p:cNvPr>
          <p:cNvSpPr/>
          <p:nvPr/>
        </p:nvSpPr>
        <p:spPr>
          <a:xfrm>
            <a:off x="1021445" y="3901079"/>
            <a:ext cx="1895773" cy="222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0A1F4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Kayrros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Shape 21">
            <a:extLst>
              <a:ext uri="{FF2B5EF4-FFF2-40B4-BE49-F238E27FC236}">
                <a16:creationId xmlns:a16="http://schemas.microsoft.com/office/drawing/2014/main" id="{D74EDDAA-3847-5620-933E-38DEE7DB89A0}"/>
              </a:ext>
            </a:extLst>
          </p:cNvPr>
          <p:cNvSpPr/>
          <p:nvPr/>
        </p:nvSpPr>
        <p:spPr>
          <a:xfrm>
            <a:off x="2917217" y="4133064"/>
            <a:ext cx="2928379" cy="11906"/>
          </a:xfrm>
          <a:prstGeom prst="rect">
            <a:avLst/>
          </a:prstGeom>
          <a:solidFill>
            <a:srgbClr val="D8DEE9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Text 22">
            <a:extLst>
              <a:ext uri="{FF2B5EF4-FFF2-40B4-BE49-F238E27FC236}">
                <a16:creationId xmlns:a16="http://schemas.microsoft.com/office/drawing/2014/main" id="{3A9FE0F3-33B8-A1FD-2D43-6A8C1E80CB46}"/>
              </a:ext>
            </a:extLst>
          </p:cNvPr>
          <p:cNvSpPr/>
          <p:nvPr/>
        </p:nvSpPr>
        <p:spPr>
          <a:xfrm>
            <a:off x="2993417" y="3901079"/>
            <a:ext cx="2863831" cy="222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0A1F4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$78M · adquirida 2026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Shape 23">
            <a:extLst>
              <a:ext uri="{FF2B5EF4-FFF2-40B4-BE49-F238E27FC236}">
                <a16:creationId xmlns:a16="http://schemas.microsoft.com/office/drawing/2014/main" id="{AD310007-4B52-9F34-1390-A27408D63058}"/>
              </a:ext>
            </a:extLst>
          </p:cNvPr>
          <p:cNvSpPr/>
          <p:nvPr/>
        </p:nvSpPr>
        <p:spPr>
          <a:xfrm>
            <a:off x="5845597" y="4133064"/>
            <a:ext cx="3029396" cy="11906"/>
          </a:xfrm>
          <a:prstGeom prst="rect">
            <a:avLst/>
          </a:prstGeom>
          <a:solidFill>
            <a:srgbClr val="D8DEE9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Text 24">
            <a:extLst>
              <a:ext uri="{FF2B5EF4-FFF2-40B4-BE49-F238E27FC236}">
                <a16:creationId xmlns:a16="http://schemas.microsoft.com/office/drawing/2014/main" id="{E784047A-9F96-2A9A-F6E2-61E3EE6A8C88}"/>
              </a:ext>
            </a:extLst>
          </p:cNvPr>
          <p:cNvSpPr/>
          <p:nvPr/>
        </p:nvSpPr>
        <p:spPr>
          <a:xfrm>
            <a:off x="5921797" y="3901079"/>
            <a:ext cx="2967878" cy="222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0A1F4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Solo energía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Shape 25">
            <a:extLst>
              <a:ext uri="{FF2B5EF4-FFF2-40B4-BE49-F238E27FC236}">
                <a16:creationId xmlns:a16="http://schemas.microsoft.com/office/drawing/2014/main" id="{CBE558E4-2B87-3046-ECDF-B157168D9E1B}"/>
              </a:ext>
            </a:extLst>
          </p:cNvPr>
          <p:cNvSpPr/>
          <p:nvPr/>
        </p:nvSpPr>
        <p:spPr>
          <a:xfrm>
            <a:off x="945245" y="4430535"/>
            <a:ext cx="1971973" cy="11906"/>
          </a:xfrm>
          <a:prstGeom prst="rect">
            <a:avLst/>
          </a:prstGeom>
          <a:solidFill>
            <a:srgbClr val="D8DEE9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Text 26">
            <a:extLst>
              <a:ext uri="{FF2B5EF4-FFF2-40B4-BE49-F238E27FC236}">
                <a16:creationId xmlns:a16="http://schemas.microsoft.com/office/drawing/2014/main" id="{D82CC85A-9377-C764-4F49-B38FFDF85DE8}"/>
              </a:ext>
            </a:extLst>
          </p:cNvPr>
          <p:cNvSpPr/>
          <p:nvPr/>
        </p:nvSpPr>
        <p:spPr>
          <a:xfrm>
            <a:off x="1021445" y="4192596"/>
            <a:ext cx="1895773" cy="2284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0A1F4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Orbital Insight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Shape 27">
            <a:extLst>
              <a:ext uri="{FF2B5EF4-FFF2-40B4-BE49-F238E27FC236}">
                <a16:creationId xmlns:a16="http://schemas.microsoft.com/office/drawing/2014/main" id="{D9FA30AD-F9D6-AFA3-2382-7F16632BD210}"/>
              </a:ext>
            </a:extLst>
          </p:cNvPr>
          <p:cNvSpPr/>
          <p:nvPr/>
        </p:nvSpPr>
        <p:spPr>
          <a:xfrm>
            <a:off x="2917217" y="4430535"/>
            <a:ext cx="2928379" cy="11906"/>
          </a:xfrm>
          <a:prstGeom prst="rect">
            <a:avLst/>
          </a:prstGeom>
          <a:solidFill>
            <a:srgbClr val="D8DEE9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Text 28">
            <a:extLst>
              <a:ext uri="{FF2B5EF4-FFF2-40B4-BE49-F238E27FC236}">
                <a16:creationId xmlns:a16="http://schemas.microsoft.com/office/drawing/2014/main" id="{ADD96FB2-F0A1-A655-ADCC-05452ECD5275}"/>
              </a:ext>
            </a:extLst>
          </p:cNvPr>
          <p:cNvSpPr/>
          <p:nvPr/>
        </p:nvSpPr>
        <p:spPr>
          <a:xfrm>
            <a:off x="2993417" y="4192596"/>
            <a:ext cx="2863831" cy="2284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0A1F4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$111M · adq. Privateer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Shape 29">
            <a:extLst>
              <a:ext uri="{FF2B5EF4-FFF2-40B4-BE49-F238E27FC236}">
                <a16:creationId xmlns:a16="http://schemas.microsoft.com/office/drawing/2014/main" id="{92FF26E7-A136-9795-E52E-2C9DC2AD6DAE}"/>
              </a:ext>
            </a:extLst>
          </p:cNvPr>
          <p:cNvSpPr/>
          <p:nvPr/>
        </p:nvSpPr>
        <p:spPr>
          <a:xfrm>
            <a:off x="5845597" y="4430535"/>
            <a:ext cx="3029396" cy="11906"/>
          </a:xfrm>
          <a:prstGeom prst="rect">
            <a:avLst/>
          </a:prstGeom>
          <a:solidFill>
            <a:srgbClr val="D8DEE9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Text 30">
            <a:extLst>
              <a:ext uri="{FF2B5EF4-FFF2-40B4-BE49-F238E27FC236}">
                <a16:creationId xmlns:a16="http://schemas.microsoft.com/office/drawing/2014/main" id="{1231DB52-EBDF-3DFD-5B29-ABB9EA5E837E}"/>
              </a:ext>
            </a:extLst>
          </p:cNvPr>
          <p:cNvSpPr/>
          <p:nvPr/>
        </p:nvSpPr>
        <p:spPr>
          <a:xfrm>
            <a:off x="5921797" y="4192596"/>
            <a:ext cx="2967878" cy="2284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0A1F4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Commodities, retail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" name="Shape 31">
            <a:extLst>
              <a:ext uri="{FF2B5EF4-FFF2-40B4-BE49-F238E27FC236}">
                <a16:creationId xmlns:a16="http://schemas.microsoft.com/office/drawing/2014/main" id="{1837B382-ADB5-E9F6-0DAE-F4B47BA5A3EF}"/>
              </a:ext>
            </a:extLst>
          </p:cNvPr>
          <p:cNvSpPr/>
          <p:nvPr/>
        </p:nvSpPr>
        <p:spPr>
          <a:xfrm>
            <a:off x="945245" y="4728005"/>
            <a:ext cx="1971973" cy="11906"/>
          </a:xfrm>
          <a:prstGeom prst="rect">
            <a:avLst/>
          </a:prstGeom>
          <a:solidFill>
            <a:srgbClr val="D8DEE9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Text 32">
            <a:extLst>
              <a:ext uri="{FF2B5EF4-FFF2-40B4-BE49-F238E27FC236}">
                <a16:creationId xmlns:a16="http://schemas.microsoft.com/office/drawing/2014/main" id="{DDA3602E-57B5-7BE4-2E54-E3E5398A544E}"/>
              </a:ext>
            </a:extLst>
          </p:cNvPr>
          <p:cNvSpPr/>
          <p:nvPr/>
        </p:nvSpPr>
        <p:spPr>
          <a:xfrm>
            <a:off x="1021445" y="4490066"/>
            <a:ext cx="1895773" cy="2284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0A1F4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AiDash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" name="Shape 33">
            <a:extLst>
              <a:ext uri="{FF2B5EF4-FFF2-40B4-BE49-F238E27FC236}">
                <a16:creationId xmlns:a16="http://schemas.microsoft.com/office/drawing/2014/main" id="{AE2DF1CC-A2A7-B70D-38F5-3E9BA9F419C6}"/>
              </a:ext>
            </a:extLst>
          </p:cNvPr>
          <p:cNvSpPr/>
          <p:nvPr/>
        </p:nvSpPr>
        <p:spPr>
          <a:xfrm>
            <a:off x="2917217" y="4728005"/>
            <a:ext cx="2928379" cy="11906"/>
          </a:xfrm>
          <a:prstGeom prst="rect">
            <a:avLst/>
          </a:prstGeom>
          <a:solidFill>
            <a:srgbClr val="D8DEE9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" name="Text 34">
            <a:extLst>
              <a:ext uri="{FF2B5EF4-FFF2-40B4-BE49-F238E27FC236}">
                <a16:creationId xmlns:a16="http://schemas.microsoft.com/office/drawing/2014/main" id="{C838877A-D372-C637-8174-A93048AF9198}"/>
              </a:ext>
            </a:extLst>
          </p:cNvPr>
          <p:cNvSpPr/>
          <p:nvPr/>
        </p:nvSpPr>
        <p:spPr>
          <a:xfrm>
            <a:off x="2993417" y="4490066"/>
            <a:ext cx="2863831" cy="2284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0A1F4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$58,5M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8" name="Shape 35">
            <a:extLst>
              <a:ext uri="{FF2B5EF4-FFF2-40B4-BE49-F238E27FC236}">
                <a16:creationId xmlns:a16="http://schemas.microsoft.com/office/drawing/2014/main" id="{F790BBC9-7874-1443-FD89-D07D168EDA38}"/>
              </a:ext>
            </a:extLst>
          </p:cNvPr>
          <p:cNvSpPr/>
          <p:nvPr/>
        </p:nvSpPr>
        <p:spPr>
          <a:xfrm>
            <a:off x="5845597" y="4728005"/>
            <a:ext cx="3029396" cy="11906"/>
          </a:xfrm>
          <a:prstGeom prst="rect">
            <a:avLst/>
          </a:prstGeom>
          <a:solidFill>
            <a:srgbClr val="D8DEE9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9" name="Text 36">
            <a:extLst>
              <a:ext uri="{FF2B5EF4-FFF2-40B4-BE49-F238E27FC236}">
                <a16:creationId xmlns:a16="http://schemas.microsoft.com/office/drawing/2014/main" id="{0DD6BAC9-447F-9E48-60EB-06664EEB757A}"/>
              </a:ext>
            </a:extLst>
          </p:cNvPr>
          <p:cNvSpPr/>
          <p:nvPr/>
        </p:nvSpPr>
        <p:spPr>
          <a:xfrm>
            <a:off x="5921797" y="4490066"/>
            <a:ext cx="2967878" cy="2284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0A1F4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Utilities, infraestructura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0" name="Shape 37">
            <a:extLst>
              <a:ext uri="{FF2B5EF4-FFF2-40B4-BE49-F238E27FC236}">
                <a16:creationId xmlns:a16="http://schemas.microsoft.com/office/drawing/2014/main" id="{8B03DE19-03B5-6AEF-25CA-6D02D45771E0}"/>
              </a:ext>
            </a:extLst>
          </p:cNvPr>
          <p:cNvSpPr/>
          <p:nvPr/>
        </p:nvSpPr>
        <p:spPr>
          <a:xfrm>
            <a:off x="945245" y="5025475"/>
            <a:ext cx="1971973" cy="11906"/>
          </a:xfrm>
          <a:prstGeom prst="rect">
            <a:avLst/>
          </a:prstGeom>
          <a:solidFill>
            <a:srgbClr val="D8DEE9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1" name="Text 38">
            <a:extLst>
              <a:ext uri="{FF2B5EF4-FFF2-40B4-BE49-F238E27FC236}">
                <a16:creationId xmlns:a16="http://schemas.microsoft.com/office/drawing/2014/main" id="{2F4AD068-0EB2-70BC-D1F4-EC73C78D9ACC}"/>
              </a:ext>
            </a:extLst>
          </p:cNvPr>
          <p:cNvSpPr/>
          <p:nvPr/>
        </p:nvSpPr>
        <p:spPr>
          <a:xfrm>
            <a:off x="1021445" y="4787536"/>
            <a:ext cx="1895773" cy="2284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0A1F4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LiveEO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2" name="Shape 39">
            <a:extLst>
              <a:ext uri="{FF2B5EF4-FFF2-40B4-BE49-F238E27FC236}">
                <a16:creationId xmlns:a16="http://schemas.microsoft.com/office/drawing/2014/main" id="{56B9ACDE-DFAA-59C2-B167-5B8185D070B8}"/>
              </a:ext>
            </a:extLst>
          </p:cNvPr>
          <p:cNvSpPr/>
          <p:nvPr/>
        </p:nvSpPr>
        <p:spPr>
          <a:xfrm>
            <a:off x="2917217" y="5025475"/>
            <a:ext cx="2928379" cy="11906"/>
          </a:xfrm>
          <a:prstGeom prst="rect">
            <a:avLst/>
          </a:prstGeom>
          <a:solidFill>
            <a:srgbClr val="D8DEE9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3" name="Text 40">
            <a:extLst>
              <a:ext uri="{FF2B5EF4-FFF2-40B4-BE49-F238E27FC236}">
                <a16:creationId xmlns:a16="http://schemas.microsoft.com/office/drawing/2014/main" id="{A68B0CB1-D0FC-C1B5-2A8B-36131AD7F239}"/>
              </a:ext>
            </a:extLst>
          </p:cNvPr>
          <p:cNvSpPr/>
          <p:nvPr/>
        </p:nvSpPr>
        <p:spPr>
          <a:xfrm>
            <a:off x="2993417" y="4787536"/>
            <a:ext cx="2863831" cy="2284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0A1F4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€28M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4" name="Shape 41">
            <a:extLst>
              <a:ext uri="{FF2B5EF4-FFF2-40B4-BE49-F238E27FC236}">
                <a16:creationId xmlns:a16="http://schemas.microsoft.com/office/drawing/2014/main" id="{11418FB8-241B-EB33-7CE0-48E22D569D00}"/>
              </a:ext>
            </a:extLst>
          </p:cNvPr>
          <p:cNvSpPr/>
          <p:nvPr/>
        </p:nvSpPr>
        <p:spPr>
          <a:xfrm>
            <a:off x="5845597" y="5025475"/>
            <a:ext cx="3029396" cy="11906"/>
          </a:xfrm>
          <a:prstGeom prst="rect">
            <a:avLst/>
          </a:prstGeom>
          <a:solidFill>
            <a:srgbClr val="D8DEE9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5" name="Text 42">
            <a:extLst>
              <a:ext uri="{FF2B5EF4-FFF2-40B4-BE49-F238E27FC236}">
                <a16:creationId xmlns:a16="http://schemas.microsoft.com/office/drawing/2014/main" id="{F3A2E9E5-9EA4-A97B-6765-F4B9CC0DCE82}"/>
              </a:ext>
            </a:extLst>
          </p:cNvPr>
          <p:cNvSpPr/>
          <p:nvPr/>
        </p:nvSpPr>
        <p:spPr>
          <a:xfrm>
            <a:off x="5921797" y="4787536"/>
            <a:ext cx="2967878" cy="2284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0A1F4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Infraestructura lineal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6" name="Shape 43">
            <a:extLst>
              <a:ext uri="{FF2B5EF4-FFF2-40B4-BE49-F238E27FC236}">
                <a16:creationId xmlns:a16="http://schemas.microsoft.com/office/drawing/2014/main" id="{57D02C21-AF51-039E-3AD6-954E8A8EB36B}"/>
              </a:ext>
            </a:extLst>
          </p:cNvPr>
          <p:cNvSpPr/>
          <p:nvPr/>
        </p:nvSpPr>
        <p:spPr>
          <a:xfrm>
            <a:off x="945245" y="5224309"/>
            <a:ext cx="7929749" cy="580430"/>
          </a:xfrm>
          <a:prstGeom prst="rect">
            <a:avLst/>
          </a:prstGeom>
          <a:solidFill>
            <a:srgbClr val="FBF1D9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7" name="Shape 44">
            <a:extLst>
              <a:ext uri="{FF2B5EF4-FFF2-40B4-BE49-F238E27FC236}">
                <a16:creationId xmlns:a16="http://schemas.microsoft.com/office/drawing/2014/main" id="{34A2F37F-9D7C-5568-B75F-8073C99688BE}"/>
              </a:ext>
            </a:extLst>
          </p:cNvPr>
          <p:cNvSpPr/>
          <p:nvPr/>
        </p:nvSpPr>
        <p:spPr>
          <a:xfrm>
            <a:off x="945245" y="5224309"/>
            <a:ext cx="47625" cy="580430"/>
          </a:xfrm>
          <a:prstGeom prst="rect">
            <a:avLst/>
          </a:prstGeom>
          <a:solidFill>
            <a:srgbClr val="BF9000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8" name="Text 45">
            <a:extLst>
              <a:ext uri="{FF2B5EF4-FFF2-40B4-BE49-F238E27FC236}">
                <a16:creationId xmlns:a16="http://schemas.microsoft.com/office/drawing/2014/main" id="{7A031934-3A44-7635-5C4E-DBE99265639F}"/>
              </a:ext>
            </a:extLst>
          </p:cNvPr>
          <p:cNvSpPr/>
          <p:nvPr/>
        </p:nvSpPr>
        <p:spPr>
          <a:xfrm>
            <a:off x="1107170" y="5300509"/>
            <a:ext cx="7891416" cy="466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50" b="1" dirty="0">
                <a:solidFill>
                  <a:srgbClr val="BF9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BRECHA · </a:t>
            </a:r>
            <a:r>
              <a:rPr lang="en-US" sz="1250" dirty="0">
                <a:solidFill>
                  <a:srgbClr val="0A1F44"/>
                </a:solidFill>
                <a:highlight>
                  <a:srgbClr val="FBF1D9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Imágenes premium ($50K–$500K/año). Solo activos grandes y visibles. No leen documentos. Sin confianza probabilística por activo.</a:t>
            </a:r>
            <a:endParaRPr lang="en-US" sz="12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9" name="Shape 46">
            <a:extLst>
              <a:ext uri="{FF2B5EF4-FFF2-40B4-BE49-F238E27FC236}">
                <a16:creationId xmlns:a16="http://schemas.microsoft.com/office/drawing/2014/main" id="{8154C0C7-0B27-98A0-0360-8DC07EC958F3}"/>
              </a:ext>
            </a:extLst>
          </p:cNvPr>
          <p:cNvSpPr/>
          <p:nvPr/>
        </p:nvSpPr>
        <p:spPr>
          <a:xfrm>
            <a:off x="9229576" y="2827358"/>
            <a:ext cx="8296424" cy="3049717"/>
          </a:xfrm>
          <a:prstGeom prst="rect">
            <a:avLst/>
          </a:prstGeom>
          <a:solidFill>
            <a:srgbClr val="F7F7F9"/>
          </a:solidFill>
          <a:ln w="11906">
            <a:solidFill>
              <a:srgbClr val="D8DEE9"/>
            </a:solidFill>
            <a:prstDash val="solid"/>
          </a:ln>
        </p:spPr>
        <p:txBody>
          <a:bodyPr/>
          <a:lstStyle/>
          <a:p>
            <a:endParaRPr lang="es-ES_tradnl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0" name="Text 47">
            <a:extLst>
              <a:ext uri="{FF2B5EF4-FFF2-40B4-BE49-F238E27FC236}">
                <a16:creationId xmlns:a16="http://schemas.microsoft.com/office/drawing/2014/main" id="{921275C9-A997-58BB-F29F-1BFE5669A68D}"/>
              </a:ext>
            </a:extLst>
          </p:cNvPr>
          <p:cNvSpPr/>
          <p:nvPr/>
        </p:nvSpPr>
        <p:spPr>
          <a:xfrm>
            <a:off x="9412821" y="2972465"/>
            <a:ext cx="8167833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A1F4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 · Agregadores de datos financieros</a:t>
            </a:r>
            <a:endParaRPr lang="en-US" sz="1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2" name="Shape 49">
            <a:extLst>
              <a:ext uri="{FF2B5EF4-FFF2-40B4-BE49-F238E27FC236}">
                <a16:creationId xmlns:a16="http://schemas.microsoft.com/office/drawing/2014/main" id="{002A0B39-9BF1-79EB-7BF9-48E34DCBD1CD}"/>
              </a:ext>
            </a:extLst>
          </p:cNvPr>
          <p:cNvSpPr/>
          <p:nvPr/>
        </p:nvSpPr>
        <p:spPr>
          <a:xfrm>
            <a:off x="9412821" y="3591516"/>
            <a:ext cx="2512219" cy="261937"/>
          </a:xfrm>
          <a:prstGeom prst="rect">
            <a:avLst/>
          </a:prstGeom>
          <a:solidFill>
            <a:srgbClr val="0A1F44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3" name="Text 50">
            <a:extLst>
              <a:ext uri="{FF2B5EF4-FFF2-40B4-BE49-F238E27FC236}">
                <a16:creationId xmlns:a16="http://schemas.microsoft.com/office/drawing/2014/main" id="{1540042C-98C5-2017-5496-9FF9C9F95EFA}"/>
              </a:ext>
            </a:extLst>
          </p:cNvPr>
          <p:cNvSpPr/>
          <p:nvPr/>
        </p:nvSpPr>
        <p:spPr>
          <a:xfrm>
            <a:off x="9489021" y="3639141"/>
            <a:ext cx="2436019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150" b="1" kern="0" spc="22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Empresa</a:t>
            </a:r>
            <a:endParaRPr lang="en-US" sz="11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4" name="Shape 51">
            <a:extLst>
              <a:ext uri="{FF2B5EF4-FFF2-40B4-BE49-F238E27FC236}">
                <a16:creationId xmlns:a16="http://schemas.microsoft.com/office/drawing/2014/main" id="{B690A0BF-04D9-57BB-8506-33E719ACCBF9}"/>
              </a:ext>
            </a:extLst>
          </p:cNvPr>
          <p:cNvSpPr/>
          <p:nvPr/>
        </p:nvSpPr>
        <p:spPr>
          <a:xfrm>
            <a:off x="11925040" y="3591516"/>
            <a:ext cx="2130847" cy="261937"/>
          </a:xfrm>
          <a:prstGeom prst="rect">
            <a:avLst/>
          </a:prstGeom>
          <a:solidFill>
            <a:srgbClr val="0A1F44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5" name="Text 52">
            <a:extLst>
              <a:ext uri="{FF2B5EF4-FFF2-40B4-BE49-F238E27FC236}">
                <a16:creationId xmlns:a16="http://schemas.microsoft.com/office/drawing/2014/main" id="{BC31E1A3-72E8-27D6-6E29-F29C9FB7D5C5}"/>
              </a:ext>
            </a:extLst>
          </p:cNvPr>
          <p:cNvSpPr/>
          <p:nvPr/>
        </p:nvSpPr>
        <p:spPr>
          <a:xfrm>
            <a:off x="12001240" y="3639141"/>
            <a:ext cx="2054647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150" b="1" kern="0" spc="22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Revenue '24</a:t>
            </a:r>
            <a:endParaRPr lang="en-US" sz="11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6" name="Shape 53">
            <a:extLst>
              <a:ext uri="{FF2B5EF4-FFF2-40B4-BE49-F238E27FC236}">
                <a16:creationId xmlns:a16="http://schemas.microsoft.com/office/drawing/2014/main" id="{D6807FBA-5838-E8A2-1F8B-C5FC3185BB22}"/>
              </a:ext>
            </a:extLst>
          </p:cNvPr>
          <p:cNvSpPr/>
          <p:nvPr/>
        </p:nvSpPr>
        <p:spPr>
          <a:xfrm>
            <a:off x="14055886" y="3591516"/>
            <a:ext cx="3286869" cy="261937"/>
          </a:xfrm>
          <a:prstGeom prst="rect">
            <a:avLst/>
          </a:prstGeom>
          <a:solidFill>
            <a:srgbClr val="0A1F44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7" name="Text 54">
            <a:extLst>
              <a:ext uri="{FF2B5EF4-FFF2-40B4-BE49-F238E27FC236}">
                <a16:creationId xmlns:a16="http://schemas.microsoft.com/office/drawing/2014/main" id="{2F38E30F-187C-AA79-C5E5-C7803E23800A}"/>
              </a:ext>
            </a:extLst>
          </p:cNvPr>
          <p:cNvSpPr/>
          <p:nvPr/>
        </p:nvSpPr>
        <p:spPr>
          <a:xfrm>
            <a:off x="14132086" y="3639141"/>
            <a:ext cx="3233075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150" b="1" kern="0" spc="22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Activos físicos</a:t>
            </a:r>
            <a:endParaRPr lang="en-US" sz="11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8" name="Shape 55">
            <a:extLst>
              <a:ext uri="{FF2B5EF4-FFF2-40B4-BE49-F238E27FC236}">
                <a16:creationId xmlns:a16="http://schemas.microsoft.com/office/drawing/2014/main" id="{4D7662EC-A6B7-F984-4DDB-5BA0E2B662EA}"/>
              </a:ext>
            </a:extLst>
          </p:cNvPr>
          <p:cNvSpPr/>
          <p:nvPr/>
        </p:nvSpPr>
        <p:spPr>
          <a:xfrm>
            <a:off x="9412821" y="4133064"/>
            <a:ext cx="2512219" cy="11906"/>
          </a:xfrm>
          <a:prstGeom prst="rect">
            <a:avLst/>
          </a:prstGeom>
          <a:solidFill>
            <a:srgbClr val="D8DEE9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9" name="Text 56">
            <a:extLst>
              <a:ext uri="{FF2B5EF4-FFF2-40B4-BE49-F238E27FC236}">
                <a16:creationId xmlns:a16="http://schemas.microsoft.com/office/drawing/2014/main" id="{E81569DC-F8BE-D922-D2BC-B01D1E9BCB26}"/>
              </a:ext>
            </a:extLst>
          </p:cNvPr>
          <p:cNvSpPr/>
          <p:nvPr/>
        </p:nvSpPr>
        <p:spPr>
          <a:xfrm>
            <a:off x="9489021" y="3901079"/>
            <a:ext cx="2436019" cy="222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0A1F4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S&amp;P Global MI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0" name="Shape 57">
            <a:extLst>
              <a:ext uri="{FF2B5EF4-FFF2-40B4-BE49-F238E27FC236}">
                <a16:creationId xmlns:a16="http://schemas.microsoft.com/office/drawing/2014/main" id="{253BFA3F-C69B-B197-486E-FED529E3DB3D}"/>
              </a:ext>
            </a:extLst>
          </p:cNvPr>
          <p:cNvSpPr/>
          <p:nvPr/>
        </p:nvSpPr>
        <p:spPr>
          <a:xfrm>
            <a:off x="11925040" y="4133064"/>
            <a:ext cx="2130847" cy="11906"/>
          </a:xfrm>
          <a:prstGeom prst="rect">
            <a:avLst/>
          </a:prstGeom>
          <a:solidFill>
            <a:srgbClr val="D8DEE9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1" name="Text 58">
            <a:extLst>
              <a:ext uri="{FF2B5EF4-FFF2-40B4-BE49-F238E27FC236}">
                <a16:creationId xmlns:a16="http://schemas.microsoft.com/office/drawing/2014/main" id="{52F10F26-1722-1F2A-7CF5-8BA5374E9381}"/>
              </a:ext>
            </a:extLst>
          </p:cNvPr>
          <p:cNvSpPr/>
          <p:nvPr/>
        </p:nvSpPr>
        <p:spPr>
          <a:xfrm>
            <a:off x="12001240" y="3901079"/>
            <a:ext cx="2054647" cy="222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0A1F4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$4,92B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2" name="Shape 59">
            <a:extLst>
              <a:ext uri="{FF2B5EF4-FFF2-40B4-BE49-F238E27FC236}">
                <a16:creationId xmlns:a16="http://schemas.microsoft.com/office/drawing/2014/main" id="{941FF3FA-9420-DA82-5D28-EDEC5096DE33}"/>
              </a:ext>
            </a:extLst>
          </p:cNvPr>
          <p:cNvSpPr/>
          <p:nvPr/>
        </p:nvSpPr>
        <p:spPr>
          <a:xfrm>
            <a:off x="14055886" y="4133064"/>
            <a:ext cx="3286869" cy="11906"/>
          </a:xfrm>
          <a:prstGeom prst="rect">
            <a:avLst/>
          </a:prstGeom>
          <a:solidFill>
            <a:srgbClr val="D8DEE9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3" name="Text 60">
            <a:extLst>
              <a:ext uri="{FF2B5EF4-FFF2-40B4-BE49-F238E27FC236}">
                <a16:creationId xmlns:a16="http://schemas.microsoft.com/office/drawing/2014/main" id="{DA852D09-FBFB-A977-D59C-E286EEEC4A9E}"/>
              </a:ext>
            </a:extLst>
          </p:cNvPr>
          <p:cNvSpPr/>
          <p:nvPr/>
        </p:nvSpPr>
        <p:spPr>
          <a:xfrm>
            <a:off x="14132086" y="3901079"/>
            <a:ext cx="3233075" cy="222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0A1F4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 · solo financiero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4" name="Shape 61">
            <a:extLst>
              <a:ext uri="{FF2B5EF4-FFF2-40B4-BE49-F238E27FC236}">
                <a16:creationId xmlns:a16="http://schemas.microsoft.com/office/drawing/2014/main" id="{3E2F3707-D371-3BDE-5E8D-2C7E444B330F}"/>
              </a:ext>
            </a:extLst>
          </p:cNvPr>
          <p:cNvSpPr/>
          <p:nvPr/>
        </p:nvSpPr>
        <p:spPr>
          <a:xfrm>
            <a:off x="9412821" y="4430535"/>
            <a:ext cx="2512219" cy="11906"/>
          </a:xfrm>
          <a:prstGeom prst="rect">
            <a:avLst/>
          </a:prstGeom>
          <a:solidFill>
            <a:srgbClr val="D8DEE9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5" name="Text 62">
            <a:extLst>
              <a:ext uri="{FF2B5EF4-FFF2-40B4-BE49-F238E27FC236}">
                <a16:creationId xmlns:a16="http://schemas.microsoft.com/office/drawing/2014/main" id="{B6907472-789E-F883-77C2-50551BDBF78F}"/>
              </a:ext>
            </a:extLst>
          </p:cNvPr>
          <p:cNvSpPr/>
          <p:nvPr/>
        </p:nvSpPr>
        <p:spPr>
          <a:xfrm>
            <a:off x="9489021" y="4192596"/>
            <a:ext cx="2436019" cy="2284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0A1F4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MSCI ESG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6" name="Shape 63">
            <a:extLst>
              <a:ext uri="{FF2B5EF4-FFF2-40B4-BE49-F238E27FC236}">
                <a16:creationId xmlns:a16="http://schemas.microsoft.com/office/drawing/2014/main" id="{A4376FAB-0EFB-3C02-8DBB-877BCE115D4D}"/>
              </a:ext>
            </a:extLst>
          </p:cNvPr>
          <p:cNvSpPr/>
          <p:nvPr/>
        </p:nvSpPr>
        <p:spPr>
          <a:xfrm>
            <a:off x="11925040" y="4430535"/>
            <a:ext cx="2130847" cy="11906"/>
          </a:xfrm>
          <a:prstGeom prst="rect">
            <a:avLst/>
          </a:prstGeom>
          <a:solidFill>
            <a:srgbClr val="D8DEE9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7" name="Text 64">
            <a:extLst>
              <a:ext uri="{FF2B5EF4-FFF2-40B4-BE49-F238E27FC236}">
                <a16:creationId xmlns:a16="http://schemas.microsoft.com/office/drawing/2014/main" id="{6F2E3505-ECD0-EC17-D4E9-F62D62846E3F}"/>
              </a:ext>
            </a:extLst>
          </p:cNvPr>
          <p:cNvSpPr/>
          <p:nvPr/>
        </p:nvSpPr>
        <p:spPr>
          <a:xfrm>
            <a:off x="12001240" y="4192596"/>
            <a:ext cx="2054647" cy="2284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 err="1">
                <a:solidFill>
                  <a:srgbClr val="0A1F4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Parte</a:t>
            </a:r>
            <a:r>
              <a:rPr lang="en-US" sz="1200" dirty="0">
                <a:solidFill>
                  <a:srgbClr val="0A1F4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$2,8B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8" name="Shape 65">
            <a:extLst>
              <a:ext uri="{FF2B5EF4-FFF2-40B4-BE49-F238E27FC236}">
                <a16:creationId xmlns:a16="http://schemas.microsoft.com/office/drawing/2014/main" id="{A2EABF35-BF2C-C95F-2377-1FBA2DFEC3EB}"/>
              </a:ext>
            </a:extLst>
          </p:cNvPr>
          <p:cNvSpPr/>
          <p:nvPr/>
        </p:nvSpPr>
        <p:spPr>
          <a:xfrm>
            <a:off x="14055886" y="4430535"/>
            <a:ext cx="3286869" cy="11906"/>
          </a:xfrm>
          <a:prstGeom prst="rect">
            <a:avLst/>
          </a:prstGeom>
          <a:solidFill>
            <a:srgbClr val="D8DEE9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9" name="Text 66">
            <a:extLst>
              <a:ext uri="{FF2B5EF4-FFF2-40B4-BE49-F238E27FC236}">
                <a16:creationId xmlns:a16="http://schemas.microsoft.com/office/drawing/2014/main" id="{D916170C-9037-2D2E-1448-FF6B524A037A}"/>
              </a:ext>
            </a:extLst>
          </p:cNvPr>
          <p:cNvSpPr/>
          <p:nvPr/>
        </p:nvSpPr>
        <p:spPr>
          <a:xfrm>
            <a:off x="14132086" y="4192596"/>
            <a:ext cx="3233075" cy="2284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 err="1">
                <a:solidFill>
                  <a:srgbClr val="0A1F4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Parcial</a:t>
            </a:r>
            <a:r>
              <a:rPr lang="en-US" sz="1200" dirty="0">
                <a:solidFill>
                  <a:srgbClr val="0A1F4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· &gt;$200K/año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0" name="Shape 67">
            <a:extLst>
              <a:ext uri="{FF2B5EF4-FFF2-40B4-BE49-F238E27FC236}">
                <a16:creationId xmlns:a16="http://schemas.microsoft.com/office/drawing/2014/main" id="{567E0C43-0480-DBB1-4124-22320C492DDA}"/>
              </a:ext>
            </a:extLst>
          </p:cNvPr>
          <p:cNvSpPr/>
          <p:nvPr/>
        </p:nvSpPr>
        <p:spPr>
          <a:xfrm>
            <a:off x="9412821" y="4728005"/>
            <a:ext cx="2512219" cy="11906"/>
          </a:xfrm>
          <a:prstGeom prst="rect">
            <a:avLst/>
          </a:prstGeom>
          <a:solidFill>
            <a:srgbClr val="D8DEE9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1" name="Text 68">
            <a:extLst>
              <a:ext uri="{FF2B5EF4-FFF2-40B4-BE49-F238E27FC236}">
                <a16:creationId xmlns:a16="http://schemas.microsoft.com/office/drawing/2014/main" id="{2BB3184F-A4CD-351B-5D9E-A43081D644E1}"/>
              </a:ext>
            </a:extLst>
          </p:cNvPr>
          <p:cNvSpPr/>
          <p:nvPr/>
        </p:nvSpPr>
        <p:spPr>
          <a:xfrm>
            <a:off x="9489021" y="4490066"/>
            <a:ext cx="2436019" cy="2284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0A1F4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Dun &amp; Bradstreet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2" name="Shape 69">
            <a:extLst>
              <a:ext uri="{FF2B5EF4-FFF2-40B4-BE49-F238E27FC236}">
                <a16:creationId xmlns:a16="http://schemas.microsoft.com/office/drawing/2014/main" id="{7B3CDAFD-1E97-391E-F63D-A776FCA8DE40}"/>
              </a:ext>
            </a:extLst>
          </p:cNvPr>
          <p:cNvSpPr/>
          <p:nvPr/>
        </p:nvSpPr>
        <p:spPr>
          <a:xfrm>
            <a:off x="11925040" y="4728005"/>
            <a:ext cx="2130847" cy="11906"/>
          </a:xfrm>
          <a:prstGeom prst="rect">
            <a:avLst/>
          </a:prstGeom>
          <a:solidFill>
            <a:srgbClr val="D8DEE9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3" name="Text 70">
            <a:extLst>
              <a:ext uri="{FF2B5EF4-FFF2-40B4-BE49-F238E27FC236}">
                <a16:creationId xmlns:a16="http://schemas.microsoft.com/office/drawing/2014/main" id="{C755A151-A50A-97C2-26DB-7D17A07757B9}"/>
              </a:ext>
            </a:extLst>
          </p:cNvPr>
          <p:cNvSpPr/>
          <p:nvPr/>
        </p:nvSpPr>
        <p:spPr>
          <a:xfrm>
            <a:off x="12001240" y="4490066"/>
            <a:ext cx="2054647" cy="2284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0A1F4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$2,38B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960" name="Shape 71">
            <a:extLst>
              <a:ext uri="{FF2B5EF4-FFF2-40B4-BE49-F238E27FC236}">
                <a16:creationId xmlns:a16="http://schemas.microsoft.com/office/drawing/2014/main" id="{CD4A93D7-D7B5-C31E-640F-67F4DAF24FC7}"/>
              </a:ext>
            </a:extLst>
          </p:cNvPr>
          <p:cNvSpPr/>
          <p:nvPr/>
        </p:nvSpPr>
        <p:spPr>
          <a:xfrm>
            <a:off x="14055886" y="4728005"/>
            <a:ext cx="3286869" cy="11906"/>
          </a:xfrm>
          <a:prstGeom prst="rect">
            <a:avLst/>
          </a:prstGeom>
          <a:solidFill>
            <a:srgbClr val="D8DEE9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961" name="Text 72">
            <a:extLst>
              <a:ext uri="{FF2B5EF4-FFF2-40B4-BE49-F238E27FC236}">
                <a16:creationId xmlns:a16="http://schemas.microsoft.com/office/drawing/2014/main" id="{FFAA0CA7-42B7-4EDA-74F3-1EFB4A50D723}"/>
              </a:ext>
            </a:extLst>
          </p:cNvPr>
          <p:cNvSpPr/>
          <p:nvPr/>
        </p:nvSpPr>
        <p:spPr>
          <a:xfrm>
            <a:off x="14132086" y="4490066"/>
            <a:ext cx="3233075" cy="2284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0A1F4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Registros, no activos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962" name="Shape 73">
            <a:extLst>
              <a:ext uri="{FF2B5EF4-FFF2-40B4-BE49-F238E27FC236}">
                <a16:creationId xmlns:a16="http://schemas.microsoft.com/office/drawing/2014/main" id="{14BB835D-5AAF-814B-41FD-81662878C890}"/>
              </a:ext>
            </a:extLst>
          </p:cNvPr>
          <p:cNvSpPr/>
          <p:nvPr/>
        </p:nvSpPr>
        <p:spPr>
          <a:xfrm>
            <a:off x="9412821" y="5025475"/>
            <a:ext cx="2512219" cy="11906"/>
          </a:xfrm>
          <a:prstGeom prst="rect">
            <a:avLst/>
          </a:prstGeom>
          <a:solidFill>
            <a:srgbClr val="D8DEE9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963" name="Text 74">
            <a:extLst>
              <a:ext uri="{FF2B5EF4-FFF2-40B4-BE49-F238E27FC236}">
                <a16:creationId xmlns:a16="http://schemas.microsoft.com/office/drawing/2014/main" id="{34249808-A961-3A7E-2A8E-892B733E5855}"/>
              </a:ext>
            </a:extLst>
          </p:cNvPr>
          <p:cNvSpPr/>
          <p:nvPr/>
        </p:nvSpPr>
        <p:spPr>
          <a:xfrm>
            <a:off x="9489021" y="4787536"/>
            <a:ext cx="2436019" cy="2284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0A1F4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Bureau van Dijk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964" name="Shape 75">
            <a:extLst>
              <a:ext uri="{FF2B5EF4-FFF2-40B4-BE49-F238E27FC236}">
                <a16:creationId xmlns:a16="http://schemas.microsoft.com/office/drawing/2014/main" id="{AFD84D6A-6342-ABB8-A45B-F4EF4391479B}"/>
              </a:ext>
            </a:extLst>
          </p:cNvPr>
          <p:cNvSpPr/>
          <p:nvPr/>
        </p:nvSpPr>
        <p:spPr>
          <a:xfrm>
            <a:off x="11925040" y="5025475"/>
            <a:ext cx="2130847" cy="11906"/>
          </a:xfrm>
          <a:prstGeom prst="rect">
            <a:avLst/>
          </a:prstGeom>
          <a:solidFill>
            <a:srgbClr val="D8DEE9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965" name="Text 76">
            <a:extLst>
              <a:ext uri="{FF2B5EF4-FFF2-40B4-BE49-F238E27FC236}">
                <a16:creationId xmlns:a16="http://schemas.microsoft.com/office/drawing/2014/main" id="{901D8BF7-3D8C-DEFE-6B7E-8A566FD0FA08}"/>
              </a:ext>
            </a:extLst>
          </p:cNvPr>
          <p:cNvSpPr/>
          <p:nvPr/>
        </p:nvSpPr>
        <p:spPr>
          <a:xfrm>
            <a:off x="12001240" y="4787536"/>
            <a:ext cx="2054647" cy="2284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966" name="Shape 77">
            <a:extLst>
              <a:ext uri="{FF2B5EF4-FFF2-40B4-BE49-F238E27FC236}">
                <a16:creationId xmlns:a16="http://schemas.microsoft.com/office/drawing/2014/main" id="{A1FC6C09-DA33-E6BB-2707-59E8B37ADD4E}"/>
              </a:ext>
            </a:extLst>
          </p:cNvPr>
          <p:cNvSpPr/>
          <p:nvPr/>
        </p:nvSpPr>
        <p:spPr>
          <a:xfrm>
            <a:off x="14055886" y="5025475"/>
            <a:ext cx="3286869" cy="11906"/>
          </a:xfrm>
          <a:prstGeom prst="rect">
            <a:avLst/>
          </a:prstGeom>
          <a:solidFill>
            <a:srgbClr val="D8DEE9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967" name="Text 78">
            <a:extLst>
              <a:ext uri="{FF2B5EF4-FFF2-40B4-BE49-F238E27FC236}">
                <a16:creationId xmlns:a16="http://schemas.microsoft.com/office/drawing/2014/main" id="{A32704DC-FD92-EC48-D8E3-E37B9454A836}"/>
              </a:ext>
            </a:extLst>
          </p:cNvPr>
          <p:cNvSpPr/>
          <p:nvPr/>
        </p:nvSpPr>
        <p:spPr>
          <a:xfrm>
            <a:off x="14132086" y="4787536"/>
            <a:ext cx="3233075" cy="2284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0A1F4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Sólo sede registrada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968" name="Shape 79">
            <a:extLst>
              <a:ext uri="{FF2B5EF4-FFF2-40B4-BE49-F238E27FC236}">
                <a16:creationId xmlns:a16="http://schemas.microsoft.com/office/drawing/2014/main" id="{4F85AC1A-1736-CC85-6646-7D0F7D804965}"/>
              </a:ext>
            </a:extLst>
          </p:cNvPr>
          <p:cNvSpPr/>
          <p:nvPr/>
        </p:nvSpPr>
        <p:spPr>
          <a:xfrm>
            <a:off x="9412821" y="5224309"/>
            <a:ext cx="7929935" cy="580430"/>
          </a:xfrm>
          <a:prstGeom prst="rect">
            <a:avLst/>
          </a:prstGeom>
          <a:solidFill>
            <a:srgbClr val="FBF1D9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969" name="Shape 80">
            <a:extLst>
              <a:ext uri="{FF2B5EF4-FFF2-40B4-BE49-F238E27FC236}">
                <a16:creationId xmlns:a16="http://schemas.microsoft.com/office/drawing/2014/main" id="{8C7427E9-4475-97C3-0B56-615F7BFD8E8B}"/>
              </a:ext>
            </a:extLst>
          </p:cNvPr>
          <p:cNvSpPr/>
          <p:nvPr/>
        </p:nvSpPr>
        <p:spPr>
          <a:xfrm>
            <a:off x="9412821" y="5224309"/>
            <a:ext cx="47625" cy="580430"/>
          </a:xfrm>
          <a:prstGeom prst="rect">
            <a:avLst/>
          </a:prstGeom>
          <a:solidFill>
            <a:srgbClr val="BF9000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970" name="Text 81">
            <a:extLst>
              <a:ext uri="{FF2B5EF4-FFF2-40B4-BE49-F238E27FC236}">
                <a16:creationId xmlns:a16="http://schemas.microsoft.com/office/drawing/2014/main" id="{FDD6C9E3-05F7-53EF-32B4-9777EC0656C9}"/>
              </a:ext>
            </a:extLst>
          </p:cNvPr>
          <p:cNvSpPr/>
          <p:nvPr/>
        </p:nvSpPr>
        <p:spPr>
          <a:xfrm>
            <a:off x="9574746" y="5300509"/>
            <a:ext cx="7891608" cy="466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50" b="1" dirty="0">
                <a:solidFill>
                  <a:srgbClr val="BF9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BRECHA · </a:t>
            </a:r>
            <a:r>
              <a:rPr lang="en-US" sz="1250" dirty="0">
                <a:solidFill>
                  <a:srgbClr val="0A1F44"/>
                </a:solidFill>
                <a:highlight>
                  <a:srgbClr val="FBF1D9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Saben quién es la empresa, no dónde están sus fábricas. MSCI valida el espacio pero es enterprise-only y no cubre España de forma nativa.</a:t>
            </a:r>
            <a:endParaRPr lang="en-US" sz="12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971" name="Shape 82">
            <a:extLst>
              <a:ext uri="{FF2B5EF4-FFF2-40B4-BE49-F238E27FC236}">
                <a16:creationId xmlns:a16="http://schemas.microsoft.com/office/drawing/2014/main" id="{F545DA8C-55DE-F9DE-6AB7-2FE8856373CF}"/>
              </a:ext>
            </a:extLst>
          </p:cNvPr>
          <p:cNvSpPr/>
          <p:nvPr/>
        </p:nvSpPr>
        <p:spPr>
          <a:xfrm>
            <a:off x="762000" y="6041434"/>
            <a:ext cx="8296238" cy="3049717"/>
          </a:xfrm>
          <a:prstGeom prst="rect">
            <a:avLst/>
          </a:prstGeom>
          <a:solidFill>
            <a:srgbClr val="F7F7F9"/>
          </a:solidFill>
          <a:ln w="11906">
            <a:solidFill>
              <a:srgbClr val="D8DEE9"/>
            </a:solidFill>
            <a:prstDash val="solid"/>
          </a:ln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972" name="Text 83">
            <a:extLst>
              <a:ext uri="{FF2B5EF4-FFF2-40B4-BE49-F238E27FC236}">
                <a16:creationId xmlns:a16="http://schemas.microsoft.com/office/drawing/2014/main" id="{0A2B7D61-4EDC-6C26-71D9-0E5FC1E4D6C8}"/>
              </a:ext>
            </a:extLst>
          </p:cNvPr>
          <p:cNvSpPr/>
          <p:nvPr/>
        </p:nvSpPr>
        <p:spPr>
          <a:xfrm>
            <a:off x="945245" y="6186541"/>
            <a:ext cx="8167641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A1F4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 · Plataformas ESG</a:t>
            </a:r>
            <a:endParaRPr lang="en-US" sz="1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974" name="Shape 85">
            <a:extLst>
              <a:ext uri="{FF2B5EF4-FFF2-40B4-BE49-F238E27FC236}">
                <a16:creationId xmlns:a16="http://schemas.microsoft.com/office/drawing/2014/main" id="{7364D52F-FB6E-8498-1DC3-024682E4ED7F}"/>
              </a:ext>
            </a:extLst>
          </p:cNvPr>
          <p:cNvSpPr/>
          <p:nvPr/>
        </p:nvSpPr>
        <p:spPr>
          <a:xfrm>
            <a:off x="945245" y="6805592"/>
            <a:ext cx="2006017" cy="261937"/>
          </a:xfrm>
          <a:prstGeom prst="rect">
            <a:avLst/>
          </a:prstGeom>
          <a:solidFill>
            <a:srgbClr val="0A1F44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975" name="Text 86">
            <a:extLst>
              <a:ext uri="{FF2B5EF4-FFF2-40B4-BE49-F238E27FC236}">
                <a16:creationId xmlns:a16="http://schemas.microsoft.com/office/drawing/2014/main" id="{5B7EC15E-9CA9-54DB-244C-31FF45849097}"/>
              </a:ext>
            </a:extLst>
          </p:cNvPr>
          <p:cNvSpPr/>
          <p:nvPr/>
        </p:nvSpPr>
        <p:spPr>
          <a:xfrm>
            <a:off x="1021445" y="6853217"/>
            <a:ext cx="1929817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150" b="1" kern="0" spc="22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Empresa</a:t>
            </a:r>
            <a:endParaRPr lang="en-US" sz="11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976" name="Shape 87">
            <a:extLst>
              <a:ext uri="{FF2B5EF4-FFF2-40B4-BE49-F238E27FC236}">
                <a16:creationId xmlns:a16="http://schemas.microsoft.com/office/drawing/2014/main" id="{B27E917B-DA38-98E1-C191-CE3913B78BFC}"/>
              </a:ext>
            </a:extLst>
          </p:cNvPr>
          <p:cNvSpPr/>
          <p:nvPr/>
        </p:nvSpPr>
        <p:spPr>
          <a:xfrm>
            <a:off x="2951262" y="6805592"/>
            <a:ext cx="3378584" cy="261937"/>
          </a:xfrm>
          <a:prstGeom prst="rect">
            <a:avLst/>
          </a:prstGeom>
          <a:solidFill>
            <a:srgbClr val="0A1F44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977" name="Text 88">
            <a:extLst>
              <a:ext uri="{FF2B5EF4-FFF2-40B4-BE49-F238E27FC236}">
                <a16:creationId xmlns:a16="http://schemas.microsoft.com/office/drawing/2014/main" id="{E5FC5090-03F6-B09D-D072-A3E6EC9E6881}"/>
              </a:ext>
            </a:extLst>
          </p:cNvPr>
          <p:cNvSpPr/>
          <p:nvPr/>
        </p:nvSpPr>
        <p:spPr>
          <a:xfrm>
            <a:off x="3027462" y="6853217"/>
            <a:ext cx="3327542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150" b="1" kern="0" spc="22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Financiación</a:t>
            </a:r>
            <a:endParaRPr lang="en-US" sz="11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978" name="Shape 89">
            <a:extLst>
              <a:ext uri="{FF2B5EF4-FFF2-40B4-BE49-F238E27FC236}">
                <a16:creationId xmlns:a16="http://schemas.microsoft.com/office/drawing/2014/main" id="{19E93644-BD7B-8CB2-6583-68E2A08D1D32}"/>
              </a:ext>
            </a:extLst>
          </p:cNvPr>
          <p:cNvSpPr/>
          <p:nvPr/>
        </p:nvSpPr>
        <p:spPr>
          <a:xfrm>
            <a:off x="6329846" y="6805592"/>
            <a:ext cx="2545147" cy="261937"/>
          </a:xfrm>
          <a:prstGeom prst="rect">
            <a:avLst/>
          </a:prstGeom>
          <a:solidFill>
            <a:srgbClr val="0A1F44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979" name="Text 90">
            <a:extLst>
              <a:ext uri="{FF2B5EF4-FFF2-40B4-BE49-F238E27FC236}">
                <a16:creationId xmlns:a16="http://schemas.microsoft.com/office/drawing/2014/main" id="{25B47A19-7426-0067-C42D-FC1725C62666}"/>
              </a:ext>
            </a:extLst>
          </p:cNvPr>
          <p:cNvSpPr/>
          <p:nvPr/>
        </p:nvSpPr>
        <p:spPr>
          <a:xfrm>
            <a:off x="6406046" y="6853217"/>
            <a:ext cx="2469101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150" b="1" kern="0" spc="22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Limitación</a:t>
            </a:r>
            <a:endParaRPr lang="en-US" sz="11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980" name="Shape 91">
            <a:extLst>
              <a:ext uri="{FF2B5EF4-FFF2-40B4-BE49-F238E27FC236}">
                <a16:creationId xmlns:a16="http://schemas.microsoft.com/office/drawing/2014/main" id="{49DD6EAF-7B8C-0B4A-B63D-EE724A9B4F1D}"/>
              </a:ext>
            </a:extLst>
          </p:cNvPr>
          <p:cNvSpPr/>
          <p:nvPr/>
        </p:nvSpPr>
        <p:spPr>
          <a:xfrm>
            <a:off x="945245" y="7347140"/>
            <a:ext cx="2006017" cy="11906"/>
          </a:xfrm>
          <a:prstGeom prst="rect">
            <a:avLst/>
          </a:prstGeom>
          <a:solidFill>
            <a:srgbClr val="D8DEE9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981" name="Text 92">
            <a:extLst>
              <a:ext uri="{FF2B5EF4-FFF2-40B4-BE49-F238E27FC236}">
                <a16:creationId xmlns:a16="http://schemas.microsoft.com/office/drawing/2014/main" id="{2633C1D3-486A-BF85-26D3-1928C7114D07}"/>
              </a:ext>
            </a:extLst>
          </p:cNvPr>
          <p:cNvSpPr/>
          <p:nvPr/>
        </p:nvSpPr>
        <p:spPr>
          <a:xfrm>
            <a:off x="1021445" y="7115154"/>
            <a:ext cx="1929817" cy="222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0A1F4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Clarity AI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982" name="Shape 93">
            <a:extLst>
              <a:ext uri="{FF2B5EF4-FFF2-40B4-BE49-F238E27FC236}">
                <a16:creationId xmlns:a16="http://schemas.microsoft.com/office/drawing/2014/main" id="{C9FEEF62-D48D-3366-19BA-2252227C6E98}"/>
              </a:ext>
            </a:extLst>
          </p:cNvPr>
          <p:cNvSpPr/>
          <p:nvPr/>
        </p:nvSpPr>
        <p:spPr>
          <a:xfrm>
            <a:off x="2951262" y="7347140"/>
            <a:ext cx="3378584" cy="11906"/>
          </a:xfrm>
          <a:prstGeom prst="rect">
            <a:avLst/>
          </a:prstGeom>
          <a:solidFill>
            <a:srgbClr val="D8DEE9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983" name="Text 94">
            <a:extLst>
              <a:ext uri="{FF2B5EF4-FFF2-40B4-BE49-F238E27FC236}">
                <a16:creationId xmlns:a16="http://schemas.microsoft.com/office/drawing/2014/main" id="{F182247D-2DF1-1886-D7EC-422A790BB67E}"/>
              </a:ext>
            </a:extLst>
          </p:cNvPr>
          <p:cNvSpPr/>
          <p:nvPr/>
        </p:nvSpPr>
        <p:spPr>
          <a:xfrm>
            <a:off x="3027462" y="7115154"/>
            <a:ext cx="3327542" cy="222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0A1F4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$240M · &gt;$1B val.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984" name="Shape 95">
            <a:extLst>
              <a:ext uri="{FF2B5EF4-FFF2-40B4-BE49-F238E27FC236}">
                <a16:creationId xmlns:a16="http://schemas.microsoft.com/office/drawing/2014/main" id="{55A9F149-8EB3-B563-FD1E-7625C20955DF}"/>
              </a:ext>
            </a:extLst>
          </p:cNvPr>
          <p:cNvSpPr/>
          <p:nvPr/>
        </p:nvSpPr>
        <p:spPr>
          <a:xfrm>
            <a:off x="6329846" y="7347140"/>
            <a:ext cx="2545147" cy="11906"/>
          </a:xfrm>
          <a:prstGeom prst="rect">
            <a:avLst/>
          </a:prstGeom>
          <a:solidFill>
            <a:srgbClr val="D8DEE9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985" name="Text 96">
            <a:extLst>
              <a:ext uri="{FF2B5EF4-FFF2-40B4-BE49-F238E27FC236}">
                <a16:creationId xmlns:a16="http://schemas.microsoft.com/office/drawing/2014/main" id="{6B10574F-BCED-15BC-8FB4-E14F8A3A68D0}"/>
              </a:ext>
            </a:extLst>
          </p:cNvPr>
          <p:cNvSpPr/>
          <p:nvPr/>
        </p:nvSpPr>
        <p:spPr>
          <a:xfrm>
            <a:off x="6406046" y="7115154"/>
            <a:ext cx="2469101" cy="222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0A1F4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 localiza activos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986" name="Shape 97">
            <a:extLst>
              <a:ext uri="{FF2B5EF4-FFF2-40B4-BE49-F238E27FC236}">
                <a16:creationId xmlns:a16="http://schemas.microsoft.com/office/drawing/2014/main" id="{A006A33B-B27E-3F7F-FC2A-B2C4A10CC2ED}"/>
              </a:ext>
            </a:extLst>
          </p:cNvPr>
          <p:cNvSpPr/>
          <p:nvPr/>
        </p:nvSpPr>
        <p:spPr>
          <a:xfrm>
            <a:off x="945245" y="7644610"/>
            <a:ext cx="2006017" cy="11906"/>
          </a:xfrm>
          <a:prstGeom prst="rect">
            <a:avLst/>
          </a:prstGeom>
          <a:solidFill>
            <a:srgbClr val="D8DEE9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987" name="Text 98">
            <a:extLst>
              <a:ext uri="{FF2B5EF4-FFF2-40B4-BE49-F238E27FC236}">
                <a16:creationId xmlns:a16="http://schemas.microsoft.com/office/drawing/2014/main" id="{4103A776-47B0-0353-EEA5-9694003DB711}"/>
              </a:ext>
            </a:extLst>
          </p:cNvPr>
          <p:cNvSpPr/>
          <p:nvPr/>
        </p:nvSpPr>
        <p:spPr>
          <a:xfrm>
            <a:off x="1021445" y="7406671"/>
            <a:ext cx="1929817" cy="2284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0A1F4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Sustainalytics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988" name="Shape 99">
            <a:extLst>
              <a:ext uri="{FF2B5EF4-FFF2-40B4-BE49-F238E27FC236}">
                <a16:creationId xmlns:a16="http://schemas.microsoft.com/office/drawing/2014/main" id="{A236DAEF-7F5B-B78C-AD8A-3A74A7D41996}"/>
              </a:ext>
            </a:extLst>
          </p:cNvPr>
          <p:cNvSpPr/>
          <p:nvPr/>
        </p:nvSpPr>
        <p:spPr>
          <a:xfrm>
            <a:off x="2951262" y="7644610"/>
            <a:ext cx="3378584" cy="11906"/>
          </a:xfrm>
          <a:prstGeom prst="rect">
            <a:avLst/>
          </a:prstGeom>
          <a:solidFill>
            <a:srgbClr val="D8DEE9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989" name="Text 100">
            <a:extLst>
              <a:ext uri="{FF2B5EF4-FFF2-40B4-BE49-F238E27FC236}">
                <a16:creationId xmlns:a16="http://schemas.microsoft.com/office/drawing/2014/main" id="{C4C69B31-1802-9535-422F-9296AA6165EB}"/>
              </a:ext>
            </a:extLst>
          </p:cNvPr>
          <p:cNvSpPr/>
          <p:nvPr/>
        </p:nvSpPr>
        <p:spPr>
          <a:xfrm>
            <a:off x="3027462" y="7406671"/>
            <a:ext cx="3327542" cy="2284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0A1F4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Adq. Morningstar $1,75B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990" name="Shape 101">
            <a:extLst>
              <a:ext uri="{FF2B5EF4-FFF2-40B4-BE49-F238E27FC236}">
                <a16:creationId xmlns:a16="http://schemas.microsoft.com/office/drawing/2014/main" id="{BE21060F-39DB-C45B-3823-57402B9FFED1}"/>
              </a:ext>
            </a:extLst>
          </p:cNvPr>
          <p:cNvSpPr/>
          <p:nvPr/>
        </p:nvSpPr>
        <p:spPr>
          <a:xfrm>
            <a:off x="6329846" y="7644610"/>
            <a:ext cx="2545147" cy="11906"/>
          </a:xfrm>
          <a:prstGeom prst="rect">
            <a:avLst/>
          </a:prstGeom>
          <a:solidFill>
            <a:srgbClr val="D8DEE9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991" name="Text 102">
            <a:extLst>
              <a:ext uri="{FF2B5EF4-FFF2-40B4-BE49-F238E27FC236}">
                <a16:creationId xmlns:a16="http://schemas.microsoft.com/office/drawing/2014/main" id="{73AA4D50-FA03-297D-DC8B-6E1F1DB3DCC7}"/>
              </a:ext>
            </a:extLst>
          </p:cNvPr>
          <p:cNvSpPr/>
          <p:nvPr/>
        </p:nvSpPr>
        <p:spPr>
          <a:xfrm>
            <a:off x="6406046" y="7406671"/>
            <a:ext cx="2469101" cy="2284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0A1F4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Sin geo de planta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992" name="Shape 103">
            <a:extLst>
              <a:ext uri="{FF2B5EF4-FFF2-40B4-BE49-F238E27FC236}">
                <a16:creationId xmlns:a16="http://schemas.microsoft.com/office/drawing/2014/main" id="{2285A181-136B-DDF6-D31E-5B8AAD12BAA3}"/>
              </a:ext>
            </a:extLst>
          </p:cNvPr>
          <p:cNvSpPr/>
          <p:nvPr/>
        </p:nvSpPr>
        <p:spPr>
          <a:xfrm>
            <a:off x="945245" y="7942081"/>
            <a:ext cx="2006017" cy="11906"/>
          </a:xfrm>
          <a:prstGeom prst="rect">
            <a:avLst/>
          </a:prstGeom>
          <a:solidFill>
            <a:srgbClr val="D8DEE9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993" name="Text 104">
            <a:extLst>
              <a:ext uri="{FF2B5EF4-FFF2-40B4-BE49-F238E27FC236}">
                <a16:creationId xmlns:a16="http://schemas.microsoft.com/office/drawing/2014/main" id="{AA450242-A41E-1E1A-8FA1-2DC8E57FBFB5}"/>
              </a:ext>
            </a:extLst>
          </p:cNvPr>
          <p:cNvSpPr/>
          <p:nvPr/>
        </p:nvSpPr>
        <p:spPr>
          <a:xfrm>
            <a:off x="1021445" y="7704142"/>
            <a:ext cx="1929817" cy="2284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0A1F4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Trucost (S&amp;P)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994" name="Shape 105">
            <a:extLst>
              <a:ext uri="{FF2B5EF4-FFF2-40B4-BE49-F238E27FC236}">
                <a16:creationId xmlns:a16="http://schemas.microsoft.com/office/drawing/2014/main" id="{79B2F202-A2D5-EE59-92B3-D15393C31900}"/>
              </a:ext>
            </a:extLst>
          </p:cNvPr>
          <p:cNvSpPr/>
          <p:nvPr/>
        </p:nvSpPr>
        <p:spPr>
          <a:xfrm>
            <a:off x="2951262" y="7942081"/>
            <a:ext cx="3378584" cy="11906"/>
          </a:xfrm>
          <a:prstGeom prst="rect">
            <a:avLst/>
          </a:prstGeom>
          <a:solidFill>
            <a:srgbClr val="D8DEE9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995" name="Text 106">
            <a:extLst>
              <a:ext uri="{FF2B5EF4-FFF2-40B4-BE49-F238E27FC236}">
                <a16:creationId xmlns:a16="http://schemas.microsoft.com/office/drawing/2014/main" id="{EC8DBA28-FBE2-9F55-AD1E-96C552039A0B}"/>
              </a:ext>
            </a:extLst>
          </p:cNvPr>
          <p:cNvSpPr/>
          <p:nvPr/>
        </p:nvSpPr>
        <p:spPr>
          <a:xfrm>
            <a:off x="3027462" y="7704142"/>
            <a:ext cx="3327542" cy="2284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 err="1">
                <a:solidFill>
                  <a:srgbClr val="0A1F4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Parte</a:t>
            </a:r>
            <a:r>
              <a:rPr lang="en-US" sz="1200" dirty="0">
                <a:solidFill>
                  <a:srgbClr val="0A1F4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S&amp;P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996" name="Shape 107">
            <a:extLst>
              <a:ext uri="{FF2B5EF4-FFF2-40B4-BE49-F238E27FC236}">
                <a16:creationId xmlns:a16="http://schemas.microsoft.com/office/drawing/2014/main" id="{FCD60EC6-97BC-2657-5A7E-4CB110810125}"/>
              </a:ext>
            </a:extLst>
          </p:cNvPr>
          <p:cNvSpPr/>
          <p:nvPr/>
        </p:nvSpPr>
        <p:spPr>
          <a:xfrm>
            <a:off x="6329846" y="7942081"/>
            <a:ext cx="2545147" cy="11906"/>
          </a:xfrm>
          <a:prstGeom prst="rect">
            <a:avLst/>
          </a:prstGeom>
          <a:solidFill>
            <a:srgbClr val="D8DEE9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997" name="Text 108">
            <a:extLst>
              <a:ext uri="{FF2B5EF4-FFF2-40B4-BE49-F238E27FC236}">
                <a16:creationId xmlns:a16="http://schemas.microsoft.com/office/drawing/2014/main" id="{51B7E5DA-9D75-D54D-4869-C0C759CB9963}"/>
              </a:ext>
            </a:extLst>
          </p:cNvPr>
          <p:cNvSpPr/>
          <p:nvPr/>
        </p:nvSpPr>
        <p:spPr>
          <a:xfrm>
            <a:off x="6406046" y="7704142"/>
            <a:ext cx="2469101" cy="2284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0A1F4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Huella estimada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998" name="Shape 109">
            <a:extLst>
              <a:ext uri="{FF2B5EF4-FFF2-40B4-BE49-F238E27FC236}">
                <a16:creationId xmlns:a16="http://schemas.microsoft.com/office/drawing/2014/main" id="{0CA81740-6593-BED6-50A0-0CB970BD2B3A}"/>
              </a:ext>
            </a:extLst>
          </p:cNvPr>
          <p:cNvSpPr/>
          <p:nvPr/>
        </p:nvSpPr>
        <p:spPr>
          <a:xfrm>
            <a:off x="945245" y="8239551"/>
            <a:ext cx="2006017" cy="11906"/>
          </a:xfrm>
          <a:prstGeom prst="rect">
            <a:avLst/>
          </a:prstGeom>
          <a:solidFill>
            <a:srgbClr val="D8DEE9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999" name="Text 110">
            <a:extLst>
              <a:ext uri="{FF2B5EF4-FFF2-40B4-BE49-F238E27FC236}">
                <a16:creationId xmlns:a16="http://schemas.microsoft.com/office/drawing/2014/main" id="{284C5D1E-59C6-7AF5-8E49-4F0247CC2D33}"/>
              </a:ext>
            </a:extLst>
          </p:cNvPr>
          <p:cNvSpPr/>
          <p:nvPr/>
        </p:nvSpPr>
        <p:spPr>
          <a:xfrm>
            <a:off x="1021445" y="8001612"/>
            <a:ext cx="1929817" cy="2284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0A1F4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Cervest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031" name="Shape 111">
            <a:extLst>
              <a:ext uri="{FF2B5EF4-FFF2-40B4-BE49-F238E27FC236}">
                <a16:creationId xmlns:a16="http://schemas.microsoft.com/office/drawing/2014/main" id="{6FDFE0CC-DA75-BC19-0447-E40ADF17E7C4}"/>
              </a:ext>
            </a:extLst>
          </p:cNvPr>
          <p:cNvSpPr/>
          <p:nvPr/>
        </p:nvSpPr>
        <p:spPr>
          <a:xfrm>
            <a:off x="2951262" y="8239551"/>
            <a:ext cx="3378584" cy="11906"/>
          </a:xfrm>
          <a:prstGeom prst="rect">
            <a:avLst/>
          </a:prstGeom>
          <a:solidFill>
            <a:srgbClr val="D8DEE9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032" name="Text 112">
            <a:extLst>
              <a:ext uri="{FF2B5EF4-FFF2-40B4-BE49-F238E27FC236}">
                <a16:creationId xmlns:a16="http://schemas.microsoft.com/office/drawing/2014/main" id="{004EF350-BC84-6D34-7330-ACFDB05ADB28}"/>
              </a:ext>
            </a:extLst>
          </p:cNvPr>
          <p:cNvSpPr/>
          <p:nvPr/>
        </p:nvSpPr>
        <p:spPr>
          <a:xfrm>
            <a:off x="3027462" y="8001612"/>
            <a:ext cx="3327542" cy="2284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0A1F4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$50M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033" name="Shape 113">
            <a:extLst>
              <a:ext uri="{FF2B5EF4-FFF2-40B4-BE49-F238E27FC236}">
                <a16:creationId xmlns:a16="http://schemas.microsoft.com/office/drawing/2014/main" id="{A3A49F75-A337-DB5E-5D3C-45B8F039799A}"/>
              </a:ext>
            </a:extLst>
          </p:cNvPr>
          <p:cNvSpPr/>
          <p:nvPr/>
        </p:nvSpPr>
        <p:spPr>
          <a:xfrm>
            <a:off x="6329846" y="8239551"/>
            <a:ext cx="2545147" cy="11906"/>
          </a:xfrm>
          <a:prstGeom prst="rect">
            <a:avLst/>
          </a:prstGeom>
          <a:solidFill>
            <a:srgbClr val="D8DEE9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034" name="Text 114">
            <a:extLst>
              <a:ext uri="{FF2B5EF4-FFF2-40B4-BE49-F238E27FC236}">
                <a16:creationId xmlns:a16="http://schemas.microsoft.com/office/drawing/2014/main" id="{58182758-112E-2912-F4A3-2E6BFD6B159B}"/>
              </a:ext>
            </a:extLst>
          </p:cNvPr>
          <p:cNvSpPr/>
          <p:nvPr/>
        </p:nvSpPr>
        <p:spPr>
          <a:xfrm>
            <a:off x="6406046" y="8001612"/>
            <a:ext cx="2469101" cy="2284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0A1F4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Pide coordenadas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035" name="Shape 115">
            <a:extLst>
              <a:ext uri="{FF2B5EF4-FFF2-40B4-BE49-F238E27FC236}">
                <a16:creationId xmlns:a16="http://schemas.microsoft.com/office/drawing/2014/main" id="{BAE6AE83-425B-60D3-5C20-9D55B51E2EE6}"/>
              </a:ext>
            </a:extLst>
          </p:cNvPr>
          <p:cNvSpPr/>
          <p:nvPr/>
        </p:nvSpPr>
        <p:spPr>
          <a:xfrm>
            <a:off x="945245" y="8438385"/>
            <a:ext cx="7929749" cy="580430"/>
          </a:xfrm>
          <a:prstGeom prst="rect">
            <a:avLst/>
          </a:prstGeom>
          <a:solidFill>
            <a:srgbClr val="FBF1D9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036" name="Shape 116">
            <a:extLst>
              <a:ext uri="{FF2B5EF4-FFF2-40B4-BE49-F238E27FC236}">
                <a16:creationId xmlns:a16="http://schemas.microsoft.com/office/drawing/2014/main" id="{E7BE412C-7A30-A5A5-8B7A-CDE60C668BDC}"/>
              </a:ext>
            </a:extLst>
          </p:cNvPr>
          <p:cNvSpPr/>
          <p:nvPr/>
        </p:nvSpPr>
        <p:spPr>
          <a:xfrm>
            <a:off x="945245" y="8438385"/>
            <a:ext cx="47625" cy="580430"/>
          </a:xfrm>
          <a:prstGeom prst="rect">
            <a:avLst/>
          </a:prstGeom>
          <a:solidFill>
            <a:srgbClr val="BF9000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037" name="Text 117">
            <a:extLst>
              <a:ext uri="{FF2B5EF4-FFF2-40B4-BE49-F238E27FC236}">
                <a16:creationId xmlns:a16="http://schemas.microsoft.com/office/drawing/2014/main" id="{E183A9BE-8CBB-818D-4EE1-A92FE764AA60}"/>
              </a:ext>
            </a:extLst>
          </p:cNvPr>
          <p:cNvSpPr/>
          <p:nvPr/>
        </p:nvSpPr>
        <p:spPr>
          <a:xfrm>
            <a:off x="1107170" y="8514585"/>
            <a:ext cx="7891416" cy="466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50" b="1" dirty="0">
                <a:solidFill>
                  <a:srgbClr val="BF9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BRECHA · </a:t>
            </a:r>
            <a:r>
              <a:rPr lang="en-US" sz="1250" dirty="0">
                <a:solidFill>
                  <a:srgbClr val="0A1F44"/>
                </a:solidFill>
                <a:highlight>
                  <a:srgbClr val="FBF1D9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Todas piden al cliente que aporte el inventario. GeoAssets resuelve la capa cero que estas plataformas dan por resuelta.</a:t>
            </a:r>
            <a:endParaRPr lang="en-US" sz="12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038" name="Shape 118">
            <a:extLst>
              <a:ext uri="{FF2B5EF4-FFF2-40B4-BE49-F238E27FC236}">
                <a16:creationId xmlns:a16="http://schemas.microsoft.com/office/drawing/2014/main" id="{401215A7-A159-1434-E664-85115A1F107E}"/>
              </a:ext>
            </a:extLst>
          </p:cNvPr>
          <p:cNvSpPr/>
          <p:nvPr/>
        </p:nvSpPr>
        <p:spPr>
          <a:xfrm>
            <a:off x="9229576" y="6041434"/>
            <a:ext cx="8296424" cy="3049717"/>
          </a:xfrm>
          <a:prstGeom prst="rect">
            <a:avLst/>
          </a:prstGeom>
          <a:solidFill>
            <a:srgbClr val="F7F7F9"/>
          </a:solidFill>
          <a:ln w="11906">
            <a:solidFill>
              <a:srgbClr val="D8DEE9"/>
            </a:solidFill>
            <a:prstDash val="solid"/>
          </a:ln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039" name="Text 119">
            <a:extLst>
              <a:ext uri="{FF2B5EF4-FFF2-40B4-BE49-F238E27FC236}">
                <a16:creationId xmlns:a16="http://schemas.microsoft.com/office/drawing/2014/main" id="{5A05B8C8-9D0B-4ABB-293C-09FC1F4F46B6}"/>
              </a:ext>
            </a:extLst>
          </p:cNvPr>
          <p:cNvSpPr/>
          <p:nvPr/>
        </p:nvSpPr>
        <p:spPr>
          <a:xfrm>
            <a:off x="9412821" y="6186541"/>
            <a:ext cx="8167833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A1F4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 · Startups AI-nativas emergentes</a:t>
            </a:r>
            <a:endParaRPr lang="en-US" sz="1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041" name="Shape 121">
            <a:extLst>
              <a:ext uri="{FF2B5EF4-FFF2-40B4-BE49-F238E27FC236}">
                <a16:creationId xmlns:a16="http://schemas.microsoft.com/office/drawing/2014/main" id="{5674546F-FA9F-6E14-EE10-FD0FAEBC4A2E}"/>
              </a:ext>
            </a:extLst>
          </p:cNvPr>
          <p:cNvSpPr/>
          <p:nvPr/>
        </p:nvSpPr>
        <p:spPr>
          <a:xfrm>
            <a:off x="9412821" y="6805592"/>
            <a:ext cx="2538264" cy="261937"/>
          </a:xfrm>
          <a:prstGeom prst="rect">
            <a:avLst/>
          </a:prstGeom>
          <a:solidFill>
            <a:srgbClr val="0A1F44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042" name="Text 122">
            <a:extLst>
              <a:ext uri="{FF2B5EF4-FFF2-40B4-BE49-F238E27FC236}">
                <a16:creationId xmlns:a16="http://schemas.microsoft.com/office/drawing/2014/main" id="{AD616A49-0191-843E-3B6E-B81CC2D829BC}"/>
              </a:ext>
            </a:extLst>
          </p:cNvPr>
          <p:cNvSpPr/>
          <p:nvPr/>
        </p:nvSpPr>
        <p:spPr>
          <a:xfrm>
            <a:off x="9489021" y="6853217"/>
            <a:ext cx="2462064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150" b="1" kern="0" spc="22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Empresa</a:t>
            </a:r>
            <a:endParaRPr lang="en-US" sz="11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043" name="Shape 123">
            <a:extLst>
              <a:ext uri="{FF2B5EF4-FFF2-40B4-BE49-F238E27FC236}">
                <a16:creationId xmlns:a16="http://schemas.microsoft.com/office/drawing/2014/main" id="{8C692AED-169E-E7CC-1485-34C5A711903E}"/>
              </a:ext>
            </a:extLst>
          </p:cNvPr>
          <p:cNvSpPr/>
          <p:nvPr/>
        </p:nvSpPr>
        <p:spPr>
          <a:xfrm>
            <a:off x="11951084" y="6805592"/>
            <a:ext cx="2465524" cy="261937"/>
          </a:xfrm>
          <a:prstGeom prst="rect">
            <a:avLst/>
          </a:prstGeom>
          <a:solidFill>
            <a:srgbClr val="0A1F44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044" name="Text 124">
            <a:extLst>
              <a:ext uri="{FF2B5EF4-FFF2-40B4-BE49-F238E27FC236}">
                <a16:creationId xmlns:a16="http://schemas.microsoft.com/office/drawing/2014/main" id="{D8FE2F4F-43BB-B755-C3E8-81F23D4B051A}"/>
              </a:ext>
            </a:extLst>
          </p:cNvPr>
          <p:cNvSpPr/>
          <p:nvPr/>
        </p:nvSpPr>
        <p:spPr>
          <a:xfrm>
            <a:off x="12027284" y="6853217"/>
            <a:ext cx="2389324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150" b="1" kern="0" spc="22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Financiación</a:t>
            </a:r>
            <a:endParaRPr lang="en-US" sz="11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045" name="Shape 125">
            <a:extLst>
              <a:ext uri="{FF2B5EF4-FFF2-40B4-BE49-F238E27FC236}">
                <a16:creationId xmlns:a16="http://schemas.microsoft.com/office/drawing/2014/main" id="{A5BC92E6-77BF-2BEE-D0AD-CE0D8527C189}"/>
              </a:ext>
            </a:extLst>
          </p:cNvPr>
          <p:cNvSpPr/>
          <p:nvPr/>
        </p:nvSpPr>
        <p:spPr>
          <a:xfrm>
            <a:off x="14416608" y="6805592"/>
            <a:ext cx="2926147" cy="261937"/>
          </a:xfrm>
          <a:prstGeom prst="rect">
            <a:avLst/>
          </a:prstGeom>
          <a:solidFill>
            <a:srgbClr val="0A1F44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046" name="Text 126">
            <a:extLst>
              <a:ext uri="{FF2B5EF4-FFF2-40B4-BE49-F238E27FC236}">
                <a16:creationId xmlns:a16="http://schemas.microsoft.com/office/drawing/2014/main" id="{5D7EDC42-FA0F-9876-4932-9B0BE53EC595}"/>
              </a:ext>
            </a:extLst>
          </p:cNvPr>
          <p:cNvSpPr/>
          <p:nvPr/>
        </p:nvSpPr>
        <p:spPr>
          <a:xfrm>
            <a:off x="14492808" y="6853217"/>
            <a:ext cx="2861531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150" b="1" kern="0" spc="22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Foco</a:t>
            </a:r>
            <a:endParaRPr lang="en-US" sz="11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047" name="Shape 127">
            <a:extLst>
              <a:ext uri="{FF2B5EF4-FFF2-40B4-BE49-F238E27FC236}">
                <a16:creationId xmlns:a16="http://schemas.microsoft.com/office/drawing/2014/main" id="{526CAC1A-BE41-4F1E-4905-D65BECA53737}"/>
              </a:ext>
            </a:extLst>
          </p:cNvPr>
          <p:cNvSpPr/>
          <p:nvPr/>
        </p:nvSpPr>
        <p:spPr>
          <a:xfrm>
            <a:off x="9412821" y="7347140"/>
            <a:ext cx="2538264" cy="11906"/>
          </a:xfrm>
          <a:prstGeom prst="rect">
            <a:avLst/>
          </a:prstGeom>
          <a:solidFill>
            <a:srgbClr val="D8DEE9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048" name="Text 128">
            <a:extLst>
              <a:ext uri="{FF2B5EF4-FFF2-40B4-BE49-F238E27FC236}">
                <a16:creationId xmlns:a16="http://schemas.microsoft.com/office/drawing/2014/main" id="{7E359D4D-5737-0682-22CC-9BBD6067EA97}"/>
              </a:ext>
            </a:extLst>
          </p:cNvPr>
          <p:cNvSpPr/>
          <p:nvPr/>
        </p:nvSpPr>
        <p:spPr>
          <a:xfrm>
            <a:off x="9489021" y="7115154"/>
            <a:ext cx="2462064" cy="222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0A1F4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Plume (YC W25)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049" name="Shape 129">
            <a:extLst>
              <a:ext uri="{FF2B5EF4-FFF2-40B4-BE49-F238E27FC236}">
                <a16:creationId xmlns:a16="http://schemas.microsoft.com/office/drawing/2014/main" id="{F2467FB5-C7DD-BA87-BA61-64E8870A60C5}"/>
              </a:ext>
            </a:extLst>
          </p:cNvPr>
          <p:cNvSpPr/>
          <p:nvPr/>
        </p:nvSpPr>
        <p:spPr>
          <a:xfrm>
            <a:off x="11951084" y="7347140"/>
            <a:ext cx="2465524" cy="11906"/>
          </a:xfrm>
          <a:prstGeom prst="rect">
            <a:avLst/>
          </a:prstGeom>
          <a:solidFill>
            <a:srgbClr val="D8DEE9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050" name="Text 130">
            <a:extLst>
              <a:ext uri="{FF2B5EF4-FFF2-40B4-BE49-F238E27FC236}">
                <a16:creationId xmlns:a16="http://schemas.microsoft.com/office/drawing/2014/main" id="{78431A0F-F2C2-B52E-34BE-20057EBDB029}"/>
              </a:ext>
            </a:extLst>
          </p:cNvPr>
          <p:cNvSpPr/>
          <p:nvPr/>
        </p:nvSpPr>
        <p:spPr>
          <a:xfrm>
            <a:off x="12027284" y="7115154"/>
            <a:ext cx="2389324" cy="222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0A1F4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Pre-seed €3,3M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051" name="Shape 131">
            <a:extLst>
              <a:ext uri="{FF2B5EF4-FFF2-40B4-BE49-F238E27FC236}">
                <a16:creationId xmlns:a16="http://schemas.microsoft.com/office/drawing/2014/main" id="{C6A0FC18-AB75-52CA-6968-7F650B02F454}"/>
              </a:ext>
            </a:extLst>
          </p:cNvPr>
          <p:cNvSpPr/>
          <p:nvPr/>
        </p:nvSpPr>
        <p:spPr>
          <a:xfrm>
            <a:off x="14416608" y="7347140"/>
            <a:ext cx="2926147" cy="11906"/>
          </a:xfrm>
          <a:prstGeom prst="rect">
            <a:avLst/>
          </a:prstGeom>
          <a:solidFill>
            <a:srgbClr val="D8DEE9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052" name="Text 132">
            <a:extLst>
              <a:ext uri="{FF2B5EF4-FFF2-40B4-BE49-F238E27FC236}">
                <a16:creationId xmlns:a16="http://schemas.microsoft.com/office/drawing/2014/main" id="{39A1ECFD-72FB-9251-B0DD-8249A707FF4C}"/>
              </a:ext>
            </a:extLst>
          </p:cNvPr>
          <p:cNvSpPr/>
          <p:nvPr/>
        </p:nvSpPr>
        <p:spPr>
          <a:xfrm>
            <a:off x="14492808" y="7115154"/>
            <a:ext cx="2861531" cy="222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0A1F4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Site selection EERR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053" name="Shape 133">
            <a:extLst>
              <a:ext uri="{FF2B5EF4-FFF2-40B4-BE49-F238E27FC236}">
                <a16:creationId xmlns:a16="http://schemas.microsoft.com/office/drawing/2014/main" id="{9C98FD1A-2C34-6C9C-2CDE-2F023CB2BDBF}"/>
              </a:ext>
            </a:extLst>
          </p:cNvPr>
          <p:cNvSpPr/>
          <p:nvPr/>
        </p:nvSpPr>
        <p:spPr>
          <a:xfrm>
            <a:off x="9412821" y="7644610"/>
            <a:ext cx="2538264" cy="11906"/>
          </a:xfrm>
          <a:prstGeom prst="rect">
            <a:avLst/>
          </a:prstGeom>
          <a:solidFill>
            <a:srgbClr val="D8DEE9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054" name="Text 134">
            <a:extLst>
              <a:ext uri="{FF2B5EF4-FFF2-40B4-BE49-F238E27FC236}">
                <a16:creationId xmlns:a16="http://schemas.microsoft.com/office/drawing/2014/main" id="{662C0195-976C-921F-EBCB-38BBBD3A465E}"/>
              </a:ext>
            </a:extLst>
          </p:cNvPr>
          <p:cNvSpPr/>
          <p:nvPr/>
        </p:nvSpPr>
        <p:spPr>
          <a:xfrm>
            <a:off x="9489021" y="7406671"/>
            <a:ext cx="2462064" cy="2284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0A1F4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Blackshark.ai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055" name="Shape 135">
            <a:extLst>
              <a:ext uri="{FF2B5EF4-FFF2-40B4-BE49-F238E27FC236}">
                <a16:creationId xmlns:a16="http://schemas.microsoft.com/office/drawing/2014/main" id="{C4955445-6989-E6E5-F3E5-6239A4B6837C}"/>
              </a:ext>
            </a:extLst>
          </p:cNvPr>
          <p:cNvSpPr/>
          <p:nvPr/>
        </p:nvSpPr>
        <p:spPr>
          <a:xfrm>
            <a:off x="11951084" y="7644610"/>
            <a:ext cx="2465524" cy="11906"/>
          </a:xfrm>
          <a:prstGeom prst="rect">
            <a:avLst/>
          </a:prstGeom>
          <a:solidFill>
            <a:srgbClr val="D8DEE9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056" name="Text 136">
            <a:extLst>
              <a:ext uri="{FF2B5EF4-FFF2-40B4-BE49-F238E27FC236}">
                <a16:creationId xmlns:a16="http://schemas.microsoft.com/office/drawing/2014/main" id="{37583A18-7162-D433-4684-43E459D3147D}"/>
              </a:ext>
            </a:extLst>
          </p:cNvPr>
          <p:cNvSpPr/>
          <p:nvPr/>
        </p:nvSpPr>
        <p:spPr>
          <a:xfrm>
            <a:off x="12027284" y="7406671"/>
            <a:ext cx="2389324" cy="2284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0A1F4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$17M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057" name="Shape 137">
            <a:extLst>
              <a:ext uri="{FF2B5EF4-FFF2-40B4-BE49-F238E27FC236}">
                <a16:creationId xmlns:a16="http://schemas.microsoft.com/office/drawing/2014/main" id="{A0E87380-B0CE-733D-40B9-CC4E621A4B27}"/>
              </a:ext>
            </a:extLst>
          </p:cNvPr>
          <p:cNvSpPr/>
          <p:nvPr/>
        </p:nvSpPr>
        <p:spPr>
          <a:xfrm>
            <a:off x="14416608" y="7644610"/>
            <a:ext cx="2926147" cy="11906"/>
          </a:xfrm>
          <a:prstGeom prst="rect">
            <a:avLst/>
          </a:prstGeom>
          <a:solidFill>
            <a:srgbClr val="D8DEE9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058" name="Text 138">
            <a:extLst>
              <a:ext uri="{FF2B5EF4-FFF2-40B4-BE49-F238E27FC236}">
                <a16:creationId xmlns:a16="http://schemas.microsoft.com/office/drawing/2014/main" id="{42EFA11D-84E3-209F-47A4-174944E1BA00}"/>
              </a:ext>
            </a:extLst>
          </p:cNvPr>
          <p:cNvSpPr/>
          <p:nvPr/>
        </p:nvSpPr>
        <p:spPr>
          <a:xfrm>
            <a:off x="14492808" y="7406671"/>
            <a:ext cx="2861531" cy="2284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0A1F4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Gemelos digitales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059" name="Shape 139">
            <a:extLst>
              <a:ext uri="{FF2B5EF4-FFF2-40B4-BE49-F238E27FC236}">
                <a16:creationId xmlns:a16="http://schemas.microsoft.com/office/drawing/2014/main" id="{59BF0FC3-72C4-B121-900F-DFEFCA0C7406}"/>
              </a:ext>
            </a:extLst>
          </p:cNvPr>
          <p:cNvSpPr/>
          <p:nvPr/>
        </p:nvSpPr>
        <p:spPr>
          <a:xfrm>
            <a:off x="9412821" y="7942081"/>
            <a:ext cx="2538264" cy="11906"/>
          </a:xfrm>
          <a:prstGeom prst="rect">
            <a:avLst/>
          </a:prstGeom>
          <a:solidFill>
            <a:srgbClr val="D8DEE9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060" name="Text 140">
            <a:extLst>
              <a:ext uri="{FF2B5EF4-FFF2-40B4-BE49-F238E27FC236}">
                <a16:creationId xmlns:a16="http://schemas.microsoft.com/office/drawing/2014/main" id="{55C94108-A2EA-66B7-068A-B8D75A9D1F2F}"/>
              </a:ext>
            </a:extLst>
          </p:cNvPr>
          <p:cNvSpPr/>
          <p:nvPr/>
        </p:nvSpPr>
        <p:spPr>
          <a:xfrm>
            <a:off x="9489021" y="7704142"/>
            <a:ext cx="2462064" cy="2284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0A1F4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Orbital Sidekick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061" name="Shape 141">
            <a:extLst>
              <a:ext uri="{FF2B5EF4-FFF2-40B4-BE49-F238E27FC236}">
                <a16:creationId xmlns:a16="http://schemas.microsoft.com/office/drawing/2014/main" id="{54652617-2E2F-0DBD-907B-D2AD6A4C0769}"/>
              </a:ext>
            </a:extLst>
          </p:cNvPr>
          <p:cNvSpPr/>
          <p:nvPr/>
        </p:nvSpPr>
        <p:spPr>
          <a:xfrm>
            <a:off x="11951084" y="7942081"/>
            <a:ext cx="2465524" cy="11906"/>
          </a:xfrm>
          <a:prstGeom prst="rect">
            <a:avLst/>
          </a:prstGeom>
          <a:solidFill>
            <a:srgbClr val="D8DEE9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062" name="Text 142">
            <a:extLst>
              <a:ext uri="{FF2B5EF4-FFF2-40B4-BE49-F238E27FC236}">
                <a16:creationId xmlns:a16="http://schemas.microsoft.com/office/drawing/2014/main" id="{70D9655C-FA5D-3C73-49A6-513A0F548977}"/>
              </a:ext>
            </a:extLst>
          </p:cNvPr>
          <p:cNvSpPr/>
          <p:nvPr/>
        </p:nvSpPr>
        <p:spPr>
          <a:xfrm>
            <a:off x="12027284" y="7704142"/>
            <a:ext cx="2389324" cy="2284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0A1F4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$55M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063" name="Shape 143">
            <a:extLst>
              <a:ext uri="{FF2B5EF4-FFF2-40B4-BE49-F238E27FC236}">
                <a16:creationId xmlns:a16="http://schemas.microsoft.com/office/drawing/2014/main" id="{90503619-EC5E-E165-2994-AC536A3B9C7B}"/>
              </a:ext>
            </a:extLst>
          </p:cNvPr>
          <p:cNvSpPr/>
          <p:nvPr/>
        </p:nvSpPr>
        <p:spPr>
          <a:xfrm>
            <a:off x="14416608" y="7942081"/>
            <a:ext cx="2926147" cy="11906"/>
          </a:xfrm>
          <a:prstGeom prst="rect">
            <a:avLst/>
          </a:prstGeom>
          <a:solidFill>
            <a:srgbClr val="D8DEE9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064" name="Text 144">
            <a:extLst>
              <a:ext uri="{FF2B5EF4-FFF2-40B4-BE49-F238E27FC236}">
                <a16:creationId xmlns:a16="http://schemas.microsoft.com/office/drawing/2014/main" id="{41FE6824-86DB-B6EB-FC18-E0B9F2DC3AFF}"/>
              </a:ext>
            </a:extLst>
          </p:cNvPr>
          <p:cNvSpPr/>
          <p:nvPr/>
        </p:nvSpPr>
        <p:spPr>
          <a:xfrm>
            <a:off x="14492808" y="7704142"/>
            <a:ext cx="2861531" cy="2284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0A1F4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Oleoductos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065" name="Shape 145">
            <a:extLst>
              <a:ext uri="{FF2B5EF4-FFF2-40B4-BE49-F238E27FC236}">
                <a16:creationId xmlns:a16="http://schemas.microsoft.com/office/drawing/2014/main" id="{0CE25A33-131B-2DB6-B4C6-6A38DF636DC8}"/>
              </a:ext>
            </a:extLst>
          </p:cNvPr>
          <p:cNvSpPr/>
          <p:nvPr/>
        </p:nvSpPr>
        <p:spPr>
          <a:xfrm>
            <a:off x="9412821" y="8239551"/>
            <a:ext cx="2538264" cy="11906"/>
          </a:xfrm>
          <a:prstGeom prst="rect">
            <a:avLst/>
          </a:prstGeom>
          <a:solidFill>
            <a:srgbClr val="D8DEE9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066" name="Text 146">
            <a:extLst>
              <a:ext uri="{FF2B5EF4-FFF2-40B4-BE49-F238E27FC236}">
                <a16:creationId xmlns:a16="http://schemas.microsoft.com/office/drawing/2014/main" id="{A949A3A7-BDA2-5CBF-E1E0-17CB9C682A17}"/>
              </a:ext>
            </a:extLst>
          </p:cNvPr>
          <p:cNvSpPr/>
          <p:nvPr/>
        </p:nvSpPr>
        <p:spPr>
          <a:xfrm>
            <a:off x="9489021" y="8001612"/>
            <a:ext cx="2462064" cy="2284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0A1F4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SpaceKnow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067" name="Shape 147">
            <a:extLst>
              <a:ext uri="{FF2B5EF4-FFF2-40B4-BE49-F238E27FC236}">
                <a16:creationId xmlns:a16="http://schemas.microsoft.com/office/drawing/2014/main" id="{9D13657D-46A6-ABD2-481A-E99759740408}"/>
              </a:ext>
            </a:extLst>
          </p:cNvPr>
          <p:cNvSpPr/>
          <p:nvPr/>
        </p:nvSpPr>
        <p:spPr>
          <a:xfrm>
            <a:off x="11951084" y="8239551"/>
            <a:ext cx="2465524" cy="11906"/>
          </a:xfrm>
          <a:prstGeom prst="rect">
            <a:avLst/>
          </a:prstGeom>
          <a:solidFill>
            <a:srgbClr val="D8DEE9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068" name="Text 148">
            <a:extLst>
              <a:ext uri="{FF2B5EF4-FFF2-40B4-BE49-F238E27FC236}">
                <a16:creationId xmlns:a16="http://schemas.microsoft.com/office/drawing/2014/main" id="{0A8CD45A-02AD-17A3-2798-8231150145A1}"/>
              </a:ext>
            </a:extLst>
          </p:cNvPr>
          <p:cNvSpPr/>
          <p:nvPr/>
        </p:nvSpPr>
        <p:spPr>
          <a:xfrm>
            <a:off x="12027284" y="8001612"/>
            <a:ext cx="2389324" cy="2284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0A1F4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$12M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069" name="Shape 149">
            <a:extLst>
              <a:ext uri="{FF2B5EF4-FFF2-40B4-BE49-F238E27FC236}">
                <a16:creationId xmlns:a16="http://schemas.microsoft.com/office/drawing/2014/main" id="{9751D20B-96D3-B6B0-0913-EB42F3F4DD7B}"/>
              </a:ext>
            </a:extLst>
          </p:cNvPr>
          <p:cNvSpPr/>
          <p:nvPr/>
        </p:nvSpPr>
        <p:spPr>
          <a:xfrm>
            <a:off x="14416608" y="8239551"/>
            <a:ext cx="2926147" cy="11906"/>
          </a:xfrm>
          <a:prstGeom prst="rect">
            <a:avLst/>
          </a:prstGeom>
          <a:solidFill>
            <a:srgbClr val="D8DEE9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070" name="Text 150">
            <a:extLst>
              <a:ext uri="{FF2B5EF4-FFF2-40B4-BE49-F238E27FC236}">
                <a16:creationId xmlns:a16="http://schemas.microsoft.com/office/drawing/2014/main" id="{C8B0D4B8-5F6C-BE96-B2AC-626F43359777}"/>
              </a:ext>
            </a:extLst>
          </p:cNvPr>
          <p:cNvSpPr/>
          <p:nvPr/>
        </p:nvSpPr>
        <p:spPr>
          <a:xfrm>
            <a:off x="14492808" y="8001612"/>
            <a:ext cx="2861531" cy="2284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0A1F4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Actividad industrial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071" name="Shape 151">
            <a:extLst>
              <a:ext uri="{FF2B5EF4-FFF2-40B4-BE49-F238E27FC236}">
                <a16:creationId xmlns:a16="http://schemas.microsoft.com/office/drawing/2014/main" id="{3C5AAD74-6234-DCED-E22B-BD19EB95D9EC}"/>
              </a:ext>
            </a:extLst>
          </p:cNvPr>
          <p:cNvSpPr/>
          <p:nvPr/>
        </p:nvSpPr>
        <p:spPr>
          <a:xfrm>
            <a:off x="9412821" y="8438385"/>
            <a:ext cx="7929935" cy="580430"/>
          </a:xfrm>
          <a:prstGeom prst="rect">
            <a:avLst/>
          </a:prstGeom>
          <a:solidFill>
            <a:srgbClr val="FBF1D9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072" name="Shape 152">
            <a:extLst>
              <a:ext uri="{FF2B5EF4-FFF2-40B4-BE49-F238E27FC236}">
                <a16:creationId xmlns:a16="http://schemas.microsoft.com/office/drawing/2014/main" id="{8C2AD8E2-0CCF-18F9-F338-B9E23B417DC6}"/>
              </a:ext>
            </a:extLst>
          </p:cNvPr>
          <p:cNvSpPr/>
          <p:nvPr/>
        </p:nvSpPr>
        <p:spPr>
          <a:xfrm>
            <a:off x="9412821" y="8438385"/>
            <a:ext cx="47625" cy="580430"/>
          </a:xfrm>
          <a:prstGeom prst="rect">
            <a:avLst/>
          </a:prstGeom>
          <a:solidFill>
            <a:srgbClr val="BF9000"/>
          </a:solidFill>
          <a:ln/>
        </p:spPr>
        <p:txBody>
          <a:bodyPr/>
          <a:lstStyle/>
          <a:p>
            <a:endParaRPr lang="es-ES_tradn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073" name="Text 153">
            <a:extLst>
              <a:ext uri="{FF2B5EF4-FFF2-40B4-BE49-F238E27FC236}">
                <a16:creationId xmlns:a16="http://schemas.microsoft.com/office/drawing/2014/main" id="{06466CEB-A8BE-DF4A-B661-FCF7C12E400F}"/>
              </a:ext>
            </a:extLst>
          </p:cNvPr>
          <p:cNvSpPr/>
          <p:nvPr/>
        </p:nvSpPr>
        <p:spPr>
          <a:xfrm>
            <a:off x="9574746" y="8514585"/>
            <a:ext cx="7891608" cy="466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50" b="1" dirty="0">
                <a:solidFill>
                  <a:srgbClr val="BF9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BRECHA · </a:t>
            </a:r>
            <a:r>
              <a:rPr lang="en-US" sz="1250" dirty="0">
                <a:solidFill>
                  <a:srgbClr val="0A1F44"/>
                </a:solidFill>
                <a:highlight>
                  <a:srgbClr val="FBF1D9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Verticales puros (energía, ciudad, petróleo). Ninguno aborda descubrimiento multi-sector vía documentos + web + Maps API con ESG integrado.</a:t>
            </a:r>
            <a:endParaRPr lang="en-US" sz="12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 12">
            <a:extLst>
              <a:ext uri="{FF2B5EF4-FFF2-40B4-BE49-F238E27FC236}">
                <a16:creationId xmlns:a16="http://schemas.microsoft.com/office/drawing/2014/main" id="{E736C78B-A956-65F1-CBB9-4F24B2E86B8A}"/>
              </a:ext>
            </a:extLst>
          </p:cNvPr>
          <p:cNvSpPr/>
          <p:nvPr/>
        </p:nvSpPr>
        <p:spPr>
          <a:xfrm>
            <a:off x="945244" y="3266581"/>
            <a:ext cx="8167641" cy="2525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s-ES_tradnl" sz="13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Monitorizan activos visibles desde el cielo (tanques, naves, oleoductos). No descubren activos desconocidos ni procesan documentos.</a:t>
            </a:r>
            <a:endParaRPr lang="en-US" sz="1300" dirty="0"/>
          </a:p>
        </p:txBody>
      </p:sp>
      <p:sp>
        <p:nvSpPr>
          <p:cNvPr id="8" name="Text 12">
            <a:extLst>
              <a:ext uri="{FF2B5EF4-FFF2-40B4-BE49-F238E27FC236}">
                <a16:creationId xmlns:a16="http://schemas.microsoft.com/office/drawing/2014/main" id="{E1D051A2-A3CE-3DDC-4FAA-E25C9255C76D}"/>
              </a:ext>
            </a:extLst>
          </p:cNvPr>
          <p:cNvSpPr/>
          <p:nvPr/>
        </p:nvSpPr>
        <p:spPr>
          <a:xfrm>
            <a:off x="9413013" y="3227276"/>
            <a:ext cx="8167641" cy="2525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s-ES_tradnl" sz="13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Saben todo de la empresa como entidad legal. No saben nada de sus instalaciones físicas.</a:t>
            </a:r>
            <a:endParaRPr lang="en-US" sz="1300" dirty="0"/>
          </a:p>
        </p:txBody>
      </p:sp>
      <p:sp>
        <p:nvSpPr>
          <p:cNvPr id="41" name="Text 12">
            <a:extLst>
              <a:ext uri="{FF2B5EF4-FFF2-40B4-BE49-F238E27FC236}">
                <a16:creationId xmlns:a16="http://schemas.microsoft.com/office/drawing/2014/main" id="{EF497B55-60D4-C0AE-D4F4-5C819C557CB7}"/>
              </a:ext>
            </a:extLst>
          </p:cNvPr>
          <p:cNvSpPr/>
          <p:nvPr/>
        </p:nvSpPr>
        <p:spPr>
          <a:xfrm>
            <a:off x="945244" y="6444339"/>
            <a:ext cx="8167641" cy="2525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s-ES_tradnl" sz="13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Calculan riesgo sobre activos que el cliente ya les da. La capa de descubrimiento no existe en su producto.</a:t>
            </a:r>
            <a:endParaRPr lang="en-US" sz="1300" dirty="0"/>
          </a:p>
        </p:txBody>
      </p:sp>
      <p:sp>
        <p:nvSpPr>
          <p:cNvPr id="8973" name="Text 12">
            <a:extLst>
              <a:ext uri="{FF2B5EF4-FFF2-40B4-BE49-F238E27FC236}">
                <a16:creationId xmlns:a16="http://schemas.microsoft.com/office/drawing/2014/main" id="{FD97192A-648E-E09D-CEDC-C5C01459B40A}"/>
              </a:ext>
            </a:extLst>
          </p:cNvPr>
          <p:cNvSpPr/>
          <p:nvPr/>
        </p:nvSpPr>
        <p:spPr>
          <a:xfrm>
            <a:off x="9413013" y="6438954"/>
            <a:ext cx="8167641" cy="2525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dirty="0" err="1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Aplican</a:t>
            </a:r>
            <a:r>
              <a:rPr lang="en-US" sz="13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IA </a:t>
            </a:r>
            <a:r>
              <a:rPr lang="en-US" sz="1300" dirty="0" err="1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geoespacial</a:t>
            </a:r>
            <a:r>
              <a:rPr lang="en-US" sz="13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un </a:t>
            </a:r>
            <a:r>
              <a:rPr lang="en-US" sz="1300" dirty="0" err="1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único</a:t>
            </a:r>
            <a:r>
              <a:rPr lang="en-US" sz="13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vertical. </a:t>
            </a:r>
            <a:r>
              <a:rPr lang="en-US" sz="1300" dirty="0" err="1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Ninguno</a:t>
            </a:r>
            <a:r>
              <a:rPr lang="en-US" sz="13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cruza</a:t>
            </a:r>
            <a:r>
              <a:rPr lang="en-US" sz="13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sectores</a:t>
            </a:r>
            <a:r>
              <a:rPr lang="en-US" sz="13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</a:t>
            </a:r>
            <a:r>
              <a:rPr lang="en-US" sz="13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</a:t>
            </a:r>
            <a:r>
              <a:rPr lang="en-US" sz="13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documentos</a:t>
            </a:r>
            <a:r>
              <a:rPr lang="en-US" sz="13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corporativos</a:t>
            </a:r>
            <a:r>
              <a:rPr lang="en-US" sz="13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  <p:sp>
        <p:nvSpPr>
          <p:cNvPr id="9005" name="Text 70">
            <a:extLst>
              <a:ext uri="{FF2B5EF4-FFF2-40B4-BE49-F238E27FC236}">
                <a16:creationId xmlns:a16="http://schemas.microsoft.com/office/drawing/2014/main" id="{32774A10-DD26-17DC-8027-1B58A979E01E}"/>
              </a:ext>
            </a:extLst>
          </p:cNvPr>
          <p:cNvSpPr/>
          <p:nvPr/>
        </p:nvSpPr>
        <p:spPr>
          <a:xfrm>
            <a:off x="12001239" y="4771297"/>
            <a:ext cx="2054647" cy="2284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0A1F4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N/D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545303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26D4868-8701-1324-CB15-FBA257066D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6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255256"/>
            <a:ext cx="18288000" cy="9729788"/>
          </a:xfrm>
          <a:prstGeom prst="rect">
            <a:avLst/>
          </a:prstGeom>
        </p:spPr>
      </p:pic>
      <p:graphicFrame>
        <p:nvGraphicFramePr>
          <p:cNvPr id="6" name="Object 5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4369" y="3848"/>
          <a:ext cx="3176" cy="31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270" imgH="270" progId="TCLayout.ActiveDocument.1">
                  <p:embed/>
                </p:oleObj>
              </mc:Choice>
              <mc:Fallback>
                <p:oleObj name="think-cell Slide" r:id="rId5" imgW="270" imgH="270" progId="TCLayout.ActiveDocument.1">
                  <p:embed/>
                  <p:pic>
                    <p:nvPicPr>
                      <p:cNvPr id="6" name="Object 5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369" y="3848"/>
                        <a:ext cx="3176" cy="317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" name="TextBox 23">
            <a:extLst>
              <a:ext uri="{FF2B5EF4-FFF2-40B4-BE49-F238E27FC236}">
                <a16:creationId xmlns:a16="http://schemas.microsoft.com/office/drawing/2014/main" id="{25FFD7D5-7622-4CE1-9525-56F18FF62B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1327" y="812469"/>
            <a:ext cx="6823923" cy="901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60895" tIns="80445" rIns="160895" bIns="80445" anchor="t">
            <a:spAutoFit/>
          </a:bodyPr>
          <a:lstStyle>
            <a:defPPr>
              <a:defRPr lang="es-E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defRPr/>
            </a:pPr>
            <a:r>
              <a:rPr lang="es-ES" sz="4800" b="1" noProof="0">
                <a:solidFill>
                  <a:srgbClr val="FFFFFF"/>
                </a:solidFill>
                <a:latin typeface="+mj-lt"/>
                <a:cs typeface="Arial"/>
                <a:sym typeface="Arial"/>
              </a:rPr>
              <a:t>Índice</a:t>
            </a:r>
            <a:endParaRPr lang="es-ES" sz="4800" b="1" noProof="0">
              <a:solidFill>
                <a:srgbClr val="FFFFFF"/>
              </a:solidFill>
              <a:latin typeface="+mj-lt"/>
              <a:cs typeface="Arial"/>
            </a:endParaRPr>
          </a:p>
        </p:txBody>
      </p:sp>
      <p:grpSp>
        <p:nvGrpSpPr>
          <p:cNvPr id="2000" name="IdxGroup0"/>
          <p:cNvGrpSpPr/>
          <p:nvPr/>
        </p:nvGrpSpPr>
        <p:grpSpPr>
          <a:xfrm>
            <a:off x="2047897" y="2536436"/>
            <a:ext cx="8604329" cy="571050"/>
            <a:chOff x="969531" y="947475"/>
            <a:chExt cx="5736219" cy="380700"/>
          </a:xfrm>
        </p:grpSpPr>
        <p:sp>
          <p:nvSpPr>
            <p:cNvPr id="2001" name="IdxNum0"/>
            <p:cNvSpPr txBox="1"/>
            <p:nvPr/>
          </p:nvSpPr>
          <p:spPr>
            <a:xfrm>
              <a:off x="969531" y="947475"/>
              <a:ext cx="564600" cy="38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688" tIns="118688" rIns="118688" bIns="118688" anchor="ctr" anchorCtr="0">
              <a:noAutofit/>
            </a:bodyPr>
            <a:lstStyle/>
            <a:p>
              <a:pPr>
                <a:buClr>
                  <a:srgbClr val="000000"/>
                </a:buClr>
                <a:buSzPts val="1900"/>
              </a:pPr>
              <a:r>
                <a:rPr lang="es-ES" sz="2850" b="1">
                  <a:solidFill>
                    <a:schemeClr val="bg2">
                      <a:lumMod val="60000"/>
                      <a:lumOff val="40000"/>
                    </a:schemeClr>
                  </a:solidFill>
                  <a:latin typeface="+mj-lt"/>
                  <a:ea typeface="Lato Black"/>
                  <a:cs typeface="Lato Black"/>
                  <a:sym typeface="Lato Black"/>
                </a:rPr>
                <a:t>01</a:t>
              </a:r>
            </a:p>
          </p:txBody>
        </p:sp>
        <p:sp>
          <p:nvSpPr>
            <p:cNvPr id="2002" name="IdxTitle0"/>
            <p:cNvSpPr txBox="1"/>
            <p:nvPr/>
          </p:nvSpPr>
          <p:spPr>
            <a:xfrm>
              <a:off x="1708650" y="947475"/>
              <a:ext cx="4997100" cy="38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688" tIns="118688" rIns="118688" bIns="118688" anchor="ctr" anchorCtr="0">
              <a:noAutofit/>
            </a:bodyPr>
            <a:lstStyle/>
            <a:p>
              <a:r>
                <a:rPr lang="es-ES" sz="2400" b="1">
                  <a:solidFill>
                    <a:schemeClr val="bg2">
                      <a:lumMod val="60000"/>
                      <a:lumOff val="40000"/>
                    </a:schemeClr>
                  </a:solidFill>
                  <a:latin typeface="+mj-lt"/>
                  <a:ea typeface="Lato Black"/>
                  <a:cs typeface="Lato Black"/>
                  <a:sym typeface="Lato Black"/>
                </a:rPr>
                <a:t>Contexto y oportunidad</a:t>
              </a:r>
            </a:p>
          </p:txBody>
        </p:sp>
        <p:cxnSp>
          <p:nvCxnSpPr>
            <p:cNvPr id="2003" name="IdxBar0"/>
            <p:cNvCxnSpPr/>
            <p:nvPr/>
          </p:nvCxnSpPr>
          <p:spPr>
            <a:xfrm>
              <a:off x="1515900" y="952425"/>
              <a:ext cx="0" cy="370800"/>
            </a:xfrm>
            <a:prstGeom prst="straightConnector1">
              <a:avLst/>
            </a:prstGeom>
            <a:noFill/>
            <a:ln w="28575" cap="flat" cmpd="sng">
              <a:solidFill>
                <a:schemeClr val="bg2">
                  <a:lumMod val="60000"/>
                  <a:lumOff val="4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010" name="IdxGroup1"/>
          <p:cNvGrpSpPr/>
          <p:nvPr/>
        </p:nvGrpSpPr>
        <p:grpSpPr>
          <a:xfrm>
            <a:off x="2047897" y="3171436"/>
            <a:ext cx="8604329" cy="571050"/>
            <a:chOff x="969531" y="947475"/>
            <a:chExt cx="5736219" cy="380700"/>
          </a:xfrm>
        </p:grpSpPr>
        <p:sp>
          <p:nvSpPr>
            <p:cNvPr id="2011" name="IdxNum1"/>
            <p:cNvSpPr txBox="1"/>
            <p:nvPr/>
          </p:nvSpPr>
          <p:spPr>
            <a:xfrm>
              <a:off x="969531" y="947475"/>
              <a:ext cx="564600" cy="38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688" tIns="118688" rIns="118688" bIns="118688" anchor="ctr" anchorCtr="0">
              <a:noAutofit/>
            </a:bodyPr>
            <a:lstStyle/>
            <a:p>
              <a:pPr>
                <a:buClr>
                  <a:srgbClr val="000000"/>
                </a:buClr>
                <a:buSzPts val="1900"/>
              </a:pPr>
              <a:r>
                <a:rPr lang="es-ES" sz="2850" b="1">
                  <a:solidFill>
                    <a:schemeClr val="bg2">
                      <a:lumMod val="60000"/>
                      <a:lumOff val="40000"/>
                    </a:schemeClr>
                  </a:solidFill>
                  <a:latin typeface="+mj-lt"/>
                  <a:ea typeface="Lato Black"/>
                  <a:cs typeface="Lato Black"/>
                  <a:sym typeface="Lato Black"/>
                </a:rPr>
                <a:t>02</a:t>
              </a:r>
            </a:p>
          </p:txBody>
        </p:sp>
        <p:sp>
          <p:nvSpPr>
            <p:cNvPr id="2012" name="IdxTitle1"/>
            <p:cNvSpPr txBox="1"/>
            <p:nvPr/>
          </p:nvSpPr>
          <p:spPr>
            <a:xfrm>
              <a:off x="1708650" y="947475"/>
              <a:ext cx="4997100" cy="38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688" tIns="118688" rIns="118688" bIns="118688" anchor="ctr" anchorCtr="0">
              <a:noAutofit/>
            </a:bodyPr>
            <a:lstStyle/>
            <a:p>
              <a:r>
                <a:rPr lang="es-ES" sz="2400" b="1">
                  <a:solidFill>
                    <a:schemeClr val="bg2">
                      <a:lumMod val="60000"/>
                      <a:lumOff val="40000"/>
                    </a:schemeClr>
                  </a:solidFill>
                  <a:latin typeface="+mj-lt"/>
                  <a:ea typeface="Lato Black"/>
                  <a:cs typeface="Lato Black"/>
                  <a:sym typeface="Lato Black"/>
                </a:rPr>
                <a:t>La solución</a:t>
              </a:r>
            </a:p>
          </p:txBody>
        </p:sp>
        <p:cxnSp>
          <p:nvCxnSpPr>
            <p:cNvPr id="2013" name="IdxBar1"/>
            <p:cNvCxnSpPr/>
            <p:nvPr/>
          </p:nvCxnSpPr>
          <p:spPr>
            <a:xfrm>
              <a:off x="1515900" y="952425"/>
              <a:ext cx="0" cy="370800"/>
            </a:xfrm>
            <a:prstGeom prst="straightConnector1">
              <a:avLst/>
            </a:prstGeom>
            <a:noFill/>
            <a:ln w="28575" cap="flat" cmpd="sng">
              <a:solidFill>
                <a:schemeClr val="bg2">
                  <a:lumMod val="60000"/>
                  <a:lumOff val="4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020" name="IdxGroup2"/>
          <p:cNvGrpSpPr/>
          <p:nvPr/>
        </p:nvGrpSpPr>
        <p:grpSpPr>
          <a:xfrm>
            <a:off x="2047897" y="3806436"/>
            <a:ext cx="8604329" cy="571050"/>
            <a:chOff x="969531" y="947475"/>
            <a:chExt cx="5736219" cy="380700"/>
          </a:xfrm>
        </p:grpSpPr>
        <p:sp>
          <p:nvSpPr>
            <p:cNvPr id="2021" name="IdxNum2"/>
            <p:cNvSpPr txBox="1"/>
            <p:nvPr/>
          </p:nvSpPr>
          <p:spPr>
            <a:xfrm>
              <a:off x="969531" y="947475"/>
              <a:ext cx="564600" cy="38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688" tIns="118688" rIns="118688" bIns="118688" anchor="ctr" anchorCtr="0">
              <a:noAutofit/>
            </a:bodyPr>
            <a:lstStyle/>
            <a:p>
              <a:pPr>
                <a:buClr>
                  <a:srgbClr val="000000"/>
                </a:buClr>
                <a:buSzPts val="1900"/>
              </a:pPr>
              <a:r>
                <a:rPr lang="es-ES" sz="2850" b="1">
                  <a:solidFill>
                    <a:schemeClr val="bg2">
                      <a:lumMod val="60000"/>
                      <a:lumOff val="40000"/>
                    </a:schemeClr>
                  </a:solidFill>
                  <a:latin typeface="+mj-lt"/>
                  <a:ea typeface="Lato Black"/>
                  <a:cs typeface="Lato Black"/>
                  <a:sym typeface="Lato Black"/>
                </a:rPr>
                <a:t>03</a:t>
              </a:r>
            </a:p>
          </p:txBody>
        </p:sp>
        <p:sp>
          <p:nvSpPr>
            <p:cNvPr id="2022" name="IdxTitle2"/>
            <p:cNvSpPr txBox="1"/>
            <p:nvPr/>
          </p:nvSpPr>
          <p:spPr>
            <a:xfrm>
              <a:off x="1708650" y="947475"/>
              <a:ext cx="4997100" cy="38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688" tIns="118688" rIns="118688" bIns="118688" anchor="ctr" anchorCtr="0">
              <a:noAutofit/>
            </a:bodyPr>
            <a:lstStyle/>
            <a:p>
              <a:r>
                <a:rPr lang="es-ES" sz="2400" b="1">
                  <a:solidFill>
                    <a:schemeClr val="bg2">
                      <a:lumMod val="60000"/>
                      <a:lumOff val="40000"/>
                    </a:schemeClr>
                  </a:solidFill>
                  <a:latin typeface="+mj-lt"/>
                  <a:ea typeface="Lato Black"/>
                  <a:cs typeface="Lato Black"/>
                  <a:sym typeface="Lato Black"/>
                </a:rPr>
                <a:t>Arquitectura técnica</a:t>
              </a:r>
            </a:p>
          </p:txBody>
        </p:sp>
        <p:cxnSp>
          <p:nvCxnSpPr>
            <p:cNvPr id="2023" name="IdxBar2"/>
            <p:cNvCxnSpPr/>
            <p:nvPr/>
          </p:nvCxnSpPr>
          <p:spPr>
            <a:xfrm>
              <a:off x="1515900" y="952425"/>
              <a:ext cx="0" cy="370800"/>
            </a:xfrm>
            <a:prstGeom prst="straightConnector1">
              <a:avLst/>
            </a:prstGeom>
            <a:noFill/>
            <a:ln w="28575" cap="flat" cmpd="sng">
              <a:solidFill>
                <a:schemeClr val="bg2">
                  <a:lumMod val="60000"/>
                  <a:lumOff val="4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030" name="IdxGroup3"/>
          <p:cNvGrpSpPr/>
          <p:nvPr/>
        </p:nvGrpSpPr>
        <p:grpSpPr>
          <a:xfrm>
            <a:off x="2047897" y="4441436"/>
            <a:ext cx="8604329" cy="571050"/>
            <a:chOff x="969531" y="947475"/>
            <a:chExt cx="5736219" cy="380700"/>
          </a:xfrm>
        </p:grpSpPr>
        <p:sp>
          <p:nvSpPr>
            <p:cNvPr id="2031" name="IdxNum3"/>
            <p:cNvSpPr txBox="1"/>
            <p:nvPr/>
          </p:nvSpPr>
          <p:spPr>
            <a:xfrm>
              <a:off x="969531" y="947475"/>
              <a:ext cx="564600" cy="38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688" tIns="118688" rIns="118688" bIns="118688" anchor="ctr" anchorCtr="0">
              <a:noAutofit/>
            </a:bodyPr>
            <a:lstStyle/>
            <a:p>
              <a:pPr>
                <a:buClr>
                  <a:srgbClr val="000000"/>
                </a:buClr>
                <a:buSzPts val="1900"/>
              </a:pPr>
              <a:r>
                <a:rPr lang="es-ES" sz="2850" b="1">
                  <a:solidFill>
                    <a:schemeClr val="bg2">
                      <a:lumMod val="60000"/>
                      <a:lumOff val="40000"/>
                    </a:schemeClr>
                  </a:solidFill>
                  <a:latin typeface="+mj-lt"/>
                  <a:ea typeface="Lato Black"/>
                  <a:cs typeface="Lato Black"/>
                  <a:sym typeface="Lato Black"/>
                </a:rPr>
                <a:t>04</a:t>
              </a:r>
            </a:p>
          </p:txBody>
        </p:sp>
        <p:sp>
          <p:nvSpPr>
            <p:cNvPr id="2032" name="IdxTitle3"/>
            <p:cNvSpPr txBox="1"/>
            <p:nvPr/>
          </p:nvSpPr>
          <p:spPr>
            <a:xfrm>
              <a:off x="1708650" y="947475"/>
              <a:ext cx="4997100" cy="38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688" tIns="118688" rIns="118688" bIns="118688" anchor="ctr" anchorCtr="0">
              <a:noAutofit/>
            </a:bodyPr>
            <a:lstStyle/>
            <a:p>
              <a:r>
                <a:rPr lang="es-ES" sz="2400" b="1">
                  <a:solidFill>
                    <a:schemeClr val="bg2">
                      <a:lumMod val="60000"/>
                      <a:lumOff val="40000"/>
                    </a:schemeClr>
                  </a:solidFill>
                  <a:latin typeface="+mj-lt"/>
                  <a:ea typeface="Lato Black"/>
                  <a:cs typeface="Lato Black"/>
                  <a:sym typeface="Lato Black"/>
                </a:rPr>
                <a:t>Pipelines de análisis</a:t>
              </a:r>
            </a:p>
          </p:txBody>
        </p:sp>
        <p:cxnSp>
          <p:nvCxnSpPr>
            <p:cNvPr id="2033" name="IdxBar3"/>
            <p:cNvCxnSpPr/>
            <p:nvPr/>
          </p:nvCxnSpPr>
          <p:spPr>
            <a:xfrm>
              <a:off x="1515900" y="952425"/>
              <a:ext cx="0" cy="370800"/>
            </a:xfrm>
            <a:prstGeom prst="straightConnector1">
              <a:avLst/>
            </a:prstGeom>
            <a:noFill/>
            <a:ln w="28575" cap="flat" cmpd="sng">
              <a:solidFill>
                <a:schemeClr val="bg2">
                  <a:lumMod val="60000"/>
                  <a:lumOff val="4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040" name="IdxGroup4"/>
          <p:cNvGrpSpPr/>
          <p:nvPr/>
        </p:nvGrpSpPr>
        <p:grpSpPr>
          <a:xfrm>
            <a:off x="2047897" y="5076436"/>
            <a:ext cx="8604329" cy="571050"/>
            <a:chOff x="969531" y="947475"/>
            <a:chExt cx="5736219" cy="380700"/>
          </a:xfrm>
        </p:grpSpPr>
        <p:sp>
          <p:nvSpPr>
            <p:cNvPr id="2041" name="IdxNum4"/>
            <p:cNvSpPr txBox="1"/>
            <p:nvPr/>
          </p:nvSpPr>
          <p:spPr>
            <a:xfrm>
              <a:off x="969531" y="947475"/>
              <a:ext cx="564600" cy="38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688" tIns="118688" rIns="118688" bIns="118688" anchor="ctr" anchorCtr="0">
              <a:noAutofit/>
            </a:bodyPr>
            <a:lstStyle/>
            <a:p>
              <a:pPr>
                <a:buClr>
                  <a:srgbClr val="000000"/>
                </a:buClr>
                <a:buSzPts val="1900"/>
              </a:pPr>
              <a:r>
                <a:rPr lang="es-ES" sz="2850" b="1">
                  <a:solidFill>
                    <a:schemeClr val="bg2">
                      <a:lumMod val="60000"/>
                      <a:lumOff val="40000"/>
                    </a:schemeClr>
                  </a:solidFill>
                  <a:latin typeface="+mj-lt"/>
                  <a:ea typeface="Lato Black"/>
                  <a:cs typeface="Lato Black"/>
                  <a:sym typeface="Lato Black"/>
                </a:rPr>
                <a:t>05</a:t>
              </a:r>
            </a:p>
          </p:txBody>
        </p:sp>
        <p:sp>
          <p:nvSpPr>
            <p:cNvPr id="2042" name="IdxTitle4"/>
            <p:cNvSpPr txBox="1"/>
            <p:nvPr/>
          </p:nvSpPr>
          <p:spPr>
            <a:xfrm>
              <a:off x="1708650" y="947475"/>
              <a:ext cx="4997100" cy="38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688" tIns="118688" rIns="118688" bIns="118688" anchor="ctr" anchorCtr="0">
              <a:noAutofit/>
            </a:bodyPr>
            <a:lstStyle/>
            <a:p>
              <a:r>
                <a:rPr lang="es-ES" sz="2400" b="1">
                  <a:solidFill>
                    <a:schemeClr val="bg2">
                      <a:lumMod val="60000"/>
                      <a:lumOff val="40000"/>
                    </a:schemeClr>
                  </a:solidFill>
                  <a:latin typeface="+mj-lt"/>
                  <a:ea typeface="Lato Black"/>
                  <a:cs typeface="Lato Black"/>
                  <a:sym typeface="Lato Black"/>
                </a:rPr>
                <a:t>Demostración y resultados</a:t>
              </a:r>
            </a:p>
          </p:txBody>
        </p:sp>
        <p:cxnSp>
          <p:nvCxnSpPr>
            <p:cNvPr id="2043" name="IdxBar4"/>
            <p:cNvCxnSpPr/>
            <p:nvPr/>
          </p:nvCxnSpPr>
          <p:spPr>
            <a:xfrm>
              <a:off x="1515900" y="952425"/>
              <a:ext cx="0" cy="370800"/>
            </a:xfrm>
            <a:prstGeom prst="straightConnector1">
              <a:avLst/>
            </a:prstGeom>
            <a:noFill/>
            <a:ln w="28575" cap="flat" cmpd="sng">
              <a:solidFill>
                <a:schemeClr val="bg2">
                  <a:lumMod val="60000"/>
                  <a:lumOff val="4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050" name="IdxGroup5"/>
          <p:cNvGrpSpPr/>
          <p:nvPr/>
        </p:nvGrpSpPr>
        <p:grpSpPr>
          <a:xfrm>
            <a:off x="2047897" y="5711436"/>
            <a:ext cx="8604329" cy="571050"/>
            <a:chOff x="969531" y="947475"/>
            <a:chExt cx="5736219" cy="380700"/>
          </a:xfrm>
        </p:grpSpPr>
        <p:sp>
          <p:nvSpPr>
            <p:cNvPr id="2051" name="IdxNum5"/>
            <p:cNvSpPr txBox="1"/>
            <p:nvPr/>
          </p:nvSpPr>
          <p:spPr>
            <a:xfrm>
              <a:off x="969531" y="947475"/>
              <a:ext cx="564600" cy="38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688" tIns="118688" rIns="118688" bIns="118688" anchor="ctr" anchorCtr="0">
              <a:noAutofit/>
            </a:bodyPr>
            <a:lstStyle/>
            <a:p>
              <a:pPr>
                <a:buClr>
                  <a:srgbClr val="000000"/>
                </a:buClr>
                <a:buSzPts val="1900"/>
              </a:pPr>
              <a:r>
                <a:rPr lang="es-ES" sz="2850" b="1">
                  <a:solidFill>
                    <a:schemeClr val="bg2">
                      <a:lumMod val="60000"/>
                      <a:lumOff val="40000"/>
                    </a:schemeClr>
                  </a:solidFill>
                  <a:latin typeface="+mj-lt"/>
                  <a:ea typeface="Lato Black"/>
                  <a:cs typeface="Lato Black"/>
                  <a:sym typeface="Lato Black"/>
                </a:rPr>
                <a:t>06</a:t>
              </a:r>
            </a:p>
          </p:txBody>
        </p:sp>
        <p:sp>
          <p:nvSpPr>
            <p:cNvPr id="2052" name="IdxTitle5"/>
            <p:cNvSpPr txBox="1"/>
            <p:nvPr/>
          </p:nvSpPr>
          <p:spPr>
            <a:xfrm>
              <a:off x="1708650" y="947475"/>
              <a:ext cx="4997100" cy="38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688" tIns="118688" rIns="118688" bIns="118688" anchor="ctr" anchorCtr="0">
              <a:noAutofit/>
            </a:bodyPr>
            <a:lstStyle/>
            <a:p>
              <a:r>
                <a:rPr lang="es-ES" sz="2400" b="1">
                  <a:solidFill>
                    <a:schemeClr val="bg2">
                      <a:lumMod val="60000"/>
                      <a:lumOff val="40000"/>
                    </a:schemeClr>
                  </a:solidFill>
                  <a:latin typeface="+mj-lt"/>
                  <a:ea typeface="Lato Black"/>
                  <a:cs typeface="Lato Black"/>
                  <a:sym typeface="Lato Black"/>
                </a:rPr>
                <a:t>Benchmarking</a:t>
              </a:r>
            </a:p>
          </p:txBody>
        </p:sp>
        <p:cxnSp>
          <p:nvCxnSpPr>
            <p:cNvPr id="2053" name="IdxBar5"/>
            <p:cNvCxnSpPr/>
            <p:nvPr/>
          </p:nvCxnSpPr>
          <p:spPr>
            <a:xfrm>
              <a:off x="1515900" y="952425"/>
              <a:ext cx="0" cy="370800"/>
            </a:xfrm>
            <a:prstGeom prst="straightConnector1">
              <a:avLst/>
            </a:prstGeom>
            <a:noFill/>
            <a:ln w="28575" cap="flat" cmpd="sng">
              <a:solidFill>
                <a:schemeClr val="bg2">
                  <a:lumMod val="60000"/>
                  <a:lumOff val="4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060" name="IdxGroup6"/>
          <p:cNvGrpSpPr/>
          <p:nvPr/>
        </p:nvGrpSpPr>
        <p:grpSpPr>
          <a:xfrm>
            <a:off x="2047897" y="6346436"/>
            <a:ext cx="8604329" cy="571050"/>
            <a:chOff x="969531" y="947475"/>
            <a:chExt cx="5736219" cy="380700"/>
          </a:xfrm>
        </p:grpSpPr>
        <p:sp>
          <p:nvSpPr>
            <p:cNvPr id="2061" name="IdxNum6"/>
            <p:cNvSpPr txBox="1"/>
            <p:nvPr/>
          </p:nvSpPr>
          <p:spPr>
            <a:xfrm>
              <a:off x="969531" y="947475"/>
              <a:ext cx="564600" cy="38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688" tIns="118688" rIns="118688" bIns="118688" anchor="ctr" anchorCtr="0">
              <a:noAutofit/>
            </a:bodyPr>
            <a:lstStyle/>
            <a:p>
              <a:pPr>
                <a:buClr>
                  <a:srgbClr val="000000"/>
                </a:buClr>
                <a:buSzPts val="1900"/>
              </a:pPr>
              <a:r>
                <a:rPr lang="es-ES" sz="2850" b="1">
                  <a:solidFill>
                    <a:schemeClr val="bg1"/>
                  </a:solidFill>
                  <a:latin typeface="+mj-lt"/>
                  <a:ea typeface="Lato Black"/>
                  <a:cs typeface="Lato Black"/>
                  <a:sym typeface="Lato Black"/>
                </a:rPr>
                <a:t>07</a:t>
              </a:r>
            </a:p>
          </p:txBody>
        </p:sp>
        <p:sp>
          <p:nvSpPr>
            <p:cNvPr id="2062" name="IdxTitle6"/>
            <p:cNvSpPr txBox="1"/>
            <p:nvPr/>
          </p:nvSpPr>
          <p:spPr>
            <a:xfrm>
              <a:off x="1708650" y="947475"/>
              <a:ext cx="4997100" cy="38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688" tIns="118688" rIns="118688" bIns="118688" anchor="ctr" anchorCtr="0">
              <a:noAutofit/>
            </a:bodyPr>
            <a:lstStyle/>
            <a:p>
              <a:r>
                <a:rPr lang="es-ES" sz="2400" b="1">
                  <a:solidFill>
                    <a:schemeClr val="bg1"/>
                  </a:solidFill>
                  <a:latin typeface="+mj-lt"/>
                  <a:ea typeface="Lato Black"/>
                  <a:cs typeface="Lato Black"/>
                  <a:sym typeface="Lato Black"/>
                </a:rPr>
                <a:t>Propuesta de valor y cierre</a:t>
              </a:r>
            </a:p>
          </p:txBody>
        </p:sp>
        <p:cxnSp>
          <p:nvCxnSpPr>
            <p:cNvPr id="2063" name="IdxBar6"/>
            <p:cNvCxnSpPr/>
            <p:nvPr/>
          </p:nvCxnSpPr>
          <p:spPr>
            <a:xfrm>
              <a:off x="1515900" y="952425"/>
              <a:ext cx="0" cy="370800"/>
            </a:xfrm>
            <a:prstGeom prst="straightConnector1">
              <a:avLst/>
            </a:prstGeom>
            <a:noFill/>
            <a:ln w="28575" cap="flat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070" name="IdxGroup7"/>
          <p:cNvGrpSpPr/>
          <p:nvPr/>
        </p:nvGrpSpPr>
        <p:grpSpPr>
          <a:xfrm>
            <a:off x="2047897" y="6981436"/>
            <a:ext cx="8604329" cy="571050"/>
            <a:chOff x="969531" y="947475"/>
            <a:chExt cx="5736219" cy="380700"/>
          </a:xfrm>
        </p:grpSpPr>
        <p:sp>
          <p:nvSpPr>
            <p:cNvPr id="2071" name="IdxNum7"/>
            <p:cNvSpPr txBox="1"/>
            <p:nvPr/>
          </p:nvSpPr>
          <p:spPr>
            <a:xfrm>
              <a:off x="969531" y="947475"/>
              <a:ext cx="564600" cy="38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688" tIns="118688" rIns="118688" bIns="118688" anchor="ctr" anchorCtr="0">
              <a:noAutofit/>
            </a:bodyPr>
            <a:lstStyle/>
            <a:p>
              <a:pPr>
                <a:buClr>
                  <a:srgbClr val="000000"/>
                </a:buClr>
                <a:buSzPts val="1900"/>
              </a:pPr>
              <a:r>
                <a:rPr lang="es-ES" sz="2850" b="1">
                  <a:solidFill>
                    <a:schemeClr val="bg2">
                      <a:lumMod val="60000"/>
                      <a:lumOff val="40000"/>
                    </a:schemeClr>
                  </a:solidFill>
                  <a:latin typeface="+mj-lt"/>
                  <a:ea typeface="Lato Black"/>
                  <a:cs typeface="Lato Black"/>
                  <a:sym typeface="Lato Black"/>
                </a:rPr>
                <a:t>08</a:t>
              </a:r>
            </a:p>
          </p:txBody>
        </p:sp>
        <p:sp>
          <p:nvSpPr>
            <p:cNvPr id="2072" name="IdxTitle7"/>
            <p:cNvSpPr txBox="1"/>
            <p:nvPr/>
          </p:nvSpPr>
          <p:spPr>
            <a:xfrm>
              <a:off x="1708650" y="947475"/>
              <a:ext cx="4997100" cy="38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688" tIns="118688" rIns="118688" bIns="118688" anchor="ctr" anchorCtr="0">
              <a:noAutofit/>
            </a:bodyPr>
            <a:lstStyle/>
            <a:p>
              <a:r>
                <a:rPr lang="es-ES" sz="2400" b="1">
                  <a:solidFill>
                    <a:schemeClr val="bg2">
                      <a:lumMod val="60000"/>
                      <a:lumOff val="40000"/>
                    </a:schemeClr>
                  </a:solidFill>
                  <a:latin typeface="+mj-lt"/>
                  <a:ea typeface="Lato Black"/>
                  <a:cs typeface="Lato Black"/>
                  <a:sym typeface="Lato Black"/>
                </a:rPr>
                <a:t>Bibliografía y anexos</a:t>
              </a:r>
            </a:p>
          </p:txBody>
        </p:sp>
        <p:cxnSp>
          <p:nvCxnSpPr>
            <p:cNvPr id="2073" name="IdxBar7"/>
            <p:cNvCxnSpPr/>
            <p:nvPr/>
          </p:nvCxnSpPr>
          <p:spPr>
            <a:xfrm>
              <a:off x="1515900" y="952425"/>
              <a:ext cx="0" cy="370800"/>
            </a:xfrm>
            <a:prstGeom prst="straightConnector1">
              <a:avLst/>
            </a:prstGeom>
            <a:noFill/>
            <a:ln w="28575" cap="flat" cmpd="sng">
              <a:solidFill>
                <a:schemeClr val="bg2">
                  <a:lumMod val="60000"/>
                  <a:lumOff val="4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</p:spTree>
    <p:extLst>
      <p:ext uri="{BB962C8B-B14F-4D97-AF65-F5344CB8AC3E}">
        <p14:creationId xmlns:p14="http://schemas.microsoft.com/office/powerpoint/2010/main" val="112045846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10"/>
          <p:cNvSpPr/>
          <p:nvPr/>
        </p:nvSpPr>
        <p:spPr>
          <a:xfrm>
            <a:off x="762000" y="2573878"/>
            <a:ext cx="7945934" cy="4697928"/>
          </a:xfrm>
          <a:prstGeom prst="roundRect">
            <a:avLst>
              <a:gd name="adj" fmla="val 751"/>
            </a:avLst>
          </a:prstGeom>
          <a:solidFill>
            <a:srgbClr val="FFFFFF"/>
          </a:solidFill>
          <a:ln w="11906">
            <a:solidFill>
              <a:srgbClr val="D9DEE9"/>
            </a:solidFill>
            <a:prstDash val="solid"/>
          </a:ln>
          <a:effectLst>
            <a:outerShdw blurRad="76200" dist="12700" dir="5400000" algn="t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_tradnl"/>
          </a:p>
        </p:txBody>
      </p:sp>
      <p:sp>
        <p:nvSpPr>
          <p:cNvPr id="13" name="Text 11"/>
          <p:cNvSpPr/>
          <p:nvPr/>
        </p:nvSpPr>
        <p:spPr>
          <a:xfrm>
            <a:off x="1078632" y="2867111"/>
            <a:ext cx="7532050" cy="1786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b="1" kern="0" spc="176">
                <a:solidFill>
                  <a:srgbClr val="B938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IS · HOY</a:t>
            </a:r>
            <a:endParaRPr lang="en-US" sz="975"/>
          </a:p>
        </p:txBody>
      </p:sp>
      <p:sp>
        <p:nvSpPr>
          <p:cNvPr id="14" name="Text 12"/>
          <p:cNvSpPr/>
          <p:nvPr/>
        </p:nvSpPr>
        <p:spPr>
          <a:xfrm>
            <a:off x="1078632" y="3116238"/>
            <a:ext cx="7532050" cy="266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650" b="1" kern="0" spc="-8">
                <a:solidFill>
                  <a:srgbClr val="0A1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Proceso manual del analista</a:t>
            </a:r>
            <a:endParaRPr lang="en-US" sz="1650"/>
          </a:p>
        </p:txBody>
      </p:sp>
      <p:sp>
        <p:nvSpPr>
          <p:cNvPr id="15" name="Shape 13"/>
          <p:cNvSpPr/>
          <p:nvPr/>
        </p:nvSpPr>
        <p:spPr>
          <a:xfrm>
            <a:off x="1078632" y="3471149"/>
            <a:ext cx="7312670" cy="399016"/>
          </a:xfrm>
          <a:prstGeom prst="rect">
            <a:avLst/>
          </a:prstGeom>
          <a:solidFill>
            <a:srgbClr val="F4DCE0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16" name="Text 14"/>
          <p:cNvSpPr/>
          <p:nvPr/>
        </p:nvSpPr>
        <p:spPr>
          <a:xfrm>
            <a:off x="1230995" y="3576934"/>
            <a:ext cx="1298823" cy="2227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>
                <a:solidFill>
                  <a:srgbClr val="0E14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Tiempo / empresa</a:t>
            </a:r>
            <a:endParaRPr lang="en-US" sz="1200"/>
          </a:p>
        </p:txBody>
      </p:sp>
      <p:sp>
        <p:nvSpPr>
          <p:cNvPr id="17" name="Text 15"/>
          <p:cNvSpPr/>
          <p:nvPr/>
        </p:nvSpPr>
        <p:spPr>
          <a:xfrm>
            <a:off x="7415919" y="3576934"/>
            <a:ext cx="899220" cy="2227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b="1">
                <a:solidFill>
                  <a:srgbClr val="B9384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2–4 horas</a:t>
            </a:r>
            <a:endParaRPr lang="en-US" sz="1200"/>
          </a:p>
        </p:txBody>
      </p:sp>
      <p:sp>
        <p:nvSpPr>
          <p:cNvPr id="18" name="Shape 16"/>
          <p:cNvSpPr/>
          <p:nvPr/>
        </p:nvSpPr>
        <p:spPr>
          <a:xfrm>
            <a:off x="1078632" y="3958378"/>
            <a:ext cx="7312670" cy="399016"/>
          </a:xfrm>
          <a:prstGeom prst="rect">
            <a:avLst/>
          </a:prstGeom>
          <a:solidFill>
            <a:srgbClr val="F4DCE0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19" name="Text 17"/>
          <p:cNvSpPr/>
          <p:nvPr/>
        </p:nvSpPr>
        <p:spPr>
          <a:xfrm>
            <a:off x="1230995" y="4064162"/>
            <a:ext cx="753926" cy="2227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>
                <a:solidFill>
                  <a:srgbClr val="0E14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Cobertura</a:t>
            </a:r>
            <a:endParaRPr lang="en-US" sz="1200"/>
          </a:p>
        </p:txBody>
      </p:sp>
      <p:sp>
        <p:nvSpPr>
          <p:cNvPr id="20" name="Text 18"/>
          <p:cNvSpPr/>
          <p:nvPr/>
        </p:nvSpPr>
        <p:spPr>
          <a:xfrm>
            <a:off x="7598792" y="4064162"/>
            <a:ext cx="716347" cy="2227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b="1">
                <a:solidFill>
                  <a:srgbClr val="B9384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40–60 %</a:t>
            </a:r>
            <a:endParaRPr lang="en-US" sz="1200"/>
          </a:p>
        </p:txBody>
      </p:sp>
      <p:sp>
        <p:nvSpPr>
          <p:cNvPr id="21" name="Shape 19"/>
          <p:cNvSpPr/>
          <p:nvPr/>
        </p:nvSpPr>
        <p:spPr>
          <a:xfrm>
            <a:off x="1078632" y="4445606"/>
            <a:ext cx="7312670" cy="399016"/>
          </a:xfrm>
          <a:prstGeom prst="rect">
            <a:avLst/>
          </a:prstGeom>
          <a:solidFill>
            <a:srgbClr val="F4DCE0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22" name="Text 20"/>
          <p:cNvSpPr/>
          <p:nvPr/>
        </p:nvSpPr>
        <p:spPr>
          <a:xfrm>
            <a:off x="1230995" y="4551391"/>
            <a:ext cx="1211573" cy="2227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>
                <a:solidFill>
                  <a:srgbClr val="0E14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Reproducibilidad</a:t>
            </a:r>
            <a:endParaRPr lang="en-US" sz="1200"/>
          </a:p>
        </p:txBody>
      </p:sp>
      <p:sp>
        <p:nvSpPr>
          <p:cNvPr id="23" name="Text 21"/>
          <p:cNvSpPr/>
          <p:nvPr/>
        </p:nvSpPr>
        <p:spPr>
          <a:xfrm>
            <a:off x="8055880" y="4551391"/>
            <a:ext cx="259259" cy="2227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b="1">
                <a:solidFill>
                  <a:srgbClr val="B9384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No</a:t>
            </a:r>
            <a:endParaRPr lang="en-US" sz="1200"/>
          </a:p>
        </p:txBody>
      </p:sp>
      <p:sp>
        <p:nvSpPr>
          <p:cNvPr id="24" name="Shape 22"/>
          <p:cNvSpPr/>
          <p:nvPr/>
        </p:nvSpPr>
        <p:spPr>
          <a:xfrm>
            <a:off x="1078632" y="4932835"/>
            <a:ext cx="7312670" cy="399016"/>
          </a:xfrm>
          <a:prstGeom prst="rect">
            <a:avLst/>
          </a:prstGeom>
          <a:solidFill>
            <a:srgbClr val="F4DCE0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25" name="Text 23"/>
          <p:cNvSpPr/>
          <p:nvPr/>
        </p:nvSpPr>
        <p:spPr>
          <a:xfrm>
            <a:off x="1230995" y="5038619"/>
            <a:ext cx="1042095" cy="2227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>
                <a:solidFill>
                  <a:srgbClr val="0E14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objetivo</a:t>
            </a:r>
            <a:endParaRPr lang="en-US" sz="1200"/>
          </a:p>
        </p:txBody>
      </p:sp>
      <p:sp>
        <p:nvSpPr>
          <p:cNvPr id="26" name="Text 24"/>
          <p:cNvSpPr/>
          <p:nvPr/>
        </p:nvSpPr>
        <p:spPr>
          <a:xfrm>
            <a:off x="8055880" y="5038619"/>
            <a:ext cx="259259" cy="2227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b="1">
                <a:solidFill>
                  <a:srgbClr val="B9384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No</a:t>
            </a:r>
            <a:endParaRPr lang="en-US" sz="1200"/>
          </a:p>
        </p:txBody>
      </p:sp>
      <p:sp>
        <p:nvSpPr>
          <p:cNvPr id="27" name="Text 25"/>
          <p:cNvSpPr/>
          <p:nvPr/>
        </p:nvSpPr>
        <p:spPr>
          <a:xfrm>
            <a:off x="9012585" y="2573878"/>
            <a:ext cx="339030" cy="4733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400">
                <a:solidFill>
                  <a:srgbClr val="B89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/>
          </a:p>
        </p:txBody>
      </p:sp>
      <p:sp>
        <p:nvSpPr>
          <p:cNvPr id="28" name="Shape 26"/>
          <p:cNvSpPr/>
          <p:nvPr/>
        </p:nvSpPr>
        <p:spPr>
          <a:xfrm>
            <a:off x="9580066" y="2573878"/>
            <a:ext cx="7945934" cy="4697928"/>
          </a:xfrm>
          <a:prstGeom prst="roundRect">
            <a:avLst>
              <a:gd name="adj" fmla="val 751"/>
            </a:avLst>
          </a:prstGeom>
          <a:solidFill>
            <a:srgbClr val="0A1F44"/>
          </a:solidFill>
          <a:ln w="11906">
            <a:solidFill>
              <a:srgbClr val="0A1F44"/>
            </a:solidFill>
            <a:prstDash val="solid"/>
          </a:ln>
          <a:effectLst>
            <a:outerShdw blurRad="76200" dist="12700" dir="5400000" algn="t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_tradnl"/>
          </a:p>
        </p:txBody>
      </p:sp>
      <p:sp>
        <p:nvSpPr>
          <p:cNvPr id="29" name="Text 27"/>
          <p:cNvSpPr/>
          <p:nvPr/>
        </p:nvSpPr>
        <p:spPr>
          <a:xfrm>
            <a:off x="9896698" y="2867111"/>
            <a:ext cx="7532050" cy="1786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b="1" kern="0" spc="176">
                <a:solidFill>
                  <a:srgbClr val="D1A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BE · GEOASSETS</a:t>
            </a:r>
            <a:endParaRPr lang="en-US" sz="975"/>
          </a:p>
        </p:txBody>
      </p:sp>
      <p:sp>
        <p:nvSpPr>
          <p:cNvPr id="30" name="Text 28"/>
          <p:cNvSpPr/>
          <p:nvPr/>
        </p:nvSpPr>
        <p:spPr>
          <a:xfrm>
            <a:off x="9896698" y="3116238"/>
            <a:ext cx="7532050" cy="266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650" b="1" kern="0" spc="-8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automatizado</a:t>
            </a:r>
            <a:endParaRPr lang="en-US" sz="1650"/>
          </a:p>
        </p:txBody>
      </p:sp>
      <p:sp>
        <p:nvSpPr>
          <p:cNvPr id="31" name="Shape 29"/>
          <p:cNvSpPr/>
          <p:nvPr/>
        </p:nvSpPr>
        <p:spPr>
          <a:xfrm>
            <a:off x="9896698" y="3471149"/>
            <a:ext cx="7312670" cy="399016"/>
          </a:xfrm>
          <a:prstGeom prst="rect">
            <a:avLst/>
          </a:prstGeom>
          <a:solidFill>
            <a:srgbClr val="B89455">
              <a:alpha val="12000"/>
            </a:srgbClr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32" name="Text 30"/>
          <p:cNvSpPr/>
          <p:nvPr/>
        </p:nvSpPr>
        <p:spPr>
          <a:xfrm>
            <a:off x="10049061" y="3576934"/>
            <a:ext cx="1298823" cy="2227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Tiempo / empresa</a:t>
            </a:r>
            <a:endParaRPr lang="en-US" sz="1200"/>
          </a:p>
        </p:txBody>
      </p:sp>
      <p:sp>
        <p:nvSpPr>
          <p:cNvPr id="33" name="Text 31"/>
          <p:cNvSpPr/>
          <p:nvPr/>
        </p:nvSpPr>
        <p:spPr>
          <a:xfrm>
            <a:off x="16508202" y="3576934"/>
            <a:ext cx="625004" cy="2227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b="1">
                <a:solidFill>
                  <a:srgbClr val="D1AE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~2 min</a:t>
            </a:r>
            <a:endParaRPr lang="en-US" sz="1200"/>
          </a:p>
        </p:txBody>
      </p:sp>
      <p:sp>
        <p:nvSpPr>
          <p:cNvPr id="34" name="Shape 32"/>
          <p:cNvSpPr/>
          <p:nvPr/>
        </p:nvSpPr>
        <p:spPr>
          <a:xfrm>
            <a:off x="9896698" y="3958378"/>
            <a:ext cx="7312670" cy="399016"/>
          </a:xfrm>
          <a:prstGeom prst="rect">
            <a:avLst/>
          </a:prstGeom>
          <a:solidFill>
            <a:srgbClr val="B89455">
              <a:alpha val="12000"/>
            </a:srgbClr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35" name="Text 33"/>
          <p:cNvSpPr/>
          <p:nvPr/>
        </p:nvSpPr>
        <p:spPr>
          <a:xfrm>
            <a:off x="10049061" y="4064162"/>
            <a:ext cx="753926" cy="2227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Cobertura</a:t>
            </a:r>
            <a:endParaRPr lang="en-US" sz="1200"/>
          </a:p>
        </p:txBody>
      </p:sp>
      <p:sp>
        <p:nvSpPr>
          <p:cNvPr id="36" name="Text 34"/>
          <p:cNvSpPr/>
          <p:nvPr/>
        </p:nvSpPr>
        <p:spPr>
          <a:xfrm>
            <a:off x="16516015" y="4064162"/>
            <a:ext cx="617190" cy="2227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b="1">
                <a:solidFill>
                  <a:srgbClr val="D1AE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≥ 80 %</a:t>
            </a:r>
            <a:endParaRPr lang="en-US" sz="1200"/>
          </a:p>
        </p:txBody>
      </p:sp>
      <p:sp>
        <p:nvSpPr>
          <p:cNvPr id="37" name="Shape 35"/>
          <p:cNvSpPr/>
          <p:nvPr/>
        </p:nvSpPr>
        <p:spPr>
          <a:xfrm>
            <a:off x="9896698" y="4445606"/>
            <a:ext cx="7312670" cy="399016"/>
          </a:xfrm>
          <a:prstGeom prst="rect">
            <a:avLst/>
          </a:prstGeom>
          <a:solidFill>
            <a:srgbClr val="B89455">
              <a:alpha val="12000"/>
            </a:srgbClr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38" name="Text 36"/>
          <p:cNvSpPr/>
          <p:nvPr/>
        </p:nvSpPr>
        <p:spPr>
          <a:xfrm>
            <a:off x="10049061" y="4551391"/>
            <a:ext cx="1211573" cy="2227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Reproducibilidad</a:t>
            </a:r>
            <a:endParaRPr lang="en-US" sz="1200"/>
          </a:p>
        </p:txBody>
      </p:sp>
      <p:sp>
        <p:nvSpPr>
          <p:cNvPr id="39" name="Text 37"/>
          <p:cNvSpPr/>
          <p:nvPr/>
        </p:nvSpPr>
        <p:spPr>
          <a:xfrm>
            <a:off x="15776711" y="4551391"/>
            <a:ext cx="1356494" cy="2227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b="1">
                <a:solidFill>
                  <a:srgbClr val="D1AE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Sí (caché 24h)</a:t>
            </a:r>
            <a:endParaRPr lang="en-US" sz="1200"/>
          </a:p>
        </p:txBody>
      </p:sp>
      <p:sp>
        <p:nvSpPr>
          <p:cNvPr id="40" name="Shape 38"/>
          <p:cNvSpPr/>
          <p:nvPr/>
        </p:nvSpPr>
        <p:spPr>
          <a:xfrm>
            <a:off x="9896698" y="4932835"/>
            <a:ext cx="7312670" cy="399016"/>
          </a:xfrm>
          <a:prstGeom prst="rect">
            <a:avLst/>
          </a:prstGeom>
          <a:solidFill>
            <a:srgbClr val="B89455">
              <a:alpha val="12000"/>
            </a:srgbClr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41" name="Text 39"/>
          <p:cNvSpPr/>
          <p:nvPr/>
        </p:nvSpPr>
        <p:spPr>
          <a:xfrm>
            <a:off x="10049061" y="5038619"/>
            <a:ext cx="1042095" cy="2227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objetivo</a:t>
            </a:r>
            <a:endParaRPr lang="en-US" sz="1200"/>
          </a:p>
        </p:txBody>
      </p:sp>
      <p:sp>
        <p:nvSpPr>
          <p:cNvPr id="42" name="Text 40"/>
          <p:cNvSpPr/>
          <p:nvPr/>
        </p:nvSpPr>
        <p:spPr>
          <a:xfrm>
            <a:off x="15685368" y="5038619"/>
            <a:ext cx="1447837" cy="2227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b="1">
                <a:solidFill>
                  <a:srgbClr val="D1AE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0–100 + señales</a:t>
            </a:r>
            <a:endParaRPr lang="en-US" sz="1200"/>
          </a:p>
        </p:txBody>
      </p:sp>
      <p:sp>
        <p:nvSpPr>
          <p:cNvPr id="43" name="Shape 41"/>
          <p:cNvSpPr/>
          <p:nvPr/>
        </p:nvSpPr>
        <p:spPr>
          <a:xfrm>
            <a:off x="762000" y="7554011"/>
            <a:ext cx="5473712" cy="1132788"/>
          </a:xfrm>
          <a:prstGeom prst="roundRect">
            <a:avLst>
              <a:gd name="adj" fmla="val 3115"/>
            </a:avLst>
          </a:prstGeom>
          <a:solidFill>
            <a:srgbClr val="F2F5FA"/>
          </a:solidFill>
          <a:ln w="11906">
            <a:solidFill>
              <a:srgbClr val="E5EAF3"/>
            </a:solidFill>
            <a:prstDash val="solid"/>
          </a:ln>
          <a:effectLst>
            <a:outerShdw blurRad="76200" dist="12700" dir="5400000" algn="t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_tradnl"/>
          </a:p>
        </p:txBody>
      </p:sp>
      <p:sp>
        <p:nvSpPr>
          <p:cNvPr id="44" name="Text 42"/>
          <p:cNvSpPr/>
          <p:nvPr/>
        </p:nvSpPr>
        <p:spPr>
          <a:xfrm>
            <a:off x="983382" y="7759034"/>
            <a:ext cx="5181877" cy="1786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b="1" kern="0" spc="176">
                <a:solidFill>
                  <a:srgbClr val="9C7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ANALISTAS</a:t>
            </a:r>
            <a:endParaRPr lang="en-US" sz="975"/>
          </a:p>
        </p:txBody>
      </p:sp>
      <p:sp>
        <p:nvSpPr>
          <p:cNvPr id="45" name="Text 43"/>
          <p:cNvSpPr/>
          <p:nvPr/>
        </p:nvSpPr>
        <p:spPr>
          <a:xfrm>
            <a:off x="983382" y="8008161"/>
            <a:ext cx="5181877" cy="2117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275" b="1" kern="0" spc="-6">
                <a:solidFill>
                  <a:srgbClr val="0A1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Tiempo</a:t>
            </a:r>
            <a:endParaRPr lang="en-US" sz="1275"/>
          </a:p>
        </p:txBody>
      </p:sp>
      <p:sp>
        <p:nvSpPr>
          <p:cNvPr id="46" name="Text 44"/>
          <p:cNvSpPr/>
          <p:nvPr/>
        </p:nvSpPr>
        <p:spPr>
          <a:xfrm>
            <a:off x="983382" y="8290368"/>
            <a:ext cx="5181877" cy="2266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50">
                <a:solidFill>
                  <a:srgbClr val="2A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4 horas a ~2 minutos por empresa con mayor cobertura.</a:t>
            </a:r>
            <a:endParaRPr lang="en-US" sz="1050"/>
          </a:p>
        </p:txBody>
      </p:sp>
      <p:sp>
        <p:nvSpPr>
          <p:cNvPr id="47" name="Shape 45"/>
          <p:cNvSpPr/>
          <p:nvPr/>
        </p:nvSpPr>
        <p:spPr>
          <a:xfrm>
            <a:off x="6407051" y="7554011"/>
            <a:ext cx="5473712" cy="1132788"/>
          </a:xfrm>
          <a:prstGeom prst="roundRect">
            <a:avLst>
              <a:gd name="adj" fmla="val 3115"/>
            </a:avLst>
          </a:prstGeom>
          <a:solidFill>
            <a:srgbClr val="F2F5FA"/>
          </a:solidFill>
          <a:ln w="11906">
            <a:solidFill>
              <a:srgbClr val="E5EAF3"/>
            </a:solidFill>
            <a:prstDash val="solid"/>
          </a:ln>
          <a:effectLst>
            <a:outerShdw blurRad="76200" dist="12700" dir="5400000" algn="t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_tradnl"/>
          </a:p>
        </p:txBody>
      </p:sp>
      <p:sp>
        <p:nvSpPr>
          <p:cNvPr id="48" name="Text 46"/>
          <p:cNvSpPr/>
          <p:nvPr/>
        </p:nvSpPr>
        <p:spPr>
          <a:xfrm>
            <a:off x="6628433" y="7759034"/>
            <a:ext cx="5181877" cy="1786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b="1" kern="0" spc="176">
                <a:solidFill>
                  <a:srgbClr val="9C7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RIESGO / M&amp;A</a:t>
            </a:r>
            <a:endParaRPr lang="en-US" sz="975"/>
          </a:p>
        </p:txBody>
      </p:sp>
      <p:sp>
        <p:nvSpPr>
          <p:cNvPr id="49" name="Text 47"/>
          <p:cNvSpPr/>
          <p:nvPr/>
        </p:nvSpPr>
        <p:spPr>
          <a:xfrm>
            <a:off x="6628433" y="8008161"/>
            <a:ext cx="5181877" cy="2117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275" b="1" kern="0" spc="-6">
                <a:solidFill>
                  <a:srgbClr val="0A1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reproducible</a:t>
            </a:r>
            <a:endParaRPr lang="en-US" sz="1275"/>
          </a:p>
        </p:txBody>
      </p:sp>
      <p:sp>
        <p:nvSpPr>
          <p:cNvPr id="50" name="Text 48"/>
          <p:cNvSpPr/>
          <p:nvPr/>
        </p:nvSpPr>
        <p:spPr>
          <a:xfrm>
            <a:off x="6628433" y="8290368"/>
            <a:ext cx="5181877" cy="2266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50">
                <a:solidFill>
                  <a:srgbClr val="2A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Due diligence con criterios objetivos y trazables.</a:t>
            </a:r>
            <a:endParaRPr lang="en-US" sz="1050"/>
          </a:p>
        </p:txBody>
      </p:sp>
      <p:sp>
        <p:nvSpPr>
          <p:cNvPr id="51" name="Shape 49"/>
          <p:cNvSpPr/>
          <p:nvPr/>
        </p:nvSpPr>
        <p:spPr>
          <a:xfrm>
            <a:off x="12052102" y="7554011"/>
            <a:ext cx="5473898" cy="1132788"/>
          </a:xfrm>
          <a:prstGeom prst="roundRect">
            <a:avLst>
              <a:gd name="adj" fmla="val 3115"/>
            </a:avLst>
          </a:prstGeom>
          <a:solidFill>
            <a:srgbClr val="F2F5FA"/>
          </a:solidFill>
          <a:ln w="11906">
            <a:solidFill>
              <a:srgbClr val="E5EAF3"/>
            </a:solidFill>
            <a:prstDash val="solid"/>
          </a:ln>
          <a:effectLst>
            <a:outerShdw blurRad="76200" dist="12700" dir="5400000" algn="t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_tradnl"/>
          </a:p>
        </p:txBody>
      </p:sp>
      <p:sp>
        <p:nvSpPr>
          <p:cNvPr id="52" name="Text 50"/>
          <p:cNvSpPr/>
          <p:nvPr/>
        </p:nvSpPr>
        <p:spPr>
          <a:xfrm>
            <a:off x="12273483" y="7759034"/>
            <a:ext cx="5182069" cy="1786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b="1" kern="0" spc="176">
                <a:solidFill>
                  <a:srgbClr val="9C7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ESG</a:t>
            </a:r>
            <a:endParaRPr lang="en-US" sz="975"/>
          </a:p>
        </p:txBody>
      </p:sp>
      <p:sp>
        <p:nvSpPr>
          <p:cNvPr id="53" name="Text 51"/>
          <p:cNvSpPr/>
          <p:nvPr/>
        </p:nvSpPr>
        <p:spPr>
          <a:xfrm>
            <a:off x="12273483" y="8008161"/>
            <a:ext cx="5182069" cy="2117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275" b="1" kern="0" spc="-6">
                <a:solidFill>
                  <a:srgbClr val="0A1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Exposición ambiental</a:t>
            </a:r>
            <a:endParaRPr lang="en-US" sz="1275"/>
          </a:p>
        </p:txBody>
      </p:sp>
      <p:sp>
        <p:nvSpPr>
          <p:cNvPr id="54" name="Text 52"/>
          <p:cNvSpPr/>
          <p:nvPr/>
        </p:nvSpPr>
        <p:spPr>
          <a:xfrm>
            <a:off x="12273483" y="8290368"/>
            <a:ext cx="5182069" cy="2266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50">
                <a:solidFill>
                  <a:srgbClr val="2A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Geolocalización de activos industriales para análisis de riesgo climático.</a:t>
            </a:r>
            <a:endParaRPr lang="en-US" sz="1050"/>
          </a:p>
        </p:txBody>
      </p:sp>
      <p:grpSp>
        <p:nvGrpSpPr>
          <p:cNvPr id="9000" name="MS Header Group"/>
          <p:cNvGrpSpPr/>
          <p:nvPr/>
        </p:nvGrpSpPr>
        <p:grpSpPr>
          <a:xfrm>
            <a:off x="282819" y="579094"/>
            <a:ext cx="13786134" cy="1057874"/>
            <a:chOff x="92172" y="275827"/>
            <a:chExt cx="9190756" cy="705249"/>
          </a:xfrm>
        </p:grpSpPr>
        <p:sp>
          <p:nvSpPr>
            <p:cNvPr id="9001" name="MS Title Box"/>
            <p:cNvSpPr/>
            <p:nvPr/>
          </p:nvSpPr>
          <p:spPr>
            <a:xfrm>
              <a:off x="776292" y="404814"/>
              <a:ext cx="8506636" cy="576262"/>
            </a:xfrm>
            <a:prstGeom prst="rect">
              <a:avLst/>
            </a:prstGeom>
            <a:noFill/>
          </p:spPr>
          <p:txBody>
            <a:bodyPr lIns="137160" tIns="68580" rIns="137160" bIns="68580" anchor="ctr"/>
            <a:lstStyle/>
            <a:p>
              <a:pPr>
                <a:lnSpc>
                  <a:spcPts val="3150"/>
                </a:lnSpc>
              </a:pPr>
              <a:r>
                <a:rPr lang="es-ES" sz="3000" b="1">
                  <a:solidFill>
                    <a:srgbClr val="002569"/>
                  </a:solidFill>
                  <a:latin typeface="Arial"/>
                </a:rPr>
                <a:t>De 4 horas a 2 minutos. Con mejor cobertura y trazabilidad.</a:t>
              </a:r>
            </a:p>
            <a:p>
              <a:r>
                <a:rPr lang="es-ES" sz="2700">
                  <a:solidFill>
                    <a:srgbClr val="E0D399">
                      <a:lumMod val="75000"/>
                    </a:srgbClr>
                  </a:solidFill>
                  <a:latin typeface="Arial"/>
                </a:rPr>
                <a:t>PROPUESTA DE VALOR · TO BE</a:t>
              </a:r>
            </a:p>
          </p:txBody>
        </p:sp>
        <p:sp>
          <p:nvSpPr>
            <p:cNvPr id="9002" name="MS Number"/>
            <p:cNvSpPr/>
            <p:nvPr/>
          </p:nvSpPr>
          <p:spPr>
            <a:xfrm>
              <a:off x="92172" y="275827"/>
              <a:ext cx="477819" cy="700146"/>
            </a:xfrm>
            <a:prstGeom prst="rect">
              <a:avLst/>
            </a:prstGeom>
            <a:noFill/>
          </p:spPr>
          <p:txBody>
            <a:bodyPr wrap="none" lIns="148523" tIns="74261" rIns="148523" bIns="74261">
              <a:spAutoFit/>
            </a:bodyPr>
            <a:lstStyle/>
            <a:p>
              <a:pPr algn="ctr"/>
              <a:r>
                <a:rPr lang="es-ES" sz="5850" b="1" kern="0">
                  <a:solidFill>
                    <a:srgbClr val="002569"/>
                  </a:solidFill>
                  <a:latin typeface="Arial"/>
                </a:rPr>
                <a:t>7</a:t>
              </a:r>
            </a:p>
          </p:txBody>
        </p:sp>
        <p:cxnSp>
          <p:nvCxnSpPr>
            <p:cNvPr id="9003" name="MS Header Bar"/>
            <p:cNvCxnSpPr/>
            <p:nvPr/>
          </p:nvCxnSpPr>
          <p:spPr>
            <a:xfrm>
              <a:off x="570525" y="404814"/>
              <a:ext cx="0" cy="526647"/>
            </a:xfrm>
            <a:prstGeom prst="line">
              <a:avLst/>
            </a:prstGeom>
            <a:ln>
              <a:solidFill>
                <a:schemeClr val="tx2"/>
              </a:solidFill>
            </a:ln>
          </p:spPr>
        </p:cxnSp>
      </p:grpSp>
    </p:spTree>
    <p:extLst>
      <p:ext uri="{BB962C8B-B14F-4D97-AF65-F5344CB8AC3E}">
        <p14:creationId xmlns:p14="http://schemas.microsoft.com/office/powerpoint/2010/main" val="382985582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26D4868-8701-1324-CB15-FBA257066D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6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255256"/>
            <a:ext cx="18288000" cy="9729788"/>
          </a:xfrm>
          <a:prstGeom prst="rect">
            <a:avLst/>
          </a:prstGeom>
        </p:spPr>
      </p:pic>
      <p:graphicFrame>
        <p:nvGraphicFramePr>
          <p:cNvPr id="6" name="Object 5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4369" y="3848"/>
          <a:ext cx="3176" cy="31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270" imgH="270" progId="TCLayout.ActiveDocument.1">
                  <p:embed/>
                </p:oleObj>
              </mc:Choice>
              <mc:Fallback>
                <p:oleObj name="think-cell Slide" r:id="rId5" imgW="270" imgH="270" progId="TCLayout.ActiveDocument.1">
                  <p:embed/>
                  <p:pic>
                    <p:nvPicPr>
                      <p:cNvPr id="6" name="Object 5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369" y="3848"/>
                        <a:ext cx="3176" cy="317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" name="TextBox 23">
            <a:extLst>
              <a:ext uri="{FF2B5EF4-FFF2-40B4-BE49-F238E27FC236}">
                <a16:creationId xmlns:a16="http://schemas.microsoft.com/office/drawing/2014/main" id="{25FFD7D5-7622-4CE1-9525-56F18FF62B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1327" y="812469"/>
            <a:ext cx="6823923" cy="901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60895" tIns="80445" rIns="160895" bIns="80445" anchor="t">
            <a:spAutoFit/>
          </a:bodyPr>
          <a:lstStyle>
            <a:defPPr>
              <a:defRPr lang="es-E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defRPr/>
            </a:pPr>
            <a:r>
              <a:rPr lang="es-ES" sz="4800" b="1" noProof="0">
                <a:solidFill>
                  <a:srgbClr val="FFFFFF"/>
                </a:solidFill>
                <a:latin typeface="+mj-lt"/>
                <a:cs typeface="Arial"/>
                <a:sym typeface="Arial"/>
              </a:rPr>
              <a:t>Índice</a:t>
            </a:r>
            <a:endParaRPr lang="es-ES" sz="4800" b="1" noProof="0">
              <a:solidFill>
                <a:srgbClr val="FFFFFF"/>
              </a:solidFill>
              <a:latin typeface="+mj-lt"/>
              <a:cs typeface="Arial"/>
            </a:endParaRPr>
          </a:p>
        </p:txBody>
      </p:sp>
      <p:grpSp>
        <p:nvGrpSpPr>
          <p:cNvPr id="2000" name="IdxGroup0"/>
          <p:cNvGrpSpPr/>
          <p:nvPr/>
        </p:nvGrpSpPr>
        <p:grpSpPr>
          <a:xfrm>
            <a:off x="2047897" y="2536436"/>
            <a:ext cx="8604329" cy="571050"/>
            <a:chOff x="969531" y="947475"/>
            <a:chExt cx="5736219" cy="380700"/>
          </a:xfrm>
        </p:grpSpPr>
        <p:sp>
          <p:nvSpPr>
            <p:cNvPr id="2001" name="IdxNum0"/>
            <p:cNvSpPr txBox="1"/>
            <p:nvPr/>
          </p:nvSpPr>
          <p:spPr>
            <a:xfrm>
              <a:off x="969531" y="947475"/>
              <a:ext cx="564600" cy="38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688" tIns="118688" rIns="118688" bIns="118688" anchor="ctr" anchorCtr="0">
              <a:noAutofit/>
            </a:bodyPr>
            <a:lstStyle/>
            <a:p>
              <a:pPr>
                <a:buClr>
                  <a:srgbClr val="000000"/>
                </a:buClr>
                <a:buSzPts val="1900"/>
              </a:pPr>
              <a:r>
                <a:rPr lang="es-ES" sz="2850" b="1">
                  <a:solidFill>
                    <a:schemeClr val="bg2">
                      <a:lumMod val="60000"/>
                      <a:lumOff val="40000"/>
                    </a:schemeClr>
                  </a:solidFill>
                  <a:latin typeface="+mj-lt"/>
                  <a:ea typeface="Lato Black"/>
                  <a:cs typeface="Lato Black"/>
                  <a:sym typeface="Lato Black"/>
                </a:rPr>
                <a:t>01</a:t>
              </a:r>
            </a:p>
          </p:txBody>
        </p:sp>
        <p:sp>
          <p:nvSpPr>
            <p:cNvPr id="2002" name="IdxTitle0"/>
            <p:cNvSpPr txBox="1"/>
            <p:nvPr/>
          </p:nvSpPr>
          <p:spPr>
            <a:xfrm>
              <a:off x="1708650" y="947475"/>
              <a:ext cx="4997100" cy="38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688" tIns="118688" rIns="118688" bIns="118688" anchor="ctr" anchorCtr="0">
              <a:noAutofit/>
            </a:bodyPr>
            <a:lstStyle/>
            <a:p>
              <a:r>
                <a:rPr lang="es-ES" sz="2400" b="1">
                  <a:solidFill>
                    <a:schemeClr val="bg2">
                      <a:lumMod val="60000"/>
                      <a:lumOff val="40000"/>
                    </a:schemeClr>
                  </a:solidFill>
                  <a:latin typeface="+mj-lt"/>
                  <a:ea typeface="Lato Black"/>
                  <a:cs typeface="Lato Black"/>
                  <a:sym typeface="Lato Black"/>
                </a:rPr>
                <a:t>Contexto y oportunidad</a:t>
              </a:r>
            </a:p>
          </p:txBody>
        </p:sp>
        <p:cxnSp>
          <p:nvCxnSpPr>
            <p:cNvPr id="2003" name="IdxBar0"/>
            <p:cNvCxnSpPr/>
            <p:nvPr/>
          </p:nvCxnSpPr>
          <p:spPr>
            <a:xfrm>
              <a:off x="1515900" y="952425"/>
              <a:ext cx="0" cy="370800"/>
            </a:xfrm>
            <a:prstGeom prst="straightConnector1">
              <a:avLst/>
            </a:prstGeom>
            <a:noFill/>
            <a:ln w="28575" cap="flat" cmpd="sng">
              <a:solidFill>
                <a:schemeClr val="bg2">
                  <a:lumMod val="60000"/>
                  <a:lumOff val="4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010" name="IdxGroup1"/>
          <p:cNvGrpSpPr/>
          <p:nvPr/>
        </p:nvGrpSpPr>
        <p:grpSpPr>
          <a:xfrm>
            <a:off x="2047897" y="3171436"/>
            <a:ext cx="8604329" cy="571050"/>
            <a:chOff x="969531" y="947475"/>
            <a:chExt cx="5736219" cy="380700"/>
          </a:xfrm>
        </p:grpSpPr>
        <p:sp>
          <p:nvSpPr>
            <p:cNvPr id="2011" name="IdxNum1"/>
            <p:cNvSpPr txBox="1"/>
            <p:nvPr/>
          </p:nvSpPr>
          <p:spPr>
            <a:xfrm>
              <a:off x="969531" y="947475"/>
              <a:ext cx="564600" cy="38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688" tIns="118688" rIns="118688" bIns="118688" anchor="ctr" anchorCtr="0">
              <a:noAutofit/>
            </a:bodyPr>
            <a:lstStyle/>
            <a:p>
              <a:pPr>
                <a:buClr>
                  <a:srgbClr val="000000"/>
                </a:buClr>
                <a:buSzPts val="1900"/>
              </a:pPr>
              <a:r>
                <a:rPr lang="es-ES" sz="2850" b="1">
                  <a:solidFill>
                    <a:schemeClr val="bg2">
                      <a:lumMod val="60000"/>
                      <a:lumOff val="40000"/>
                    </a:schemeClr>
                  </a:solidFill>
                  <a:latin typeface="+mj-lt"/>
                  <a:ea typeface="Lato Black"/>
                  <a:cs typeface="Lato Black"/>
                  <a:sym typeface="Lato Black"/>
                </a:rPr>
                <a:t>02</a:t>
              </a:r>
            </a:p>
          </p:txBody>
        </p:sp>
        <p:sp>
          <p:nvSpPr>
            <p:cNvPr id="2012" name="IdxTitle1"/>
            <p:cNvSpPr txBox="1"/>
            <p:nvPr/>
          </p:nvSpPr>
          <p:spPr>
            <a:xfrm>
              <a:off x="1708650" y="947475"/>
              <a:ext cx="4997100" cy="38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688" tIns="118688" rIns="118688" bIns="118688" anchor="ctr" anchorCtr="0">
              <a:noAutofit/>
            </a:bodyPr>
            <a:lstStyle/>
            <a:p>
              <a:r>
                <a:rPr lang="es-ES" sz="2400" b="1">
                  <a:solidFill>
                    <a:schemeClr val="bg2">
                      <a:lumMod val="60000"/>
                      <a:lumOff val="40000"/>
                    </a:schemeClr>
                  </a:solidFill>
                  <a:latin typeface="+mj-lt"/>
                  <a:ea typeface="Lato Black"/>
                  <a:cs typeface="Lato Black"/>
                  <a:sym typeface="Lato Black"/>
                </a:rPr>
                <a:t>La solución</a:t>
              </a:r>
            </a:p>
          </p:txBody>
        </p:sp>
        <p:cxnSp>
          <p:nvCxnSpPr>
            <p:cNvPr id="2013" name="IdxBar1"/>
            <p:cNvCxnSpPr/>
            <p:nvPr/>
          </p:nvCxnSpPr>
          <p:spPr>
            <a:xfrm>
              <a:off x="1515900" y="952425"/>
              <a:ext cx="0" cy="370800"/>
            </a:xfrm>
            <a:prstGeom prst="straightConnector1">
              <a:avLst/>
            </a:prstGeom>
            <a:noFill/>
            <a:ln w="28575" cap="flat" cmpd="sng">
              <a:solidFill>
                <a:schemeClr val="bg2">
                  <a:lumMod val="60000"/>
                  <a:lumOff val="4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020" name="IdxGroup2"/>
          <p:cNvGrpSpPr/>
          <p:nvPr/>
        </p:nvGrpSpPr>
        <p:grpSpPr>
          <a:xfrm>
            <a:off x="2047897" y="3806436"/>
            <a:ext cx="8604329" cy="571050"/>
            <a:chOff x="969531" y="947475"/>
            <a:chExt cx="5736219" cy="380700"/>
          </a:xfrm>
        </p:grpSpPr>
        <p:sp>
          <p:nvSpPr>
            <p:cNvPr id="2021" name="IdxNum2"/>
            <p:cNvSpPr txBox="1"/>
            <p:nvPr/>
          </p:nvSpPr>
          <p:spPr>
            <a:xfrm>
              <a:off x="969531" y="947475"/>
              <a:ext cx="564600" cy="38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688" tIns="118688" rIns="118688" bIns="118688" anchor="ctr" anchorCtr="0">
              <a:noAutofit/>
            </a:bodyPr>
            <a:lstStyle/>
            <a:p>
              <a:pPr>
                <a:buClr>
                  <a:srgbClr val="000000"/>
                </a:buClr>
                <a:buSzPts val="1900"/>
              </a:pPr>
              <a:r>
                <a:rPr lang="es-ES" sz="2850" b="1">
                  <a:solidFill>
                    <a:schemeClr val="bg2">
                      <a:lumMod val="60000"/>
                      <a:lumOff val="40000"/>
                    </a:schemeClr>
                  </a:solidFill>
                  <a:latin typeface="+mj-lt"/>
                  <a:ea typeface="Lato Black"/>
                  <a:cs typeface="Lato Black"/>
                  <a:sym typeface="Lato Black"/>
                </a:rPr>
                <a:t>03</a:t>
              </a:r>
            </a:p>
          </p:txBody>
        </p:sp>
        <p:sp>
          <p:nvSpPr>
            <p:cNvPr id="2022" name="IdxTitle2"/>
            <p:cNvSpPr txBox="1"/>
            <p:nvPr/>
          </p:nvSpPr>
          <p:spPr>
            <a:xfrm>
              <a:off x="1708650" y="947475"/>
              <a:ext cx="4997100" cy="38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688" tIns="118688" rIns="118688" bIns="118688" anchor="ctr" anchorCtr="0">
              <a:noAutofit/>
            </a:bodyPr>
            <a:lstStyle/>
            <a:p>
              <a:r>
                <a:rPr lang="es-ES" sz="2400" b="1">
                  <a:solidFill>
                    <a:schemeClr val="bg2">
                      <a:lumMod val="60000"/>
                      <a:lumOff val="40000"/>
                    </a:schemeClr>
                  </a:solidFill>
                  <a:latin typeface="+mj-lt"/>
                  <a:ea typeface="Lato Black"/>
                  <a:cs typeface="Lato Black"/>
                  <a:sym typeface="Lato Black"/>
                </a:rPr>
                <a:t>Arquitectura técnica</a:t>
              </a:r>
            </a:p>
          </p:txBody>
        </p:sp>
        <p:cxnSp>
          <p:nvCxnSpPr>
            <p:cNvPr id="2023" name="IdxBar2"/>
            <p:cNvCxnSpPr/>
            <p:nvPr/>
          </p:nvCxnSpPr>
          <p:spPr>
            <a:xfrm>
              <a:off x="1515900" y="952425"/>
              <a:ext cx="0" cy="370800"/>
            </a:xfrm>
            <a:prstGeom prst="straightConnector1">
              <a:avLst/>
            </a:prstGeom>
            <a:noFill/>
            <a:ln w="28575" cap="flat" cmpd="sng">
              <a:solidFill>
                <a:schemeClr val="bg2">
                  <a:lumMod val="60000"/>
                  <a:lumOff val="4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030" name="IdxGroup3"/>
          <p:cNvGrpSpPr/>
          <p:nvPr/>
        </p:nvGrpSpPr>
        <p:grpSpPr>
          <a:xfrm>
            <a:off x="2047897" y="4441436"/>
            <a:ext cx="8604329" cy="571050"/>
            <a:chOff x="969531" y="947475"/>
            <a:chExt cx="5736219" cy="380700"/>
          </a:xfrm>
        </p:grpSpPr>
        <p:sp>
          <p:nvSpPr>
            <p:cNvPr id="2031" name="IdxNum3"/>
            <p:cNvSpPr txBox="1"/>
            <p:nvPr/>
          </p:nvSpPr>
          <p:spPr>
            <a:xfrm>
              <a:off x="969531" y="947475"/>
              <a:ext cx="564600" cy="38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688" tIns="118688" rIns="118688" bIns="118688" anchor="ctr" anchorCtr="0">
              <a:noAutofit/>
            </a:bodyPr>
            <a:lstStyle/>
            <a:p>
              <a:pPr>
                <a:buClr>
                  <a:srgbClr val="000000"/>
                </a:buClr>
                <a:buSzPts val="1900"/>
              </a:pPr>
              <a:r>
                <a:rPr lang="es-ES" sz="2850" b="1">
                  <a:solidFill>
                    <a:schemeClr val="bg2">
                      <a:lumMod val="60000"/>
                      <a:lumOff val="40000"/>
                    </a:schemeClr>
                  </a:solidFill>
                  <a:latin typeface="+mj-lt"/>
                  <a:ea typeface="Lato Black"/>
                  <a:cs typeface="Lato Black"/>
                  <a:sym typeface="Lato Black"/>
                </a:rPr>
                <a:t>04</a:t>
              </a:r>
            </a:p>
          </p:txBody>
        </p:sp>
        <p:sp>
          <p:nvSpPr>
            <p:cNvPr id="2032" name="IdxTitle3"/>
            <p:cNvSpPr txBox="1"/>
            <p:nvPr/>
          </p:nvSpPr>
          <p:spPr>
            <a:xfrm>
              <a:off x="1708650" y="947475"/>
              <a:ext cx="4997100" cy="38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688" tIns="118688" rIns="118688" bIns="118688" anchor="ctr" anchorCtr="0">
              <a:noAutofit/>
            </a:bodyPr>
            <a:lstStyle/>
            <a:p>
              <a:r>
                <a:rPr lang="es-ES" sz="2400" b="1">
                  <a:solidFill>
                    <a:schemeClr val="bg2">
                      <a:lumMod val="60000"/>
                      <a:lumOff val="40000"/>
                    </a:schemeClr>
                  </a:solidFill>
                  <a:latin typeface="+mj-lt"/>
                  <a:ea typeface="Lato Black"/>
                  <a:cs typeface="Lato Black"/>
                  <a:sym typeface="Lato Black"/>
                </a:rPr>
                <a:t>Pipelines de análisis</a:t>
              </a:r>
            </a:p>
          </p:txBody>
        </p:sp>
        <p:cxnSp>
          <p:nvCxnSpPr>
            <p:cNvPr id="2033" name="IdxBar3"/>
            <p:cNvCxnSpPr/>
            <p:nvPr/>
          </p:nvCxnSpPr>
          <p:spPr>
            <a:xfrm>
              <a:off x="1515900" y="952425"/>
              <a:ext cx="0" cy="370800"/>
            </a:xfrm>
            <a:prstGeom prst="straightConnector1">
              <a:avLst/>
            </a:prstGeom>
            <a:noFill/>
            <a:ln w="28575" cap="flat" cmpd="sng">
              <a:solidFill>
                <a:schemeClr val="bg2">
                  <a:lumMod val="60000"/>
                  <a:lumOff val="4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040" name="IdxGroup4"/>
          <p:cNvGrpSpPr/>
          <p:nvPr/>
        </p:nvGrpSpPr>
        <p:grpSpPr>
          <a:xfrm>
            <a:off x="2047897" y="5076436"/>
            <a:ext cx="8604329" cy="571050"/>
            <a:chOff x="969531" y="947475"/>
            <a:chExt cx="5736219" cy="380700"/>
          </a:xfrm>
        </p:grpSpPr>
        <p:sp>
          <p:nvSpPr>
            <p:cNvPr id="2041" name="IdxNum4"/>
            <p:cNvSpPr txBox="1"/>
            <p:nvPr/>
          </p:nvSpPr>
          <p:spPr>
            <a:xfrm>
              <a:off x="969531" y="947475"/>
              <a:ext cx="564600" cy="38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688" tIns="118688" rIns="118688" bIns="118688" anchor="ctr" anchorCtr="0">
              <a:noAutofit/>
            </a:bodyPr>
            <a:lstStyle/>
            <a:p>
              <a:pPr>
                <a:buClr>
                  <a:srgbClr val="000000"/>
                </a:buClr>
                <a:buSzPts val="1900"/>
              </a:pPr>
              <a:r>
                <a:rPr lang="es-ES" sz="2850" b="1">
                  <a:solidFill>
                    <a:schemeClr val="bg2">
                      <a:lumMod val="60000"/>
                      <a:lumOff val="40000"/>
                    </a:schemeClr>
                  </a:solidFill>
                  <a:latin typeface="+mj-lt"/>
                  <a:ea typeface="Lato Black"/>
                  <a:cs typeface="Lato Black"/>
                  <a:sym typeface="Lato Black"/>
                </a:rPr>
                <a:t>05</a:t>
              </a:r>
            </a:p>
          </p:txBody>
        </p:sp>
        <p:sp>
          <p:nvSpPr>
            <p:cNvPr id="2042" name="IdxTitle4"/>
            <p:cNvSpPr txBox="1"/>
            <p:nvPr/>
          </p:nvSpPr>
          <p:spPr>
            <a:xfrm>
              <a:off x="1708650" y="947475"/>
              <a:ext cx="4997100" cy="38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688" tIns="118688" rIns="118688" bIns="118688" anchor="ctr" anchorCtr="0">
              <a:noAutofit/>
            </a:bodyPr>
            <a:lstStyle/>
            <a:p>
              <a:r>
                <a:rPr lang="es-ES" sz="2400" b="1">
                  <a:solidFill>
                    <a:schemeClr val="bg2">
                      <a:lumMod val="60000"/>
                      <a:lumOff val="40000"/>
                    </a:schemeClr>
                  </a:solidFill>
                  <a:latin typeface="+mj-lt"/>
                  <a:ea typeface="Lato Black"/>
                  <a:cs typeface="Lato Black"/>
                  <a:sym typeface="Lato Black"/>
                </a:rPr>
                <a:t>Demostración y resultados</a:t>
              </a:r>
            </a:p>
          </p:txBody>
        </p:sp>
        <p:cxnSp>
          <p:nvCxnSpPr>
            <p:cNvPr id="2043" name="IdxBar4"/>
            <p:cNvCxnSpPr/>
            <p:nvPr/>
          </p:nvCxnSpPr>
          <p:spPr>
            <a:xfrm>
              <a:off x="1515900" y="952425"/>
              <a:ext cx="0" cy="370800"/>
            </a:xfrm>
            <a:prstGeom prst="straightConnector1">
              <a:avLst/>
            </a:prstGeom>
            <a:noFill/>
            <a:ln w="28575" cap="flat" cmpd="sng">
              <a:solidFill>
                <a:schemeClr val="bg2">
                  <a:lumMod val="60000"/>
                  <a:lumOff val="4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050" name="IdxGroup5"/>
          <p:cNvGrpSpPr/>
          <p:nvPr/>
        </p:nvGrpSpPr>
        <p:grpSpPr>
          <a:xfrm>
            <a:off x="2047897" y="5711436"/>
            <a:ext cx="8604329" cy="571050"/>
            <a:chOff x="969531" y="947475"/>
            <a:chExt cx="5736219" cy="380700"/>
          </a:xfrm>
        </p:grpSpPr>
        <p:sp>
          <p:nvSpPr>
            <p:cNvPr id="2051" name="IdxNum5"/>
            <p:cNvSpPr txBox="1"/>
            <p:nvPr/>
          </p:nvSpPr>
          <p:spPr>
            <a:xfrm>
              <a:off x="969531" y="947475"/>
              <a:ext cx="564600" cy="38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688" tIns="118688" rIns="118688" bIns="118688" anchor="ctr" anchorCtr="0">
              <a:noAutofit/>
            </a:bodyPr>
            <a:lstStyle/>
            <a:p>
              <a:pPr>
                <a:buClr>
                  <a:srgbClr val="000000"/>
                </a:buClr>
                <a:buSzPts val="1900"/>
              </a:pPr>
              <a:r>
                <a:rPr lang="es-ES" sz="2850" b="1">
                  <a:solidFill>
                    <a:schemeClr val="bg2">
                      <a:lumMod val="60000"/>
                      <a:lumOff val="40000"/>
                    </a:schemeClr>
                  </a:solidFill>
                  <a:latin typeface="+mj-lt"/>
                  <a:ea typeface="Lato Black"/>
                  <a:cs typeface="Lato Black"/>
                  <a:sym typeface="Lato Black"/>
                </a:rPr>
                <a:t>06</a:t>
              </a:r>
            </a:p>
          </p:txBody>
        </p:sp>
        <p:sp>
          <p:nvSpPr>
            <p:cNvPr id="2052" name="IdxTitle5"/>
            <p:cNvSpPr txBox="1"/>
            <p:nvPr/>
          </p:nvSpPr>
          <p:spPr>
            <a:xfrm>
              <a:off x="1708650" y="947475"/>
              <a:ext cx="4997100" cy="38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688" tIns="118688" rIns="118688" bIns="118688" anchor="ctr" anchorCtr="0">
              <a:noAutofit/>
            </a:bodyPr>
            <a:lstStyle/>
            <a:p>
              <a:r>
                <a:rPr lang="es-ES" sz="2400" b="1">
                  <a:solidFill>
                    <a:schemeClr val="bg2">
                      <a:lumMod val="60000"/>
                      <a:lumOff val="40000"/>
                    </a:schemeClr>
                  </a:solidFill>
                  <a:latin typeface="+mj-lt"/>
                  <a:ea typeface="Lato Black"/>
                  <a:cs typeface="Lato Black"/>
                  <a:sym typeface="Lato Black"/>
                </a:rPr>
                <a:t>Benchmarking</a:t>
              </a:r>
            </a:p>
          </p:txBody>
        </p:sp>
        <p:cxnSp>
          <p:nvCxnSpPr>
            <p:cNvPr id="2053" name="IdxBar5"/>
            <p:cNvCxnSpPr/>
            <p:nvPr/>
          </p:nvCxnSpPr>
          <p:spPr>
            <a:xfrm>
              <a:off x="1515900" y="952425"/>
              <a:ext cx="0" cy="370800"/>
            </a:xfrm>
            <a:prstGeom prst="straightConnector1">
              <a:avLst/>
            </a:prstGeom>
            <a:noFill/>
            <a:ln w="28575" cap="flat" cmpd="sng">
              <a:solidFill>
                <a:schemeClr val="bg2">
                  <a:lumMod val="60000"/>
                  <a:lumOff val="4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060" name="IdxGroup6"/>
          <p:cNvGrpSpPr/>
          <p:nvPr/>
        </p:nvGrpSpPr>
        <p:grpSpPr>
          <a:xfrm>
            <a:off x="2047897" y="6346436"/>
            <a:ext cx="8604329" cy="571050"/>
            <a:chOff x="969531" y="947475"/>
            <a:chExt cx="5736219" cy="380700"/>
          </a:xfrm>
        </p:grpSpPr>
        <p:sp>
          <p:nvSpPr>
            <p:cNvPr id="2061" name="IdxNum6"/>
            <p:cNvSpPr txBox="1"/>
            <p:nvPr/>
          </p:nvSpPr>
          <p:spPr>
            <a:xfrm>
              <a:off x="969531" y="947475"/>
              <a:ext cx="564600" cy="38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688" tIns="118688" rIns="118688" bIns="118688" anchor="ctr" anchorCtr="0">
              <a:noAutofit/>
            </a:bodyPr>
            <a:lstStyle/>
            <a:p>
              <a:pPr>
                <a:buClr>
                  <a:srgbClr val="000000"/>
                </a:buClr>
                <a:buSzPts val="1900"/>
              </a:pPr>
              <a:r>
                <a:rPr lang="es-ES" sz="2850" b="1">
                  <a:solidFill>
                    <a:schemeClr val="bg2">
                      <a:lumMod val="60000"/>
                      <a:lumOff val="40000"/>
                    </a:schemeClr>
                  </a:solidFill>
                  <a:latin typeface="+mj-lt"/>
                  <a:ea typeface="Lato Black"/>
                  <a:cs typeface="Lato Black"/>
                  <a:sym typeface="Lato Black"/>
                </a:rPr>
                <a:t>07</a:t>
              </a:r>
            </a:p>
          </p:txBody>
        </p:sp>
        <p:sp>
          <p:nvSpPr>
            <p:cNvPr id="2062" name="IdxTitle6"/>
            <p:cNvSpPr txBox="1"/>
            <p:nvPr/>
          </p:nvSpPr>
          <p:spPr>
            <a:xfrm>
              <a:off x="1708650" y="947475"/>
              <a:ext cx="4997100" cy="38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688" tIns="118688" rIns="118688" bIns="118688" anchor="ctr" anchorCtr="0">
              <a:noAutofit/>
            </a:bodyPr>
            <a:lstStyle/>
            <a:p>
              <a:r>
                <a:rPr lang="es-ES" sz="2400" b="1">
                  <a:solidFill>
                    <a:schemeClr val="bg2">
                      <a:lumMod val="60000"/>
                      <a:lumOff val="40000"/>
                    </a:schemeClr>
                  </a:solidFill>
                  <a:latin typeface="+mj-lt"/>
                  <a:ea typeface="Lato Black"/>
                  <a:cs typeface="Lato Black"/>
                  <a:sym typeface="Lato Black"/>
                </a:rPr>
                <a:t>Propuesta de valor y cierre</a:t>
              </a:r>
            </a:p>
          </p:txBody>
        </p:sp>
        <p:cxnSp>
          <p:nvCxnSpPr>
            <p:cNvPr id="2063" name="IdxBar6"/>
            <p:cNvCxnSpPr/>
            <p:nvPr/>
          </p:nvCxnSpPr>
          <p:spPr>
            <a:xfrm>
              <a:off x="1515900" y="952425"/>
              <a:ext cx="0" cy="370800"/>
            </a:xfrm>
            <a:prstGeom prst="straightConnector1">
              <a:avLst/>
            </a:prstGeom>
            <a:noFill/>
            <a:ln w="28575" cap="flat" cmpd="sng">
              <a:solidFill>
                <a:schemeClr val="bg2">
                  <a:lumMod val="60000"/>
                  <a:lumOff val="4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070" name="IdxGroup7"/>
          <p:cNvGrpSpPr/>
          <p:nvPr/>
        </p:nvGrpSpPr>
        <p:grpSpPr>
          <a:xfrm>
            <a:off x="2047897" y="6981436"/>
            <a:ext cx="8604329" cy="571050"/>
            <a:chOff x="969531" y="947475"/>
            <a:chExt cx="5736219" cy="380700"/>
          </a:xfrm>
        </p:grpSpPr>
        <p:sp>
          <p:nvSpPr>
            <p:cNvPr id="2071" name="IdxNum7"/>
            <p:cNvSpPr txBox="1"/>
            <p:nvPr/>
          </p:nvSpPr>
          <p:spPr>
            <a:xfrm>
              <a:off x="969531" y="947475"/>
              <a:ext cx="564600" cy="38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688" tIns="118688" rIns="118688" bIns="118688" anchor="ctr" anchorCtr="0">
              <a:noAutofit/>
            </a:bodyPr>
            <a:lstStyle/>
            <a:p>
              <a:pPr>
                <a:buClr>
                  <a:srgbClr val="000000"/>
                </a:buClr>
                <a:buSzPts val="1900"/>
              </a:pPr>
              <a:r>
                <a:rPr lang="es-ES" sz="2850" b="1">
                  <a:solidFill>
                    <a:schemeClr val="bg1"/>
                  </a:solidFill>
                  <a:latin typeface="+mj-lt"/>
                  <a:ea typeface="Lato Black"/>
                  <a:cs typeface="Lato Black"/>
                  <a:sym typeface="Lato Black"/>
                </a:rPr>
                <a:t>08</a:t>
              </a:r>
            </a:p>
          </p:txBody>
        </p:sp>
        <p:sp>
          <p:nvSpPr>
            <p:cNvPr id="2072" name="IdxTitle7"/>
            <p:cNvSpPr txBox="1"/>
            <p:nvPr/>
          </p:nvSpPr>
          <p:spPr>
            <a:xfrm>
              <a:off x="1708650" y="947475"/>
              <a:ext cx="4997100" cy="38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688" tIns="118688" rIns="118688" bIns="118688" anchor="ctr" anchorCtr="0">
              <a:noAutofit/>
            </a:bodyPr>
            <a:lstStyle/>
            <a:p>
              <a:r>
                <a:rPr lang="es-ES" sz="2400" b="1">
                  <a:solidFill>
                    <a:schemeClr val="bg1"/>
                  </a:solidFill>
                  <a:latin typeface="+mj-lt"/>
                  <a:ea typeface="Lato Black"/>
                  <a:cs typeface="Lato Black"/>
                  <a:sym typeface="Lato Black"/>
                </a:rPr>
                <a:t>Bibliografía y anexos</a:t>
              </a:r>
            </a:p>
          </p:txBody>
        </p:sp>
        <p:cxnSp>
          <p:nvCxnSpPr>
            <p:cNvPr id="2073" name="IdxBar7"/>
            <p:cNvCxnSpPr/>
            <p:nvPr/>
          </p:nvCxnSpPr>
          <p:spPr>
            <a:xfrm>
              <a:off x="1515900" y="952425"/>
              <a:ext cx="0" cy="370800"/>
            </a:xfrm>
            <a:prstGeom prst="straightConnector1">
              <a:avLst/>
            </a:prstGeom>
            <a:noFill/>
            <a:ln w="28575" cap="flat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</p:spTree>
    <p:extLst>
      <p:ext uri="{BB962C8B-B14F-4D97-AF65-F5344CB8AC3E}">
        <p14:creationId xmlns:p14="http://schemas.microsoft.com/office/powerpoint/2010/main" val="331758585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A1F44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5" name="Shape 3"/>
          <p:cNvSpPr/>
          <p:nvPr/>
        </p:nvSpPr>
        <p:spPr>
          <a:xfrm>
            <a:off x="762000" y="571500"/>
            <a:ext cx="228451" cy="228451"/>
          </a:xfrm>
          <a:prstGeom prst="ellipse">
            <a:avLst/>
          </a:prstGeom>
          <a:solidFill>
            <a:srgbClr val="B89455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6" name="Shape 4"/>
          <p:cNvSpPr/>
          <p:nvPr/>
        </p:nvSpPr>
        <p:spPr>
          <a:xfrm>
            <a:off x="828601" y="638101"/>
            <a:ext cx="95250" cy="95250"/>
          </a:xfrm>
          <a:prstGeom prst="ellipse">
            <a:avLst/>
          </a:prstGeom>
          <a:solidFill>
            <a:srgbClr val="0A1F44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7" name="Text 5"/>
          <p:cNvSpPr/>
          <p:nvPr/>
        </p:nvSpPr>
        <p:spPr>
          <a:xfrm>
            <a:off x="1123652" y="578569"/>
            <a:ext cx="2768088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54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GEOASSETS · INTELLIGENCE</a:t>
            </a:r>
            <a:endParaRPr lang="en-US" sz="1350"/>
          </a:p>
        </p:txBody>
      </p:sp>
      <p:sp>
        <p:nvSpPr>
          <p:cNvPr id="8" name="Text 6"/>
          <p:cNvSpPr/>
          <p:nvPr/>
        </p:nvSpPr>
        <p:spPr>
          <a:xfrm>
            <a:off x="15980606" y="602382"/>
            <a:ext cx="1621594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76">
                <a:solidFill>
                  <a:srgbClr val="FFFFFF">
                    <a:alpha val="5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41 / 41 · CIERRE</a:t>
            </a:r>
            <a:endParaRPr lang="en-US" sz="975"/>
          </a:p>
        </p:txBody>
      </p:sp>
      <p:sp>
        <p:nvSpPr>
          <p:cNvPr id="9" name="Text 7"/>
          <p:cNvSpPr/>
          <p:nvPr/>
        </p:nvSpPr>
        <p:spPr>
          <a:xfrm>
            <a:off x="1143000" y="1333500"/>
            <a:ext cx="16482060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b="1" kern="0" spc="336">
                <a:solidFill>
                  <a:srgbClr val="D1A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CONCLUSIONES · ROADMAP · BIBLIOGRAFÍA</a:t>
            </a:r>
            <a:endParaRPr lang="en-US" sz="1050"/>
          </a:p>
        </p:txBody>
      </p:sp>
      <p:sp>
        <p:nvSpPr>
          <p:cNvPr id="10" name="Shape 8"/>
          <p:cNvSpPr/>
          <p:nvPr/>
        </p:nvSpPr>
        <p:spPr>
          <a:xfrm>
            <a:off x="1143000" y="1671526"/>
            <a:ext cx="762000" cy="37951"/>
          </a:xfrm>
          <a:prstGeom prst="rect">
            <a:avLst/>
          </a:prstGeom>
          <a:solidFill>
            <a:srgbClr val="B89455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11" name="Text 9"/>
          <p:cNvSpPr/>
          <p:nvPr/>
        </p:nvSpPr>
        <p:spPr>
          <a:xfrm>
            <a:off x="1143000" y="1937928"/>
            <a:ext cx="13735050" cy="19579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b="1" kern="0" spc="-96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patrimonio productivo de una empresa es visible. </a:t>
            </a:r>
            <a:r>
              <a:rPr lang="en-US" sz="4800" kern="0" spc="-96">
                <a:solidFill>
                  <a:srgbClr val="D1A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Sólo hay que saber dónde mirar.</a:t>
            </a:r>
            <a:endParaRPr lang="en-US" sz="4800"/>
          </a:p>
        </p:txBody>
      </p:sp>
      <p:sp>
        <p:nvSpPr>
          <p:cNvPr id="12" name="Text 10"/>
          <p:cNvSpPr/>
          <p:nvPr/>
        </p:nvSpPr>
        <p:spPr>
          <a:xfrm>
            <a:off x="1143000" y="4276762"/>
            <a:ext cx="5625660" cy="1690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00" b="1" kern="0" spc="162">
                <a:solidFill>
                  <a:srgbClr val="D1A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CONCLUSIONES</a:t>
            </a:r>
            <a:endParaRPr lang="en-US" sz="900"/>
          </a:p>
        </p:txBody>
      </p:sp>
      <p:sp>
        <p:nvSpPr>
          <p:cNvPr id="13" name="Text 11"/>
          <p:cNvSpPr/>
          <p:nvPr/>
        </p:nvSpPr>
        <p:spPr>
          <a:xfrm>
            <a:off x="1143000" y="4540932"/>
            <a:ext cx="176101" cy="4380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>
                <a:solidFill>
                  <a:srgbClr val="2E7D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50"/>
          </a:p>
        </p:txBody>
      </p:sp>
      <p:sp>
        <p:nvSpPr>
          <p:cNvPr id="14" name="Text 12"/>
          <p:cNvSpPr/>
          <p:nvPr/>
        </p:nvSpPr>
        <p:spPr>
          <a:xfrm>
            <a:off x="1357126" y="4540932"/>
            <a:ext cx="5405110" cy="4380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Hipótesis validada </a:t>
            </a:r>
            <a:r>
              <a:rPr lang="en-US" sz="105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LLMs + APIs geoespaciales + agentes automatizan el análisis con alta precisión.</a:t>
            </a:r>
            <a:endParaRPr lang="en-US" sz="1050"/>
          </a:p>
        </p:txBody>
      </p:sp>
      <p:sp>
        <p:nvSpPr>
          <p:cNvPr id="15" name="Text 13"/>
          <p:cNvSpPr/>
          <p:nvPr/>
        </p:nvSpPr>
        <p:spPr>
          <a:xfrm>
            <a:off x="1143000" y="5055133"/>
            <a:ext cx="176101" cy="238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>
                <a:solidFill>
                  <a:srgbClr val="2E7D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50"/>
          </a:p>
        </p:txBody>
      </p:sp>
      <p:sp>
        <p:nvSpPr>
          <p:cNvPr id="16" name="Text 14"/>
          <p:cNvSpPr/>
          <p:nvPr/>
        </p:nvSpPr>
        <p:spPr>
          <a:xfrm>
            <a:off x="1357126" y="5055133"/>
            <a:ext cx="5231889" cy="238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Aporte técnico </a:t>
            </a:r>
            <a:r>
              <a:rPr lang="en-US" sz="105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sistema modular de pipelines con scoring unificado y UI auditable.</a:t>
            </a:r>
            <a:endParaRPr lang="en-US" sz="1050"/>
          </a:p>
        </p:txBody>
      </p:sp>
      <p:sp>
        <p:nvSpPr>
          <p:cNvPr id="17" name="Text 15"/>
          <p:cNvSpPr/>
          <p:nvPr/>
        </p:nvSpPr>
        <p:spPr>
          <a:xfrm>
            <a:off x="1143000" y="5369347"/>
            <a:ext cx="176101" cy="4380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>
                <a:solidFill>
                  <a:srgbClr val="2E7D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50"/>
          </a:p>
        </p:txBody>
      </p:sp>
      <p:sp>
        <p:nvSpPr>
          <p:cNvPr id="18" name="Text 16"/>
          <p:cNvSpPr/>
          <p:nvPr/>
        </p:nvSpPr>
        <p:spPr>
          <a:xfrm>
            <a:off x="1357126" y="5369347"/>
            <a:ext cx="5405110" cy="4380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Aporte académico </a:t>
            </a:r>
            <a:r>
              <a:rPr lang="en-US" sz="105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framework reproducible aplicable a otros dominios de inteligencia geoespacial.</a:t>
            </a:r>
            <a:endParaRPr lang="en-US" sz="1050"/>
          </a:p>
        </p:txBody>
      </p:sp>
      <p:sp>
        <p:nvSpPr>
          <p:cNvPr id="19" name="Text 17"/>
          <p:cNvSpPr/>
          <p:nvPr/>
        </p:nvSpPr>
        <p:spPr>
          <a:xfrm>
            <a:off x="1143000" y="5940661"/>
            <a:ext cx="5625660" cy="1690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00" b="1" kern="0" spc="162">
                <a:solidFill>
                  <a:srgbClr val="D1A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LIMITACIONES &amp; MITIGACIÓN</a:t>
            </a:r>
            <a:endParaRPr lang="en-US" sz="900"/>
          </a:p>
        </p:txBody>
      </p:sp>
      <p:sp>
        <p:nvSpPr>
          <p:cNvPr id="20" name="Text 18"/>
          <p:cNvSpPr/>
          <p:nvPr/>
        </p:nvSpPr>
        <p:spPr>
          <a:xfrm>
            <a:off x="1143000" y="6166879"/>
            <a:ext cx="5625660" cy="4220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975">
                <a:solidFill>
                  <a:srgbClr val="FFFFFF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Dependencia Maps en zonas rurales → </a:t>
            </a:r>
            <a:r>
              <a:rPr lang="en-US" sz="975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complementar con Agente</a:t>
            </a:r>
            <a:r>
              <a:rPr lang="en-US" sz="975">
                <a:solidFill>
                  <a:srgbClr val="FFFFFF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LLM no determinista → </a:t>
            </a:r>
            <a:r>
              <a:rPr lang="en-US" sz="975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validación por tier</a:t>
            </a:r>
            <a:r>
              <a:rPr lang="en-US" sz="975">
                <a:solidFill>
                  <a:srgbClr val="FFFFFF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Cobertura España → </a:t>
            </a:r>
            <a:r>
              <a:rPr lang="en-US" sz="975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expansión EMEA</a:t>
            </a:r>
            <a:r>
              <a:rPr lang="en-US" sz="975">
                <a:solidFill>
                  <a:srgbClr val="FFFFFF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975"/>
          </a:p>
        </p:txBody>
      </p:sp>
      <p:sp>
        <p:nvSpPr>
          <p:cNvPr id="21" name="Text 19"/>
          <p:cNvSpPr/>
          <p:nvPr/>
        </p:nvSpPr>
        <p:spPr>
          <a:xfrm>
            <a:off x="6909532" y="4276762"/>
            <a:ext cx="5114237" cy="1690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00" b="1" kern="0" spc="162">
                <a:solidFill>
                  <a:srgbClr val="D1A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LÍNEAS FUTURAS</a:t>
            </a:r>
            <a:endParaRPr lang="en-US" sz="900"/>
          </a:p>
        </p:txBody>
      </p:sp>
      <p:sp>
        <p:nvSpPr>
          <p:cNvPr id="22" name="Shape 20"/>
          <p:cNvSpPr/>
          <p:nvPr/>
        </p:nvSpPr>
        <p:spPr>
          <a:xfrm>
            <a:off x="6909532" y="4540932"/>
            <a:ext cx="4965278" cy="668982"/>
          </a:xfrm>
          <a:prstGeom prst="rect">
            <a:avLst/>
          </a:prstGeom>
          <a:solidFill>
            <a:srgbClr val="FFFFFF">
              <a:alpha val="6000"/>
            </a:srgbClr>
          </a:solidFill>
          <a:ln/>
          <a:effectLst>
            <a:outerShdw blurRad="76200" dist="12700" dir="5400000" algn="t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_tradnl"/>
          </a:p>
        </p:txBody>
      </p:sp>
      <p:sp>
        <p:nvSpPr>
          <p:cNvPr id="23" name="Shape 21"/>
          <p:cNvSpPr/>
          <p:nvPr/>
        </p:nvSpPr>
        <p:spPr>
          <a:xfrm>
            <a:off x="6909532" y="4540932"/>
            <a:ext cx="11906" cy="668982"/>
          </a:xfrm>
          <a:prstGeom prst="rect">
            <a:avLst/>
          </a:prstGeom>
          <a:solidFill>
            <a:srgbClr val="D1AE6E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24" name="Text 22"/>
          <p:cNvSpPr/>
          <p:nvPr/>
        </p:nvSpPr>
        <p:spPr>
          <a:xfrm>
            <a:off x="7054639" y="4655158"/>
            <a:ext cx="4827579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>
                <a:solidFill>
                  <a:srgbClr val="D1AE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L1 · 2026 H2</a:t>
            </a:r>
            <a:endParaRPr lang="en-US" sz="825"/>
          </a:p>
        </p:txBody>
      </p:sp>
      <p:sp>
        <p:nvSpPr>
          <p:cNvPr id="25" name="Text 23"/>
          <p:cNvSpPr/>
          <p:nvPr/>
        </p:nvSpPr>
        <p:spPr>
          <a:xfrm>
            <a:off x="7054639" y="4798033"/>
            <a:ext cx="4827579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Expansión geográfica</a:t>
            </a:r>
            <a:endParaRPr lang="en-US" sz="1050"/>
          </a:p>
        </p:txBody>
      </p:sp>
      <p:sp>
        <p:nvSpPr>
          <p:cNvPr id="26" name="Text 24"/>
          <p:cNvSpPr/>
          <p:nvPr/>
        </p:nvSpPr>
        <p:spPr>
          <a:xfrm>
            <a:off x="7054639" y="4964720"/>
            <a:ext cx="4827579" cy="1690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00">
                <a:solidFill>
                  <a:srgbClr val="FFFFFF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Portugal, LatAm</a:t>
            </a:r>
            <a:endParaRPr lang="en-US" sz="900"/>
          </a:p>
        </p:txBody>
      </p:sp>
      <p:sp>
        <p:nvSpPr>
          <p:cNvPr id="27" name="Shape 25"/>
          <p:cNvSpPr/>
          <p:nvPr/>
        </p:nvSpPr>
        <p:spPr>
          <a:xfrm>
            <a:off x="6909532" y="5305165"/>
            <a:ext cx="4965278" cy="668982"/>
          </a:xfrm>
          <a:prstGeom prst="rect">
            <a:avLst/>
          </a:prstGeom>
          <a:solidFill>
            <a:srgbClr val="FFFFFF">
              <a:alpha val="6000"/>
            </a:srgbClr>
          </a:solidFill>
          <a:ln/>
          <a:effectLst>
            <a:outerShdw blurRad="76200" dist="12700" dir="5400000" algn="t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_tradnl"/>
          </a:p>
        </p:txBody>
      </p:sp>
      <p:sp>
        <p:nvSpPr>
          <p:cNvPr id="28" name="Shape 26"/>
          <p:cNvSpPr/>
          <p:nvPr/>
        </p:nvSpPr>
        <p:spPr>
          <a:xfrm>
            <a:off x="6909532" y="5305165"/>
            <a:ext cx="11906" cy="668982"/>
          </a:xfrm>
          <a:prstGeom prst="rect">
            <a:avLst/>
          </a:prstGeom>
          <a:solidFill>
            <a:srgbClr val="D1AE6E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29" name="Text 27"/>
          <p:cNvSpPr/>
          <p:nvPr/>
        </p:nvSpPr>
        <p:spPr>
          <a:xfrm>
            <a:off x="7054639" y="5419390"/>
            <a:ext cx="4827579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>
                <a:solidFill>
                  <a:srgbClr val="D1AE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L2 · 2027</a:t>
            </a:r>
            <a:endParaRPr lang="en-US" sz="825"/>
          </a:p>
        </p:txBody>
      </p:sp>
      <p:sp>
        <p:nvSpPr>
          <p:cNvPr id="30" name="Text 28"/>
          <p:cNvSpPr/>
          <p:nvPr/>
        </p:nvSpPr>
        <p:spPr>
          <a:xfrm>
            <a:off x="7054639" y="5562265"/>
            <a:ext cx="4827579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Fine-tuning del clasificador</a:t>
            </a:r>
            <a:endParaRPr lang="en-US" sz="1050"/>
          </a:p>
        </p:txBody>
      </p:sp>
      <p:sp>
        <p:nvSpPr>
          <p:cNvPr id="31" name="Text 29"/>
          <p:cNvSpPr/>
          <p:nvPr/>
        </p:nvSpPr>
        <p:spPr>
          <a:xfrm>
            <a:off x="7054639" y="5728953"/>
            <a:ext cx="4827579" cy="1690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00">
                <a:solidFill>
                  <a:srgbClr val="FFFFFF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Datos validados internamente</a:t>
            </a:r>
            <a:endParaRPr lang="en-US" sz="900"/>
          </a:p>
        </p:txBody>
      </p:sp>
      <p:sp>
        <p:nvSpPr>
          <p:cNvPr id="32" name="Shape 30"/>
          <p:cNvSpPr/>
          <p:nvPr/>
        </p:nvSpPr>
        <p:spPr>
          <a:xfrm>
            <a:off x="6909532" y="6069397"/>
            <a:ext cx="4965278" cy="668982"/>
          </a:xfrm>
          <a:prstGeom prst="rect">
            <a:avLst/>
          </a:prstGeom>
          <a:solidFill>
            <a:srgbClr val="FFFFFF">
              <a:alpha val="6000"/>
            </a:srgbClr>
          </a:solidFill>
          <a:ln/>
          <a:effectLst>
            <a:outerShdw blurRad="76200" dist="12700" dir="5400000" algn="t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_tradnl"/>
          </a:p>
        </p:txBody>
      </p:sp>
      <p:sp>
        <p:nvSpPr>
          <p:cNvPr id="33" name="Shape 31"/>
          <p:cNvSpPr/>
          <p:nvPr/>
        </p:nvSpPr>
        <p:spPr>
          <a:xfrm>
            <a:off x="6909532" y="6069397"/>
            <a:ext cx="11906" cy="668982"/>
          </a:xfrm>
          <a:prstGeom prst="rect">
            <a:avLst/>
          </a:prstGeom>
          <a:solidFill>
            <a:srgbClr val="D1AE6E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34" name="Text 32"/>
          <p:cNvSpPr/>
          <p:nvPr/>
        </p:nvSpPr>
        <p:spPr>
          <a:xfrm>
            <a:off x="7054639" y="6183623"/>
            <a:ext cx="4827579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>
                <a:solidFill>
                  <a:srgbClr val="D1AE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L3 · 2027</a:t>
            </a:r>
            <a:endParaRPr lang="en-US" sz="825"/>
          </a:p>
        </p:txBody>
      </p:sp>
      <p:sp>
        <p:nvSpPr>
          <p:cNvPr id="35" name="Text 33"/>
          <p:cNvSpPr/>
          <p:nvPr/>
        </p:nvSpPr>
        <p:spPr>
          <a:xfrm>
            <a:off x="7054639" y="6326498"/>
            <a:ext cx="4827579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pública con auth</a:t>
            </a:r>
            <a:endParaRPr lang="en-US" sz="1050"/>
          </a:p>
        </p:txBody>
      </p:sp>
      <p:sp>
        <p:nvSpPr>
          <p:cNvPr id="36" name="Text 34"/>
          <p:cNvSpPr/>
          <p:nvPr/>
        </p:nvSpPr>
        <p:spPr>
          <a:xfrm>
            <a:off x="7054639" y="6493185"/>
            <a:ext cx="4827579" cy="1690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00">
                <a:solidFill>
                  <a:srgbClr val="FFFFFF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Integración B2B</a:t>
            </a:r>
            <a:endParaRPr lang="en-US" sz="900"/>
          </a:p>
        </p:txBody>
      </p:sp>
      <p:sp>
        <p:nvSpPr>
          <p:cNvPr id="37" name="Shape 35"/>
          <p:cNvSpPr/>
          <p:nvPr/>
        </p:nvSpPr>
        <p:spPr>
          <a:xfrm>
            <a:off x="6909532" y="6833629"/>
            <a:ext cx="4965278" cy="668982"/>
          </a:xfrm>
          <a:prstGeom prst="rect">
            <a:avLst/>
          </a:prstGeom>
          <a:solidFill>
            <a:srgbClr val="FFFFFF">
              <a:alpha val="6000"/>
            </a:srgbClr>
          </a:solidFill>
          <a:ln/>
          <a:effectLst>
            <a:outerShdw blurRad="76200" dist="12700" dir="5400000" algn="t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_tradnl"/>
          </a:p>
        </p:txBody>
      </p:sp>
      <p:sp>
        <p:nvSpPr>
          <p:cNvPr id="38" name="Shape 36"/>
          <p:cNvSpPr/>
          <p:nvPr/>
        </p:nvSpPr>
        <p:spPr>
          <a:xfrm>
            <a:off x="6909532" y="6833629"/>
            <a:ext cx="11906" cy="668982"/>
          </a:xfrm>
          <a:prstGeom prst="rect">
            <a:avLst/>
          </a:prstGeom>
          <a:solidFill>
            <a:srgbClr val="D1AE6E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39" name="Text 37"/>
          <p:cNvSpPr/>
          <p:nvPr/>
        </p:nvSpPr>
        <p:spPr>
          <a:xfrm>
            <a:off x="7054639" y="6947855"/>
            <a:ext cx="4827579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>
                <a:solidFill>
                  <a:srgbClr val="D1AE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L4 · 2028</a:t>
            </a:r>
            <a:endParaRPr lang="en-US" sz="825"/>
          </a:p>
        </p:txBody>
      </p:sp>
      <p:sp>
        <p:nvSpPr>
          <p:cNvPr id="40" name="Text 38"/>
          <p:cNvSpPr/>
          <p:nvPr/>
        </p:nvSpPr>
        <p:spPr>
          <a:xfrm>
            <a:off x="7054639" y="7090730"/>
            <a:ext cx="4827579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Detección de cambios</a:t>
            </a:r>
            <a:endParaRPr lang="en-US" sz="1050"/>
          </a:p>
        </p:txBody>
      </p:sp>
      <p:sp>
        <p:nvSpPr>
          <p:cNvPr id="41" name="Text 39"/>
          <p:cNvSpPr/>
          <p:nvPr/>
        </p:nvSpPr>
        <p:spPr>
          <a:xfrm>
            <a:off x="7054639" y="7257417"/>
            <a:ext cx="4827579" cy="1690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00">
                <a:solidFill>
                  <a:srgbClr val="FFFFFF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Alertas activos cerrados</a:t>
            </a:r>
            <a:endParaRPr lang="en-US" sz="900"/>
          </a:p>
        </p:txBody>
      </p:sp>
      <p:sp>
        <p:nvSpPr>
          <p:cNvPr id="42" name="Text 40"/>
          <p:cNvSpPr/>
          <p:nvPr/>
        </p:nvSpPr>
        <p:spPr>
          <a:xfrm>
            <a:off x="12179536" y="4276762"/>
            <a:ext cx="5114428" cy="1690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00" b="1" kern="0" spc="162">
                <a:solidFill>
                  <a:srgbClr val="D1A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BIBLIOGRAFÍA CLAVE</a:t>
            </a:r>
            <a:endParaRPr lang="en-US" sz="900"/>
          </a:p>
        </p:txBody>
      </p:sp>
      <p:sp>
        <p:nvSpPr>
          <p:cNvPr id="43" name="Text 41"/>
          <p:cNvSpPr/>
          <p:nvPr/>
        </p:nvSpPr>
        <p:spPr>
          <a:xfrm>
            <a:off x="12173074" y="4540932"/>
            <a:ext cx="5115750" cy="2150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177800" indent="-177800" algn="l">
              <a:lnSpc>
                <a:spcPct val="155000"/>
              </a:lnSpc>
              <a:buSzPct val="100000"/>
              <a:buFont typeface="+mj-lt"/>
              <a:buAutoNum type="arabicPeriod"/>
            </a:pPr>
            <a:r>
              <a:rPr lang="en-US" sz="900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Brown et al. (2020). </a:t>
            </a:r>
            <a:r>
              <a:rPr lang="en-US" sz="900" i="1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 Models are Few-Shot Learners</a:t>
            </a:r>
            <a:r>
              <a:rPr lang="en-US" sz="900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NeurIPS.</a:t>
            </a:r>
            <a:endParaRPr lang="en-US" sz="900"/>
          </a:p>
        </p:txBody>
      </p:sp>
      <p:sp>
        <p:nvSpPr>
          <p:cNvPr id="44" name="Text 42"/>
          <p:cNvSpPr/>
          <p:nvPr/>
        </p:nvSpPr>
        <p:spPr>
          <a:xfrm>
            <a:off x="12173074" y="4717852"/>
            <a:ext cx="5115750" cy="2150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177800" indent="-177800" algn="l">
              <a:lnSpc>
                <a:spcPct val="155000"/>
              </a:lnSpc>
              <a:buSzPct val="100000"/>
              <a:buFont typeface="+mj-lt"/>
              <a:buAutoNum type="arabicPeriod" startAt="2"/>
            </a:pPr>
            <a:r>
              <a:rPr lang="en-US" sz="900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Google. </a:t>
            </a:r>
            <a:r>
              <a:rPr lang="en-US" sz="900" i="1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Places API Documentation</a:t>
            </a:r>
            <a:r>
              <a:rPr lang="en-US" sz="900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developers.google.com/maps.</a:t>
            </a:r>
            <a:endParaRPr lang="en-US" sz="900"/>
          </a:p>
        </p:txBody>
      </p:sp>
      <p:sp>
        <p:nvSpPr>
          <p:cNvPr id="45" name="Text 43"/>
          <p:cNvSpPr/>
          <p:nvPr/>
        </p:nvSpPr>
        <p:spPr>
          <a:xfrm>
            <a:off x="12173074" y="4894771"/>
            <a:ext cx="5115750" cy="2150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177800" indent="-177800" algn="l">
              <a:lnSpc>
                <a:spcPct val="155000"/>
              </a:lnSpc>
              <a:buSzPct val="100000"/>
              <a:buFont typeface="+mj-lt"/>
              <a:buAutoNum type="arabicPeriod" startAt="3"/>
            </a:pPr>
            <a:r>
              <a:rPr lang="en-US" sz="900" i="1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LiteLLM</a:t>
            </a:r>
            <a:r>
              <a:rPr lang="en-US" sz="900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litellm.vercel.app — proxy LLM multi-proveedor.</a:t>
            </a:r>
            <a:endParaRPr lang="en-US" sz="900"/>
          </a:p>
        </p:txBody>
      </p:sp>
      <p:sp>
        <p:nvSpPr>
          <p:cNvPr id="46" name="Text 44"/>
          <p:cNvSpPr/>
          <p:nvPr/>
        </p:nvSpPr>
        <p:spPr>
          <a:xfrm>
            <a:off x="12173074" y="5071690"/>
            <a:ext cx="5115750" cy="2150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177800" indent="-177800" algn="l">
              <a:lnSpc>
                <a:spcPct val="155000"/>
              </a:lnSpc>
              <a:buSzPct val="100000"/>
              <a:buFont typeface="+mj-lt"/>
              <a:buAutoNum type="arabicPeriod" startAt="4"/>
            </a:pPr>
            <a:r>
              <a:rPr lang="en-US" sz="900" i="1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CrewAI Framework</a:t>
            </a:r>
            <a:r>
              <a:rPr lang="en-US" sz="900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crewai.com.</a:t>
            </a:r>
            <a:endParaRPr lang="en-US" sz="900"/>
          </a:p>
        </p:txBody>
      </p:sp>
      <p:sp>
        <p:nvSpPr>
          <p:cNvPr id="48" name="Text 46"/>
          <p:cNvSpPr/>
          <p:nvPr/>
        </p:nvSpPr>
        <p:spPr>
          <a:xfrm>
            <a:off x="12173074" y="5235029"/>
            <a:ext cx="5115750" cy="2150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algn="l">
              <a:lnSpc>
                <a:spcPct val="155000"/>
              </a:lnSpc>
              <a:buSzPct val="100000"/>
              <a:tabLst>
                <a:tab pos="177800" algn="l"/>
              </a:tabLst>
            </a:pPr>
            <a:r>
              <a:rPr lang="en-US" sz="900" dirty="0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  Beta distribution priors </a:t>
            </a:r>
            <a:r>
              <a:rPr lang="en-US" sz="900" dirty="0" err="1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aplicados</a:t>
            </a:r>
            <a:r>
              <a:rPr lang="en-US" sz="900" dirty="0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 </a:t>
            </a:r>
            <a:r>
              <a:rPr lang="en-US" sz="900" dirty="0" err="1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sistemas</a:t>
            </a:r>
            <a:r>
              <a:rPr lang="en-US" sz="900" dirty="0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 scoring.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12173074" y="5411949"/>
            <a:ext cx="5115750" cy="2150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algn="l">
              <a:lnSpc>
                <a:spcPct val="155000"/>
              </a:lnSpc>
              <a:buSzPct val="100000"/>
            </a:pPr>
            <a:r>
              <a:rPr lang="en-US" sz="900" dirty="0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  </a:t>
            </a:r>
            <a:r>
              <a:rPr lang="en-US" sz="900" dirty="0" err="1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</a:t>
            </a:r>
            <a:r>
              <a:rPr lang="en-US" sz="900" dirty="0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</a:t>
            </a:r>
            <a:r>
              <a:rPr lang="en-US" sz="900" i="1" dirty="0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Server-Sent Events patterns</a:t>
            </a:r>
            <a:r>
              <a:rPr lang="en-US" sz="900" dirty="0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12179536" y="5950707"/>
            <a:ext cx="4965464" cy="1204578"/>
          </a:xfrm>
          <a:prstGeom prst="rect">
            <a:avLst/>
          </a:prstGeom>
          <a:solidFill>
            <a:srgbClr val="FFFFFF">
              <a:alpha val="6000"/>
            </a:srgbClr>
          </a:solidFill>
          <a:ln w="11906">
            <a:solidFill>
              <a:srgbClr val="FFFFFF">
                <a:alpha val="12000"/>
              </a:srgbClr>
            </a:solidFill>
            <a:prstDash val="solid"/>
          </a:ln>
          <a:effectLst>
            <a:outerShdw blurRad="76200" dist="12700" dir="5400000" algn="t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_tradnl"/>
          </a:p>
        </p:txBody>
      </p:sp>
      <p:sp>
        <p:nvSpPr>
          <p:cNvPr id="51" name="Shape 49"/>
          <p:cNvSpPr/>
          <p:nvPr/>
        </p:nvSpPr>
        <p:spPr>
          <a:xfrm>
            <a:off x="12362780" y="6133951"/>
            <a:ext cx="838088" cy="83808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_tradnl"/>
          </a:p>
        </p:txBody>
      </p:sp>
      <p:pic>
        <p:nvPicPr>
          <p:cNvPr id="5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38869" y="6210040"/>
            <a:ext cx="685912" cy="685912"/>
          </a:xfrm>
          <a:prstGeom prst="rect">
            <a:avLst/>
          </a:prstGeom>
          <a:effectLst>
            <a:outerShdw blurRad="127000" dist="38100" dir="5400000" algn="tl" rotWithShape="0">
              <a:srgbClr val="000000">
                <a:alpha val="20000"/>
              </a:srgbClr>
            </a:outerShdw>
          </a:effectLst>
        </p:spPr>
      </p:pic>
      <p:sp>
        <p:nvSpPr>
          <p:cNvPr id="53" name="Text 50"/>
          <p:cNvSpPr/>
          <p:nvPr/>
        </p:nvSpPr>
        <p:spPr>
          <a:xfrm>
            <a:off x="13372207" y="6307708"/>
            <a:ext cx="1785119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149">
                <a:solidFill>
                  <a:srgbClr val="D1A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REPOSITORIO · DEMO</a:t>
            </a:r>
            <a:endParaRPr lang="en-US" sz="825"/>
          </a:p>
        </p:txBody>
      </p:sp>
      <p:sp>
        <p:nvSpPr>
          <p:cNvPr id="54" name="Text 51"/>
          <p:cNvSpPr/>
          <p:nvPr/>
        </p:nvSpPr>
        <p:spPr>
          <a:xfrm>
            <a:off x="13372207" y="6464722"/>
            <a:ext cx="178511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github.com/[autor] /geoassets-intelligence</a:t>
            </a:r>
            <a:endParaRPr lang="en-US" sz="975"/>
          </a:p>
        </p:txBody>
      </p:sp>
      <p:sp>
        <p:nvSpPr>
          <p:cNvPr id="55" name="Shape 52"/>
          <p:cNvSpPr/>
          <p:nvPr/>
        </p:nvSpPr>
        <p:spPr>
          <a:xfrm>
            <a:off x="1143000" y="8556129"/>
            <a:ext cx="16002000" cy="11906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56" name="Text 53"/>
          <p:cNvSpPr/>
          <p:nvPr/>
        </p:nvSpPr>
        <p:spPr>
          <a:xfrm>
            <a:off x="1143000" y="8796486"/>
            <a:ext cx="1259570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165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AUTOR</a:t>
            </a:r>
            <a:endParaRPr lang="en-US" sz="825"/>
          </a:p>
        </p:txBody>
      </p:sp>
      <p:sp>
        <p:nvSpPr>
          <p:cNvPr id="57" name="Text 54"/>
          <p:cNvSpPr/>
          <p:nvPr/>
        </p:nvSpPr>
        <p:spPr>
          <a:xfrm>
            <a:off x="1143000" y="8953500"/>
            <a:ext cx="1259570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125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[Nombre del autor]</a:t>
            </a:r>
            <a:endParaRPr lang="en-US" sz="1125"/>
          </a:p>
        </p:txBody>
      </p:sp>
      <p:sp>
        <p:nvSpPr>
          <p:cNvPr id="58" name="Text 55"/>
          <p:cNvSpPr/>
          <p:nvPr/>
        </p:nvSpPr>
        <p:spPr>
          <a:xfrm>
            <a:off x="2783458" y="8796486"/>
            <a:ext cx="1362075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165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CONTACTO</a:t>
            </a:r>
            <a:endParaRPr lang="en-US" sz="825"/>
          </a:p>
        </p:txBody>
      </p:sp>
      <p:sp>
        <p:nvSpPr>
          <p:cNvPr id="59" name="Text 56"/>
          <p:cNvSpPr/>
          <p:nvPr/>
        </p:nvSpPr>
        <p:spPr>
          <a:xfrm>
            <a:off x="2783458" y="8953500"/>
            <a:ext cx="136207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[email@dominio]</a:t>
            </a:r>
            <a:endParaRPr lang="en-US" sz="1125"/>
          </a:p>
        </p:txBody>
      </p:sp>
      <p:sp>
        <p:nvSpPr>
          <p:cNvPr id="60" name="Text 57"/>
          <p:cNvSpPr/>
          <p:nvPr/>
        </p:nvSpPr>
        <p:spPr>
          <a:xfrm>
            <a:off x="15105311" y="8863087"/>
            <a:ext cx="2115889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54">
                <a:solidFill>
                  <a:srgbClr val="D1A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Gracias · ¿Preguntas?</a:t>
            </a:r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189248685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A1F44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20" name="Rectangle 3">
            <a:extLst>
              <a:ext uri="{FF2B5EF4-FFF2-40B4-BE49-F238E27FC236}">
                <a16:creationId xmlns:a16="http://schemas.microsoft.com/office/drawing/2014/main" id="{E5BA73D3-FF7F-E00A-BEC5-ECC22F44C2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8953351"/>
            <a:ext cx="9584871" cy="1371637"/>
          </a:xfrm>
          <a:prstGeom prst="rect">
            <a:avLst/>
          </a:prstGeom>
          <a:solidFill>
            <a:srgbClr val="997D00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3886" tIns="51944" rIns="103886" bIns="51944" anchor="ctr"/>
          <a:lstStyle/>
          <a:p>
            <a:pPr algn="ctr">
              <a:buClr>
                <a:srgbClr val="000000"/>
              </a:buClr>
              <a:defRPr/>
            </a:pPr>
            <a:endParaRPr lang="es-ES" sz="1200" kern="0" noProof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62000" y="571500"/>
            <a:ext cx="247613" cy="247613"/>
          </a:xfrm>
          <a:prstGeom prst="ellipse">
            <a:avLst/>
          </a:prstGeom>
          <a:solidFill>
            <a:srgbClr val="B89455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6" name="Shape 4"/>
          <p:cNvSpPr/>
          <p:nvPr/>
        </p:nvSpPr>
        <p:spPr>
          <a:xfrm>
            <a:off x="828601" y="638101"/>
            <a:ext cx="114412" cy="114412"/>
          </a:xfrm>
          <a:prstGeom prst="ellipse">
            <a:avLst/>
          </a:prstGeom>
          <a:solidFill>
            <a:srgbClr val="0A1F44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7" name="Text 5"/>
          <p:cNvSpPr/>
          <p:nvPr/>
        </p:nvSpPr>
        <p:spPr>
          <a:xfrm>
            <a:off x="1142814" y="582104"/>
            <a:ext cx="3075632" cy="2643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kern="0" spc="6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GEOASSETS · INTELLIGENCE</a:t>
            </a:r>
            <a:endParaRPr lang="en-US" sz="1500"/>
          </a:p>
        </p:txBody>
      </p:sp>
      <p:sp>
        <p:nvSpPr>
          <p:cNvPr id="8" name="Text 6"/>
          <p:cNvSpPr/>
          <p:nvPr/>
        </p:nvSpPr>
        <p:spPr>
          <a:xfrm>
            <a:off x="16077158" y="611870"/>
            <a:ext cx="1525042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76">
                <a:solidFill>
                  <a:srgbClr val="FFFFFF">
                    <a:alpha val="5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TFM · 2025–2026</a:t>
            </a:r>
            <a:endParaRPr lang="en-US" sz="975"/>
          </a:p>
        </p:txBody>
      </p:sp>
      <p:sp>
        <p:nvSpPr>
          <p:cNvPr id="9" name="Text 7"/>
          <p:cNvSpPr/>
          <p:nvPr/>
        </p:nvSpPr>
        <p:spPr>
          <a:xfrm>
            <a:off x="1143000" y="3258220"/>
            <a:ext cx="16482060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b="1" kern="0" spc="336">
                <a:solidFill>
                  <a:srgbClr val="D1A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TRABAJO DE FIN DE MÁSTER</a:t>
            </a:r>
            <a:endParaRPr lang="en-US" sz="1050"/>
          </a:p>
        </p:txBody>
      </p:sp>
      <p:sp>
        <p:nvSpPr>
          <p:cNvPr id="10" name="Shape 8"/>
          <p:cNvSpPr/>
          <p:nvPr/>
        </p:nvSpPr>
        <p:spPr>
          <a:xfrm>
            <a:off x="1143000" y="3729633"/>
            <a:ext cx="762000" cy="37951"/>
          </a:xfrm>
          <a:prstGeom prst="rect">
            <a:avLst/>
          </a:prstGeom>
          <a:solidFill>
            <a:srgbClr val="B89455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11" name="Text 9"/>
          <p:cNvSpPr/>
          <p:nvPr/>
        </p:nvSpPr>
        <p:spPr>
          <a:xfrm>
            <a:off x="1143000" y="4148584"/>
            <a:ext cx="14716125" cy="18668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200" b="1" kern="0" spc="-18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GeoAssets </a:t>
            </a:r>
            <a:r>
              <a:rPr lang="en-US" sz="7200" kern="0" spc="-180">
                <a:solidFill>
                  <a:srgbClr val="D1A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Intelligence</a:t>
            </a:r>
            <a:endParaRPr lang="en-US" sz="7200"/>
          </a:p>
        </p:txBody>
      </p:sp>
      <p:sp>
        <p:nvSpPr>
          <p:cNvPr id="12" name="Text 10"/>
          <p:cNvSpPr/>
          <p:nvPr/>
        </p:nvSpPr>
        <p:spPr>
          <a:xfrm>
            <a:off x="1143000" y="6282035"/>
            <a:ext cx="10791825" cy="7848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100">
                <a:solidFill>
                  <a:srgbClr val="FFFFFF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Localización automatizada del patrimonio productivo empresarial mediante IA generativa</a:t>
            </a:r>
            <a:endParaRPr lang="en-US" sz="2100"/>
          </a:p>
        </p:txBody>
      </p:sp>
      <p:sp>
        <p:nvSpPr>
          <p:cNvPr id="13" name="Text 11"/>
          <p:cNvSpPr/>
          <p:nvPr/>
        </p:nvSpPr>
        <p:spPr>
          <a:xfrm>
            <a:off x="609600" y="9127443"/>
            <a:ext cx="1626245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198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AUTORES</a:t>
            </a:r>
            <a:endParaRPr lang="en-US" sz="825"/>
          </a:p>
        </p:txBody>
      </p:sp>
      <p:sp>
        <p:nvSpPr>
          <p:cNvPr id="14" name="Text 12"/>
          <p:cNvSpPr/>
          <p:nvPr/>
        </p:nvSpPr>
        <p:spPr>
          <a:xfrm>
            <a:off x="578495" y="9260396"/>
            <a:ext cx="2614092" cy="889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s-E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Sergio Hervás Santiago</a:t>
            </a:r>
          </a:p>
          <a:p>
            <a:pPr marL="0" indent="0" algn="l">
              <a:lnSpc>
                <a:spcPct val="130000"/>
              </a:lnSpc>
              <a:buNone/>
            </a:pPr>
            <a:r>
              <a:rPr lang="es-E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Alonso Salgueiro Castelo</a:t>
            </a:r>
          </a:p>
          <a:p>
            <a:pPr marL="0" indent="0" algn="l">
              <a:lnSpc>
                <a:spcPct val="130000"/>
              </a:lnSpc>
              <a:buNone/>
            </a:pPr>
            <a:r>
              <a:rPr lang="es-E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Claudia García de Villegas Hernández</a:t>
            </a:r>
          </a:p>
        </p:txBody>
      </p:sp>
      <p:sp>
        <p:nvSpPr>
          <p:cNvPr id="15" name="Text 13"/>
          <p:cNvSpPr/>
          <p:nvPr/>
        </p:nvSpPr>
        <p:spPr>
          <a:xfrm>
            <a:off x="3455045" y="9127443"/>
            <a:ext cx="1587178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198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TUTOR</a:t>
            </a:r>
            <a:endParaRPr lang="en-US" sz="825"/>
          </a:p>
        </p:txBody>
      </p:sp>
      <p:sp>
        <p:nvSpPr>
          <p:cNvPr id="16" name="Text 14"/>
          <p:cNvSpPr/>
          <p:nvPr/>
        </p:nvSpPr>
        <p:spPr>
          <a:xfrm>
            <a:off x="3455045" y="9322594"/>
            <a:ext cx="1888480" cy="240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s-ES" sz="110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Segismundo Jiménez Lainez</a:t>
            </a:r>
          </a:p>
        </p:txBody>
      </p:sp>
      <p:sp>
        <p:nvSpPr>
          <p:cNvPr id="17" name="Text 15"/>
          <p:cNvSpPr/>
          <p:nvPr/>
        </p:nvSpPr>
        <p:spPr>
          <a:xfrm>
            <a:off x="5728022" y="9127443"/>
            <a:ext cx="2614092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198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</a:t>
            </a:r>
            <a:endParaRPr lang="en-US" sz="825"/>
          </a:p>
        </p:txBody>
      </p:sp>
      <p:sp>
        <p:nvSpPr>
          <p:cNvPr id="18" name="Text 16"/>
          <p:cNvSpPr/>
          <p:nvPr/>
        </p:nvSpPr>
        <p:spPr>
          <a:xfrm>
            <a:off x="5728022" y="9322594"/>
            <a:ext cx="2614092" cy="240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Máster en Inteligencia Artificial</a:t>
            </a:r>
            <a:endParaRPr lang="en-US" sz="1100"/>
          </a:p>
        </p:txBody>
      </p:sp>
      <p:sp>
        <p:nvSpPr>
          <p:cNvPr id="19" name="Text 17"/>
          <p:cNvSpPr/>
          <p:nvPr/>
        </p:nvSpPr>
        <p:spPr>
          <a:xfrm>
            <a:off x="16191384" y="9358313"/>
            <a:ext cx="1029816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98">
                <a:solidFill>
                  <a:srgbClr val="FFFFFF">
                    <a:alpha val="5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Mayo · 2026</a:t>
            </a:r>
            <a:endParaRPr lang="en-US" sz="975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777BFE9-BC64-271A-CDFE-A1CDC7A49E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84871" y="8953351"/>
            <a:ext cx="8703130" cy="1371637"/>
          </a:xfrm>
          <a:prstGeom prst="rect">
            <a:avLst/>
          </a:prstGeom>
          <a:solidFill>
            <a:srgbClr val="001A48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3886" tIns="51944" rIns="103886" bIns="51944" anchor="ctr"/>
          <a:lstStyle/>
          <a:p>
            <a:pPr>
              <a:buClr>
                <a:srgbClr val="000000"/>
              </a:buClr>
              <a:defRPr/>
            </a:pPr>
            <a:endParaRPr lang="es-ES" sz="1866" kern="0" noProof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9946346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4KtmtuQRg.G7UcVkQhK7g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.yfWj2EQY6yv3D5ckUWFg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Default Design">
  <a:themeElements>
    <a:clrScheme name="">
      <a:dk1>
        <a:srgbClr val="000000"/>
      </a:dk1>
      <a:lt1>
        <a:srgbClr val="FFFFFF"/>
      </a:lt1>
      <a:dk2>
        <a:srgbClr val="002569"/>
      </a:dk2>
      <a:lt2>
        <a:srgbClr val="808080"/>
      </a:lt2>
      <a:accent1>
        <a:srgbClr val="CCD3E1"/>
      </a:accent1>
      <a:accent2>
        <a:srgbClr val="E0D399"/>
      </a:accent2>
      <a:accent3>
        <a:srgbClr val="FFFFFF"/>
      </a:accent3>
      <a:accent4>
        <a:srgbClr val="000000"/>
      </a:accent4>
      <a:accent5>
        <a:srgbClr val="E2E6EE"/>
      </a:accent5>
      <a:accent6>
        <a:srgbClr val="CBBF8A"/>
      </a:accent6>
      <a:hlink>
        <a:srgbClr val="BFA13E"/>
      </a:hlink>
      <a:folHlink>
        <a:srgbClr val="99A8C3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blackWhite">
        <a:solidFill>
          <a:schemeClr val="accent1">
            <a:alpha val="30196"/>
          </a:schemeClr>
        </a:solidFill>
        <a:ln w="9525" algn="ctr">
          <a:solidFill>
            <a:schemeClr val="accent1"/>
          </a:solidFill>
          <a:miter lim="800000"/>
          <a:headEnd/>
          <a:tailEnd/>
        </a:ln>
        <a:effectLst>
          <a:outerShdw dist="35921" dir="2700000" algn="ctr" rotWithShape="0">
            <a:srgbClr val="ECEFF4">
              <a:alpha val="50000"/>
            </a:srgbClr>
          </a:outerShdw>
        </a:effectLst>
      </a:spPr>
      <a:bodyPr anchor="ctr"/>
      <a:lstStyle>
        <a:defPPr algn="ctr" eaLnBrk="0" hangingPunct="0">
          <a:defRPr sz="1400" b="1">
            <a:solidFill>
              <a:schemeClr val="tx2"/>
            </a:solidFill>
            <a:ea typeface="굴림" charset="-127"/>
            <a:cs typeface="Arial" pitchFamily="34" charset="0"/>
          </a:defRPr>
        </a:defPPr>
      </a:lstStyle>
    </a:spDef>
    <a:lnDef>
      <a:spPr>
        <a:ln>
          <a:solidFill>
            <a:schemeClr val="tx2"/>
          </a:solidFill>
          <a:tailEnd type="arrow"/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2_Default Design">
  <a:themeElements>
    <a:clrScheme name="HRO">
      <a:dk1>
        <a:srgbClr val="838383"/>
      </a:dk1>
      <a:lt1>
        <a:srgbClr val="FFFFFF"/>
      </a:lt1>
      <a:dk2>
        <a:srgbClr val="002569"/>
      </a:dk2>
      <a:lt2>
        <a:srgbClr val="5F5F5F"/>
      </a:lt2>
      <a:accent1>
        <a:srgbClr val="63BA68"/>
      </a:accent1>
      <a:accent2>
        <a:srgbClr val="FFD85D"/>
      </a:accent2>
      <a:accent3>
        <a:srgbClr val="A7A7A7"/>
      </a:accent3>
      <a:accent4>
        <a:srgbClr val="7094BC"/>
      </a:accent4>
      <a:accent5>
        <a:srgbClr val="E59D27"/>
      </a:accent5>
      <a:accent6>
        <a:srgbClr val="CCD3E1"/>
      </a:accent6>
      <a:hlink>
        <a:srgbClr val="BFA13E"/>
      </a:hlink>
      <a:folHlink>
        <a:srgbClr val="99A8C3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9525">
          <a:solidFill>
            <a:schemeClr val="tx1"/>
          </a:solidFill>
          <a:round/>
          <a:headEnd/>
          <a:tailEnd/>
        </a:ln>
      </a:spPr>
      <a:bodyPr wrap="none" rtlCol="0" anchor="ctr">
        <a:noAutofit/>
      </a:bodyPr>
      <a:lstStyle>
        <a:defPPr algn="ctr">
          <a:defRPr/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s-ES_tradnl" sz="12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62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DDBBD0F-72C9-4929-AF5E-B8B2498B718E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4a9a893a-c115-4570-a50a-beb4ee4545b5&quot;"/>
  </we:properties>
  <we:bindings/>
  <we:snapshot xmlns:r="http://schemas.openxmlformats.org/officeDocument/2006/relationships"/>
</we:webextension>
</file>

<file path=docMetadata/LabelInfo.xml><?xml version="1.0" encoding="utf-8"?>
<clbl:labelList xmlns:clbl="http://schemas.microsoft.com/office/2020/mipLabelMetadata">
  <clbl:label id="{a6bf56db-1844-4fb0-89f3-ad07c1f40c8b}" enabled="0" method="" siteId="{a6bf56db-1844-4fb0-89f3-ad07c1f40c8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7614</Words>
  <Application>Microsoft Macintosh PowerPoint</Application>
  <PresentationFormat>Personalizado</PresentationFormat>
  <Paragraphs>1488</Paragraphs>
  <Slides>41</Slides>
  <Notes>22</Notes>
  <HiddenSlides>1</HiddenSlides>
  <MMClips>0</MMClips>
  <ScaleCrop>false</ScaleCrop>
  <HeadingPairs>
    <vt:vector size="8" baseType="variant">
      <vt:variant>
        <vt:lpstr>Fuentes usadas</vt:lpstr>
      </vt:variant>
      <vt:variant>
        <vt:i4>9</vt:i4>
      </vt:variant>
      <vt:variant>
        <vt:lpstr>Tema</vt:lpstr>
      </vt:variant>
      <vt:variant>
        <vt:i4>2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41</vt:i4>
      </vt:variant>
    </vt:vector>
  </HeadingPairs>
  <TitlesOfParts>
    <vt:vector size="53" baseType="lpstr">
      <vt:lpstr>Arial</vt:lpstr>
      <vt:lpstr>Arial Narrow</vt:lpstr>
      <vt:lpstr>Calibri</vt:lpstr>
      <vt:lpstr>Consolas</vt:lpstr>
      <vt:lpstr>Courier New</vt:lpstr>
      <vt:lpstr>JetBrains Mono</vt:lpstr>
      <vt:lpstr>Segoe UI Symbol</vt:lpstr>
      <vt:lpstr>Webdings</vt:lpstr>
      <vt:lpstr>Wingdings</vt:lpstr>
      <vt:lpstr>Default Design</vt:lpstr>
      <vt:lpstr>2_Default Design</vt:lpstr>
      <vt:lpstr>think-cell Slide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Sergio Hervas Santiago</cp:lastModifiedBy>
  <cp:revision>2</cp:revision>
  <dcterms:created xsi:type="dcterms:W3CDTF">2026-05-01T14:47:26Z</dcterms:created>
  <dcterms:modified xsi:type="dcterms:W3CDTF">2026-05-10T11:00:51Z</dcterms:modified>
</cp:coreProperties>
</file>